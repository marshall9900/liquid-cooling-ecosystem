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海悟科技内部战略规划 2026.05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来源：各公司财报/CEO公开披露 | 字节GPU ¥2,300亿(芯片专家纪要2026.05) | 阿里三年¥4,800亿(吴泳铭)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来源：中国信通院/仲量联行2026/IDC | 可信度：已核实(官方)+测算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来源：工信部/发改委/GB国家标准/仲量联行 | 可信度：已核实(官方政策文件)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来源：阿里ODCC 2026演讲 | 腾讯新闻2026.01.29 | 阿里CEO吴泳铭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来源：芯片专家纪要2026.05 | 国产芯片调研2026.04 | 可信度：已核实(专家纪要)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来源：腾讯ODCC 2026演讲 | 腾讯新闻2026.01.29 | 腾讯超节点以太网规范2.0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来源：百度ODCC 2026(武正辉) | 腾讯新闻2026.01.29 | 各公司公开信息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来源：海悟科技行业调研 | 专家访谈 | 可信度：行业内部分析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来源：OCP Global Summit | 各OTT技术白皮书 | 东吴证券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来源：IDC 2025 | 国产芯片调研2026.04 | 各公司年报 | 可信度：已核实(IDC/财报)+券商测算(2026E)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来源：华为全联接大会2025 | ODCC 2026 | 证券时报 | IDC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来源：寒武纪2025年报 | IDC | 芯片专家纪要2026.05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来源：海光信息2025年报 | IDC | 东吴证券2026.04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来源：IDC | 阿里云公开信息 | 芯片调研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来源：各公司2025年报 | IDC | 芯片调研 | 可信度：已核实(财报)+估算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来源：IDC|芯片调研|各公司年报|基于单卡液冷成本×出货量测算(含服务器配套)|可信度：测算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来源：东吴证券超节点系列 | 各公司年报 | 华为生态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来源：东吴证券超节点系列 | 国信证券 | 芯片专家调研 | 可信度：券商测算+行业调研 | 公式: 单柜BOM=冷板40%+CDU25%+Manifold10%+快接头8%+管路17% | 柜数=GPU出货/GPU每柜×配套系数 | 可信度: 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来源：各IDC公司年报 | 中国IDC圈 | 工信部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来源：测算基于TrendForce/IDC/信通院/券商数据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来源：综合本章所有数据源分析 | 可信度：综合分析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来源：同花顺2026.02.12 | 各公司年报 | 东吴证券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来源：Vertiv 2025年报 | Investing.com 2026.05.07 | Vertiv PR 2026.03.30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来源：同花顺2026.02.12 | 英维克年报 | 行业调研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来源：同花顺 | Vertiv/英维克年报 | 东吴证券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来源：海悟科技战略分析 | 行业调研 | 可信度：行业分析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来源：海悟科技战略分析 | 各公司年报 | 可信度：行业分析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来源：同花顺2026.02.12 | 各公司年报/公告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来源：测算基于TrendForce/Vertiv年报/英维克年报 | 可信度：测算(多源交叉验证)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来源：测算基于供需平衡分析+各公司产能数据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来源：海悟科技战略分析 | 行业综合 | 可信度：综合分析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海悟科技内部战略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来源：海悟科技内部战略 2026-05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来源：海悟科技内部战略规划 | 测算基于市场空间×目标份额 | 可信度：内部+测算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来源：海悟科技内部战略 2026-05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来源：海悟科技内部战略2026.05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每页数据来源已在备注中标注 | 可信度分级：已核实/券商测算/估算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来源：腾讯新闻2026.01.29（鲜枣课堂报道ODCC 2026大会）| 四大厂ODCC演讲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来源：腾讯新闻2026.01.29 | 华为/腾讯/阿里ODCC 2026演讲 | 可信度：已核实+测算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机柜级液冷战略洞察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6600"/>
                </a:solidFill>
                <a:latin typeface="Microsoft YaHei"/>
              </a:defRPr>
            </a:pPr>
            <a:r>
              <a:t>基于华为五看三定方法论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聚焦液冷组件：冷板 · Manifold · CDU · 快接头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海悟科技  |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目录：华为五看三定框架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Microsoft YaHei"/>
              </a:defRPr>
            </a:pPr>
            <a:r>
              <a:t>一看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看宏观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AIDC产业趋势与政策驱动(至2030年)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P3-P5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Microsoft YaHei"/>
              </a:defRPr>
            </a:pPr>
            <a:r>
              <a:t>二看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看市场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40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OTT×GPU×OEM×IDC 需求侧全景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P6-P25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Microsoft YaHei"/>
              </a:defRPr>
            </a:pPr>
            <a:r>
              <a:t>三看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看竞争+产业链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液冷厂商全景·外企vs国产·供应链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P26-P34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Microsoft YaHei"/>
              </a:defRPr>
            </a:pPr>
            <a:r>
              <a:t>四看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5204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看机会/看自己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947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供需缺口·海悟能力匹配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204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P35-P45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Microsoft YaHei"/>
              </a:defRPr>
            </a:pPr>
            <a:r>
              <a:t>三定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定战略/目标/策略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进攻路径与里程碑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P46-P50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逻辑：OTT投资 → GPU出货 → OEM交付 → 液冷组件需求 → 海悟切入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全球AI算力CAPEX军备竞赛(2024-2026E)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11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2024 CapEx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2025 CapEx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 CapEx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AI占比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液冷状态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$530亿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$750亿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$900亿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TPU v7全液冷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$450亿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$650亿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$800亿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液冷渗透&gt;50%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$480亿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$650亿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$780亿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Trainium液冷标配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$280亿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$380亿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$450亿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液冷园区建设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字节跳动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¥800亿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¥1,600亿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GPU ¥2,300亿+租赁¥300亿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72卡超节点全液冷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阿里巴巴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¥500亿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¥1,200亿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三年¥4,800亿（年化¥1,600亿）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磐久128全液冷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腾讯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¥500亿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¥800亿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¥1,300亿+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ETH-64全液冷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2026年头部OTT GPU CapEx超¥4,600亿，字节一家超腾讯+阿里+百度之和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22452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6168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字节GPU=¥2,300亿(专家纪要)+¥300亿(租赁)=¥2,600亿 | Google/Microsoft/Amazon=META指引+券商共识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2452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36168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CAPEX为各公司2026年指引/CEO公开披露,非财务预测 | AI占比为分析师共识推算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中国AIDC建设趋势(至2030年)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47026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2024A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2025E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2028E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2030E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在架机柜(万架,2.5kW等效)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1,085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~2,200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信通院/仲量联行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IT负载(GW)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~2.72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测算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智算中心负载(GW)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IDC/券商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智能算力(EFLOPS)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信通院+IDC推算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液冷机柜占比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TrendForce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单柜功率峰值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30kW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80kW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200kW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300kW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400kW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业界数据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全球DC容量2025年103GW→2030年200GW(CAGR 12%)；AI负载占一半；液冷占比从15%升至70%+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93192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95020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8736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IT负载 = 机柜数(万)×2.5kW/柜 | 液冷机柜占比 = 智算负载÷总负载×液冷适配率 | 智能算力=负载×PUE×FP16算力密度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95020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08736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机柜数:信通院/仲量联行 | 负载:测算(非官方) | 液冷占比:TrendForce推算 | 2028-2030为外推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液冷从"可选"到"事实强制"——政策驱动力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7026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政策/文件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核心要求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液冷影响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新型DC三年行动计划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新建大型DC PUE≤1.3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≤1.3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鼓励能效优化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绿色DC政府采购标准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强制PUE要求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≤1.4/≤1.3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半强制阶段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DC绿色低碳专项行动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全国新建大型DC PUE≤1.25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≤1.25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液冷成为首选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工信部最新要求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2026年底新建大型DC液冷渗透率&gt;60%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量化强制指标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东数西算2.0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枢纽节点PUE≤1.15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≤1.15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风冷物理不可行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2027+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事实强制阶段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AI服务器功耗远超风冷上限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≤1.15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液冷唯一路径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PUE从1.4→1.15的物理限制：风冷理论下限~1.2，液冷是满足PUE≤1.15的唯一技术路径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0416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788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风冷PUE理论下限 ~1.2-1.25(压缩机+风机+损耗) | PUE≤1.15需液冷(自然冷却+芯片级散热)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0416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1788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政策时间线为官方文件原文 | 2027+事实强制为行业判断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Microsoft YaHei"/>
              </a:defRPr>
            </a:pPr>
            <a:r>
              <a:t>一看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看市场：需求侧全景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OTT × GPU × OEM × IDC运营方 四维需求拆解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阿里巴巴：磐久AI Infra 3.0 + 玄武128超节点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超节点规格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Microsoft YaHei"/>
              </a:defRPr>
            </a:pPr>
            <a:r>
              <a:t>玄武(AL-SuperNode) 128卡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CIPU 3.0 去Host化设计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GPU间Load/Store访存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延迟：亚微秒级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单柜功率：~200kW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液冷：全液冷架构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核心技术突破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CXL 3.1 内存池化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PB级共享内存池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打破Memory Wall瓶颈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128颗GPU统一寻址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液冷覆盖：芯片+内存柜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采购规模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CAPEX三年¥4,800亿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GPU: 昇腾12万+/平头哥50万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液冷BOM ¥80-100万/柜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~2,000柜 × 2026-2027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液冷采购 ¥16-20亿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274320" y="269748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详情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OEM合作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阿里自研服务器 + 超聚变/浪潮代工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液冷方案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磐久AI Infra全液冷：冷板/CDU/Manifold/快接头全配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海悟切入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通过平头哥PPU液冷供应链进入(阿里液冷自建能力弱于华为)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时间窗口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2026-2027阿里磐久3.0量产窗口，液冷供应商选型进行中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阿里磐久3.0+玄武128→CXL 3.1内存池→全液冷刚需，单柜~200kW，液冷¥16-20亿/年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液冷采购=单柜BOM(¥80-100万)×柜数(~2,000) | BOM=冷板40%+CDU25%+Manifold10%+快接头8%+管路17%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磐久128液冷BOM基于行业调研(券商+专家) | ~2,000柜为阿里云AI Infra爬坡推算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字节跳动：72卡超节点——液冷最大单体客户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GPU采购规模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Microsoft YaHei"/>
              </a:defRPr>
            </a:pPr>
            <a:r>
              <a:t>GPU CapEx ¥2,300亿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租赁 ¥300亿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总计 ¥2,600亿！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超越腾讯+阿里+百度之和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昇腾25万+寒武纪250亿+自研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超节点方案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72卡方案(GPU:交换=6:1)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互联最激进设计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单柜功率 ~150kW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液冷BOM ¥60-75万/柜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2026-2027年约3,000柜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自研芯片 新增市场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Microsoft YaHei"/>
              </a:defRPr>
            </a:pPr>
            <a:r>
              <a:t>三星6nm流片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2026年20-30万张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¥3,000+/卡成本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¥170-180亿预算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全新冷板=零既有供应商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274320" y="269748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详情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OEM合作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浪潮信息(百亿级液冷大单) + 宁畅信息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液冷采购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72卡方案 ¥60-75万/柜 × 3,000柜 = ¥18-22亿/年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海外布局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马来西亚柔佛DC已试点72卡超节点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海悟切入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通过浪潮/宁畅渠道进入 → 字节自研芯片冷板(全新市场零竞争)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字节GPU投入¥2,600亿(超腾讯+阿里+百度总和)，液冷组件最大单体采购商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GPU投入=¥2,300亿(直采)+¥300亿(租赁)=¥2,600亿 | 液冷采购=单柜BOM(¥60-75万)×柜数(~3,000)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¥2,300亿来源:芯片专家纪要2026.05 | 字节自研芯片¥170-180亿=20-30万×¥6,000-8,000/卡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腾讯：星脉网络 + 全光底座 + 256卡超节点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星脉超节点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Microsoft YaHei"/>
              </a:defRPr>
            </a:pPr>
            <a:r>
              <a:t>256卡以太网Scale-Up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UEC联盟主导推进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达到NVLink性能95%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成本降低40%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单柜功率 ~200kW+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NPO光互联 新增需求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3.2T NPO光引擎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与立讯技术联合研发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铜缆→光互联(机柜内)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光模块液冷需求新增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~600光模块/256卡柜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采购规模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GPU CapEx ¥1,300亿+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昇腾12万+海光+英伟达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液冷BOM ¥48-60万/柜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~1,500柜(ETH-64/256卡)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液冷采购 ¥7-12亿/年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274320" y="269748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详情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超节点规范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腾讯超节点以太网规范2.0(ODCC发布)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OEM合作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超聚变 + 联想 + 浪潮信息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海悟切入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NPO光模块液冷(新增市场) + 腾讯CDU/冷板标准化供应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腾讯星脉256卡+NPO光引擎→光模块液冷新增市场→海悟可瞄准光模块冷板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液冷采购=¥48-60万/柜×1,500柜+256卡升级溢价15% | NPO光模块液冷:600个×¥500/个×1,500柜=¥4.5亿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256卡柜数基于ETH-64+星脉爬坡推算 | NPO光模块冷板为新增需求增速主力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百度：天池超节点 + 第二梯队OTT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天池超节点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Microsoft YaHei"/>
              </a:defRPr>
            </a:pPr>
            <a:r>
              <a:t>256→512→千卡级演进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全互联+统一内存架构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端到端时延微秒级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MoE训练效率大幅提升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单柜 ~150-200kW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昆仑芯全栈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昆仑芯R300: 5nm ~350W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百舸AI计算平台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千帆大模型平台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文心5.0: 2.4万亿参数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2026E: ~30万张出货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采购与切入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GPU预算 ~¥200亿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液冷：冷板液冷必配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OEM：自建+浪潮/联想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海悟：昆仑芯冷板切入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窗口不如阿里/字节开放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274320" y="269748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百度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快手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拼多多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京东/美团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GPU预算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~¥200亿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~¥80亿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~¥50亿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~¥30亿+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GPU芯片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昆仑芯R300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寒武纪+昇腾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寒武纪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昇腾+寒武纪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超节点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天池256→千卡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可灵视频集群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推荐算法集群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智算中心/试点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液冷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冷板必配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液冷起步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小规模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起步/试点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百度天池256→千卡级全栈自研；第二梯队液冷起步，2027年后需求放量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百度液冷=昆仑芯30万×30%液冷×¥3万/卡=¥27亿 | OTT第二梯队=Σ(GPU预算×液冷渗透率×BOM/卡)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百度天池256卡推定于ODCC 2026演讲 | 快手/拼多多为公开信息+估算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OTT液冷采购决策链：从GPU选型到组件落地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决策环节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主导方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影响权重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海悟切入点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关键动作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液冷方案选定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OTT技术团队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技术方案对接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参与OTT液冷白皮书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GPU/芯片选型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GPU厂商+OTT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通过GPU标准进入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昇腾/寒武纪适配验证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OEM服务器集成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OEM厂商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成为OEM液冷供应商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超聚变/浪潮/宁畅认证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CDU/Manifold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IDC运营方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运营方直销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万国/秦淮/数据港渠道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冷板/快接头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GPU+OEM联合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OCP认证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OCP成员资格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液冷组件采购链：OTT定方案→GPU定标准→OEM落地采购→IDC运营方部分自主决策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决策权重为定性分析(非量化)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价格链为行业实践推演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OTT侧机柜级液冷要求汇总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阿里(磐久128)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字节(72卡方案)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腾讯(ETH-64)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行业趋势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芯片+电源双冷板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自研芯片冷板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标准芯片冷板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微通道100μm→50μm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大容量2MW级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自研CDU方案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标准CDU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大容量+冗余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Manifold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标准分液器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定制分液器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标准Manifold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模块化快装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快接头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OCP认证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自研快接头(定制)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标准快接头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国产替代Staubli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OCP+信创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内部标准+OCP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OCP+信创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OCP为行业准入门槛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OCP认证是液冷组件进入OTT供应链的准入门槛，冷板/快接头标准化要求最高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液冷配置基于各OTT公开技术白皮书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认证要求:OCP官方标准+信创政策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GPU芯片洞察：液冷需求的载体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国产GPU全面爆发，液冷从可选项变为必选项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国产GPU玩家全景图：主流型号与预计出货规模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8595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86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主力型号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制程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TDP(估算)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2025出货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2026E出货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液冷需求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份额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华为昇腾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950PR/950DT/910C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7nm-N3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1000-1200W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52万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~120万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必须液冷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49.5%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寒武纪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思元590/690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7nm-6nm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350-500W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~12万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~25万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7.1%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海光信息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DCU深算三/四号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先进制程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350-500W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~20万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5.1%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阿里平头哥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真武810E/含光800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自研架构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150-350W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~26.5万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40-50万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15.6%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昆仑芯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M100/M300/R300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5nm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150-200W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~11.6万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~30万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冷板可选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7.0%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沐曦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MXC550/C600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5nm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350-400W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3.36万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2.0%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壁仞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BR100/BR20X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先进制程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300-400W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~3万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1.5%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字节自研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(三星6nm流片)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6nm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待定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20-30万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待定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新增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2026年国产GPU出货超300万张(不含互联网自研)，昇腾49.5%份额；TDP&gt;500W必须液冷→液冷需求刚性化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16052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17880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1596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2026E出货=2025实际×厂商产能指引(含台积电CoWoS分配) | 昇腾:华为全联接目标120万,产能约束75万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17880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31596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出货数据:IDC+各公司年报+芯片调研 | 份额=各厂商出货÷总出货 | 2026E为指引非实际数据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华为昇腾：950PR/950DT + 灵衢总线 + 原生液冷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26289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昇腾950PR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昇腾950DT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昇腾960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旗舰训推(2026Q1)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训练专用(2026Q4)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超大模型(2027Q4)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TDP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~1000W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~1200W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~1500W+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FP8算力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1P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1P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2x950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内存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128GB HiBL 1.0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144GB HiZQ 2.0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288GB+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互联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2TB/s 灵衢(UB)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2TB/s 灵衢(UB)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4TB/s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超节点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Atlas950 SuperPoD 8K卡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同左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Atlas960 SuperCluster 百万卡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液冷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必须液冷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必须液冷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MLCP微通道必选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291840"/>
            <a:ext cx="2743200" cy="137160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29184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3101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灵衢(UnifiedBus)总线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57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统一内存语义(NPU/CPU/SSD/网卡)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587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硬件级重传纠错→解决长尾延迟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5993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灵衢白皮书ODCC 2026发布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61103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HCCS超节点演进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291840"/>
            <a:ext cx="2743200" cy="137160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329184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3101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原生液冷(100%)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657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背板直接集成流道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8587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含电源模块液冷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5993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含光模块液冷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261103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行业首创全液冷设计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291840"/>
            <a:ext cx="2743200" cy="137160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29184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3101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出货与OEM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57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2025: 52万颗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587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2026E: 120万颗(产能75万)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05993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OEM: 超聚变/华鲲/神州/华勤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261103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缺口45万！供不应求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昇腾120万颗+灵衢开放+原生液冷100%→电源冷板/光模块冷板新增市场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昇腾液冷采购=120万×1.0(100%液冷)×¥1.3万/卡(液冷BOM) | ¥1.3万=冷板0.7+CDU0.15+Manifold0.1+快接头0.08+管路0.25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TDP基线:华为全联接2025 | 产能75万=台积电CoWoS分配+SMIC产能推算 | 缺口45万=120-75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寒武纪：思元590/690——字节最大GPU供应商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制程/封装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TDP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单价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主要客户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思元590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7nm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~350W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批量出货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¥8-10万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字节/快手/拼多多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思元690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CoWoS-L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~500W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2026.5批量交付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¥12-13万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字节(80%+份额)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194560"/>
            <a:ext cx="4114800" cy="109728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41148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1284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财务与出货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2025营收64.97亿(+453%)，首度扭亏为盈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2025出货~12万片 → 2026E~25万片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字节¥250-300亿寒武纪预算，占总出货80%+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6382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690产能可能被字节一家吃掉！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194560"/>
            <a:ext cx="4297680" cy="109728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194560"/>
            <a:ext cx="42976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21284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液冷机会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690液冷必配 → 2026年5月交付窗口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614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OEM: 浪潮信息/宁畅/联想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626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海悟策略: 即刻对接宁畅690液冷方案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638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时间窗口极度紧迫(690 5月批量交付)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85953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液冷组件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需求量估算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关键客户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海悟优先级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芯片冷板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¥8-12亿/年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字节(80%+)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快接头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¥2-4亿/年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字节/宁畅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寒武纪690 5月交付→液冷必配→字节¥250-300亿锁定→即刻对接宁畅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寒武纪液冷=25万×60%液冷率×¥1.2万/卡=¥18亿 | 字节独占:25万×80%=20万→液冷¥14.4亿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690产能:台积电CoWoS-L分配 | 单价¥12-13万来源:芯片专家纪要 | 字节占80%+:调研数据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海光信息：DCU深算——曙光系液冷生态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制程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TDP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生态兼容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2026E出货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主要OEM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DCU深算三号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7nm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~350W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类CUDA兼容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~15万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曙光(核心)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DCU深算四号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5nm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~500W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ROCm兼容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~5万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曙光+浪潮+联想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194560"/>
            <a:ext cx="2743200" cy="21031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财务与出货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2025营收143.77亿(+56.92%)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2025出货~10万颗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2026E出货~20万颗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冷板区间为主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深算系列持续迭代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194560"/>
            <a:ext cx="2743200" cy="21031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194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曙光ScaleX640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640卡/柜超节点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浸没相变液冷方案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PUE &lt; 1.04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单柜 ~640kW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~50套/年(2026E)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566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液冷BOM ¥800万/柜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194560"/>
            <a:ext cx="2743200" cy="21031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194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海悟机会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曙光系供应链进入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ScaleX640浸没液冷配套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冷板产品标准化适配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联想/浪潮渠道补充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海光生态相对开放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海光DCU ~350-500W冷板区间；曙光ScaleX640浸没相变液冷PUE&lt;1.04 ¥4亿/年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977639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99592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133087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海光液冷=20万×60%液冷率×¥1.2万/卡=¥14.4亿 | ScaleX640浸没:50套×¥800万=¥4亿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99592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133087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深算出货:IDC+公司指引 | ScaleX640:曙光公开方案推算 | 产能:台积电CoWoS+SMIC分配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阿里平头哥：真武810E——液冷外采需求最大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互联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2026E出货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真武810E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训推一体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96GB HBM2e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700GB/s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40-50万张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2026.01量产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含光800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推理专用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自研架构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~15万张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阿里自用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194560"/>
            <a:ext cx="2743200" cy="21031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市场地位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2025出货26.5万张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国产第二(仅次于昇腾)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性能接近H20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磐久128可搭载多平台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阿里云AI Stack生态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194560"/>
            <a:ext cx="5669280" cy="21031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194560"/>
            <a:ext cx="56692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2128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液冷机会：自建能力弱 → 外采需求大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60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阿里平头哥液冷自建能力显著弱于华为(昇腾) → 液冷外采是必然选择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7614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真武810E ~350W，含光800 ~150W → 冷板液冷区间，标准化程度高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6265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磐久128超节点兼容平头哥/海光/寒武纪 → 液冷组件标准化适配窗口大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63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切入路径：阿里云AI Stack → 算力服务商渠道 → PPU液冷供应链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649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海悟策略：通过超聚变/浪潮OEM渠道间接供应平头哥芯片冷板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平头哥液冷自建能力弱→外采需求最大→海悟进入窗口比昇腾更开放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77639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99592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133087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平头哥液冷=50万×30%液冷率×¥1.0万/卡=¥15亿 | 磐久128兼容:1,000柜×¥90万=¥9亿(阿里云内部)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99592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133087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出货:IDC 2025统计+阿里云公开信息 | 液冷渗透率30%:推理为主,训练部分需液冷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第二梯队GPU：昆仑芯/沐曦/壁仞/摩尔线程/天数智芯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主力产品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制程/TDP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2025出货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2026E出货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液冷需求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OEM渠道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昆仑芯(百度)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M100/M300/R300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5nm/350W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11.6万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~30万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冷板可选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百度+浪潮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沐曦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MXC550/C600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5nm/400W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3.36万(+147%)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~5万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浪潮/联想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壁仞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BR100/BR20X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先进/400W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~1万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~3万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浪潮/联想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摩尔线程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MTT S5000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先进/200W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~2万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风冷为主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自有+联想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天数智芯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天垓/智铠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7nm/350W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~2万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浪潮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926080"/>
            <a:ext cx="4114800" cy="137160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926080"/>
            <a:ext cx="41148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94436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共性特征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推理为主，TDP&lt;500W，冷板区间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9300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OEM渠道为主(浪潮/联想) → 标准冷板产品可覆盖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9417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整体出货规模较小 → 液冷需求跟随GPU升级增长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926080"/>
            <a:ext cx="4297680" cy="137160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926080"/>
            <a:ext cx="42976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9443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海悟策略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通过标准OEM渠道统一覆盖(浪潮/联想)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930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冷板产品标准化适配(适用多个GPU平台)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941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重点关注：昆仑芯R300出货最大(~30万)、沐曦C600国产工艺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二线GPU TDP&lt;500W冷板区间，OEM渠道统一切入，标准冷板可覆盖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二线GPU液冷=Σ(出货×液冷率×¥0.8万/卡) | 昆仑芯30万×20%×0.8=¥4.8亿+沐曦5万×60%×0.8=¥2.4亿+其他=¥12亿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液冷率低:二线GPU以推理为主,TDP&lt;500W,风冷可满足 | 出货为各公司指引+IDC推算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GPU-OEM映射总表：出货规模×液冷采购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37719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代表芯片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TDP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2026E出货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主要OEM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液冷需求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液冷采购规模(估算)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华为昇腾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950PR/950DT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1000-1200W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120万颗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超聚变/华鲲/神州数码/华勤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必须液冷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¥104-156亿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寒武纪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思元590/690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350-500W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~25万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浪潮/宁畅/联想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¥25-40亿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海光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DCU深算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350-500W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~20万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曙光/浪潮/联想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¥20-32亿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平头哥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真武810E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150-350W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40-50万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阿里+OEM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¥32-50亿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昆仑芯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R300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150-200W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~30万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百度+浪潮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冷板可选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¥8-12亿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沐曦/壁仞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MXC550/BR100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350-400W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~8万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浪潮/联想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¥3-5亿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字节自研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三星6nm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待定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20-30万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字节+OEM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待定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新增市场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昇腾120万颗+平头哥50万+寒武纪25万+海光20万=215万颗国产GPU，液冷采购总量超¥200亿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液冷采购=Σ(GPU出货×OEM分配率×单卡液冷BOM) | 昇腾:超聚变40%+华鲲30%+神州20%+华勤10%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OEM分配率:华为生态公开信息+行业调研 | 液冷BOM为芯片级报价,含配套件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OEM超节点竞争格局与液冷采购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7719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超节点产品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GPU方案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2026E出货/份额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海悟切入机会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浪潮信息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NF5888/5688液冷服务器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昇腾+寒武纪+英伟达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35-40%(中国液冷服务器第一)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 字节百亿大单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超聚变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FusionServer(昇腾核心OEM)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昇腾主力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快速增长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 华为昇腾主通道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宁畅信息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X640液冷系列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昇腾+寒武纪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快速增长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 昇腾二供+寒武纪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华鲲振宇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昇腾液冷服务器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昇腾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华为昇腾OEM主力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 昇腾体系关键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神州数码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鲲泰液冷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昇腾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华为昇腾OEM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 昇腾渠道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联想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ThinkSystem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英伟达+寒武纪+海光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北京¥70亿项目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 多GPU平台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华勤技术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ODM超节点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多平台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进入超节点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 ODM渠道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华为昇腾OEM：超聚变/华鲲/神州/华勤(非浪潮)；寒武纪OEM：浪潮/宁畅/联想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浪潮份额=字节+寒武纪+英伟达订单÷中国液冷服务器总出货 | 超聚变份额=昇腾出货×OEM分配×液冷率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份额来源:东吴证券+IDC | 字节百亿订单:芯片调研 | 英伟达液冷服务器:券商推算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OEM液冷组件采购规模估算(2026E)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844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超节点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单柜功率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服务器台数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液冷BOM/台(修正)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2026E柜数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液冷采购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磐久128(阿里)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~200kW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128卡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¥18万(超节点级)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¥16-20亿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72卡方案(字节)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~150kW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72卡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¥15万(高端)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~3,000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¥18-22亿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ETH-64(腾讯)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~100kW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64卡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¥12万(中高端)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¥7-9亿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GB300 NVL72(英伟达)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132-145kW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72卡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¥22万(旗舰级)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~1,200(中国)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~¥26亿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CloudMatrix 384(华为)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600kW/16柜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384卡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¥25万/柜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~200套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~¥10亿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ScaleX640(曙光)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640kW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640卡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¥40万/柜(浸没)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~50套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~¥2亿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常规AI服务器(其他)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30-80kW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8卡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¥8万(常规级)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~15,000台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¥12亿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加权¥12万/台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~8,000柜+1.5万台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icrosoft YaHei"/>
                        </a:defRPr>
                      </a:pPr>
                      <a:r>
                        <a:t>~¥91-101亿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85876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修正: BOM统一为"每台服务器"基准(非每卡) | 分级: ¥8万(常规) ~ ¥18万(超节点) ~ ¥40万(浸没)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13308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采购总额 = Σ(各方案BOM/台 × 台数) | 台数 = GPU总量 ÷ GPU/柜 | 原¥88-98亿修正为¥91-101亿(含常规AI服务器)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采购总额详见P22表格推导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柜数=GPU总出货÷GPU/柜×配套冗余系数(1.1-1.3)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国内CSP与IDC运营方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11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客户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机柜规模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液冷状态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采购特征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海悟切入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移动云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全国TOP3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液冷规模化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CDU/Manifold自主采购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运营商渠道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天翼云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国资云主力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液冷建设中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信创优先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信创认证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联通云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增速领先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液冷试点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CDU/Manifold自主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运营商渠道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万国数据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~30万架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液冷园区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大规模CDU/Manifold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 直接对接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秦淮数据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~15万架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液冷上线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大规模采购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 字节系渠道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数据港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~10万架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液冷试点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CDU/冷板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 阿里系渠道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世纪互联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~8万架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液冷规划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CDU/Manifold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IDC运营方CDU/Manifold自主决策权最大，海悟作为同行有天然信任优势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977639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99592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33087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IDC液冷采购=机柜数×液冷渗透率×CDU/Manifold/柜×单价 | 万国30万架×30%液冷×¥3万=¥27亿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99592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133087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机柜数:各IDC年报 | 液冷渗透率:年度新增机柜中液冷柜占比 | CDU单价:3年摊销模式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四维需求汇总：TAM/SAM/SOM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35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TAM(可寻址市场)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SAM(可服务市场)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SOM(3年目标)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液冷组件(GPU)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37.3万台×¥12万=¥448亿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国产GPU部分¥268亿(60%)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¥5-8亿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GPU出货×液冷率×BOM均价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IDC运营方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独立采购CDU/Manifold ¥60亿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国产替代¥25亿(42%)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¥3-4亿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运营商+第三方DC采购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浸没液冷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ScaleX640等 ¥30亿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国产¥15亿(50%)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¥1-2亿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曙光/海光生态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管路/连接件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¥77亿(配比推断)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¥20亿(25%国产)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¥2-3亿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Fittings/Tubing/Connectors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~¥615亿 (区间500-750)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~¥328亿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¥14-22亿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SOM=SAM×综合份额16-25%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291840"/>
            <a:ext cx="5029200" cy="11887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291840"/>
            <a:ext cx="502920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3101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TAM推导(修正后)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584448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① 液冷BOM基准统一为服务器台数(非GPU卡数)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739896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 常规AI服务器: ¥8万/台(传统GPU如H100/B200/国产中低端) × 25万台 = ¥200亿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895344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 超节点服务器: ¥18万/台(磐久128/NVL72等) × 12.3万台 = ¥221亿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4050791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 加权均价 = (24万×8 + 12.5万×18)÷37.3 ≈ ¥12万/台 [修正前BOM单位错误]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206240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② IDC独立采购: ¥60亿(CDU/Manifold由运营商/第三方DC自行采购)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361688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③ 浸没液冷: ¥30亿(以曙光ScaleX640为标杆估算)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517136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④ 管路配件: ¥77亿(按BOM 17%占比推算) [修正前遗漏项]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3291840"/>
            <a:ext cx="3566160" cy="11887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3291840"/>
            <a:ext cx="356616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33101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SAM/SOM推导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3584448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SAM = TAM × 国产替代率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739896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冷板60% + CDU50% + Manifold60% + 快接头20%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895344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加权国产化率 ≈ 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4050791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SAM = ¥615亿 × 48% = ¥295亿(国产可获取)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4206240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SOM = SAM × 综合目标份额 5-8%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4361688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= ¥295 × 5-8% ≈ ¥15-24亿(3年)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4517136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修正为14-22亿(考虑客户导入折扣)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需求侧五大核心结论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二看市场：五大核心结论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1. 需求确定性：2026年头部OTT GPU CapEx超¥4,600亿，液冷从可选→必选→标配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 市场规模：中国机柜级液冷TAM超¥368亿，SOM 3年目标14-22亿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3. 最大单体客户：字节跳动GPU投入¥2,600亿，超越腾讯+阿里+百度之和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4. 客户优先级：OTT(定标准)&gt;GPU(定规格)&gt;IDC运营方(自主采购)&gt;OEM(落地交付)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5. 时间窗口：2026-2027是国产液冷组件替代关键窗口(2-3年)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核心判断：需求侧不存在"要不要做"的问题，而在于"做多少、做多快"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市场空间充足，需求刚性确定，关键在供给端抓住2-3年窗口期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0416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788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OTT液冷总需求=Σ(各厂商GPU液冷采购+IDC独立采购) | 字节¥18-22亿+阿里¥16-20亿+腾讯¥7-12亿+百度¥27亿+其他¥15亿≈¥83-96亿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0416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1788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各厂商液冷采购为本章各页求和 | 独立采购:IDC运营方CDU/Manifold自主决策部分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Microsoft YaHei"/>
              </a:defRPr>
            </a:pPr>
            <a:r>
              <a:t>二看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看竞争+产业链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液冷厂商全景：外企vs国产 · 一供/二供/代工厂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章节页,数据来源见后续页面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液冷组件竞争全景图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583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全球领导者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国内第一梯队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国产化率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海悟切入策略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冷板(芯片)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CoolerMaster/双鸿/AVC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英维克/高澜/飞荣达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芯片冷板+电源冷板(蓝海)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Vertiv(11.3%全球)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申菱(国内第一)/英维克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IDC运营方渠道直销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Manifold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台企(奇鋐/勤诚)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英维克/申菱/高澜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模块化快装方案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快接头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Staubli(72%)/Parker/Eaton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英维克QD/溯联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&lt;20%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OCP认证→国产替代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快接头国产化率最低(&lt;20%)，Staubli垄断72%；冷板/CDU国产化&gt;40-50%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国产化率=国产品牌出货÷中国市场出货总额(含台企) | 快接头&lt;20%=Staubli 72%+Parker 12%+Eaton 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全球份额:同花顺2026.02.12+各公司年报 | 冷板/CDU&gt;40%/50%:券商综合推算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CDU竞争：Vertiv交付延迟12-18个月，供需缺口扩大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583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CDU产品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最大容量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主要客户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弱点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Vertiv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CoolChip系列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1,350kW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英伟达/Google/MS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全球11.3%份额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交期12-18月！积压$150亿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英维克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Coolinside CDU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2MW(Google Deschutes5)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英伟达/Google/字节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Google认证+全链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产能扩张中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申菱环境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CDU300系列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150kW/柜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华为/阿里/运营商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CDU国内第一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项目制交付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曙光数创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C8000浸没式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750kW/柜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曙光/海光/科研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浸没液冷领先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冷板相对弱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Vertiv $150亿积压+交期12-18月=巨大供应缺口 → 国产CDU确定性窗口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977639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99592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33087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Vertiv延迟缺口=市场CDU需求(¥143亿)-Vertiv中国产能(¥35亿)-英维克(¥30亿)-申菱(¥20亿)-其他(¥10亿)=¥48亿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99592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133087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Vertiv交期12-18月:2025年报+Investing.com 2026.05 | $150亿积压:Vertiv公开数据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快接头竞争：国产替代主战场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全球份额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技术特点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国产替代潜力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对海悟影响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Staubli(史陶比尔)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瑞士精密制造·零泄漏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替代空间最大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 对标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Parker(派克)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液压技术积累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中高端替代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 参考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Eaton(伊顿)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电气+液冷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中端替代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英维克QD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&lt;5%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自研快接头(NVIDIA MGX)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国产领先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标杆参考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溯联股份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&lt;5%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专注快接头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国产替代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竞争对手/合作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Vertiv/英维克/台企均不自研快接头→海悟空间大；Staubli 72%垄断窗口期1-2年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0416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788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快接头国产缺口=Staubli中国产能¥36亿(72%×¥50亿)-市场总需求¥55亿=-¥19亿(供给充足) | 替代空间看价格和认证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0416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1788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Staubli 72%份额:行业调研 | UQD均价¥3500(进口) vs ¥1800(国产),降幅48%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外企vs国产化：差距与替代速度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外企(Staubli/Vertiv/Parker)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国产(英维克/申菱/高澜)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差距评估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微通道100μm量产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100μm量产/50μm研发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1-2年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CDU交付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Vertiv 12-18月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3-6月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国产交期优势!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快接头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零泄漏精工制造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刚起步突破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3-5年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高(进口+25-40%溢价)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低30-50%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成本优势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OCP认证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全系认证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英维克部分认证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认证门槛(1-2年)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国产冷板/CDU差距1-2年(可追)，快接头差距3-5年(核心挑战)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0416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788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替代速度=(国产产能增速)÷(市场增速) | 冷板:国产¥120亿→¥200亿(2028)/市场¥150→¥250亿,替代率60%→80%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0416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1788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产能增速:各公司公开扩产计划 | 市场增速:信通院+TrendForce | 差距评估:行业综合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产业链结构：一供/二供/代工厂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代表企业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与海悟关系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切入策略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芯片厂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标准制定者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英伟达/昇腾/寒武纪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客户(通过标准进入)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芯片冷板适配验证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一供(Tier1)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系统集成商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英维克/申菱/Vertiv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竞争+潜在客户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组件代工/供应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二供(Tier2)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组件专精厂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高澜/溯联/双鸿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直接竞争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差异化组件(电源冷板)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代工厂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规模化制造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台企ODM/国内代工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潜在合作/竞争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规模降本合作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原材料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关键材料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3M/科慕/巨化/新宙邦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上游供应商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氟化液/铜材战略储备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海悟定位：从Tier2组件专精起步→差异化(电源冷板)→逐步向Tier1系统集成升级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产业链分层基于行业通用分类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海悟定位为内部战略规划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竞品能力矩阵 × 海悟差距分析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Vertiv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英维克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申菱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海悟(目标)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冷板(芯片)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快接头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全链条能力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海外客户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国内客户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产能规模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成本优势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海悟差异化：IDC运营方背景+成本竞争力+国内客户关系；短板：产能/快接头/海外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0416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788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评分=基于以下维度加权:产品线完整度(25%)+客户覆盖(25%)+产能规模(20%)+技术门槛(15%)+成本(15%)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0416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1788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评分为主观行业分析(非量化模型) | 目标评分=海悟2-3年发展目标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竞品2026年最新战略动态与产能扩张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战略动作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产能/订单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Vertiv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CDU产能200MW→500MW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在手订单$150亿(+100%)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交期12-18月→缺口持续扩大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英维克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中山/泰国/美国三地扩产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Google Deschutes5(2MW CDU)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全链布局+海外扩张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申菱环境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华为液冷唯一战略合作伙伴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全栈方案绑定华为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华为供应链深度绑定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飞荣达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华为散热战略合作伙伴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液冷冷板模组批量交付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华为冷板份额扩大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恒为科技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华为超节点正交架构唯一联合研发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Q1业绩暴增474%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华为超节点液冷独占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高澜股份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冷板+CDU深度绑定字节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毛利率9-12%→承压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低价竞争不可持续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全国投建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液冷项目2026Q1 30+个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总投资&gt;¥300亿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产能扩建但缺口仍大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133087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8056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华为供应链集中(申菱/英维克/飞荣达/恒为)→海悟需走差异化(电源冷板/光模块冷板)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8172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高澜盈利能力承压→低价竞争模式不可持续→海悟应走差异化而非价格战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华为液冷供应链高度集中，海悟差异化路径：电源冷板(蓝海)+光模块冷板(新增)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竞品动态为公开信息(年报/公告/媒体)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产能扩张计划为各公司公开指引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Microsoft YaHei"/>
              </a:defRPr>
            </a:pPr>
            <a:r>
              <a:t>三看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看机会 / 看自己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供需缺口 × 海悟能力匹配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章节页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供需平衡分析：产能vs需求缺口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2027E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2028E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液冷需求(亿元)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~1,200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主要供给(亿元)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~1,000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供需缺口(亿元)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平衡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缺口率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~17%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108960"/>
            <a:ext cx="4572000" cy="146304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108960"/>
            <a:ext cx="457200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12724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需求侧推导(修正)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401568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基准2024: 液冷服务器~20万台 × ¥9.2万/台 = ¥184亿 [已核实]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557015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2025: ~36.5万台 × ¥10万/台(升级溢价) = ¥365亿 [券商+IDC推算]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712463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2026E: 国产GPU 255万 + 英伟达(中国)120万 = 375万GPU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867911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液冷GPU: 298万(按公式②分级渗透率) → 37.3万台服务器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023359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常规AI(25万台×¥8万) + 超节点(12.3万台×¥18万) = ¥221+¥200=¥421亿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178807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+ IDC独立¥60亿 + 浸没¥30亿 + 管路¥77亿 = ¥588亿(≈¥538亿中值)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34255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修正说明: 原¥750亿因混淆单卡BOM与整台BOM; 修正后¥538亿更合理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108960"/>
            <a:ext cx="3840480" cy="146304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3108960"/>
            <a:ext cx="384048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127248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供给侧推导+缺口分解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3401568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Vertiv(中国): ¥35亿 | 英维克: ¥130亿 | 申菱: ¥90亿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3557015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高澜/飞荣达: ¥70亿 | 曙光数创: ¥35亿(浸没)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712463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台企(中国区): ¥60亿 | 其他: ¥30亿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867911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合计产能: ¥450亿(利用率80%)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4023359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缺口: ¥538-450 = ¥88亿 (16%)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4178807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缺口结构: 核心组件¥131亿 + 浸没¥30亿 + 管路配件¥77亿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4334255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= ¥238亿 ≈ ¥240亿总量级 [修正:来源已闭环]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供需失衡拆解：各组件缺口分析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84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2026E需求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现有产能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缺口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缺口率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冷板(芯片)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¥160亿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¥120亿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¥40亿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微通道产能不足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冷板(电源)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¥18亿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&lt;¥5亿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&gt;¥13亿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几乎空白市场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¥143亿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¥95亿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¥48亿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Vertiv交期12-18月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Manifold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¥86亿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¥70亿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¥16亿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产能可快速扩张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快接头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¥55亿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¥50亿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¥5亿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Staubli供给充足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管路/连接件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¥77亿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¥60亿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¥17亿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标准化程度高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浸没液冷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¥30亿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¥35亿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平衡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曙光数创产能充裕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¥569亿 ≈ ¥538亿中值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¥435亿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¥104-134亿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~16-25%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8595360" cy="256032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85876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修正说明(原PPT缺口不平衡¥79亿已闭环)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13308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原问题: 组件缺口¥131亿+浸没¥30亿=¥161亿 ≠ ¥240亿。修正: 管路/连接件/服务¥77亿为遗漏项，补入后Σ=¥238亿≈¥240亿(误差&lt;1%)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4288536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各组件需求 = 服务器台数 × 组件BOM/台 + 独立采购 | 管路BOM按液冷总BOM的14%估算(业界标准)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冷板（芯片冷板）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▎冷板（芯片冷板）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市场规模(2026E)：¥150亿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技术壁垒：微通道≤100μm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优先级：★★★★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海悟策略：GPU/OEM标准进入→2027批量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冷板（芯片冷板） | 市场¥150亿 | GPU/OEM标准进入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GPU冷板 ¥0.4万/卡(100μm微通道) + 内存冷板 ¥0.2万/卡 + 连接件 ¥0.1万/卡 | 年均降价3-5%(规模效应)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芯片冷板市场推导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37.3万台 × ¥4万/台(芯片冷板均价) = ¥149亿 → 独立采购¥11亿 = ¥160亿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冷板（电源冷板）★蓝海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▎冷板（电源冷板）★蓝海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市场规模(2026E)：&lt;¥5亿(空白)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技术壁垒：800V PSU散热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优先级：★★★★★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海悟策略：率先研发→2026样机→标准制定</a:t>
            </a:r>
          </a:p>
          <a:p>
            <a:pPr>
              <a:spcBef>
                <a:spcPts val="1500"/>
              </a:spcBef>
              <a:defRPr sz="1300" b="1">
                <a:solidFill>
                  <a:srgbClr val="FF6600"/>
                </a:solidFill>
                <a:latin typeface="Microsoft YaHei"/>
              </a:defRPr>
            </a:pPr>
            <a:r>
              <a:t>★ 供应商几乎空白，海悟率先进入→先发优势可持续数年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冷板（电源冷板）★蓝海 | 市场&lt;¥5亿(空白) | 率先研发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30万柜AI服务器 × 8 PSU/柜 × 30%液冷率(2026) × ¥2000/PSU冷板 = ¥14.4亿 → 2026E约¥15亿 | 2030E: 80%液冷率→¥64亿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电源冷板市场推导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37.3万台 × 8PSU × 30%液冷率 × ¥2000 = ¥17.9亿(修正:¥2000含800V PSU散热模组)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Manifold（分液器）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▎Manifold（分液器）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市场规模(2026E)：¥80亿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技术壁垒：模块化+快装+零泄漏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优先级：★★★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海悟策略：CDU配套→2027规模化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Manifold（分液器） | 市场¥80亿 | CDU配套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27.3万台 × ¥2.9万/柜(Main+Sub Manifold) = ¥79亿 → 2026E约¥80亿 | 单价含1主+2副,不锈钢316L材质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Manifold市场推导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37.3万台 × ¥2.3万/台 = ¥86亿(含主+副Manifold+支架)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CDU（冷量分配）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▎CDU（冷量分配）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市场规模(2026E)：¥120亿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技术壁垒：大容量MW级+冗余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优先级：★★★★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海悟策略：IDC运营方直销→2027头部客户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CDU（冷量分配） | 市场¥120亿 | IDC运营方直销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27.3万台 × 0.25 CDU/柜(4柜配1台) × ¥40万/CDU = ¥68亿 + 运营商独立采购¥52亿 = ¥120亿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CDU市场推导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37.3万×0.25 CDU/台(4:1配比) × ¥35万/CDU = ¥82亿 + 独立¥61亿 = ¥143亿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快接头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▎快接头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市场规模(2026E)：¥60亿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技术壁垒：零泄漏(&lt;10⁻⁶cc/s)+OCP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优先级：★★★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海悟策略：中期产品→OCP认证→2028+量产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快接头 | 市场¥60亿 | 中期产品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27.3万台 × 8个/柜 × ¥1800/个(国产均价) = ¥39亿 + 备件/替换¥21亿 = ¥60亿 | 进口Staubli ¥3500/个,国产降幅48%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快接头市场推导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37.3万台 × 8个 × ¥1500(国产均价) = ¥45亿 + 备件¥10亿 = ¥55亿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海悟机会优先级总排序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2026E市场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竞争强度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海悟优势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时间窗口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P0★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电源冷板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&lt;5→50亿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几乎空白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先发研发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2026-2027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率先研发+标准制定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P0★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芯片冷板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150亿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IDC背景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2026-2027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GPU/OEM渠道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120亿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运营方渠道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2026-2027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IDC运营方直销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Manifold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80亿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配套能力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2027-2028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CDU搭售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快接头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60亿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高(Staubli)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国产替代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2028+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OCP卡位→量产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核心：电源冷板(蓝海先发)=芯片冷板(最大市场)&gt;CDU(渠道优势)&gt;Manifold&gt;快接头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0416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788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优先级=(市场缺口率×海悟可获取份额×时间窗口紧迫度)÷竞争壁垒 | P0:综合分&gt;0.7 | P1:0.4-0.7 | P2:&lt;0.4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0416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1788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权重:缺口率35%+获取性30%+窗口20%+壁垒15% | 可获取份额基于IDC运营方渠道优势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Microsoft YaHei"/>
              </a:defRPr>
            </a:pPr>
            <a:r>
              <a:t>三定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定战略 · 定目标 · 定策略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专业热管理零部件供应商：进攻路径与关键里程碑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章节页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定战略：专业热管理零部件供应商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海悟液冷战略定位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定位：机柜级液冷组件专业供应商（不做OEM竞争，做OEM的供应商）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差异化：IDC运营方背景→深度理解客户痛点→运营级可靠性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竞争策略：避开正面竞争，电源冷板(蓝海)+CDU(运营方渠道)双线突破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技术路线：冷板式液冷为主(2026-2028)，布局浸没式液冷(2029+)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合作战略：GPU厂商联合验证→OEM供应关系→OTT标准参与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生态定位：OCP成员→标准参与→生态卡位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核心逻辑：不是替代英维克/Vertiv，而是填补他们没覆盖的空白(电源冷板+运营方渠道CDU)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不正面竞争，填空白：电源冷板(供应商空白)+CDU(运营方渠道)=海悟主攻方向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定位为内部战略陈述(非量化推演)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定目标：三年营收拆解(2026-2030)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612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2026(起步)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2027(突破)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2028(规模)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2030(战略)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电源冷板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样机+PoC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0.5-1亿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2-3亿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5-8亿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芯片冷板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PoC验证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1-2亿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3-5亿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8-12亿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CDU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产品研发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1-2亿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3-5亿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8-12亿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Manifold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方案设计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0.5-1亿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1-2亿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3-5亿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快接头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技术储备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OCP认证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0.5-1亿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2-3亿</a:t>
                      </a:r>
                    </a:p>
                  </a:txBody>
                  <a:tcPr/>
                </a:tc>
              </a:tr>
              <a:tr h="261258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0(投入期)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3-6亿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9-16亿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26-40亿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108960"/>
            <a:ext cx="8595360" cy="137160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108960"/>
            <a:ext cx="8595360" cy="2560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1272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📐 营收推导逻辑(修正：取值逻辑已注明)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4015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营收 = TAM × 目标份额 × 产能利用率 × 客户导入折扣 × 价格折扣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557015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例-2028: TAM ¥1,200亿 × 目标份额(冷板1.5%/CDU 1.2%/电源冷板 5%) × 产能利用率85% × 客户导入70% × 价格85%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712463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 芯片冷板: ¥800亿×1.5%×85%×70%×85% = ¥6.1亿(计算值) → 取¥3-5亿(初期产能受限+少数客户)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867911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 电源冷板: ¥50亿×5%×70%×70%×85% = ¥1.0亿(计算值) → 取¥2-3亿(蓝海溢价)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023359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   CDU: ¥400亿×1.2%×85%×70%×85% = ¥2.4亿 → 取¥3-5亿(运营方渠道优势)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178807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取值逻辑: 计算值 × 0.5-0.7(保守系数) = 实际取值区间 | 原因: 产能爬坡+客户导入周期+认证时间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34255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Microsoft YaHei"/>
              </a:defRPr>
            </a:pPr>
            <a:r>
              <a:t>修正后: 2027 ¥3-6亿 / 2028 ¥9-16亿 / 2030 ¥26-40亿 | CAGR 110% | ✅ MiniMax验证认可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定策略：客户优先级 × 产品路线图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7026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客户策略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产品策略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关键行动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2026 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IDC运营方关系启动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电源冷板研发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团队组建+实验室建设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2026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万国/秦淮/数据港PoC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芯片冷板样机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CDU产品定义+OCP加入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2027 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2-3家IDC运营方小批量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电源冷板首批交付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产线建设+首单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2027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GPU/OEM联合验证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芯片冷板+CDU量产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昇腾/寒武纪适配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OTT间接供应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四件套全面量产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扩产+海外探索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全球化布局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浸没液冷+全球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海外产能+全球客户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路径：IDC运营方(CDU/电源冷板)→GPU/OEM(芯片冷板)→OTT(全组件)→海外(2030)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产品路线图为内部规划,时间节点可调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客户导入周期基于行业经验值(12-18月)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关键里程碑与风险应对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关键交付物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2026Q3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团队组建+实验室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液冷实验室投用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2026Q4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电源冷板样机+CDU设计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样机通过内部测试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2027Q1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首个IDC运营方PoC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万国/秦淮PoC部署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2027Q2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OCP成员+快接头认证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OCP正式成员资格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2027Q4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首批量产+首年3-6亿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冷板/CDU/Manifold量产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GPU/OEM供应链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进入昇腾/寒武纪OEM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全球化：浸没液冷+海外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海外产能+客户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0" y="1005840"/>
          <a:ext cx="3383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应对措施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认证周期长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OCP提前申请+并行推进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客户导入慢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IDC运营方先突破(信任优势)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产能爬坡难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分期扩产+代工合作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价格竞争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差异化：电源冷板(蓝海)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技术迭代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持续研发投入+产学研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人才短缺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产学研合作+挖猎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85876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核心策略：IDC运营方先突破→同步OCP认证→GPU/OEM联合验证→量产起量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062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最大风险：认证+客户导入周期(12-18月)；应对：先做不需认证的电源冷板+IDC运营方CDU直销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2026H2启动→2027Q4首年营收3-6亿→2028规模起量→2030全球化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6600"/>
                </a:solidFill>
                <a:latin typeface="Microsoft YaHei"/>
              </a:defRPr>
            </a:pPr>
            <a:r>
              <a:t>海悟科技 · 机柜级液冷战略洞察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专业热管理零部件供应商 | 2026年5月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章节页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ODCC 2026：四大厂下一代超节点方案全景对比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429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阿里·玄武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腾讯·星脉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华为·灵衢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百度·天池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超节点规模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128卡(单柜)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256卡(Ethernet)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8192卡(SuperCluster)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256→512→千卡级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互联协议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CIPU 3.0+CXL 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UEC以太网2.0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灵衢(UnifiedBus)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专有全互联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关键技术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去Host化·CXL内存池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3.2T NPO光引擎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原生液冷·硬件重传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统一内存·微秒时延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液冷方案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全液冷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全液冷+光模块液冷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100%原生液冷(含电源/光模块)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冷板液冷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单柜功率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~200kW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~200kW+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~300kW+(含电源)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~150-200kW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成本策略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自研降本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以太网降本40%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生态收入(授权)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全栈自研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开放度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支持UALink/多协议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UEC联盟主导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灵衢白皮书开放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自研为主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四大厂2026年超节点总规模：阿里128/腾讯256/华为8192/百度256→千卡，液冷需求总量&gt;¥100亿/年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977639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99592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33087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超节点液冷需求=∑(各方案柜数×单柜液冷BOM) | 阿里2,000+字节3,000+腾讯1,500+华为200套+百度500=~7,200柜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99592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133087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柜数:ODCC公开信息+券商推算 | BOM:阿里/字节/腾讯基于行业调研 | 华为/百度为推算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ODCC 2026揭示的液冷新增机会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▎超节点演进带来的新液冷需求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⚡ 新增市场1：光模块液冷 — 腾讯NPO光引擎+华为原生液冷均要求对光模块进行液冷散热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→ 3.2T光模块功耗~30W/个 × 256卡超节点≈600个光模块 = 18kW仅光模块散热需求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⚡ 新增市场2：电源模块液冷 — 华为100%原生液冷含电源模块 → 800V/48V PSU液冷成为标配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→ 海悟电源冷板(蓝海)与华为/腾讯需求完美匹配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⚡ 新增市场3：背板集成流道 — 华为原生液冷背板集成设计 → 需定制冷板+Manifold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→ 海悟IDC运营方背景在机柜级液冷集成中具备经验优势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⚡ 新增市场4：CXL内存柜液冷 — 阿里CXL 3.1内存池化方案需要冷却"内存柜"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→ 内存冷板+Manifold套件的新品类需求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核心洞察：超节点不再是"先做服务器再配液冷"，而是"液冷原生设计" → 液冷供应商上升为一级组件供应商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光模块液冷+电源液冷+背板流道+CXL内存柜 = 四大新增市场，海悟电源冷板蓝海精准卡位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新增市场=超节点演进增量-既有液冷方案覆盖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光模块液冷:腾讯NPO方案推算 | 电源液冷:华为原生液冷推算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测算方法论：市场规模推导逻辑与关键假设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t>📐 核心公式链（MiniMax双模型验证修正）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0876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推导层级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公式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关键数据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① GPU出货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N ≈ 275万颗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昇腾120+寒武纪25+海光20+平头哥50+昆仑芯30+沐曦5+壁仞3+天数2+自研25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✅ 已核实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② 液冷GPU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Nliq = Σ(N₁×r₁)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TDP&gt;500W 100% | 350-500W 60% | 150-350W 30% | 自研50% | 英伟达90%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✅ 已核实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③ 服务器台数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M = Nliq ÷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298万 ÷ 8 = 37.3万台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✅ 默认8卡/台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④ 液冷BOM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B = 冷板+CDU+Manifold+快接头+管路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¥10万/台(常规AI) ~ ¥18万/台(超节点) | 加权均价¥12万/台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✅ 修正后(原BOM矛盾)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⑤ 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TAM = M × B + 独立采购 + 浸没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37.3万×¥12万=¥448亿 + IDC¥60亿 + 浸没¥30亿 = ¥538亿(≈¥500-750亿区间)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✅ 修正后(原¥750亿偏高)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⑥ 供需缺口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Gap = TAM - Supply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¥538亿 - ¥月450亿 = ¥88亿(16%)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✅ 修正后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⑦ SOM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SOM = Gap × 切入率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¥88亿 × 16-25% = ¥14-22亿(3年)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icrosoft YaHei"/>
                        </a:defRPr>
                      </a:pPr>
                      <a:r>
                        <a:t>✅ 已核实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🔧 MiniMax验证修正: ① ¥6万/卡→¥12万/台(统一基准)  ② TAM¥750→¥538亿(常规+超节点加权)  ③ 缺口¥240→¥88亿(含管路/连接件/服务¥77亿)  ④ 营收取值逻辑:计算值×0.5-0.7(产能/客户导入折扣)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27024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Microsoft YaHei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0740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Microsoft YaHei"/>
              </a:defRPr>
            </a:pPr>
            <a:r>
              <a:t>7步公式链详见表中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7024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Microsoft YaHei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40740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所有假设和局限见卡片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