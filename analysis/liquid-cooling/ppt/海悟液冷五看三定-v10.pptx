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机柜级液冷战略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五看三定 · v10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11480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数据中心热管理 | 2026年5月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执行摘要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PP3-5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5727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一看：看行业/趋势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15727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PP6-8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95681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9568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二看：看市场/空间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0" y="195681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PP9-13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34086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3408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三看：看竞争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0" y="234086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PP14-17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7249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7249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四看：看客户/渠道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0" y="272491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PP18-21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1089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108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五看：看自己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0" y="3108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PP22-24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49300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4930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三定：目标/策略/控制点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0" y="349300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PP25-30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87705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387705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组件深度：冷板/CDU/Manifold/快接头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0" y="387705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PP31-36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26110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97280" y="426110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附录：数据溯源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72400" y="426110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PP37-38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执行摘要：一句话结论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液冷不是趋势问题，是速度问题。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560320" cy="1828800"/>
          </a:xfrm>
          <a:prstGeom prst="roundRect">
            <a:avLst>
              <a:gd name="adj" fmla="val 7500"/>
            </a:avLst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电源冷板蓝海 🔴P0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6060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供应商空白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2026E ¥50M → 2028E ¥5B SAM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2011680"/>
            <a:ext cx="2560320" cy="1828800"/>
          </a:xfrm>
          <a:prstGeom prst="roundRect">
            <a:avLst>
              <a:gd name="adj" fmla="val 7500"/>
            </a:avLst>
          </a:prstGeom>
          <a:solidFill>
            <a:srgbClr val="0077B6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Manifold先行 🟠P0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20440" y="26060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H3C/浪潮送样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快接头敲门→CDU协同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011680"/>
            <a:ext cx="2560320" cy="1828800"/>
          </a:xfrm>
          <a:prstGeom prst="roundRect">
            <a:avLst>
              <a:gd name="adj" fmla="val 7500"/>
            </a:avLst>
          </a:prstGeom>
          <a:solidFill>
            <a:srgbClr val="03045E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海外双线独立 🟡P1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26060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国内线: ¥50M→¥1B(2030)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海外线: ¥0→¥200M(2030)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数据溯源：基于GPU/Supernode/OEM/OTT/IDC/Cooling十维分析，全部含溯源链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营收路线图：双线驱动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国内线 (¥)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3657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914400"/>
                <a:gridCol w="21945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营收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里程碑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¥50M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Manifold批量→H3C/浪潮/宁畅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¥300M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+电源冷板+内存冷板蓝海爆量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¥400M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+CPU冷板+快接头(认证通过)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¥1.0B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全组件+系统级(含CDU)+运维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海外线 (¥)</a:t>
            </a:r>
            <a:endParaRPr lang="en-US" sz="14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71600"/>
          <a:ext cx="39319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914400"/>
                <a:gridCol w="2377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营收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里程碑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2026-27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通过ODM间接出货(华勤等)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¥100M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OEM认证取得+海外DC项目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¥200M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自有海外渠道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进入策略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57200" y="3291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Manifold先行（低门槛出量）→建立客户信任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57200" y="3566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电源冷板+内存冷板（蓝海爆量）→差异化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57200" y="3840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CPU冷板（认证后主力）→Intel/NVIDIA认证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57200" y="4114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CDU+快接头（远期系统级）→全栈能力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57200" y="43891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海外 ODM→OEM认证→自有渠道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15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一看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看行业 / 趋势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Capex持续暴涨 → GPU功耗翻倍 → 液冷从选配变标配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GPU功耗每代翻倍 — 风冷已到极限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H100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0"/>
            <a:ext cx="914400" cy="3200400"/>
          </a:xfrm>
          <a:prstGeom prst="rect">
            <a:avLst>
              <a:gd name="adj" fmla="val 5000"/>
            </a:avLst>
          </a:prstGeom>
          <a:solidFill>
            <a:srgbClr val="0077B6"/>
          </a:solidFill>
          <a:ln/>
        </p:spPr>
      </p:sp>
      <p:sp>
        <p:nvSpPr>
          <p:cNvPr id="7" name="Text 5"/>
          <p:cNvSpPr/>
          <p:nvPr/>
        </p:nvSpPr>
        <p:spPr>
          <a:xfrm>
            <a:off x="1874520" y="3474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H200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874520" y="1143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750W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57400" y="-228600"/>
            <a:ext cx="914400" cy="3429000"/>
          </a:xfrm>
          <a:prstGeom prst="rect">
            <a:avLst>
              <a:gd name="adj" fmla="val 5000"/>
            </a:avLst>
          </a:prstGeom>
          <a:solidFill>
            <a:srgbClr val="0077B6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3474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B200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91840" y="-4572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1000W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0" y="-1371600"/>
            <a:ext cx="914400" cy="4572000"/>
          </a:xfrm>
          <a:prstGeom prst="rect">
            <a:avLst>
              <a:gd name="adj" fmla="val 5000"/>
            </a:avLst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3474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GB200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09160" y="-9144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1200W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92040" y="-2286000"/>
            <a:ext cx="914400" cy="5486400"/>
          </a:xfrm>
          <a:prstGeom prst="rect">
            <a:avLst>
              <a:gd name="adj" fmla="val 5000"/>
            </a:avLst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474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GB300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126480" y="-13716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1400W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09360" y="-3200400"/>
            <a:ext cx="914400" cy="6400800"/>
          </a:xfrm>
          <a:prstGeom prst="rect">
            <a:avLst>
              <a:gd name="adj" fmla="val 5000"/>
            </a:avLst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7543800" y="3474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Rubin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543800" y="-16002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1500W+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726680" y="-3657600"/>
            <a:ext cx="914400" cy="6858000"/>
          </a:xfrm>
          <a:prstGeom prst="rect">
            <a:avLst>
              <a:gd name="adj" fmla="val 5000"/>
            </a:avLst>
          </a:prstGeom>
          <a:solidFill>
            <a:srgbClr val="E76F51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0" y="3474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MI350P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961120" y="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~500W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144000" y="914400"/>
            <a:ext cx="914400" cy="914400"/>
          </a:xfrm>
          <a:prstGeom prst="rect">
            <a:avLst>
              <a:gd name="adj" fmla="val 5000"/>
            </a:avLst>
          </a:prstGeom>
          <a:solidFill>
            <a:srgbClr val="4472C4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2560320"/>
            <a:ext cx="8229600" cy="1828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0" y="2331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← 风冷极限(600W) →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114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源: NVIDIA官网 + GPU洞察v6 + AMD MI350P (ServeTheHome/2026-05-07)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57200" y="43891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🔥 IDC 2025: 国产AI芯片165万张(41%) 英伟达95%→55% 华为81万颗领跑 (中银国际)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全球OTT AI Capex 持续暴涨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3716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公司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Microsoft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Google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$60B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Amazon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Meta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字节跳动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¥200B(估)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¥200-250B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+10-25%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¥180B(估)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¥180-220B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+0-22%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腾讯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¥120B(估)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¥120-150B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+0-25%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百度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¥80B(估)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¥80-100B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+0-25%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全球OTT AI Capex 2026E: ~$362B → 液冷采购额 $29-36B (8-10%)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🔥 MS承诺2年AI基础设施翻倍 | Anthropic签约SpaceX Colossus 1 DC | Google TPU8全栈AI | AI推理转向CPU (Arista)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源: SEC 10-Q + NetworkWorld/ServeTheHome/Next Platform (2026-05-07~11)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9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一看小结：液冷不是趋势问题，是速度问题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73152" cy="7315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GPU功耗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H100 700W → Rubin 1500W+ (5年翻倍)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0" y="1417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风冷物理极限~600W，液冷刚性不可逆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73152" cy="7315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Capex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全球OTT $362B(2026E), 中国 ¥650B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23317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液冷采购额 $29-36B/年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73152" cy="7315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国产芯片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246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🔥 国产165万张(41%)，华为81万颗领跑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32461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英伟达95%→55% — 国产供应链液冷认证窗口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73152" cy="7315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840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液冷机柜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4160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2025E ~10万架→2030E ~52万架(智算口径)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41605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智算AIDC内液冷渗透35%→80%，全量口径不可套用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754880"/>
            <a:ext cx="73152" cy="7315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754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🔥 冷却可靠性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5074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 US-East-1热事件宕机(2026.05.07)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50749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冷却恢复5h+ = DC最慢链路 → 冗余冷却=采购刚需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二看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看市场 / 空间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TAM → SAM → SOM 三层拆解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TAM: 总可寻址市场 (国信证券 2026-04-14)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全球液冷组件市场 ($B)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41148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05840"/>
                <a:gridCol w="1005840"/>
                <a:gridCol w="10058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2030E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5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606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CAGR 43.6%  |  冷板+CDU占81.5%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846320" y="822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中国市场推估 (全球×25-30%)</a:t>
            </a:r>
            <a:endParaRPr lang="en-US" sz="12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143000"/>
          <a:ext cx="39319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164592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2030E(¥B)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海悟机会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单机柜液冷价值量 (NVL72基准: $83,770)</a:t>
            </a:r>
            <a:endParaRPr lang="en-US" sz="1200" dirty="0"/>
          </a:p>
        </p:txBody>
      </p:sp>
      <p:graphicFrame>
        <p:nvGraphicFramePr>
          <p:cNvPr id="3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461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冷板(服务)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其他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$32,400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$8,820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77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$8,550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7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57200" y="4160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液冷占机柜(~$3M)约3%，但技术壁垒高、替换粘性强 | 源: 国信证券《服务器液冷专题》(2026-04-14)</a:t>
            </a:r>
            <a:endParaRPr lang="en-US" sz="700" dirty="0"/>
          </a:p>
        </p:txBody>
      </p:sp>
      <p:sp>
        <p:nvSpPr>
          <p:cNvPr id="12" name="Text 7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SAM: 海悟可服务市场 (中国组件TAM中可切入)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 ¥3-5B(26E)→¥10-15B(28E) | 电源冷板 ¥0.5-1B→¥3-5B | 快接头(国产) ¥1-2B→¥5-10B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15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SOM: 海悟营收推算 (国内线)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8288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2030E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推算公式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国内营收 = Σ(组件SAM × 市场份额 × 产能利用率 × 客户导入率 × 价格折扣)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2026E: ¥39B Manifold SAM × 1% × 70% × 50% × 90% ≈ ¥50M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海外线: 2028E ¥100M(ODM) → 2030E ¥200M(自有渠道)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6634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源: 五看三定v5 SOM推算 + OEM BOM × 机柜数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11" name="Text 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三看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看竞争</a:t>
            </a:r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竞争格局：海悟差异化路线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0F7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国内龙头 | ¥1.5-2B液冷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0" y="1051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海悟策略: 不做CDU正面竞争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0" y="13258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差异化: 切蓝海组件(电源/内存冷板)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65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CoolIT/AVC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国际龙头(NVIDIA认证) | $8B+(Vertiv)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海悟策略: 国内OEM渠道+成本优势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22402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差异化: 通过H3C/浪潮切入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0F7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80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Staubli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154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快接头垄断72% | 非公开(私企)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0" y="2880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海悟策略: 国产替代P1储备，不主攻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0" y="31546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差异化: P0窗口1-2年, 成本低30%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94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高澜/申菱/同飞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069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国内同类 | ¥0.5-2B各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0" y="3794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海悟策略: Manifold先出量建关系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0" y="40690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差异化: 差异化: 电源冷板蓝海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源: cooling/2026-05-09-cooling-competition-insight.md v7 + 各公司年报/SEC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🔥 新: Arista XPO集成冷板400W/模块(12.8T/模块) — 光模块冷板蓝海确认 | 气冷vs液冷长期共存 | 供应链全链短缺1-2年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差异化路线：四步进阶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3200400"/>
          </a:xfrm>
          <a:prstGeom prst="roundRect">
            <a:avLst>
              <a:gd name="adj" fmla="val 7143"/>
            </a:avLst>
          </a:prstGeom>
          <a:solidFill>
            <a:srgbClr val="0077B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Manifold出量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低门槛建立客户信任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¥50M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23160" y="21031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560320" y="1097280"/>
            <a:ext cx="1920240" cy="3200400"/>
          </a:xfrm>
          <a:prstGeom prst="roundRect">
            <a:avLst>
              <a:gd name="adj" fmla="val 7143"/>
            </a:avLst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1280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蓝海爆量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1828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51760" y="23774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电源冷板+内存冷板差异化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51760" y="3200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¥300M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26280" y="21031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663440" y="1097280"/>
            <a:ext cx="1920240" cy="3200400"/>
          </a:xfrm>
          <a:prstGeom prst="roundRect">
            <a:avLst>
              <a:gd name="adj" fmla="val 7143"/>
            </a:avLst>
          </a:prstGeom>
          <a:solidFill>
            <a:srgbClr val="0077B6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280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认证主力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1828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54880" y="23774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UQD+CPU冷板认证后主力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3200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¥400M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29400" y="21031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766560" y="1097280"/>
            <a:ext cx="1920240" cy="3200400"/>
          </a:xfrm>
          <a:prstGeom prst="roundRect">
            <a:avLst>
              <a:gd name="adj" fmla="val 7143"/>
            </a:avLst>
          </a:prstGeom>
          <a:solidFill>
            <a:srgbClr val="03045E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1280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全栈系统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1828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58000" y="23774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CDU+快接头+运维一体化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58000" y="3200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¥1.0B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四看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看客户 / 渠道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→ OTT → OEM → 海悟 四级决策链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客户/渠道优先级矩阵</a:t>
            </a:r>
            <a:endParaRPr lang="en-US" sz="2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371600"/>
                <a:gridCol w="1828800"/>
                <a:gridCol w="1097280"/>
                <a:gridCol w="914400"/>
                <a:gridCol w="13716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优先级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切入点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2026目标(¥)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开放性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间接通道: 通过H3C/秦淮数据 → 阿里/字节 (H3C为阿里+字节核心OEM伙伴)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2026核心任务: H3C+浪潮 Manifold送样测试 → 建立供应商关系 → 借H3C项目接触阿里/字节液冷团队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6634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源: oem/2026-05-09-oem-server-insight.md + decision/2026-05-09-decision-chain.md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9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华为昇腾芯片规格与演进 | GPU 定标准 &gt; OEM 做适配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1005840" cy="32004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280160" y="731520"/>
            <a:ext cx="1097280" cy="3200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731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910B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377440" y="731520"/>
            <a:ext cx="1097280" cy="3200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9" name="Text 7"/>
          <p:cNvSpPr/>
          <p:nvPr/>
        </p:nvSpPr>
        <p:spPr>
          <a:xfrm>
            <a:off x="2377440" y="731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910C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474720" y="731520"/>
            <a:ext cx="1097280" cy="32004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731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950PR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0" y="731520"/>
            <a:ext cx="1097280" cy="32004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731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950DT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669280" y="731520"/>
            <a:ext cx="1097280" cy="320040"/>
          </a:xfrm>
          <a:prstGeom prst="rect">
            <a:avLst/>
          </a:prstGeom>
          <a:solidFill>
            <a:srgbClr val="FCE4EC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0" y="731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960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766560" y="731520"/>
            <a:ext cx="1097280" cy="320040"/>
          </a:xfrm>
          <a:prstGeom prst="rect">
            <a:avLst/>
          </a:prstGeom>
          <a:solidFill>
            <a:srgbClr val="FCE4EC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731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970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280160" y="10515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已量产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2377440" y="10515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2025Q1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3474720" y="10515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2026Q1 ✅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4572000" y="10515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2026Q4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5669280" y="10515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2027Q4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6766560" y="10515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2028Q4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274320" y="1252728"/>
            <a:ext cx="1005840" cy="256032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12527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制程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280160" y="1252728"/>
            <a:ext cx="10972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1280160" y="12527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SMIC 7nm N+2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2377440" y="1252728"/>
            <a:ext cx="10972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2377440" y="12527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SMIC 7nm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双Die合封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3474720" y="1252728"/>
            <a:ext cx="10972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3474720" y="12527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先进制程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4572000" y="1252728"/>
            <a:ext cx="10972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0" y="12527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先进制程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5669280" y="1252728"/>
            <a:ext cx="10972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0" y="12527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~5nm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6766560" y="1252728"/>
            <a:ext cx="10972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766560" y="12527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~3nm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274320" y="1508760"/>
            <a:ext cx="1005840" cy="256032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" y="150876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280160" y="1508760"/>
            <a:ext cx="1097280" cy="2560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1" name="Text 39"/>
          <p:cNvSpPr/>
          <p:nvPr/>
        </p:nvSpPr>
        <p:spPr>
          <a:xfrm>
            <a:off x="1280160" y="15087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~400W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2377440" y="1508760"/>
            <a:ext cx="1097280" cy="2560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3" name="Text 41"/>
          <p:cNvSpPr/>
          <p:nvPr/>
        </p:nvSpPr>
        <p:spPr>
          <a:xfrm>
            <a:off x="2377440" y="15087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~500-600W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3474720" y="1508760"/>
            <a:ext cx="1097280" cy="2560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5" name="Text 43"/>
          <p:cNvSpPr/>
          <p:nvPr/>
        </p:nvSpPr>
        <p:spPr>
          <a:xfrm>
            <a:off x="3474720" y="15087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~800-1000W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4572000" y="1508760"/>
            <a:ext cx="1097280" cy="2560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0" y="15087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~1000-1200W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5669280" y="1508760"/>
            <a:ext cx="1097280" cy="2560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9" name="Text 47"/>
          <p:cNvSpPr/>
          <p:nvPr/>
        </p:nvSpPr>
        <p:spPr>
          <a:xfrm>
            <a:off x="5669280" y="15087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~1500W+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6766560" y="1508760"/>
            <a:ext cx="1097280" cy="2560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1" name="Text 49"/>
          <p:cNvSpPr/>
          <p:nvPr/>
        </p:nvSpPr>
        <p:spPr>
          <a:xfrm>
            <a:off x="6766560" y="15087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~2000W+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274320" y="1764792"/>
            <a:ext cx="1005840" cy="256032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53" name="Text 51"/>
          <p:cNvSpPr/>
          <p:nvPr/>
        </p:nvSpPr>
        <p:spPr>
          <a:xfrm>
            <a:off x="274320" y="17647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FP16 算力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1280160" y="1764792"/>
            <a:ext cx="10972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1280160" y="17647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~400 TFLOPS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2377440" y="1764792"/>
            <a:ext cx="10972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2377440" y="17647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800 TFLOPS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3474720" y="1764792"/>
            <a:ext cx="10972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3474720" y="17647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4572000" y="1764792"/>
            <a:ext cx="10972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4572000" y="17647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5669280" y="1764792"/>
            <a:ext cx="10972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5669280" y="17647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6766560" y="1764792"/>
            <a:ext cx="10972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6766560" y="17647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274320" y="2020824"/>
            <a:ext cx="1005840" cy="256032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67" name="Text 65"/>
          <p:cNvSpPr/>
          <p:nvPr/>
        </p:nvSpPr>
        <p:spPr>
          <a:xfrm>
            <a:off x="274320" y="202082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FP8 算力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1280160" y="2020824"/>
            <a:ext cx="1097280" cy="2560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9" name="Text 67"/>
          <p:cNvSpPr/>
          <p:nvPr/>
        </p:nvSpPr>
        <p:spPr>
          <a:xfrm>
            <a:off x="1280160" y="202082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2377440" y="2020824"/>
            <a:ext cx="1097280" cy="2560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1" name="Text 69"/>
          <p:cNvSpPr/>
          <p:nvPr/>
        </p:nvSpPr>
        <p:spPr>
          <a:xfrm>
            <a:off x="2377440" y="202082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3474720" y="2020824"/>
            <a:ext cx="1097280" cy="2560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3" name="Text 71"/>
          <p:cNvSpPr/>
          <p:nvPr/>
        </p:nvSpPr>
        <p:spPr>
          <a:xfrm>
            <a:off x="3474720" y="202082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PFLOPS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4572000" y="2020824"/>
            <a:ext cx="1097280" cy="2560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5" name="Text 73"/>
          <p:cNvSpPr/>
          <p:nvPr/>
        </p:nvSpPr>
        <p:spPr>
          <a:xfrm>
            <a:off x="4572000" y="202082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PFLOPS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5669280" y="2020824"/>
            <a:ext cx="1097280" cy="2560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7" name="Text 75"/>
          <p:cNvSpPr/>
          <p:nvPr/>
        </p:nvSpPr>
        <p:spPr>
          <a:xfrm>
            <a:off x="5669280" y="202082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翻倍950</a:t>
            </a:r>
            <a:endParaRPr lang="en-US" sz="650" dirty="0"/>
          </a:p>
        </p:txBody>
      </p:sp>
      <p:sp>
        <p:nvSpPr>
          <p:cNvPr id="78" name="Shape 76"/>
          <p:cNvSpPr/>
          <p:nvPr/>
        </p:nvSpPr>
        <p:spPr>
          <a:xfrm>
            <a:off x="6766560" y="2020824"/>
            <a:ext cx="1097280" cy="2560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9" name="Text 77"/>
          <p:cNvSpPr/>
          <p:nvPr/>
        </p:nvSpPr>
        <p:spPr>
          <a:xfrm>
            <a:off x="6766560" y="202082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274320" y="2276856"/>
            <a:ext cx="1005840" cy="256032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81" name="Text 79"/>
          <p:cNvSpPr/>
          <p:nvPr/>
        </p:nvSpPr>
        <p:spPr>
          <a:xfrm>
            <a:off x="274320" y="227685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FP4 算力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1280160" y="2276856"/>
            <a:ext cx="10972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3" name="Text 81"/>
          <p:cNvSpPr/>
          <p:nvPr/>
        </p:nvSpPr>
        <p:spPr>
          <a:xfrm>
            <a:off x="1280160" y="22768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2377440" y="2276856"/>
            <a:ext cx="10972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5" name="Text 83"/>
          <p:cNvSpPr/>
          <p:nvPr/>
        </p:nvSpPr>
        <p:spPr>
          <a:xfrm>
            <a:off x="2377440" y="22768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3474720" y="2276856"/>
            <a:ext cx="10972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7" name="Text 85"/>
          <p:cNvSpPr/>
          <p:nvPr/>
        </p:nvSpPr>
        <p:spPr>
          <a:xfrm>
            <a:off x="3474720" y="22768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PFLOPS</a:t>
            </a:r>
            <a:endParaRPr lang="en-US" sz="650" dirty="0"/>
          </a:p>
        </p:txBody>
      </p:sp>
      <p:sp>
        <p:nvSpPr>
          <p:cNvPr id="88" name="Shape 86"/>
          <p:cNvSpPr/>
          <p:nvPr/>
        </p:nvSpPr>
        <p:spPr>
          <a:xfrm>
            <a:off x="4572000" y="2276856"/>
            <a:ext cx="10972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9" name="Text 87"/>
          <p:cNvSpPr/>
          <p:nvPr/>
        </p:nvSpPr>
        <p:spPr>
          <a:xfrm>
            <a:off x="4572000" y="22768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PFLOPS</a:t>
            </a:r>
            <a:endParaRPr lang="en-US" sz="650" dirty="0"/>
          </a:p>
        </p:txBody>
      </p:sp>
      <p:sp>
        <p:nvSpPr>
          <p:cNvPr id="90" name="Shape 88"/>
          <p:cNvSpPr/>
          <p:nvPr/>
        </p:nvSpPr>
        <p:spPr>
          <a:xfrm>
            <a:off x="5669280" y="2276856"/>
            <a:ext cx="10972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1" name="Text 89"/>
          <p:cNvSpPr/>
          <p:nvPr/>
        </p:nvSpPr>
        <p:spPr>
          <a:xfrm>
            <a:off x="5669280" y="22768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PFLOPS</a:t>
            </a:r>
            <a:endParaRPr lang="en-US" sz="650" dirty="0"/>
          </a:p>
        </p:txBody>
      </p:sp>
      <p:sp>
        <p:nvSpPr>
          <p:cNvPr id="92" name="Shape 90"/>
          <p:cNvSpPr/>
          <p:nvPr/>
        </p:nvSpPr>
        <p:spPr>
          <a:xfrm>
            <a:off x="6766560" y="2276856"/>
            <a:ext cx="10972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3" name="Text 91"/>
          <p:cNvSpPr/>
          <p:nvPr/>
        </p:nvSpPr>
        <p:spPr>
          <a:xfrm>
            <a:off x="6766560" y="22768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PFLOPS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274320" y="2532888"/>
            <a:ext cx="1005840" cy="256032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95" name="Text 93"/>
          <p:cNvSpPr/>
          <p:nvPr/>
        </p:nvSpPr>
        <p:spPr>
          <a:xfrm>
            <a:off x="274320" y="25328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显存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1280160" y="2532888"/>
            <a:ext cx="1097280" cy="2560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7" name="Text 95"/>
          <p:cNvSpPr/>
          <p:nvPr/>
        </p:nvSpPr>
        <p:spPr>
          <a:xfrm>
            <a:off x="1280160" y="253288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64GB HBM2e</a:t>
            </a:r>
            <a:endParaRPr lang="en-US" sz="650" dirty="0"/>
          </a:p>
        </p:txBody>
      </p:sp>
      <p:sp>
        <p:nvSpPr>
          <p:cNvPr id="98" name="Shape 96"/>
          <p:cNvSpPr/>
          <p:nvPr/>
        </p:nvSpPr>
        <p:spPr>
          <a:xfrm>
            <a:off x="2377440" y="2532888"/>
            <a:ext cx="1097280" cy="2560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9" name="Text 97"/>
          <p:cNvSpPr/>
          <p:nvPr/>
        </p:nvSpPr>
        <p:spPr>
          <a:xfrm>
            <a:off x="2377440" y="253288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128GB HBM2e</a:t>
            </a:r>
            <a:endParaRPr lang="en-US" sz="650" dirty="0"/>
          </a:p>
        </p:txBody>
      </p:sp>
      <p:sp>
        <p:nvSpPr>
          <p:cNvPr id="100" name="Shape 98"/>
          <p:cNvSpPr/>
          <p:nvPr/>
        </p:nvSpPr>
        <p:spPr>
          <a:xfrm>
            <a:off x="3474720" y="2532888"/>
            <a:ext cx="1097280" cy="2560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1" name="Text 99"/>
          <p:cNvSpPr/>
          <p:nvPr/>
        </p:nvSpPr>
        <p:spPr>
          <a:xfrm>
            <a:off x="3474720" y="253288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128GB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HiBL 1.0 自研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4572000" y="2532888"/>
            <a:ext cx="1097280" cy="2560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3" name="Text 101"/>
          <p:cNvSpPr/>
          <p:nvPr/>
        </p:nvSpPr>
        <p:spPr>
          <a:xfrm>
            <a:off x="4572000" y="253288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144GB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HiZQ 2.0 自研</a:t>
            </a:r>
            <a:endParaRPr lang="en-US" sz="650" dirty="0"/>
          </a:p>
        </p:txBody>
      </p:sp>
      <p:sp>
        <p:nvSpPr>
          <p:cNvPr id="104" name="Shape 102"/>
          <p:cNvSpPr/>
          <p:nvPr/>
        </p:nvSpPr>
        <p:spPr>
          <a:xfrm>
            <a:off x="5669280" y="2532888"/>
            <a:ext cx="1097280" cy="2560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5" name="Text 103"/>
          <p:cNvSpPr/>
          <p:nvPr/>
        </p:nvSpPr>
        <p:spPr>
          <a:xfrm>
            <a:off x="5669280" y="253288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288GB+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6766560" y="2532888"/>
            <a:ext cx="1097280" cy="2560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7" name="Text 105"/>
          <p:cNvSpPr/>
          <p:nvPr/>
        </p:nvSpPr>
        <p:spPr>
          <a:xfrm>
            <a:off x="6766560" y="253288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288GB+</a:t>
            </a:r>
            <a:endParaRPr lang="en-US" sz="650" dirty="0"/>
          </a:p>
        </p:txBody>
      </p:sp>
      <p:sp>
        <p:nvSpPr>
          <p:cNvPr id="108" name="Shape 106"/>
          <p:cNvSpPr/>
          <p:nvPr/>
        </p:nvSpPr>
        <p:spPr>
          <a:xfrm>
            <a:off x="274320" y="2788920"/>
            <a:ext cx="1005840" cy="256032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109" name="Text 107"/>
          <p:cNvSpPr/>
          <p:nvPr/>
        </p:nvSpPr>
        <p:spPr>
          <a:xfrm>
            <a:off x="274320" y="27889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互联带宽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1280160" y="2788920"/>
            <a:ext cx="10972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1" name="Text 109"/>
          <p:cNvSpPr/>
          <p:nvPr/>
        </p:nvSpPr>
        <p:spPr>
          <a:xfrm>
            <a:off x="1280160" y="27889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HCCS</a:t>
            </a:r>
            <a:endParaRPr lang="en-US" sz="650" dirty="0"/>
          </a:p>
        </p:txBody>
      </p:sp>
      <p:sp>
        <p:nvSpPr>
          <p:cNvPr id="112" name="Shape 110"/>
          <p:cNvSpPr/>
          <p:nvPr/>
        </p:nvSpPr>
        <p:spPr>
          <a:xfrm>
            <a:off x="2377440" y="2788920"/>
            <a:ext cx="10972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3" name="Text 111"/>
          <p:cNvSpPr/>
          <p:nvPr/>
        </p:nvSpPr>
        <p:spPr>
          <a:xfrm>
            <a:off x="2377440" y="27889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784 GB/s</a:t>
            </a:r>
            <a:endParaRPr lang="en-US" sz="650" dirty="0"/>
          </a:p>
        </p:txBody>
      </p:sp>
      <p:sp>
        <p:nvSpPr>
          <p:cNvPr id="114" name="Shape 112"/>
          <p:cNvSpPr/>
          <p:nvPr/>
        </p:nvSpPr>
        <p:spPr>
          <a:xfrm>
            <a:off x="3474720" y="2788920"/>
            <a:ext cx="10972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5" name="Text 113"/>
          <p:cNvSpPr/>
          <p:nvPr/>
        </p:nvSpPr>
        <p:spPr>
          <a:xfrm>
            <a:off x="3474720" y="27889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TB/s (灵渠)</a:t>
            </a:r>
            <a:endParaRPr lang="en-US" sz="650" dirty="0"/>
          </a:p>
        </p:txBody>
      </p:sp>
      <p:sp>
        <p:nvSpPr>
          <p:cNvPr id="116" name="Shape 114"/>
          <p:cNvSpPr/>
          <p:nvPr/>
        </p:nvSpPr>
        <p:spPr>
          <a:xfrm>
            <a:off x="4572000" y="2788920"/>
            <a:ext cx="10972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7" name="Text 115"/>
          <p:cNvSpPr/>
          <p:nvPr/>
        </p:nvSpPr>
        <p:spPr>
          <a:xfrm>
            <a:off x="4572000" y="27889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TB/s (灵渠)</a:t>
            </a:r>
            <a:endParaRPr lang="en-US" sz="650" dirty="0"/>
          </a:p>
        </p:txBody>
      </p:sp>
      <p:sp>
        <p:nvSpPr>
          <p:cNvPr id="118" name="Shape 116"/>
          <p:cNvSpPr/>
          <p:nvPr/>
        </p:nvSpPr>
        <p:spPr>
          <a:xfrm>
            <a:off x="5669280" y="2788920"/>
            <a:ext cx="10972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9" name="Text 117"/>
          <p:cNvSpPr/>
          <p:nvPr/>
        </p:nvSpPr>
        <p:spPr>
          <a:xfrm>
            <a:off x="5669280" y="27889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翻倍950</a:t>
            </a:r>
            <a:endParaRPr lang="en-US" sz="650" dirty="0"/>
          </a:p>
        </p:txBody>
      </p:sp>
      <p:sp>
        <p:nvSpPr>
          <p:cNvPr id="120" name="Shape 118"/>
          <p:cNvSpPr/>
          <p:nvPr/>
        </p:nvSpPr>
        <p:spPr>
          <a:xfrm>
            <a:off x="6766560" y="2788920"/>
            <a:ext cx="10972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1" name="Text 119"/>
          <p:cNvSpPr/>
          <p:nvPr/>
        </p:nvSpPr>
        <p:spPr>
          <a:xfrm>
            <a:off x="6766560" y="27889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TB/s</a:t>
            </a:r>
            <a:endParaRPr lang="en-US" sz="650" dirty="0"/>
          </a:p>
        </p:txBody>
      </p:sp>
      <p:sp>
        <p:nvSpPr>
          <p:cNvPr id="122" name="Shape 120"/>
          <p:cNvSpPr/>
          <p:nvPr/>
        </p:nvSpPr>
        <p:spPr>
          <a:xfrm>
            <a:off x="274320" y="3044952"/>
            <a:ext cx="1005840" cy="256032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123" name="Text 121"/>
          <p:cNvSpPr/>
          <p:nvPr/>
        </p:nvSpPr>
        <p:spPr>
          <a:xfrm>
            <a:off x="274320" y="30449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1280160" y="3044952"/>
            <a:ext cx="1097280" cy="2560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5" name="Text 123"/>
          <p:cNvSpPr/>
          <p:nvPr/>
        </p:nvSpPr>
        <p:spPr>
          <a:xfrm>
            <a:off x="1280160" y="30449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SIMD</a:t>
            </a:r>
            <a:endParaRPr lang="en-US" sz="650" dirty="0"/>
          </a:p>
        </p:txBody>
      </p:sp>
      <p:sp>
        <p:nvSpPr>
          <p:cNvPr id="126" name="Shape 124"/>
          <p:cNvSpPr/>
          <p:nvPr/>
        </p:nvSpPr>
        <p:spPr>
          <a:xfrm>
            <a:off x="2377440" y="3044952"/>
            <a:ext cx="1097280" cy="2560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7" name="Text 125"/>
          <p:cNvSpPr/>
          <p:nvPr/>
        </p:nvSpPr>
        <p:spPr>
          <a:xfrm>
            <a:off x="2377440" y="30449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SIMD</a:t>
            </a:r>
            <a:endParaRPr lang="en-US" sz="650" dirty="0"/>
          </a:p>
        </p:txBody>
      </p:sp>
      <p:sp>
        <p:nvSpPr>
          <p:cNvPr id="128" name="Shape 126"/>
          <p:cNvSpPr/>
          <p:nvPr/>
        </p:nvSpPr>
        <p:spPr>
          <a:xfrm>
            <a:off x="3474720" y="3044952"/>
            <a:ext cx="1097280" cy="2560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9" name="Text 127"/>
          <p:cNvSpPr/>
          <p:nvPr/>
        </p:nvSpPr>
        <p:spPr>
          <a:xfrm>
            <a:off x="3474720" y="30449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SIMD+SIMT</a:t>
            </a:r>
            <a:endParaRPr lang="en-US" sz="650" dirty="0"/>
          </a:p>
        </p:txBody>
      </p:sp>
      <p:sp>
        <p:nvSpPr>
          <p:cNvPr id="130" name="Shape 128"/>
          <p:cNvSpPr/>
          <p:nvPr/>
        </p:nvSpPr>
        <p:spPr>
          <a:xfrm>
            <a:off x="4572000" y="3044952"/>
            <a:ext cx="1097280" cy="2560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1" name="Text 129"/>
          <p:cNvSpPr/>
          <p:nvPr/>
        </p:nvSpPr>
        <p:spPr>
          <a:xfrm>
            <a:off x="4572000" y="30449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SIMD+SIMT</a:t>
            </a:r>
            <a:endParaRPr lang="en-US" sz="650" dirty="0"/>
          </a:p>
        </p:txBody>
      </p:sp>
      <p:sp>
        <p:nvSpPr>
          <p:cNvPr id="132" name="Shape 130"/>
          <p:cNvSpPr/>
          <p:nvPr/>
        </p:nvSpPr>
        <p:spPr>
          <a:xfrm>
            <a:off x="5669280" y="3044952"/>
            <a:ext cx="1097280" cy="2560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3" name="Text 131"/>
          <p:cNvSpPr/>
          <p:nvPr/>
        </p:nvSpPr>
        <p:spPr>
          <a:xfrm>
            <a:off x="5669280" y="30449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SIMD+SIMT</a:t>
            </a:r>
            <a:endParaRPr lang="en-US" sz="650" dirty="0"/>
          </a:p>
        </p:txBody>
      </p:sp>
      <p:sp>
        <p:nvSpPr>
          <p:cNvPr id="134" name="Shape 132"/>
          <p:cNvSpPr/>
          <p:nvPr/>
        </p:nvSpPr>
        <p:spPr>
          <a:xfrm>
            <a:off x="6766560" y="3044952"/>
            <a:ext cx="1097280" cy="2560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5" name="Text 133"/>
          <p:cNvSpPr/>
          <p:nvPr/>
        </p:nvSpPr>
        <p:spPr>
          <a:xfrm>
            <a:off x="6766560" y="30449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SIMD+SIMT</a:t>
            </a:r>
            <a:endParaRPr lang="en-US" sz="650" dirty="0"/>
          </a:p>
        </p:txBody>
      </p:sp>
      <p:sp>
        <p:nvSpPr>
          <p:cNvPr id="136" name="Shape 134"/>
          <p:cNvSpPr/>
          <p:nvPr/>
        </p:nvSpPr>
        <p:spPr>
          <a:xfrm>
            <a:off x="274320" y="3300984"/>
            <a:ext cx="1005840" cy="256032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137" name="Text 135"/>
          <p:cNvSpPr/>
          <p:nvPr/>
        </p:nvSpPr>
        <p:spPr>
          <a:xfrm>
            <a:off x="274320" y="330098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</a:t>
            </a:r>
            <a:endParaRPr lang="en-US" sz="700" dirty="0"/>
          </a:p>
        </p:txBody>
      </p:sp>
      <p:sp>
        <p:nvSpPr>
          <p:cNvPr id="138" name="Shape 136"/>
          <p:cNvSpPr/>
          <p:nvPr/>
        </p:nvSpPr>
        <p:spPr>
          <a:xfrm>
            <a:off x="1280160" y="3300984"/>
            <a:ext cx="10972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9" name="Text 137"/>
          <p:cNvSpPr/>
          <p:nvPr/>
        </p:nvSpPr>
        <p:spPr>
          <a:xfrm>
            <a:off x="1280160" y="330098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风冷/冷板</a:t>
            </a:r>
            <a:endParaRPr lang="en-US" sz="650" dirty="0"/>
          </a:p>
        </p:txBody>
      </p:sp>
      <p:sp>
        <p:nvSpPr>
          <p:cNvPr id="140" name="Shape 138"/>
          <p:cNvSpPr/>
          <p:nvPr/>
        </p:nvSpPr>
        <p:spPr>
          <a:xfrm>
            <a:off x="2377440" y="3300984"/>
            <a:ext cx="10972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1" name="Text 139"/>
          <p:cNvSpPr/>
          <p:nvPr/>
        </p:nvSpPr>
        <p:spPr>
          <a:xfrm>
            <a:off x="2377440" y="330098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650" dirty="0"/>
          </a:p>
        </p:txBody>
      </p:sp>
      <p:sp>
        <p:nvSpPr>
          <p:cNvPr id="142" name="Shape 140"/>
          <p:cNvSpPr/>
          <p:nvPr/>
        </p:nvSpPr>
        <p:spPr>
          <a:xfrm>
            <a:off x="3474720" y="3300984"/>
            <a:ext cx="10972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3" name="Text 141"/>
          <p:cNvSpPr/>
          <p:nvPr/>
        </p:nvSpPr>
        <p:spPr>
          <a:xfrm>
            <a:off x="3474720" y="330098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Must 冷板</a:t>
            </a:r>
            <a:endParaRPr lang="en-US" sz="650" dirty="0"/>
          </a:p>
        </p:txBody>
      </p:sp>
      <p:sp>
        <p:nvSpPr>
          <p:cNvPr id="144" name="Shape 142"/>
          <p:cNvSpPr/>
          <p:nvPr/>
        </p:nvSpPr>
        <p:spPr>
          <a:xfrm>
            <a:off x="4572000" y="3300984"/>
            <a:ext cx="10972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5" name="Text 143"/>
          <p:cNvSpPr/>
          <p:nvPr/>
        </p:nvSpPr>
        <p:spPr>
          <a:xfrm>
            <a:off x="4572000" y="330098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Must 冷板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5669280" y="3300984"/>
            <a:ext cx="10972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7" name="Text 145"/>
          <p:cNvSpPr/>
          <p:nvPr/>
        </p:nvSpPr>
        <p:spPr>
          <a:xfrm>
            <a:off x="5669280" y="330098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Must 冷板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微通道</a:t>
            </a:r>
            <a:endParaRPr lang="en-US" sz="650" dirty="0"/>
          </a:p>
        </p:txBody>
      </p:sp>
      <p:sp>
        <p:nvSpPr>
          <p:cNvPr id="148" name="Shape 146"/>
          <p:cNvSpPr/>
          <p:nvPr/>
        </p:nvSpPr>
        <p:spPr>
          <a:xfrm>
            <a:off x="6766560" y="3300984"/>
            <a:ext cx="10972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9" name="Text 147"/>
          <p:cNvSpPr/>
          <p:nvPr/>
        </p:nvSpPr>
        <p:spPr>
          <a:xfrm>
            <a:off x="6766560" y="330098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MLCP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微通道必选</a:t>
            </a:r>
            <a:endParaRPr lang="en-US" sz="650" dirty="0"/>
          </a:p>
        </p:txBody>
      </p:sp>
      <p:sp>
        <p:nvSpPr>
          <p:cNvPr id="150" name="Shape 148"/>
          <p:cNvSpPr/>
          <p:nvPr/>
        </p:nvSpPr>
        <p:spPr>
          <a:xfrm>
            <a:off x="274320" y="3557016"/>
            <a:ext cx="1005840" cy="256032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151" name="Text 149"/>
          <p:cNvSpPr/>
          <p:nvPr/>
        </p:nvSpPr>
        <p:spPr>
          <a:xfrm>
            <a:off x="274320" y="355701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</a:t>
            </a:r>
            <a:endParaRPr lang="en-US" sz="700" dirty="0"/>
          </a:p>
        </p:txBody>
      </p:sp>
      <p:sp>
        <p:nvSpPr>
          <p:cNvPr id="152" name="Shape 150"/>
          <p:cNvSpPr/>
          <p:nvPr/>
        </p:nvSpPr>
        <p:spPr>
          <a:xfrm>
            <a:off x="1280160" y="3557016"/>
            <a:ext cx="1097280" cy="2560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3" name="Text 151"/>
          <p:cNvSpPr/>
          <p:nvPr/>
        </p:nvSpPr>
        <p:spPr>
          <a:xfrm>
            <a:off x="1280160" y="35570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训练+推理</a:t>
            </a:r>
            <a:endParaRPr lang="en-US" sz="650" dirty="0"/>
          </a:p>
        </p:txBody>
      </p:sp>
      <p:sp>
        <p:nvSpPr>
          <p:cNvPr id="154" name="Shape 152"/>
          <p:cNvSpPr/>
          <p:nvPr/>
        </p:nvSpPr>
        <p:spPr>
          <a:xfrm>
            <a:off x="2377440" y="3557016"/>
            <a:ext cx="1097280" cy="2560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5" name="Text 153"/>
          <p:cNvSpPr/>
          <p:nvPr/>
        </p:nvSpPr>
        <p:spPr>
          <a:xfrm>
            <a:off x="2377440" y="35570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通用训推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金融/政务</a:t>
            </a:r>
            <a:endParaRPr lang="en-US" sz="650" dirty="0"/>
          </a:p>
        </p:txBody>
      </p:sp>
      <p:sp>
        <p:nvSpPr>
          <p:cNvPr id="156" name="Shape 154"/>
          <p:cNvSpPr/>
          <p:nvPr/>
        </p:nvSpPr>
        <p:spPr>
          <a:xfrm>
            <a:off x="3474720" y="3557016"/>
            <a:ext cx="1097280" cy="2560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7" name="Text 155"/>
          <p:cNvSpPr/>
          <p:nvPr/>
        </p:nvSpPr>
        <p:spPr>
          <a:xfrm>
            <a:off x="3474720" y="35570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Prefill推理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推荐/交互</a:t>
            </a:r>
            <a:endParaRPr lang="en-US" sz="650" dirty="0"/>
          </a:p>
        </p:txBody>
      </p:sp>
      <p:sp>
        <p:nvSpPr>
          <p:cNvPr id="158" name="Shape 156"/>
          <p:cNvSpPr/>
          <p:nvPr/>
        </p:nvSpPr>
        <p:spPr>
          <a:xfrm>
            <a:off x="4572000" y="3557016"/>
            <a:ext cx="1097280" cy="2560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9" name="Text 157"/>
          <p:cNvSpPr/>
          <p:nvPr/>
        </p:nvSpPr>
        <p:spPr>
          <a:xfrm>
            <a:off x="4572000" y="35570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Decode推理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训练</a:t>
            </a:r>
            <a:endParaRPr lang="en-US" sz="650" dirty="0"/>
          </a:p>
        </p:txBody>
      </p:sp>
      <p:sp>
        <p:nvSpPr>
          <p:cNvPr id="160" name="Shape 158"/>
          <p:cNvSpPr/>
          <p:nvPr/>
        </p:nvSpPr>
        <p:spPr>
          <a:xfrm>
            <a:off x="5669280" y="3557016"/>
            <a:ext cx="1097280" cy="2560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1" name="Text 159"/>
          <p:cNvSpPr/>
          <p:nvPr/>
        </p:nvSpPr>
        <p:spPr>
          <a:xfrm>
            <a:off x="5669280" y="35570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千亿参数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</a:t>
            </a:r>
            <a:endParaRPr lang="en-US" sz="650" dirty="0"/>
          </a:p>
        </p:txBody>
      </p:sp>
      <p:sp>
        <p:nvSpPr>
          <p:cNvPr id="162" name="Shape 160"/>
          <p:cNvSpPr/>
          <p:nvPr/>
        </p:nvSpPr>
        <p:spPr>
          <a:xfrm>
            <a:off x="6766560" y="3557016"/>
            <a:ext cx="1097280" cy="2560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3" name="Text 161"/>
          <p:cNvSpPr/>
          <p:nvPr/>
        </p:nvSpPr>
        <p:spPr>
          <a:xfrm>
            <a:off x="6766560" y="35570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MoE/AGI</a:t>
            </a:r>
            <a:endParaRPr lang="en-US" sz="650" dirty="0"/>
          </a:p>
        </p:txBody>
      </p:sp>
      <p:sp>
        <p:nvSpPr>
          <p:cNvPr id="164" name="Shape 162"/>
          <p:cNvSpPr/>
          <p:nvPr/>
        </p:nvSpPr>
        <p:spPr>
          <a:xfrm>
            <a:off x="274320" y="3813048"/>
            <a:ext cx="1005840" cy="256032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165" name="Text 163"/>
          <p:cNvSpPr/>
          <p:nvPr/>
        </p:nvSpPr>
        <p:spPr>
          <a:xfrm>
            <a:off x="274320" y="38130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2026出货</a:t>
            </a:r>
            <a:endParaRPr lang="en-US" sz="700" dirty="0"/>
          </a:p>
        </p:txBody>
      </p:sp>
      <p:sp>
        <p:nvSpPr>
          <p:cNvPr id="166" name="Shape 164"/>
          <p:cNvSpPr/>
          <p:nvPr/>
        </p:nvSpPr>
        <p:spPr>
          <a:xfrm>
            <a:off x="1280160" y="3813048"/>
            <a:ext cx="10972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7" name="Text 165"/>
          <p:cNvSpPr/>
          <p:nvPr/>
        </p:nvSpPr>
        <p:spPr>
          <a:xfrm>
            <a:off x="1280160" y="381304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650" dirty="0"/>
          </a:p>
        </p:txBody>
      </p:sp>
      <p:sp>
        <p:nvSpPr>
          <p:cNvPr id="168" name="Shape 166"/>
          <p:cNvSpPr/>
          <p:nvPr/>
        </p:nvSpPr>
        <p:spPr>
          <a:xfrm>
            <a:off x="2377440" y="3813048"/>
            <a:ext cx="10972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9" name="Text 167"/>
          <p:cNvSpPr/>
          <p:nvPr/>
        </p:nvSpPr>
        <p:spPr>
          <a:xfrm>
            <a:off x="2377440" y="381304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650" dirty="0"/>
          </a:p>
        </p:txBody>
      </p:sp>
      <p:sp>
        <p:nvSpPr>
          <p:cNvPr id="170" name="Shape 168"/>
          <p:cNvSpPr/>
          <p:nvPr/>
        </p:nvSpPr>
        <p:spPr>
          <a:xfrm>
            <a:off x="3474720" y="3813048"/>
            <a:ext cx="10972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1" name="Text 169"/>
          <p:cNvSpPr/>
          <p:nvPr/>
        </p:nvSpPr>
        <p:spPr>
          <a:xfrm>
            <a:off x="3474720" y="381304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~80万片</a:t>
            </a:r>
            <a:endParaRPr lang="en-US" sz="650" dirty="0"/>
          </a:p>
        </p:txBody>
      </p:sp>
      <p:sp>
        <p:nvSpPr>
          <p:cNvPr id="172" name="Shape 170"/>
          <p:cNvSpPr/>
          <p:nvPr/>
        </p:nvSpPr>
        <p:spPr>
          <a:xfrm>
            <a:off x="4572000" y="3813048"/>
            <a:ext cx="10972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3" name="Text 171"/>
          <p:cNvSpPr/>
          <p:nvPr/>
        </p:nvSpPr>
        <p:spPr>
          <a:xfrm>
            <a:off x="4572000" y="381304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~40万片</a:t>
            </a:r>
            <a:endParaRPr lang="en-US" sz="650" dirty="0"/>
          </a:p>
        </p:txBody>
      </p:sp>
      <p:sp>
        <p:nvSpPr>
          <p:cNvPr id="174" name="Shape 172"/>
          <p:cNvSpPr/>
          <p:nvPr/>
        </p:nvSpPr>
        <p:spPr>
          <a:xfrm>
            <a:off x="5669280" y="3813048"/>
            <a:ext cx="10972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5" name="Text 173"/>
          <p:cNvSpPr/>
          <p:nvPr/>
        </p:nvSpPr>
        <p:spPr>
          <a:xfrm>
            <a:off x="5669280" y="381304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650" dirty="0"/>
          </a:p>
        </p:txBody>
      </p:sp>
      <p:sp>
        <p:nvSpPr>
          <p:cNvPr id="176" name="Shape 174"/>
          <p:cNvSpPr/>
          <p:nvPr/>
        </p:nvSpPr>
        <p:spPr>
          <a:xfrm>
            <a:off x="6766560" y="3813048"/>
            <a:ext cx="10972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7" name="Text 175"/>
          <p:cNvSpPr/>
          <p:nvPr/>
        </p:nvSpPr>
        <p:spPr>
          <a:xfrm>
            <a:off x="6766560" y="381304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650" dirty="0"/>
          </a:p>
        </p:txBody>
      </p:sp>
      <p:sp>
        <p:nvSpPr>
          <p:cNvPr id="178" name="Shape 176"/>
          <p:cNvSpPr/>
          <p:nvPr/>
        </p:nvSpPr>
        <p:spPr>
          <a:xfrm>
            <a:off x="274320" y="4069080"/>
            <a:ext cx="1005840" cy="256032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179" name="Text 177"/>
          <p:cNvSpPr/>
          <p:nvPr/>
        </p:nvSpPr>
        <p:spPr>
          <a:xfrm>
            <a:off x="274320" y="4069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</a:t>
            </a:r>
            <a:endParaRPr lang="en-US" sz="700" dirty="0"/>
          </a:p>
        </p:txBody>
      </p:sp>
      <p:sp>
        <p:nvSpPr>
          <p:cNvPr id="180" name="Shape 178"/>
          <p:cNvSpPr/>
          <p:nvPr/>
        </p:nvSpPr>
        <p:spPr>
          <a:xfrm>
            <a:off x="1280160" y="4069080"/>
            <a:ext cx="1097280" cy="2560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1" name="Text 179"/>
          <p:cNvSpPr/>
          <p:nvPr/>
        </p:nvSpPr>
        <p:spPr>
          <a:xfrm>
            <a:off x="1280160" y="40690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Atlas 900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384卡</a:t>
            </a:r>
            <a:endParaRPr lang="en-US" sz="650" dirty="0"/>
          </a:p>
        </p:txBody>
      </p:sp>
      <p:sp>
        <p:nvSpPr>
          <p:cNvPr id="182" name="Shape 180"/>
          <p:cNvSpPr/>
          <p:nvPr/>
        </p:nvSpPr>
        <p:spPr>
          <a:xfrm>
            <a:off x="2377440" y="4069080"/>
            <a:ext cx="1097280" cy="2560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3" name="Text 181"/>
          <p:cNvSpPr/>
          <p:nvPr/>
        </p:nvSpPr>
        <p:spPr>
          <a:xfrm>
            <a:off x="2377440" y="40690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Atlas 900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384卡</a:t>
            </a:r>
            <a:endParaRPr lang="en-US" sz="650" dirty="0"/>
          </a:p>
        </p:txBody>
      </p:sp>
      <p:sp>
        <p:nvSpPr>
          <p:cNvPr id="184" name="Shape 182"/>
          <p:cNvSpPr/>
          <p:nvPr/>
        </p:nvSpPr>
        <p:spPr>
          <a:xfrm>
            <a:off x="3474720" y="4069080"/>
            <a:ext cx="1097280" cy="2560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5" name="Text 183"/>
          <p:cNvSpPr/>
          <p:nvPr/>
        </p:nvSpPr>
        <p:spPr>
          <a:xfrm>
            <a:off x="3474720" y="40690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Atlas 950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8192卡</a:t>
            </a:r>
            <a:endParaRPr lang="en-US" sz="650" dirty="0"/>
          </a:p>
        </p:txBody>
      </p:sp>
      <p:sp>
        <p:nvSpPr>
          <p:cNvPr id="186" name="Shape 184"/>
          <p:cNvSpPr/>
          <p:nvPr/>
        </p:nvSpPr>
        <p:spPr>
          <a:xfrm>
            <a:off x="4572000" y="4069080"/>
            <a:ext cx="1097280" cy="2560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7" name="Text 185"/>
          <p:cNvSpPr/>
          <p:nvPr/>
        </p:nvSpPr>
        <p:spPr>
          <a:xfrm>
            <a:off x="4572000" y="40690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Atlas 950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8192卡</a:t>
            </a:r>
            <a:endParaRPr lang="en-US" sz="650" dirty="0"/>
          </a:p>
        </p:txBody>
      </p:sp>
      <p:sp>
        <p:nvSpPr>
          <p:cNvPr id="188" name="Shape 186"/>
          <p:cNvSpPr/>
          <p:nvPr/>
        </p:nvSpPr>
        <p:spPr>
          <a:xfrm>
            <a:off x="5669280" y="4069080"/>
            <a:ext cx="1097280" cy="2560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9" name="Text 187"/>
          <p:cNvSpPr/>
          <p:nvPr/>
        </p:nvSpPr>
        <p:spPr>
          <a:xfrm>
            <a:off x="5669280" y="40690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Atlas 960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15488卡</a:t>
            </a:r>
            <a:endParaRPr lang="en-US" sz="650" dirty="0"/>
          </a:p>
        </p:txBody>
      </p:sp>
      <p:sp>
        <p:nvSpPr>
          <p:cNvPr id="190" name="Shape 188"/>
          <p:cNvSpPr/>
          <p:nvPr/>
        </p:nvSpPr>
        <p:spPr>
          <a:xfrm>
            <a:off x="6766560" y="4069080"/>
            <a:ext cx="1097280" cy="2560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1" name="Text 189"/>
          <p:cNvSpPr/>
          <p:nvPr/>
        </p:nvSpPr>
        <p:spPr>
          <a:xfrm>
            <a:off x="6766560" y="40690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650" dirty="0"/>
          </a:p>
        </p:txBody>
      </p:sp>
      <p:sp>
        <p:nvSpPr>
          <p:cNvPr id="192" name="Text 190"/>
          <p:cNvSpPr/>
          <p:nvPr/>
        </p:nvSpPr>
        <p:spPr>
          <a:xfrm>
            <a:off x="365760" y="44622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关键技术突破</a:t>
            </a:r>
            <a:endParaRPr lang="en-US" sz="1000" dirty="0"/>
          </a:p>
        </p:txBody>
      </p:sp>
      <p:sp>
        <p:nvSpPr>
          <p:cNvPr id="193" name="Text 191"/>
          <p:cNvSpPr/>
          <p:nvPr/>
        </p:nvSpPr>
        <p:spPr>
          <a:xfrm>
            <a:off x="457200" y="473659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算力翻倍: 400 TFLOPS(910B) → 8 PFLOPS(970 FP4) 每代×2</a:t>
            </a:r>
            <a:endParaRPr lang="en-US" sz="650" dirty="0"/>
          </a:p>
        </p:txBody>
      </p:sp>
      <p:sp>
        <p:nvSpPr>
          <p:cNvPr id="194" name="Text 192"/>
          <p:cNvSpPr/>
          <p:nvPr/>
        </p:nvSpPr>
        <p:spPr>
          <a:xfrm>
            <a:off x="457200" y="491947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互联进化: HCCS → 灵衢2.0 开放生态 → 4TB/s (5×提升)</a:t>
            </a:r>
            <a:endParaRPr lang="en-US" sz="650" dirty="0"/>
          </a:p>
        </p:txBody>
      </p:sp>
      <p:sp>
        <p:nvSpPr>
          <p:cNvPr id="195" name="Text 193"/>
          <p:cNvSpPr/>
          <p:nvPr/>
        </p:nvSpPr>
        <p:spPr>
          <a:xfrm>
            <a:off x="457200" y="510235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存储自主: 外购HBM2e → 自研HiBL/HiZQ, 打破三星/SK垄断</a:t>
            </a:r>
            <a:endParaRPr lang="en-US" sz="650" dirty="0"/>
          </a:p>
        </p:txBody>
      </p:sp>
      <p:sp>
        <p:nvSpPr>
          <p:cNvPr id="196" name="Text 194"/>
          <p:cNvSpPr/>
          <p:nvPr/>
        </p:nvSpPr>
        <p:spPr>
          <a:xfrm>
            <a:off x="457200" y="528523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架构升级: SIMD → SIMD+SIMT双模型, 内存访问效率×4</a:t>
            </a:r>
            <a:endParaRPr lang="en-US" sz="650" dirty="0"/>
          </a:p>
        </p:txBody>
      </p:sp>
      <p:sp>
        <p:nvSpPr>
          <p:cNvPr id="197" name="Text 195"/>
          <p:cNvSpPr/>
          <p:nvPr/>
        </p:nvSpPr>
        <p:spPr>
          <a:xfrm>
            <a:off x="4754880" y="44622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采购决策链</a:t>
            </a:r>
            <a:endParaRPr lang="en-US" sz="1000" dirty="0"/>
          </a:p>
        </p:txBody>
      </p:sp>
      <p:sp>
        <p:nvSpPr>
          <p:cNvPr id="198" name="Shape 196"/>
          <p:cNvSpPr/>
          <p:nvPr/>
        </p:nvSpPr>
        <p:spPr>
          <a:xfrm>
            <a:off x="4846320" y="4736592"/>
            <a:ext cx="3657600" cy="320040"/>
          </a:xfrm>
          <a:prstGeom prst="roundRect">
            <a:avLst>
              <a:gd name="adj" fmla="val 14286"/>
            </a:avLst>
          </a:prstGeom>
          <a:solidFill>
            <a:srgbClr val="03045E"/>
          </a:solidFill>
          <a:ln/>
        </p:spPr>
      </p:sp>
      <p:sp>
        <p:nvSpPr>
          <p:cNvPr id="199" name="Text 197"/>
          <p:cNvSpPr/>
          <p:nvPr/>
        </p:nvSpPr>
        <p:spPr>
          <a:xfrm>
            <a:off x="4937760" y="47365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定标准</a:t>
            </a:r>
            <a:endParaRPr lang="en-US" sz="800" dirty="0"/>
          </a:p>
        </p:txBody>
      </p:sp>
      <p:sp>
        <p:nvSpPr>
          <p:cNvPr id="200" name="Text 198"/>
          <p:cNvSpPr/>
          <p:nvPr/>
        </p:nvSpPr>
        <p:spPr>
          <a:xfrm>
            <a:off x="6400800" y="47365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冷板规格/认证/生态</a:t>
            </a:r>
            <a:endParaRPr lang="en-US" sz="700" dirty="0"/>
          </a:p>
        </p:txBody>
      </p:sp>
      <p:sp>
        <p:nvSpPr>
          <p:cNvPr id="201" name="Text 199"/>
          <p:cNvSpPr/>
          <p:nvPr/>
        </p:nvSpPr>
        <p:spPr>
          <a:xfrm>
            <a:off x="5303520" y="5056632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800" dirty="0"/>
          </a:p>
        </p:txBody>
      </p:sp>
      <p:sp>
        <p:nvSpPr>
          <p:cNvPr id="202" name="Shape 200"/>
          <p:cNvSpPr/>
          <p:nvPr/>
        </p:nvSpPr>
        <p:spPr>
          <a:xfrm>
            <a:off x="4846320" y="5102352"/>
            <a:ext cx="3657600" cy="320040"/>
          </a:xfrm>
          <a:prstGeom prst="roundRect">
            <a:avLst>
              <a:gd name="adj" fmla="val 14286"/>
            </a:avLst>
          </a:prstGeom>
          <a:solidFill>
            <a:srgbClr val="0077B6"/>
          </a:solidFill>
          <a:ln/>
        </p:spPr>
      </p:sp>
      <p:sp>
        <p:nvSpPr>
          <p:cNvPr id="203" name="Text 201"/>
          <p:cNvSpPr/>
          <p:nvPr/>
        </p:nvSpPr>
        <p:spPr>
          <a:xfrm>
            <a:off x="4937760" y="51023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 做适配</a:t>
            </a:r>
            <a:endParaRPr lang="en-US" sz="800" dirty="0"/>
          </a:p>
        </p:txBody>
      </p:sp>
      <p:sp>
        <p:nvSpPr>
          <p:cNvPr id="204" name="Text 202"/>
          <p:cNvSpPr/>
          <p:nvPr/>
        </p:nvSpPr>
        <p:spPr>
          <a:xfrm>
            <a:off x="6400800" y="51023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浪潮/超聚变/宁畅/H3C</a:t>
            </a:r>
            <a:endParaRPr lang="en-US" sz="700" dirty="0"/>
          </a:p>
        </p:txBody>
      </p:sp>
      <p:sp>
        <p:nvSpPr>
          <p:cNvPr id="205" name="Text 203"/>
          <p:cNvSpPr/>
          <p:nvPr/>
        </p:nvSpPr>
        <p:spPr>
          <a:xfrm>
            <a:off x="5303520" y="5422392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800" dirty="0"/>
          </a:p>
        </p:txBody>
      </p:sp>
      <p:sp>
        <p:nvSpPr>
          <p:cNvPr id="206" name="Shape 204"/>
          <p:cNvSpPr/>
          <p:nvPr/>
        </p:nvSpPr>
        <p:spPr>
          <a:xfrm>
            <a:off x="4846320" y="5468112"/>
            <a:ext cx="3657600" cy="320040"/>
          </a:xfrm>
          <a:prstGeom prst="roundRect">
            <a:avLst>
              <a:gd name="adj" fmla="val 14286"/>
            </a:avLst>
          </a:prstGeom>
          <a:solidFill>
            <a:srgbClr val="00B4D8"/>
          </a:solidFill>
          <a:ln/>
        </p:spPr>
      </p:sp>
      <p:sp>
        <p:nvSpPr>
          <p:cNvPr id="207" name="Text 205"/>
          <p:cNvSpPr/>
          <p:nvPr/>
        </p:nvSpPr>
        <p:spPr>
          <a:xfrm>
            <a:off x="4937760" y="54681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DC 自主决策</a:t>
            </a:r>
            <a:endParaRPr lang="en-US" sz="800" dirty="0"/>
          </a:p>
        </p:txBody>
      </p:sp>
      <p:sp>
        <p:nvSpPr>
          <p:cNvPr id="208" name="Text 206"/>
          <p:cNvSpPr/>
          <p:nvPr/>
        </p:nvSpPr>
        <p:spPr>
          <a:xfrm>
            <a:off x="6400800" y="54681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 招标</a:t>
            </a:r>
            <a:endParaRPr lang="en-US" sz="700" dirty="0"/>
          </a:p>
        </p:txBody>
      </p:sp>
      <p:sp>
        <p:nvSpPr>
          <p:cNvPr id="209" name="Text 207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源: 华为全联接大会2025(已核实) | 华金证券 昇腾950研报(2026-04-12) | SupChina/证券时报 2025-09-18 | DeepSeek V4适配950PR → 大厂抢购潮</a:t>
            </a:r>
            <a:endParaRPr lang="en-US" sz="700" dirty="0"/>
          </a:p>
        </p:txBody>
      </p:sp>
      <p:sp>
        <p:nvSpPr>
          <p:cNvPr id="210" name="Shape 208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211" name="Text 20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212" name="Text 21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五看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看自己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能力矩阵 × 差距分析 × 待海悟输入项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能力矩阵 &amp; 差距分析</a:t>
            </a:r>
            <a:endParaRPr lang="en-US" sz="2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645920"/>
                <a:gridCol w="1645920"/>
                <a:gridCol w="2377440"/>
                <a:gridCol w="9144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差距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时间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🔴 最大短板: 认证（Intel UQD/NVIDIA/阿里）= 液冷准入门槛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【待海悟输入】标记项需海悟内部确认后补全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8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五看小结: 差距即机会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产品机会: Manifold有基础 → 电源冷板+内存冷板+光模块冷板 = 蓝海爆量（竞品均未覆盖）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认证补课: Intel UQD(2028H1前) &gt; NVIDIA认证 &gt; 阿里认证 = 三证缺一不可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🔴 客户深耕: H3C/浪潮 2026年送样测试 → 借H3C渠道接触阿里/字节液冷团队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⏳ 测试能力: 2026Q3自建热性能测试台 → 研发+客户演示双重价值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🔥 冷却可靠性: AWS宕机事件 → 冗余CDU(N+1/热插拔) = IDC采购新增评估维度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三定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定目标 / 定策略 / 定控制点</a:t>
            </a:r>
            <a:endParaRPr lang="en-US" sz="3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定目标: 国内线营收路线</a:t>
            </a:r>
            <a:endParaRPr lang="en-US" sz="2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1828800"/>
                <a:gridCol w="274320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年份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营收(¥)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核心产品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关键里程碑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6" name="Text 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定策略: 五步进攻路线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0F7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97280"/>
            <a:ext cx="457200" cy="45720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051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Manifold破冰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3258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0" y="10515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低门槛送样H3C/浪潮/宁畅 → 建立供应商关系 → 证明交付能力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874520"/>
            <a:ext cx="457200" cy="45720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蓝海差异化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1031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0" y="182880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电源冷板+内存冷板 = 竞品均未覆盖 → 差异化标签 → 溢价空间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0F7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2651760"/>
            <a:ext cx="457200" cy="457200"/>
          </a:xfrm>
          <a:prstGeom prst="oval">
            <a:avLst/>
          </a:prstGeom>
          <a:solidFill>
            <a:srgbClr val="E76F5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认证突围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2880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0" y="260604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UQD(2028H1前) → NVIDIA认证 → 阿里认证 = 准入三证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3375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3429000"/>
            <a:ext cx="457200" cy="457200"/>
          </a:xfrm>
          <a:prstGeom prst="oval">
            <a:avLst/>
          </a:prstGeom>
          <a:solidFill>
            <a:srgbClr val="0077B6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88720" y="3383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国产替代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88720" y="3657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0" y="338328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快接头国产化(成本低30%) → 借国产GPU/政策窗口 → P1储备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1148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0F7FF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4206240"/>
            <a:ext cx="457200" cy="457200"/>
          </a:xfrm>
          <a:prstGeom prst="oval">
            <a:avLst/>
          </a:prstGeom>
          <a:solidFill>
            <a:srgbClr val="0077B6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88720" y="4160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海外双线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88720" y="44348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0" y="416052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ODM(华勤/富士康)间接出货 → OEM认证取得 → 自有渠道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定控制点: 风险管控矩阵</a:t>
            </a:r>
            <a:endParaRPr lang="en-US" sz="2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48640"/>
                <a:gridCol w="548640"/>
                <a:gridCol w="3200400"/>
                <a:gridCol w="24688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影响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概率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触发器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6" name="Text 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三定小结: 时间路线图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2026H1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Manifold送样H3C/浪潮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03120" y="11430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219456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2240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2026H2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2560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电源冷板研发立项+热测试台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37760" y="2240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329184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3337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3657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Manifold批量+电源冷板蓝海爆量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0" y="33375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E76F5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246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2027Q2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566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UQD认证启动(B计划触发前)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03120" y="32461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91840" y="429768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0077B6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4343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2028H1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4663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UQD认证通过+CPU冷板主力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37760" y="4343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539496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0077B6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5440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2028-30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5760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CDU+快接头+海外ODM→认证→自有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0" y="5440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组件深度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 · CDU · Manifold · 快接头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机柜级液冷四大组件拆解：市场空间 · 竞争格局 · 海悟机会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液冷组件BOM与战略矩阵 | NVL72单柜 $83,770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源: 国信证券《服务器液冷专题》(2026-04-14) | BOM + 优先级 + 海悟战略 三合一视图</a:t>
            </a:r>
            <a:endParaRPr lang="en-US" sz="7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57200"/>
                <a:gridCol w="594360"/>
                <a:gridCol w="502920"/>
                <a:gridCol w="822960"/>
                <a:gridCol w="1051560"/>
                <a:gridCol w="822960"/>
                <a:gridCol w="1600200"/>
                <a:gridCol w="6400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数量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BOM占比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优先级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 2026E(¥B)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技术壁垒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竞争烈度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海悟策略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启动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108960"/>
            <a:ext cx="8229600" cy="18288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单柜液冷总额: $83,770 | 冷板(43%)+CDU(36%)=79% | 液冷占机柜(~$3M)约3%，但技术壁垒高、替换粘性强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海悟进攻路线: Manifold(低壁垒出量)→电源冷板(蓝海爆量)→CPU冷板(认证主力)→快接头(国产替代协同)→CDU(远期系统级)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2026核心动作: ① Manifold送样H3C/浪潮(¥50M)  ② 电源冷板研发立项(2027蓝海爆量¥300M)  |  关键: 2026是"交易落地"元年，液冷从可选→标配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42976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🔥 Arista XPO光模块冷板400W(12.8T/模块) 蓝海确认 | 源: 国信证券(2026-04-14) + 华源证券共识</a:t>
            </a:r>
            <a:endParaRPr lang="en-US" sz="750" dirty="0"/>
          </a:p>
        </p:txBody>
      </p:sp>
      <p:pic>
        <p:nvPicPr>
          <p:cNvPr id="11" name="Image 0" descr="/root/data/disk/liquid-cooling-ecosystem/analysis/liquid-cooling/ppt/v10-slides/slides/../../imgs/gx_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4114800"/>
            <a:ext cx="2926080" cy="13716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13" name="Text 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GPU冷板 | 液冷组件最大赛道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市场空间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H100 700W → GB200 1200W → Rubin 1500W+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TAM(2026E)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 $5-8B | 中国 ¥12-18B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ASP(CPU冷板)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$80-150/片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ASP(GPU冷板)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2880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$200-400/片(NVIDIA认证加成)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竞争格局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1371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CoolIT 🔒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43600" y="1371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国际龙头 | NVIDIA认证 | $300-350/片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54880" y="16459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AVC(奇鋐) 🔒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943600" y="16459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国际主要 | NVIDIA认证 | $250-300/片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54880" y="1920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nVent 🔒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43600" y="19202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 | CFD认证 | $450-500/片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4880" y="21945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943600" y="21945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国内龙头 | 在研 | ¥800-1200/片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54880" y="24688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高澜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943600" y="2468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 | 在研 | ¥600-1000/片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54880" y="27432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943600" y="2743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待认证 | — | —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海悟机会: ⚠️CPU冷板需要Intel UQD认证(2028H1前), GPU冷板需NVIDIA认证(1-2年)。2026-27策略: Manifold破冰+电源冷板蓝海差异化先行。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114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国际冷板市场由NVIDIA认证体系锁定，新进入者P0任务: Intel UQD认证(2026Q2启动)+NVIDIA样品测试(2027)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4480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🔥 Arista XPO光模块冷板: 单体400W, 12.8T/模块, 204.8T/OCP RU. 光模块冷板蓝海确认→海悟新增量入口</a:t>
            </a:r>
            <a:endParaRPr lang="en-US" sz="800" dirty="0"/>
          </a:p>
        </p:txBody>
      </p:sp>
      <p:pic>
        <p:nvPicPr>
          <p:cNvPr id="29" name="Image 0" descr="/root/data/disk/liquid-cooling-ecosystem/analysis/liquid-cooling/ppt/v10-slides/slides/../../imgs/gj_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3474720"/>
            <a:ext cx="2926080" cy="1645920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31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 | 2030E全球$20.6B, 占比36%</a:t>
            </a:r>
            <a:endParaRPr lang="en-US" sz="1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源: 国信证券(2026-04-14) | 结论: CDU技术壁垒低,竞争最激烈。不主攻,但需储备能力以备系统级打包。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7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 | 2030E全球$5B, 国产替代最强窗口</a:t>
            </a:r>
            <a:endParaRPr lang="en-US" sz="1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源: 国信证券(2026-04-14) | 国产替代窗口2-3年, 成本优势30%+国产化政策驱动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7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 + 电源冷板 | 海悟2026-27核心战场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E0E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🟢 Manifold (先行出量)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TAM: 全球 $1.2-2.5B | 中国 ¥3-5B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ASP: $500-1500/个 | 单柜 8-16个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壁垒: 低 (管路分配=制造)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竞争: 英维克/高澜/申菱/同飞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海悟: ✅ 已有基础 → 送样H3C/浪潮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2026目标: ¥50M (送样→小批量)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3E0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005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🔵 电源冷板 (蓝海爆量)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TAM: 全球 $0.5-1B | 中国 ¥1-3B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1874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ASP: $50-100/片 | 单柜 36+片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2286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壁垒: 中等 (功率密度+热设计)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2697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竞争: ❗供应商空白→蓝海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3108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差异化: 竞品均未覆盖此赛道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37760" y="3520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2027目标: ¥300M (蓝海爆量)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核心逻辑: Manifold低门槛建立信任(H3C/浪潮) → 电源冷板差异化爆量(竞品空白) → CPU冷板认证跟进(2028)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数据溯源 · 方法论 · 源文件索引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所有数据均可追溯至具体源文件，遵循五铁律三维治理体系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数据溯源 · 铁律治理 · 源文件索引 (v7)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六铁律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sources/刷新 → 洞察联动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39903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四维统一(GPU/OTT/OEM/IDC)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65506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五看三定汇总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91109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先分后合(子分析→汇总)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216712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市场数据以最新源文件为准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新文件导入→所有关联洞察联动刷新+索引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0" y="822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11项分析源 (v7, 2026-05-11)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14300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gpu/2026-05-09-gpu-chip-insight.md v6 🔥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4754880" y="132588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supernode/2026-05-09-supernode-insight.md v6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4754880" y="150876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supernode/2026-05-10-*-insight.md ×2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4754880" y="169164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ott/2026-05-09-ott-cloud-insight.md v6 🔥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4754880" y="187452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oem/2026-05-09-oem-server-insight.md v6 🔥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754880" y="205740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idc/2026-05-09-idc-datacenter-insight.md v6 🔥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4754880" y="224028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cooling/2026-05-09-cooling-competition v7 🔥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4754880" y="242316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cooling/2026-05-10-guosen-*-space.md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4754880" y="260604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decision/standards/operations/strategy/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4754880" y="278892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docs/2026-05-09-海悟液冷五看三定.md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4754880" y="297180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analysis/liquid-cooling/INDEX.md v1.1 🔥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2026-05-11 新增情报 (14条RSS+3篇研报→5维洞察刷新)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AWS热事件冷却宕机 | Arista XPO冷板400W | AI DC水/电/噪音 | AMD MI350P | Anthropic SpaceX Colossus | Google TPU8 | MS基础设施翻倍 | Gartner交换机风暴 | 康宁NV光入柜内 | 国产AI算力液冷推荐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数据源: SEC EDGAR ×13 | Eastmoney研报 ×572+ | RSS 186篇(2026-05-11) | 微信文章 | ChangeDetection网页快照 | Bloomberg/Gartner/Dell'Oro Group快照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海悟科技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海悟科技 机柜级液冷战略 五看三定 v10</dc:title>
  <dc:subject>PptxGenJS Presentation</dc:subject>
  <dc:creator>海悟科技 × AI战略分析</dc:creator>
  <cp:lastModifiedBy>海悟科技 × AI战略分析</cp:lastModifiedBy>
  <cp:revision>1</cp:revision>
  <dcterms:created xsi:type="dcterms:W3CDTF">2026-05-11T14:38:14Z</dcterms:created>
  <dcterms:modified xsi:type="dcterms:W3CDTF">2026-05-11T14:38:14Z</dcterms:modified>
</cp:coreProperties>
</file>