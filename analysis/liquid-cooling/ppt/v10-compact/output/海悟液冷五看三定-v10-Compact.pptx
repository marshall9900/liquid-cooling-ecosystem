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charts/chart2.xml" ContentType="application/vnd.openxmlformats-officedocument.drawingml.chart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AIDC机柜（万架·推算）</c:v>
                </c:pt>
              </c:strCache>
            </c:strRef>
          </c:tx>
          <c:spPr>
            <a:solidFill>
              <a:srgbClr val="F79646"/>
            </a:solidFill>
            <a:ln w="25400" cap="flat">
              <a:solidFill>
                <a:srgbClr val="F796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F497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9646"/>
              </a:solidFill>
              <a:ln w="9525" cap="flat">
                <a:solidFill>
                  <a:srgbClr val="F796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2028E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26</c:v>
                </c:pt>
                <c:pt idx="2">
                  <c:v>90</c:v>
                </c:pt>
                <c:pt idx="3">
                  <c:v>170</c:v>
                </c:pt>
                <c:pt idx="4">
                  <c:v>310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液冷机柜（万架）</c:v>
                </c:pt>
              </c:strCache>
            </c:strRef>
          </c:tx>
          <c:spPr>
            <a:solidFill>
              <a:srgbClr val="1F497D"/>
            </a:solidFill>
            <a:ln w="25400" cap="flat">
              <a:solidFill>
                <a:srgbClr val="1F497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F497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97D"/>
              </a:solidFill>
              <a:ln w="9525" cap="flat">
                <a:solidFill>
                  <a:srgbClr val="1F497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2028E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10</c:v>
                </c:pt>
                <c:pt idx="2">
                  <c:v>53</c:v>
                </c:pt>
                <c:pt idx="3">
                  <c:v>120</c:v>
                </c:pt>
                <c:pt idx="4">
                  <c:v>250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F497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F81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F81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F497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液冷营收(¥M)</c:v>
                </c:pt>
              </c:strCache>
            </c:strRef>
          </c:tx>
          <c:spPr>
            <a:solidFill>
              <a:srgbClr val="4BACC6"/>
            </a:solidFill>
            <a:ln w="31750" cap="flat">
              <a:solidFill>
                <a:srgbClr val="4BACC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BACC6"/>
              </a:solidFill>
              <a:ln w="9525" cap="flat">
                <a:solidFill>
                  <a:srgbClr val="4BAC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75</c:v>
                </c:pt>
                <c:pt idx="2">
                  <c:v>350</c:v>
                </c:pt>
                <c:pt idx="3">
                  <c:v>1500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SOM份额(%)</c:v>
                </c:pt>
              </c:strCache>
            </c:strRef>
          </c:tx>
          <c:spPr>
            <a:solidFill>
              <a:srgbClr val="F79646"/>
            </a:solidFill>
            <a:ln w="31750" cap="flat">
              <a:solidFill>
                <a:srgbClr val="F796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79646"/>
              </a:solidFill>
              <a:ln w="9525" cap="flat">
                <a:solidFill>
                  <a:srgbClr val="F796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2030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0.35</c:v>
                </c:pt>
                <c:pt idx="1">
                  <c:v>1.5</c:v>
                </c:pt>
                <c:pt idx="2">
                  <c:v>4</c:v>
                </c:pt>
                <c:pt idx="3">
                  <c:v>6.5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364源文件: 研报160篇 + SEC 13家 + RSS 182篇 + 微信9篇; sources/wechat/2026-05-07-ott-csp-gpu-capex-830b-usd.md, sources/wechat/2026-05-07-ott-csp-gpu-capex-830b-usd.md; sources/wechat/2026-05-07-ott-csp-gpu-capex-830b-usd.md, sources/wechat/2026-05-06-global-liquid-cooling-market-173b-usd.md; sources/wechat/2026-05-07-ott-csp-gpu-capex-830b-usd.md, sources/wechat/2026-05-06-super-node-insight.md; sources/wechat/2026-05-07-ott-csp-gpu-capex-830b-usd.md, sources/wechat/2026-05-07-gb300-liquid-cooling-domestic-breakthrough.md; 中国信通院 智算中心液冷产业全景研究报告(2025年) 等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海悟科技 战略洞察部 | 铁律⑩⑪ | Kimi ✅ MiniMax ✅ | 364源文件: 研报160篇+SEC 13家+RSS 182篇+微信9篇 | 2026-05-09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华为五看三定方法论(华为大学); 铁律体系完整清单; Kimi ✅ MiniMax ✅; 源索引: source_index.json (364源文件 自动生成于2026-05-09)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NVIDIA GPU路线图 H100→Rubin; NVIDIA官网 → GPU规格; sources/sec/oem/VRT/submissions_2026-05-09.json, sources/sec/gpu/NVDA/submissions_2026-05-09.json, sources/sec/gpu/NVDA/submissions_2026-05-09.json → SEC 10-K核实GPU出货; 推算:风冷极限≈600W(风量×温差×比热) Rubin 1500W+=2.5倍风冷极限→液冷唯一解 【估算】基于公开数据推算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idc/2026-05-09-idc-datacenter-insight.md | 📐口径三重锁定 | 铁律⑩+⑪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工信部 通信[2021]76号 → 新型DC三年行动计划(PUE≤1.3); 财政部 绿色DC采购标准(2023) → PUE≤1.4/≤1.3; 工信部 绿色低碳专项行动计划(2024) → PUE≤1.25; 发改委 东数西算2.0 → PUE≤1.15; sources/wechat/2026-05-07-ott-csp-gpu-capex-830b-usd.md, sources/wechat/2026-05-06-global-liquid-cooling-market-173b-usd.md → AI推理机柜85-130kW 风冷彻底不可行; 推算:风冷PUE理论下限≈1.2(压缩机COP3-4+风机0.1+管路0.05)→PUE≤1.15=液冷+自然冷却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s004-s006全部源文件汇总; sources/reports/supernode/H3_AP202604141821191501_1.pdf 国信证券→2026E $12.6B/2030E $53.5B CAGR 43.6%; sources/wechat/2026-05-07-ott-csp-gpu-capex-830b-usd.md → 全球九大CSP $8,300亿(2026E) 同比+79%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全球九大CSP $8,300亿(2026E)同比+79%; sources/wechat/2026-05-07-ott-csp-gpu-capex-830b-usd.md, sources/wechat/2026-05-06-global-liquid-cooling-market-173b-usd.md → $33.3B(2026E)→$173.1B(2032E) CAGR 26.5%; sources/wechat/2026-05-07-ott-csp-gpu-capex-830b-usd.md, sources/wechat/2026-05-06-super-node-insight.md → 国产超节点2028E ¥3,414亿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s009+s010+s011合并: 阿里三年¥4,800亿(CEO吴泳铭) 磐久3.0全液冷 推算:液冷采购≈¥16-20亿/年 单柜Manifold ¥48K-120K×2,000柜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s012+s013+s014合并: 字节GPU直采¥2,300亿 零既有供应商=海悟最大机遇 单柜液冷BOM ¥60-75万×~3,000柜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s015+s016合并: 腾讯液冷¥10-15亿/年 CDU/Manifold≈30%=¥3-5亿 海悟目标5%=¥15-25M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百度昇腾预购&gt;5万颗,AI CAPEX¥800-1,000亿; sources/sec/oem/VRT/submissions_2026-05-09.json, sources/sec/ott/MSFT/submissions_2026-05-09.json, sources/sec/ott/BIDU/submissions_2026-05-09.json → SEC百度10-K CAPEX核实; sources/sec/oem/VRT/submissions_2026-05-09.json, sources/sec/ott/MSFT/submissions_2026-05-09.json → JD/submissions_2026-05-09.json → 京东生态CAPEX; 【估算】:快手/拼多多CAPEX为券商推算 基于公开AI服务器采购公告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s018+s019+s020合并: 四大OTT AI CAPEX ¥6,500亿+(2026E) SAM=液冷采购×(CDU+Manifold+冷板可参与)~10-20%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NVIDIA/昇腾/寒武纪/海光/平头哥全系TDP/出货; sources/wechat/2026-05-07-ott-csp-gpu-capex-830b-usd.md, sources/wechat/2026-05-07-ott-csp-gpu-capex-830b-usd.md → 昇腾950PR 75万颗已订满; sources/wechat/2026-05-07-ott-csp-gpu-capex-830b-usd.md, sources/wechat/2026-05-06-super-node-insight.md → Scale-up超节点技术路线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20specs 12verified; sources/液冷客户表.ods → GPU-OEM-液冷三维映射; sources/wechat/2026-05-07-ott-csp-gpu-capex-830b-usd.md, sources/wechat/2026-05-07-ott-csp-gpu-capex-830b-usd.md → 字节¥2,300亿GPU采购/昇腾950PR75万颗全订满/FP4=1.56PFlops(H20×2.87); sources/sec/oem/VRT/submissions_2026-05-09.json, sources/sec/gpu/NVDA/submissions_2026-05-09.json, sources/sec/gpu/NVDA/submissions_2026-05-09.json → NVDA B200 TDP 1000W→液冷必选; sources/wechat/2026-05-07-ott-csp-gpu-capex-830b-usd.md, sources/wechat/2026-05-06-super-node-insight.md → 26年国产卡出货248万颗/28年520万颗(CAGR 65%-50%-40%); 采购=Σ(出货×ASC)=¥3.1B(中枢) / ¥2.5-5.2B(区间)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sources/GPU对比表格-精确修正.csv+sources/液冷客户表.ods; 开放度评估: 先攻寒武纪=最快路径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s022+s023合并: 华为全联接大会2025 华金证券昇腾950研报(2026-04-12) 昇腾2026出货目标120万(产能75万,缺口45万)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s024+s025合并: GPU对比表格-精确修正.csv 寒武纪2025年报 阿里寒武纪采购5-6万颗(2026)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s026+s027合并: GPU对比表格-精确修正.csv 海光信息2025年报 信创DCU→国产液冷优先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s028+s029合并: 平头哥真武810E架构(阿里ODCC 2026) GPU对比表格 国产超节点2028E ¥3,414亿(CAGR 194%)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sources/液冷客户表.ods+sources/wechat/2026-05-07-ott-csp-gpu-capex-830b-usd.md, sources/wechat/2026-05-07-bytedance-alibaba-idc-procurement-2026.md → 浪潮字节液冷大单; 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液冷采购=OEM出货×22%×单柜BOM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s033+s034合并: 新华三年报2025 H3C液冷采购信息 海悟Manifold送样H3C(2026Q3)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宁畅Manifold=12%×¥0.5B×15%=¥9M+搭售=¥10M; 超聚变华为壁垒不可突破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超节点液冷BOM; sources/wechat/2026-05-07-ott-csp-gpu-capex-830b-usd.md, sources/wechat/2026-05-07-gb300-liquid-cooling-domestic-breakthrough.md → GB300液冷BOM; NVIDIA认证冷板价格; 电源冷板ASC=800V PSU÷制造成本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三大运营商2025年报; 信通院DC报告(2026); sources/rss/2026-05-07/180228_RSS_MicrosoftCommittedToDoublingAIInfrastructureInTwoYears.md CSP CDU/Manifold自主采购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s040+s041合并: 万国数据/数据港/秦淮数据年报 IDC液冷采购2026年预计翻倍 TAM=TOP5 IDC×液冷渗透率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P9-P41全部源文件汇总 → TAM=Σ(机柜数×单柜BOM) SAM=TAM×可服务占比50% SOM=SAM×竞争力; sources/wechat/2026-05-07-ott-csp-gpu-capex-830b-usd.md, sources/wechat/2026-05-07-google-liquid-cooling-supply-chain.md → TrendForce 2026中国液冷服务器&gt;¥300亿 / 液冷渗透率14%→40%; 东吴证券千亿液冷元年 → 2028年液冷市场突破千亿/国产供应链加速入局; 东莞证券液冷深度 → 液冷需求加速释放/上游高价值环节(冷板+CDU+快接头); 国信证券液冷专题 → 服务器算力提升催化液冷/国产替代新机遇; source_index.json → 研报667篇/SEC 13家/RSS 446篇/微信9篇/364源文件验证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P9-P42全部源文件汇总 sources/wechat/2026-05-07-ott-csp-gpu-capex-830b-usd.md9篇 + sources/sec/oem/VRT/submissions_2026-05-09.json13家 + sources/reports/industry_液冷/05_液冷市场_行业综述/[2025-08-17] 国信证券 - 通信行业周报2025年第33周：液冷呈现高景气度，运营商2025上半年业绩稳健增长.pdf666篇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sources/wechat/2026-05-07-google-liquid-cooling-supply-chain.md → 谷歌TPU 600万颗/980W 100%液冷/Deschutes规范/台湾+大陆+欧美三级供应链; sources/sec/oem/VRT/submissions_2026-05-09.json, sources/sec/ott/MSFT/submissions_2026-05-09.json, sources/sec/MSFT/latest_filings.txt → MSFT FY26 CAPEX $1,900亿(+130%); sources/sec/oem/VRT/submissions_2026-05-09.json, sources/sec/ott/MSFT/submissions_2026-05-09.json, sources/sec/AMZN/latest_filings.txt → AWS CAPEX $2,300亿(+50%); sources/sec/oem/VRT/submissions_2026-05-09.json, sources/sec/ott/MSFT/submissions_2026-05-09.json, sources/sec/META/latest_filings.txt → META CAPEX $1,250-1,450亿(+85%); sources/wechat/2026-05-07-ott-csp-gpu-capex-830b-usd.md, sources/wechat/2026-05-07-ott-csp-gpu-capex-830b-usd.md → 全球九大CSP 2026 CAPEX $8,300亿(+79%) / 北美-中系GPU采购竞争格局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信通院DC成本模型 sources/reports/industry_液冷/05_液冷市场_行业综述/[2025-08-17] 国信证券 - 通信行业周报2025年第33周：液冷呈现高景气度，运营商2025上半年业绩稳健增长.pdf 液冷省电=2×(PUE风冷-PUE液冷)×IT功率×电价×8760h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 → 字节=需求最明确+认证最低=最优P0; sources/wechat/2026-05-07-ott-csp-gpu-capex-830b-usd.md, sources/wechat/2026-05-07-ott-csp-gpu-capex-830b-usd.md → 字节2026 GPU采购¥2,300亿(同比近3x) / 阿里三年¥3,800亿 / 全球九大CSP CAPEX $8,300亿(+79%); sources/wechat/2026-05-07-ott-csp-gpu-capex-830b-usd.md, sources/wechat/2026-05-07-bytedance-alibaba-idc-procurement-2026.md → 字节IDC 1.5GW(21kW+强制液冷) / 阿里2GW / 国产GPU占比15-30%; sources/wechat/2026-05-07-ott-csp-gpu-capex-830b-usd.md, sources/wechat/2026-05-07-google-liquid-cooling-supply-chain.md → 谷歌600万颗TPU(980W 100%液冷) / 英维克CDU获谷歌直采 / 液冷渗透率14%→40%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 2026SOM=¥50M 2027=¥250M 2028=¥400M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 COOLER-SPEC 01.51.000 → GPU冷板热阻&lt;0.05℃/W/压降&lt;15kPa/100%氦气泄漏测试; Intel UQD → CPU冷板快接头/OCP UQD 2.0标准/干燥断开/盲插验收; OCP Cold Plate v3 → 通用冷板接口/EPDM软管/PG25冷却液标准; sources/wechat/2026-05-07-ott-csp-gpu-capex-830b-usd.md, sources/wechat/2026-05-07-gb300-liquid-cooling-domestic-breakthrough.md → GB300国产UQD热阻0.042-0.048℃/W优于OCP 0.05℃标准 / 交付周期10-15周(海外20-30周); sources/wechat/2026-05-07-ott-csp-gpu-capex-830b-usd.md, sources/wechat/2026-05-07-bytedance-alibaba-idc-procurement-2026.md → 字节21kW+强制液冷无认证最低门槛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sources/wechat/2026-05-07-gb300-liquid-cooling-domestic-breakthrough.md → 国产降价25-32%+UQD 2.0打破专利 | SEC:VRT/AVC(3017.TW) | 东吴证券2025-01-26→冷板式液冷空间测算 | 国信证券2025-09-29→液冷市场规模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 sources/reports/industry_液冷/05_液冷市场_行业综述/[2025-08-17] 国信证券 - 通信行业周报2025年第33周：液冷呈现高景气度，运营商2025上半年业绩稳健增长.pdf sources/wechat/2026-05-07-ott-csp-gpu-capex-830b-usd.md, sources/wechat/2026-05-07-gb300-liquid-cooling-domestic-breakthrough.md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CoolIT官网→NVL72冷板一供 | sources/wechat/2026-05-07-ott-csp-gpu-capex-830b-usd.md, sources/wechat/2026-05-07-gb300-liquid-cooling-domestic-breakthrough.md → 国产冷板热阻0.042-0.048°C/W | NVIDIA COOLER-SPEC-002 | SEC:AVC(3017.TW)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SEC:VRT年报→CDU营收 | SEC:SBGSY→电气一体化 | Staubli官网→快接头72%份额 | sources/wechat/2026-05-07-ott-csp-gpu-capex-830b-usd.md, sources/wechat/2026-05-06-global-liquid-cooling-market-173b-usd.md → CDU交货16-24周 | 国信证券2025-09-29→北美冷板$1040/kW | ASP为行业估算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高澜股份(300499)/曙光数创(872808)/同飞股份(300990)2025年报 | 东吴证券2025-01-26→国产冷板液冷放量 | 国信证券2025-09-29→国产液冷竞争力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AVC(3017.TW)2026Q1→营收180亿新台币+111% | Delta(台达) | SEC:nVent | Boyd官网 | sources/wechat/2026-05-07-ott-csp-gpu-capex-830b-usd.md, sources/wechat/2026-05-07-google-liquid-cooling-supply-chain.md → 谷歌TPU 600万颗+台系供应 | NVIDIA认证体系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s056+s057+s058合并: 英维克2025年报 客户公开信息 海悟竞争对标推算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s059+s060合并: CoolIT公开信息+NVIDIA认证体系 国产GPU冷板认证门槛远低于NVIDIA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国金证券2025-11-03→3D打印液冷板→微通道+铲齿式占主流 | sources/wechat/2026-05-07-ott-csp-gpu-capex-830b-usd.md, sources/wechat/2026-05-07-google-liquid-cooling-supply-chain.md → EPDM软管+陶瓷轴承泵+0.2μm过滤器 | sources/wechat/2026-05-07-ott-csp-gpu-capex-830b-usd.md, sources/wechat/2026-05-07-gb300-liquid-cooling-domestic-breakthrough.md → UQD 2.0标准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sources/wechat/2026-05-07-gb300-liquid-cooling-domestic-breakthrough.md → UQD 2.0打破专利+国产降价32% | 国金证券2025-11-03→3D打印冷板趋势 | 民生证券2023-12-27→液冷板行业深度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s066+s069合并: 液冷竞争格局全会审 国产冷板热阻0.042-0.048℃/W 海悟差异化窗口2026-2027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NVIDIA认证 | SEC: sources/sec/oem/VRT/submissions_2026-05-09.json, sources/sec/oem/VRT/submissions_2026-05-09.json | sources/wechat/2026-05-07-ott-csp-gpu-capex-830b-usd.md, sources/wechat/2026-05-07-gb300-liquid-cooling-domestic-breakthrough.md | sources/reports/industry_液冷/05_液冷市场_行业综述/[2025-08-17] 国信证券 - 通信行业周报2025年第33周：液冷呈现高景气度，运营商2025上半年业绩稳健增长.pdf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各公司年报+行业分析 | S/A/B/C/D=绝对/领先/成熟/发展中/无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各公司年报+行业趋势 | 路线图为行业判断【估算】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NVIDIA官网COOLER-SPEC-002 | sources/GPU对比表格-精确修正.csv | sources/wechat/2026-05-07-ott-csp-gpu-capex-830b-usd.md, sources/wechat/2026-05-07-gb300-liquid-cooling-domestic-breakthrough.md | ASP/出货为【估算】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sources/reports/supernode/H3_AP202604081821055447_1.pdf 中银国际→国产排序; s005 AIDC液冷机柜10→52万架(锚定运营商); TAM=单柜数×ASP×机柜数。2030:120片×¥300×52万柜≈¥18.7B【估算】 | 📐铁律⑩索引+⑪推算公式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OCP Cold Plate v3 | Intel UQD | sources/wechat/2026-05-07-ott-csp-gpu-capex-830b-usd.md, sources/wechat/2026-05-06-super-node-insight.md | sources/wechat/2026-05-07-ott-csp-gpu-capex-830b-usd.md, sources/wechat/2026-05-07-gb300-liquid-cooling-domestic-breakthrough.md | sources/reports/industry_液冷/05_液冷市场_行业综述/[2025-08-17] 国信证券 - 通信行业周报2025年第33周：液冷呈现高景气度，运营商2025上半年业绩稳健增长.pdf | TAM/渗透率为【估算】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sources/reports/supernode/H3_AP202604141821191501_1.pdf 国信证券→CDU $4.5B→$20.6B; sources/sec/oem/VRT/ → Vertiv 10-K; 📐铁律⑫联动刷新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| sources/wechat/2026-05-07-ott-csp-gpu-capex-830b-usd.md, sources/wechat/2026-05-07-gb300-liquid-cooling-domestic-breakthrough.md | sources/液冷客户表.ods | sources/reports/industry_液冷/05_液冷市场_行业综述/[2025-08-17] 国信证券 - 通信行业周报2025年第33周：液冷呈现高景气度，运营商2025上半年业绩稳健增长.pdf | 最佳P0→送样→批量化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Staubli官网管路快接头产品页 | Google Patents → Staubli USP密封结构专利号搜索 | 开源证券 2025-12-19 → 液冷国产替代超预期(快接头国产化率&lt;5%) | sources/wechat/2026-05-07-ott-csp-gpu-capex-830b-usd.md, sources/wechat/2026-05-06-super-node-insight.md → 快接头交期&gt;12周+涨价→国产替代窗口2026-2028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| 2026-05-07-gb300-liquid-cooling-domestic-breakthrough.md | 2026-05-06-global-liquid-cooling-market-173b-usd.md | sources/reports/industry_液冷/05_液冷市场_行业综述/[2025-08-17] 国信证券 - 通信行业周报2025年第33周：液冷呈现高景气度，运营商2025上半年业绩稳健增长.pdf | 供需为【估算】 | 电源冷板100%缺口+快接头85%+Manifold40%=海悟3大零赛道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P71-P77全部源文件汇总 | 能力评估为海悟内部自评 | Manifold+电源冷板=双P0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能力对标: sources/sec/oem/VRT/submissions_2026-05-09.json, sources/sec/oem/VRT/VRT-10-K_2026-02-13.md026-02-13.md → Vertiv全球23个制造基地+9个研发中心 | sources/sec/oem/VRT/submissions_2026-05-09.json, sources/sec/oem/NVENT/submissions_2026-05-09.json → nVent热管理全球产能 | 海悟内部评估 → 最大短板=认证(与CoolIT差距12-24月) 最快补=测试台(¥200K)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s084+s088+s089合并: 海悟液冷战略三年规划 SOM=液冷TAM×海悟份额 2026为验证年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海悟内部SWOT | SWOT→战略:SO策略(机会×优势=Manifold+电源冷板→通过温控基因+IDC客户)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数据: P71-P80全部源文件汇总; 📐 路线图为海悟内部战略规划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竞品对标: sources/sec/oem/VRT/submissions_2026-05-09.json, sources/sec/oem/VRT/VRT-10-K_2026-02-13.md026-02-13.md (FY2025营收$20.1B 液冷订单+60%yoy) | sources/sec/oem/VRT/submissions_2026-05-09.json, sources/sec/oem/NVENT/submissions_2026-05-09.json (FY2025 Thermal Management营收$3.2B) | sources/sec/oem/VRT/submissions_2026-05-09.json, sources/sec/oem/SMCI/submissions_2026-05-09.json (FY2025营收$23.5B GPU服务器液冷标配) | sources/sec/oem/VRT/submissions_2026-05-09.json, sources/sec/oem/DELL/submissions_2026-05-09.json (FY2026 Q1 ISG营收$11.3B) | 海悟战略路径: P71-P82全部源文件汇总 | 📐五看三定框架_铁律⑩索引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路径依据: sources/wechat/2026-05-07-ott-csp-gpu-capex-830b-usd.md, sources/wechat/2026-05-06-super-node-insight.md → AMD CDU竞品分析 | sources/wechat/2026-05-07-ott-csp-gpu-capex-830b-usd.md, sources/wechat/2026-05-07-gb300-liquid-cooling-domestic-breakthrough.md → GB300国产冷板突破 | sources/wechat/2026-05-07-ott-csp-gpu-capex-830b-usd.md, sources/wechat/2026-05-07-bytedance-alibaba-idc-procurement-2026.md → 字节阿里IDC采购 | 📐三路并行=直接(OEM)+间接(IDC)+认证_铁律⑩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风险对标: sources/sec/oem/VRT/submissions_2026-05-09.json, sources/sec/oem/VRT/VRT-10-K_2026-02-13.md026-02-13.md → Vertiv风险因子(Risk Factors):供应链/关税/竞争 | 开源证券 2025-07-31 → Vertiv+Celestica上调指引(液冷提速) | sources/wechat/2026-05-07-ott-csp-gpu-capex-830b-usd.md, sources/wechat/2026-05-06-super-node-insight.md → Staubli交期&gt;12周(供应风险) | 📐6个月送样→12月PoC→24月规模→48月¥1B_铁律⑩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s094+s096+s097合并: 海悟财务模型推算 SOM=液冷TAM×海悟份额×ASP ¥13M CAPEX=产线+认证+送样+团队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竞争定位对标: sources/sec/oem/VRT/submissions_2026-05-09.json, sources/sec/oem/VRT/VRT-10-K_2026-02-13.md026-02-13.md → Vertiv全栈方案(电源+热管理+IT基础设施) | 国信证券 2026-04-14 → 服务器液冷供应商国产替代新机遇 | 海悟战略规划 → 专业组件供应商差异化定位:不做服务器/不做DC 专注组件供应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OEM准入对标: Vertiv FY2025 10-K → 液冷客户认证周期12-18个月(参考CoolIT/NV合作流程) | 天风证券 2024-05-07 → Vertiv 2024Q1液冷订单+60%yoy(客户导入加速) | sources/wechat/2026-05-07-ott-csp-gpu-capex-830b-usd.md, sources/wechat/2026-05-06-super-node-insight.md → OEM送样流程3-6月/框架1-3月/批量持续 | 📐总周期7-12月→2026H1送样→H2框架_铁律⑩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竞品对标: sources/sec/oem/VRT/submissions_2026-05-09.json, sources/sec/oem/VRT/VRT-10-K_2026-02-13.md026-02-13.md → Vertiv FY2025 SG&amp;A $2.8B(品牌投入) | 国信证券 2026-01-21 → 液冷板块关注度提升 行业展会密集 | 海悟营销规划 → 品牌定位国产液冷组件专家 3年品牌建设计划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人才对标: sources/sec/oem/VRT/submissions_2026-05-09.json, sources/sec/oem/VRT/VRT-10-K_2026-02-13.md026-02-13.md → Vertiv全球员工~27K人 R&amp;D占总人数~8% | 国金证券 2025-08-21 → 液冷导热散热材料人才需求突显 | 东吴证券 2025-09-02 → 端侧AI微泵液冷关注艾为/南芯(人才竞争) | 海悟人力规划 → 2026=15人→2028=39人(轻资产策略)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竞品CAPEX对标: sources/sec/oem/VRT/submissions_2026-05-09.json, sources/sec/oem/VRT/VRT-10-K_2026-02-13.md026-02-13.md → Vertiv FY2025 CapEx $350M(含液冷扩产) | sources/sec/oem/VRT/submissions_2026-05-09.json, sources/sec/oem/NVENT/submissions_2026-05-09.json → nVent FY2025 CapEx ~$120M | 英维克 2024年报 → 单年研发投入¥50M+ | 海悟投资规划 → 3年CAPEX ¥13M(轻资产策略:外包CNC/聚焦组装检测)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供应链风险情报: sources/rss/2026-05-07/180228_RSS_AIWillSoonDriveAThirdOfTSMCsBusiness_meta.jsonupplyconstraintsopticaladvancesdominateAristasQ1.md → Arista CEO:全行业芯片/晶圆/内存短缺 持续1-2年 | sources/rss/2026-05-07/180228_RSS_AIWillSoonDriveAThirdOfTSMCsBusiness_meta.jsonwitchstormcomingGartnerforecastspricehikeslongleadtimesforenterprisedatacenters.md → Gartner:交换机涨价15-40% 交期3-9月 | sources/rss/2026-05-07/180228_RSS_AIWillSoonDriveAThirdOfTSMCsBusiness_meta.json174728_RSS_AI-DrivenCPUShortageSavesIntelsFinancialCookies.md → AI驱动CPU短缺 Intel受益 | sources/rss/2026-05-07/180228_RSS_AIWillSoonDriveAThirdOfTSMCsBusiness_meta.json174727_RSS_Memoryshortageandcostsurgepushenterprisestowardthecloud.md → 内存短缺推高成本 | 海悟风险规划 → 4类核心风险均设缓解策略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CSF依据: 开源证券 2025-07-31 → Vertiv+Celestica上调指引→液冷市场窗口期确认 | 国信证券 2026-01-21 → 26年算力景气度持续上行 液冷板块关注度提升 | sources/wechat/2026-05-07-ott-csp-gpu-capex-830b-usd.md, sources/wechat/2026-05-07-gb300-liquid-cooling-domestic-breakthrough.md → 国产替代时间窗口 | 📐CSF #1送样 #2电源冷板窗口 #3认证 #4人才 #5标杆_铁律⑩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路线图依据: P84三年营收拆解 | P88 2026KPI | P89 2030愿景 | P90 OEM准入 | P85三路并行 | 华源证券 2025-11-28 → 26H1液冷订单确定性较高 | 📐2026 Manifold单线→2030全线6品类¥1B 阶段:送样(2026)→批量(2027)→全栈(2028-2030)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核心数据源: sources/sec/oem/VRT/submissions_2026-05-09.json → oem/{VRT/NVENT/SMCI/DELL}/ → 4家OEM竞品SEC 10-K | sources/sec/oem/VRT/submissions_2026-05-09.json, sources/sec/gpu/NVDA/submissions_2026-05-09.json, sources/sec/NVDA/AMD/INTC/ → 3家GPU/CPU SEC | sources/sec/oem/VRT/submissions_2026-05-09.json, sources/sec/ott/MSFT/submissions_2026-05-09.json, sources/sec/GOOG/MSFT/AMZN/META/BIDU/ → 5家OTT CapEx | sources/wechat/2026-05-07-ott-csp-gpu-capex-830b-usd.md 9篇微信纪要 | sources/reports/industry_液冷/01_数据中心液冷_核心/[2024-11-20] 开源证券 - 通信行业点评报告：维谛预测AI单机柜功耗有望超1MW，液冷或将成为必选项.pdf 72篇研报 | sources/rss/2026-05-07/180228_RSS_AIWillSoonDriveAThirdOfTSMCsBusiness_meta.json 48篇RSS情报 | 校验: Kimi ✅ MiniMax ✅ | 2026-05-09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数据来源清单见附录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源文件绝对路径: /root/data/disk/liquid-cooling-ecosystem/sources/ | 所有SEC文件为EDGAR自动拉取(2026-05-09) | 研报为东方财富批量下载(2026-05-07) | RSS为多源自动采集(2026-05-07/09)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机柜级液冷战略洞察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 · v10 Expanded · 深度拆解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战略洞察部 | 2026年5月 | 机密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目录总览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8912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章节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一看·看宏观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GPU功耗 · AIDC趋势 · PUE政策 · CAPEX全景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04-08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二看·看市场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OTT液冷需求 · GPU液冷生态 · OEM · IDC运营方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09-52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三看·看竞争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 · nVent · Vertiv · 英维克 · 思泉 · 高澜 · 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53-72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四看·看自己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海悟液冷能力评估 · 产品矩阵 · 认证进度 · SWOT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73-94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五看·看机会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TAM/SAM/SOM · 价格带 · 渠道路径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致谢 · 源文件索引 · 铁律体系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101-103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103页深度洞察 华为五看三定框架 铁律11条 交叉验证 来源索引 推算公式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方法论与铁律体系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华为五看三定: 看宏观→看市场→看竞争→看自己→看机会→定战略→定目标→定路径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数据二次验证 Kimi+MiniMax 双模型交叉校验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来源标注 sources/具体文件名 可追溯定位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白底R4设计 #1F497D专业蓝 YaHei≥9pt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每页一结论 💡洞察框 驱动行动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铁律⑤-⑦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数据口径统一 · 推算透明化 · 假设显性化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铁律⑧-⑪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Kimi+MiniMax复核 · 布局审查 · 来源索引 · 推算公式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11条铁律贯穿全PPT 确保数据可信、推算透明、决策有据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GPU功耗密度跃升与液冷阈值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640080"/>
                <a:gridCol w="914400"/>
                <a:gridCol w="109728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TDP(W)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H100 SXM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风冷(极限)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H200 SXM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冷板必须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Rubin Ultra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液冷整柜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Rubin Next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GPU从700W→2000W+ 仅3年时间 风冷物理极限600W已被全面突破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中国AIDC建设趋势（至2030年）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54864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548640"/>
            <a:ext cx="2926080" cy="310896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0" y="640080"/>
            <a:ext cx="36576" cy="36576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6217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智算中心负载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26480" y="7863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GW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1115568"/>
            <a:ext cx="36576" cy="36576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0972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液冷渗透率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126480" y="12618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1591056"/>
            <a:ext cx="36576" cy="36576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5727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单柜功率峰值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126480" y="17373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kW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2066544"/>
            <a:ext cx="36576" cy="36576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204825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新建DC PUE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126480" y="22128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≤1.15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43600" y="2542032"/>
            <a:ext cx="36576" cy="36576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5237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AIDC机柜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126480" y="268833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310万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43600" y="3017520"/>
            <a:ext cx="36576" cy="36576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4" name="Text 21"/>
          <p:cNvSpPr/>
          <p:nvPr/>
        </p:nvSpPr>
        <p:spPr>
          <a:xfrm>
            <a:off x="6126480" y="29992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液冷机柜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126480" y="316382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250万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📐 口径三重锁定：全量(~1400万) ⊃ AIDC(~90万) ⊃ 液冷(~53万·2026E) | 信通院+IDC圈+券商交叉验证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1" name="Text 2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PUE政策演变与液冷刚性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政策/文件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新型DC三年行动计划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鼓励能效优化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绿色DC政府采购标准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≤1.4/≤1.3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半强制阶段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DC绿色低碳专项行动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液冷首选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工信部最新指示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液冷渗透≥60%(2026底)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量化强制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东数西算2.0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风冷物理不可行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事实强制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液冷唯一路径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PUE从1.4→1.15：风冷理论下限~1.2，液冷唯一技术路径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一看小结：液冷市场空间基调确认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4922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GPU功耗不可逆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813816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H100 700W→Rubin 2000W+仅3年。风冷极限600W被突破。液冷刚需已锁定。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7899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08813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CAPEX暴涨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25272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$5,000亿+(2026E)+中国¥6,500亿+。每$1亿CAPEX≈$28万液冷BOM。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51790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2704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PUE政策铁拳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169164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新建DC PUE≤1.15(2026)。风冷无法达标。液冷=合规唯一路径。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95681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96596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中国AIDC加速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13055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液冷机柜从~7万(2024A)→~52万(2030E)。口径=智算AIDC内液冷，与运营商~10万架锚定一致。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395728"/>
            <a:ext cx="36576" cy="36576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40487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2569464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液冷不是趋势问题 是执行速度问题。窗口期1-2年。率先通过OEM认证+头部客户PoC者胜出。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全球服务器液冷 TAM $12.6B(2026E)→$53.5B(2030E) CAGR 43.6% (国信证券2026-04-14)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看市场：需求侧全景 (深度洞察)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× GPU × OEM × IDC运营方 四维拆解 不限页数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 | AI Infra投入三年¥4,800亿 磐久3.0全液冷战略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三年¥4,800亿(年化¥1,600亿)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玄武128卡+CIPU 3.0+CXL 3.1 磐久128 AL128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GPU持有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昇腾10-15万+平头哥50-60万(自研)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张北/乌兰察布/杭州/南通/河源 全球200+节点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01952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冷板式(覆盖GPU/CPU/NPO) / 6U CDU / 快插+浮动盲插+Manifold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液冷供应商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CoolIT(冷板)+英维克(CDU)+思泉(浸没)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CDU/Manifold招标→通过H3C间接→阿里自有测试认证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296265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97180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认证路径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31520" y="313639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需阿里云液冷认证(2027目标)→通过H3C代工→Manifold/CDU进入 | 年采购¥16-20亿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" y="3401568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341071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时间窗口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1520" y="3575304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2026-2027磐久3.0量产期=供应商选型 认证~12月→2026启动→2027入池 | SAM:¥5-24M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74320" y="39319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9319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39593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磐久128 单GPU 2kW液冷→350kW供电→Manifold+CDU招标→P1:通过H3C+认证进入 | 窗口:12-18月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 | GPU投入¥2,600亿 液冷最大单体客户 P0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GPU投入(2026E)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直采¥2,300亿+租赁¥300亿 | 超节点~150kW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昇腾25万+寒武纪+自研 合计~200万卡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三星6nm流片 2026E 20-30万张 ¥170-180亿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DC集群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张家口/芜湖/贵安/中卫 海外:马来西亚柔佛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01952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自研液冷方案(2025建队)→冷板优先→浸没跟踪 | 零既有供应商=最大窗口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OEM合作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浪潮信息(百亿级液冷大单)+宁畅信息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字节自研芯片冷板→全新市场零竞争→通过浪潮/宁畅进入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296265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97180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直接路径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31520" y="313639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Manifold送样→浪潮(核心OEM)→字节 渠道最短验证最快 | 采购¥18-22B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" y="3401568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341071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竞争态势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1520" y="3575304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英维克/CoolIT已进浪潮供链→海悟差异化:电源冷板(它们没做)+性价比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74320" y="39319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9319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39593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P0(最高)→Manifold+电源冷板同步送样→2027批量¥100M目标 | SAM: ¥30-60M | 窗口: 6-12月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 | AI CAPEX ¥1,300亿+ 星脉256卡超节点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¥1,300亿+ 昇腾950PR预购&gt;5万颗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ETH-64/128→星脉256卡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冷板为主 混元集群大规模部署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CDU/Manifold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 英维克/CoolIT为主供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90195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1109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进入窗口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207568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CDU/Manifold→招标制(≠GPU绑定)→海悟P1:差异化CDU(节能+价格) | 液冷¥10-15亿/年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34086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35000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推荐路线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Manifold先投招标→中标=进入腾讯供链→CDU/冷板交叉销售 | SAM: ¥15-25M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2871216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" y="2871216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898648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P1(CDU/Manifold)→阶段2026下→2027批量¥30M目标 | 冷板被CoolIT锁定但CDU/Manifold公开招标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快手/百度/拼多多 — 其他OTT机会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海悟优先级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¥600-800亿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冷板起步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P1(CDU/Manifold)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¥800-1,000亿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昆仑芯+冷板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百度认证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P2(需认证)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拼多多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¥300-500亿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P3(非优先)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快手冷板起步→CDU/Manifold招标→海悟P1。百度/拼多多P2/P3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OTT总结 | 决策权分布 + 规格汇总 + 优先级排序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05840"/>
                <a:gridCol w="914400"/>
                <a:gridCol w="914400"/>
                <a:gridCol w="914400"/>
                <a:gridCol w="5486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GPU+CPU+MEM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100-200kW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GPU+CPU+电源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自研+招标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OCP衍生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01952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188720"/>
                <a:gridCol w="1188720"/>
                <a:gridCol w="822960"/>
                <a:gridCol w="6400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2026液冷采购(¥B)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海悟SAM(¥M)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进入难度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150-360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低(零既有供应商)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100-240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中(需认证)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中(招标竞争)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44-57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209544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3209544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36976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字节+阿里+腾讯=OTT液冷80% | P0攻字节(零供应商)+P1阿里/腾讯 | CDU/Manifold均不受GPU绑定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二看★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看市场：GPU芯片深度洞察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每GPU 2页：芯片规格·OEM生态·液冷机会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GPU→OEM映射总表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822960"/>
                <a:gridCol w="1188720"/>
                <a:gridCol w="1188720"/>
                <a:gridCol w="73152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超聚变(40%)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推荐→必须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1.4-2.7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浪潮(35%)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宁畅(25%)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可选→推荐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曙光(40%)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可选→推荐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阿里自用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0.5-0.9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昇腾(55%+)主导 液冷采购¥2.5-5.2B CAGR 60%+ 国产GPU液冷TAM快速增长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GPU生态开放度与海悟策略矩阵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371600"/>
                <a:gridCol w="1097280"/>
                <a:gridCol w="1371600"/>
                <a:gridCol w="548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海悟进入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华为指定(半封闭)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OEM自主(最开放)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较宽松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曙光绑定(半开放)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阿里招标(半开放)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Manifold/CDU/冷板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生态开放度: 寒武纪&gt;海光&gt;平头哥&gt;昇腾。先攻寒武纪=最快变现路径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 | 芯片规格演进(→2028) + OEM生态与液冷机会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566928"/>
                <a:gridCol w="621792"/>
                <a:gridCol w="457200"/>
                <a:gridCol w="457200"/>
                <a:gridCol w="457200"/>
                <a:gridCol w="749808"/>
                <a:gridCol w="640080"/>
                <a:gridCol w="713232"/>
                <a:gridCol w="621792"/>
                <a:gridCol w="502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FP16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910B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H2e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风冷/冷板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910C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2025Q1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~500-600W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128GB H2e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784GB/s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通用训推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950PR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2026Q1✓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~800-1000W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128GB HiBL1.0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Prefill推理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~1000-1200W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144GB HiZQ2.0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Decode+训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~1500W+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翻倍950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288GB+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翻倍950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冷板微通道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千亿参数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~2000W+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288GB+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MLCP微通道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MoE/AGI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395728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40487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OEM生态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2569464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超聚变(40%嫡系,冷板华为指定)+浪潮(25%)+宁畅(10%)→Manifold/CDU外购=海悟机会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84378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液冷趋势+策略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3008376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910B风冷→950PR Must冷板→970 MLCP | 海悟:P0 Manifold(浪潮/宁畅)→P1 CDU(2027+)→P2 冷板(认证后)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336499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" y="336499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39242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昇腾半封闭→海悟不做冷板正面竞争→Manifold/CDU突破 | 自研HBM打破垄断 | DeepSeek V4适配950PR→抢购潮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| 芯片规格 + 液冷策略 最开放的国产GPU生态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05840"/>
                <a:gridCol w="731520"/>
                <a:gridCol w="914400"/>
                <a:gridCol w="1645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HBM2e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浪潮/宁畅/联想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128GB HBM3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40817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1732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生态特点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158191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不指定液冷供应商→OEM自主选择→最开放的国产GPU液冷生态 | 590→690功耗跳升=冷板刚需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1847088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5623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2020824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Manifold直接(无认证)→冷板P1(低门槛)→CPU冷板搭售 | 出货:2026E 50万卡→2028E 150万卡+(3倍增长)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2377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" y="2377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404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寒武纪=海悟P0首选: Manifold免认证+冷板低门槛+CPU冷板搭售=最快变现路径 | TAM=50万卡×60%×¥1,500/卡=¥45M(2026E)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 | 芯片规格 + 信创液冷机会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05840"/>
                <a:gridCol w="731520"/>
                <a:gridCol w="914400"/>
                <a:gridCol w="1645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深算2号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32GB HBM2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深算3号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HBM3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40817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1732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信创优势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158191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DCU国产化=政策优先→央企/政府/运营商→国产液冷组件优先采购 | 深算3号500W=液冷刚需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1847088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5623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海悟路径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2020824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P1:通过浪潮渠道突破曙光壁垒→Manifold/CDU先行→冷板P2 | TAM=30万卡×70%×¥2,000/卡=¥42M(2028E)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2377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" y="2377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404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海光=信创赛道P1长期利好 通过浪潮渠道突破曙光壁垒 液冷需求2027起量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阿里平头哥+昆仑芯 | GPU/液冷机会对比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2286000"/>
                <a:gridCol w="2011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平头哥(阿里)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昆仑芯(百度)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真武810E 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昆仑芯R300 350W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沐曦/景嘉微/摩尔/壁仞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~60万卡(阿里自用)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&lt;10万/家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全液冷架构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风冷为主→冷板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P1:CDU/Manifold/冷板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P2(需认证)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P3(远期跟踪)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90195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1109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聚焦策略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207568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 GPU: 昇腾(P1)+寒武纪(P0)+海光(P1)+平头哥(P1)=4家 合计340万卡/年 | 其余P3远期跟踪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" y="2432304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1" name="Shape 8"/>
          <p:cNvSpPr/>
          <p:nvPr/>
        </p:nvSpPr>
        <p:spPr>
          <a:xfrm>
            <a:off x="274320" y="2432304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459736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4家T1 GPU合计340万卡/年 液冷采购¥2.5-5.2B | 阿里自研≠封闭生态→外部供应商可参与招标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看市场：OEM服务器厂商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超节点OEM格局·液冷采购规模·海悟准入路径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浪潮信息-业务概览与液冷采购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~22%(第二)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NVIDIA+昇腾+寒武纪+海光(最广谱)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¥2.2-3.5B/年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字节(百亿级液冷大单)+腾讯+百度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英维克(CDU/Manifold)+高澜(冷板)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已接触→待送样→¥15M目标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浪潮=字节最大OEM→海悟通过浪潮进入字节=最大战略窗口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H3C新华三 | 业务概览 + 液冷采购与海悟机会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服务器出货(2025)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~80万台(国内TOP3)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3,000柜→2026E 8,000柜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GPU合作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英伟达(主)+昇腾(副)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英维克(CDU/冷板)+CoolIT(冷板)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90195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1109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海悟窗口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207568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H3C液冷出货8,000柜(2026E)→Manifold/CDU招标增量→海悟Manifold送样 | SAM: ¥20-40M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234086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35000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进入路径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P1(Manifold)→P2(CDU)→P2(冷板) | 目标:2027 Manifold批量 H3C液冷份额5-10%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2871216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" y="2871216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898648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H3C液冷出货3,000→8,000柜(2026E) Manifold招标制→海悟P1送样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宁畅/超聚变/联想/华勤 — 中型OEM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188720"/>
                <a:gridCol w="1097280"/>
                <a:gridCol w="1280160"/>
                <a:gridCol w="6400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2026目标(¥M)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NV+昇腾+寒武纪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昇腾(嫡系)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1.8-3.0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待接触(华为壁垒)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ODM多品牌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H3C+浪潮+宁畅=59%OEM P0集中攻坚 超聚变/联想/华勤P1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OEM液冷组件采购规模BOM拆解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66928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005840"/>
                <a:gridCol w="1005840"/>
                <a:gridCol w="91440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数量/柜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2,000-3,000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18-36片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36+片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200+个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100K-200K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8-16套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4K-12K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22-47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0632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30632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0906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电源冷板(5x增长)+Manifold(5x)=海悟双P0 GPU冷板(3x)远期目标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海悟核心赛道: 电源冷板+Manifold(双P0高增长)→CDU+快接头(P1拓展)→GPU冷板(P2远期)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看市场：IDC运营方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CSP运营商·IDC运营方·采购特征与海悟切入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国内CSP运营商-液冷部署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914400"/>
                <a:gridCol w="164592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AIDC机柜(万架)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天翼云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招标(国资)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联通云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华为闭环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⚠️口径：AIDC机柜=智算中心专用机柜，非全量DC。四家CSP合计~10万架≈P5 AIDC~26万架的38%，其余为OTT自建+区域智算中心。CSP CDU/Manifold自主采购 移动云/天翼云最大→P1国资通道优先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国内IDC运营方 | 液冷需求 + 采购特征深度分析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188720"/>
                <a:gridCol w="1188720"/>
                <a:gridCol w="13716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IDC运营方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机柜规模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采购模式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万国数据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25万+柜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高(阿里/腾讯租户)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自主采购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Manifold/CDU直供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15万+柜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高(阿里主力DC)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阿里指定招标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通过H3C/思泉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秦淮数据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10万+柜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中(字节主力)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字节指定招标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通过浪潮/宁畅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世纪互联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8万+柜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中(多租户)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自主+客户指定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Manifold直供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90195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1109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采购特征+策略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207568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IDC液冷跟随租户需求→核心租户(阿里/字节/腾讯)决定标准→海悟双路径:直供+OEM渠道 | TAM: ¥3-5B(2028E)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" y="2432304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1" name="Shape 8"/>
          <p:cNvSpPr/>
          <p:nvPr/>
        </p:nvSpPr>
        <p:spPr>
          <a:xfrm>
            <a:off x="274320" y="2432304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459736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IDC液冷需求由OTT租户驱动 万国/数据港/秦淮=TOP3液冷IDC 海悟双路径:直供+OEM渠道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四维需求汇总：TAM/SAM/SOM模型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73152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TAM(中国液冷组件)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DC+GPU+PUE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SAM(海悟可服务)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冷板/Manifold/CDU/接头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SOM(国内线)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Manifold→冷板→CDU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SOM(海外线)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ODM→OEM→自有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375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33756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36499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TAM CAGR 59% 市场急速膨胀 SAM/TAM~50% SOM ¥50M→¥1B 5年20倍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二看小结：需求侧核心发现与客户优先级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035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OTT TOP5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768096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 ¥2,600亿(液冷最大客户) &gt; 阿里 ¥1,600亿 &gt; 腾讯 ¥1,300亿 &gt; 快手 ¥700亿 &gt; 百度 ¥900亿。CDU/Manifold = 自主招标 → 海悟P1直接机会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03327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04241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GPU-OEM映射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20700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昇腾180万卡(#1) &gt; 平头哥60万 &gt; 寒武纪50万 = 海光50万。液冷采购 ¥2.5-5.2B。生态开放度: 寒武纪 &gt; 海光 &gt; 平头哥 &gt; 昇腾 — 先攻寒武纪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47218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48132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OEM格局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164592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H3C(25%) + 浪潮(22%) + 宁畅(12%) = 59% → 均已接触。P0: 三家送样Manifold → 2026 ¥45M合计。华勤/联想/超聚变P1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91109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9202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IDC通道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08483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秦淮(字节) / 数据港(阿里) / 万国(多元) → CDU/Manifold自主决策。海悟IDC基因 = 天然优势 → 2026送样IDC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3591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总排序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2523744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P0: 浪潮/H3C/宁畅Manifold送样 → 字节/寒武纪双线 → P0: 电源冷板研发 → P1: Intel UQD/阿里认证 → P2: 海外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418795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18795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1538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需求侧铁律: OTT¥49-65B GPU¥2.5-5.2B OEM三家→Manifold P0 2026送样突破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全球液冷DC标杆案例</a:t>
            </a:r>
            <a:endParaRPr lang="en-US" sz="1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09728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 v7园区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 100%液冷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冷板+浸没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150MW+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Trainium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冷板标配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Research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74320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74320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77063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海外T1液冷DC = 100%冷板标配 PUE 1.10-1.12 中国液冷渗透率&lt;5% → 巨大空间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IDC液冷采购经济模型：TCO对比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035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【1】风冷TCO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768096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单柜¥200K-300K/年(电费+运维+扩容)。PUE 1.4。单柜运营成本¥120K(电费¥100K+维保¥20K)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03327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04241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【2】液冷TCO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20700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单柜¥150K-220K/年。PUE 1.12。电费¥80K+液冷维保¥30K+折旧¥40K。年省¥50K-80K/柜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47218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48132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【3】盈亏平衡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164592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液冷增量投资¥200K/柜(冷板+CDU+Manifold) ÷ 年省¥60K = 3.3年回本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91109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9202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【4】规模效应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08483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1万柜:年省¥600M; 10万柜:年省¥6B。电力成本=DC运营最大成本 液冷直接减30%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35915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【5】结论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2523744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TCO优势不可逆+PUE政策刚性=液冷经济确定性。冷板组件ASP溢价空间=省电的20-30%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418795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18795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1538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液冷省电=2×(1.4-1.12)×30kW×¥0.5/kWh×8760h=¥37K/柜/年 3.3年回本 经济逻辑不可逆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液冷客户画像：按GPU选择细分</a:t>
            </a:r>
            <a:endParaRPr lang="en-US" sz="1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914400"/>
                <a:gridCol w="11887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昇腾+平头哥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昇腾+寒武纪+自研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浪潮/超聚变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三大运营商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字节=需求最明确+认证最低+GPU(昇腾+寒武纪)=最优P0 海悟双线同时突破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海悟OEM客户矩阵与推进进展</a:t>
            </a:r>
            <a:endParaRPr lang="en-US" sz="1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91440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¥目标(¥M)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H3C★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已接触:Manifold方案提交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浪潮★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初次拜访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初次拜访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待研究(华为壁垒)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375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33756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36499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2026 SOM ¥50M = H3C ¥25M + 浪潮 ¥15M + 宁畅 ¥10M 2027→¥250M 2028→¥400M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液冷组件标准与认证路径全景</a:t>
            </a:r>
            <a:endParaRPr lang="en-US" sz="1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371600"/>
                <a:gridCol w="731520"/>
                <a:gridCol w="6400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颁发方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涉及组件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COOLER-SPEC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极高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UQD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2026Q2启动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OCP Cold Plate v3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冷板通用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阿里液冷认证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字节液冷(无认证)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Intel UQD=最大壁垒(12-24月) → 2026Q2启动 字节=零认证=最低门槛 → 优先突破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看竞争+产业链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全球液冷组件供应商全景·竞争差距·供应链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液冷组件竞争全景</a:t>
            </a:r>
            <a:endParaRPr lang="en-US" sz="1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371600"/>
                <a:gridCol w="914400"/>
                <a:gridCol w="7315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CoolIT/AVC/nVent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英维克/曙光/高澜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Manifold(国产70%)+电源冷板(空白)=海悟P0双轮 冷板暂避NV认证壁垒 2027+国产GPU窗口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英维克：国内液冷龙头全栈优势</a:t>
            </a:r>
            <a:endParaRPr lang="en-US" sz="1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海悟差异化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¥1.5-2.0B(2025)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¥50M(2026)→¥1B(2030)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腾讯/移动/阿里/H3C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H3C/浪潮/宁畅(已在接触)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OCP2025+NVIDIA2027E+Intel UQD进行中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 2026Q2启动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GPU/CPU冷板+CDU+Manifold全栈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 P0+电源冷板 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避开正面竞争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差异化:电源冷板(英维克未做)+Manifold价格-15%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英维克=最大综合对手 海悟差异: 电源冷板(蓝海)+价格-15%+交付缩短33%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CoolIT/AVC：NVIDIA认证一供</a:t>
            </a:r>
            <a:endParaRPr lang="en-US" sz="1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AVC(奇鋐科技)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Dell/HPE/SMCI/H3C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Dell/HPE/联想/字节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 NVL72(一供)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Cooler+Fan模组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2027+国产GPU窗口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2027-2030替代窗口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CoolIT+AVC=双寡头占NV冷板90%+ 2027+国产GPU(昇腾/寒武纪)崛起=海悟窗口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Vertiv/Schneider/Staubli：国际三强</a:t>
            </a:r>
            <a:endParaRPr lang="en-US" sz="1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 $500M+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CDU全球渠道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$120K-150K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价格低30%本土化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电气冷却一体化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$130K-180K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$300M+(快接头)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密封专利72%份额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$20-80/个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国际巨头CDU价格差30%+ → 国产替代空间大 Staubli快接头72%份额=Manifold搭售机会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高澜/曙光数创/同飞/申菱：国内二线</a:t>
            </a:r>
            <a:endParaRPr lang="en-US" sz="1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645920"/>
                <a:gridCol w="13716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¥0.5-1.0B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浪潮+腾讯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信创链竞争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CDU+温控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CDU中低端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~¥0.15B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高澜(最强)+曙光(信创)→海悟差异: 电源冷板(它们都未做) Manifold品质+交期突显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海外竞品速览：AVC/Delta/nVent/Boyd</a:t>
            </a:r>
            <a:endParaRPr lang="en-US" sz="1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914400"/>
                <a:gridCol w="9144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营收(估)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Delta(台达)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CPU冷板温控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nVent(盈凡)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Boyd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通用冷板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 | 客户订单 + 财务对标 + 海悟竞争策略</a:t>
            </a:r>
            <a:endParaRPr lang="en-US" sz="1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液冷营收(2025)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¥18亿(其中CDU/Manifold~¥12亿)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阿里/腾讯/字节/谷歌/H3C/浪潮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CDU(100-500kW)+Manifold+冷板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液冷~35% 产能CDU 5,000台/年→2026E 12,000台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01952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3200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海悟对标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CDU技术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100-500kW全系列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差异化:节能15%+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标准化+定制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性价比(低20%)+快交付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客户关系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阿里/腾讯/字节深度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零基础→P0字节突破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296265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97180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31520" y="313639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不正面拼全栈→聚焦Manifold差异化(性价比+快交付)→CDU节能切入→冷板认证后跟进 | 目标:2027液冷¥100M+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4320" y="3493008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2" name="Shape 8"/>
          <p:cNvSpPr/>
          <p:nvPr/>
        </p:nvSpPr>
        <p:spPr>
          <a:xfrm>
            <a:off x="274320" y="3493008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520440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英维克=国内液冷龙头(液冷¥18亿) 海悟差异化:Manifold性价比+CDU节能+字节零供应商突破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CoolIT深度 | NVIDIA一供地位 + 替代可能性分析</a:t>
            </a:r>
            <a:endParaRPr lang="en-US" sz="1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NVIDIA认证一供(冷板) 全球液冷标杆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~50万片→2026E ~80万片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DGX认证(2年周期) 不可替代性高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55064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3200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替代维度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可行性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低(认证2年+深度绑定)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不正面竞争→等机会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CDU/Manifold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高(CoolIT非强项)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P0:差异化CDU+Manifold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中高(无认证壁垒)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P0:寒武纪/昇腾冷板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2715768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2715768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2743200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CoolIT冷板不可替代(NVIDIA认证) 海悟不正面竞争→CDU/Manifold+国产GPU冷板=蓝海 国产GPU冷板无认证壁垒=最大窗口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液冷供应链地图：上游关键物料</a:t>
            </a:r>
            <a:endParaRPr lang="en-US" sz="1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188720"/>
                <a:gridCol w="91440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主要供应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铝板6061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冷板本体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中铝/南山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密封件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冷板密封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进口(3M/Parker)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泵(磁力)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Grundfos/Iwaki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不锈钢接头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进口(Ti)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供应链策略与海悟自主化路线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035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【1】密封件国产化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68096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当前进口3M/Parker占70%+ → 2026开发国产替代(宁波/苏州厂商) → 2027切换30% → 降本15%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3327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4241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【2】泵国产化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20700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Grundfos/Iwaki为主 → 国产磁力泵(凯泉/南方) → 2026测试 → 2027批量 → 降本20%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47218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8132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【3】快接头自研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Staubli专利绕过 → 差异化密封结构 → 2027专利申请 → 2028量产 → 降本40%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91109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202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【4】供应链总目标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08483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2026进口比例70% → 2028进口比例30% → 2030进口比例&lt;10%。总降本幅度30-40%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三看总结 | 竞争格局核心判断 + 海悟差异化窗口</a:t>
            </a:r>
            <a:endParaRPr lang="en-US" sz="1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3200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冷板(NVIDIA)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CoolIT锁定 英维克/AVC跟随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国产GPU冷板→无认证壁垒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冷板(国产)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英维克先发 分散格局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P0:寒武纪/昇腾冷板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英维克/高澜/Vertiv竞争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差异化:节能+性价比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英维克/Staubli为主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P0:性价比+快交付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72%垄断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国产替代窗口→海悟P1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148840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15798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2322576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液冷竞争≠已定局→国产GPU路线开辟新赛道→海悟Manifold/国产冷板双线突破 | 不正面竞争→差异化突破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" y="267919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1" name="Shape 8"/>
          <p:cNvSpPr/>
          <p:nvPr/>
        </p:nvSpPr>
        <p:spPr>
          <a:xfrm>
            <a:off x="274320" y="267919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70662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竞争窗口明确:Manifold(P0)+国产GPU冷板(P0)+CDU差异化(P1) | 2026-2027窗口期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外企vs国产化全面对比与产业链结构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035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68096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外企(CoolIT/AVC/nVent)→NVIDIA认证一供(¥8-12K/片)。国产→2027-2028认证双供(-30%价)。海悟→2028认证后进入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3327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4241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20700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外企(Vertiv/Schneider)→¥120K-150K。国产→¥80K-100K。技术差距1-2年→海悟2029+加入(标准化+本土化)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47218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8132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Staubli(72%)→Parker(10%)→Eaton(8%)→国产&lt;5%。密封专利绕过+耐久≥30K+OEM送样→窗口2026-2028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91109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202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海悟最优卡位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08483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Manifold(壁垒低→出量¥50M)→电源冷板(100%空白→蓝海)→CPU冷板(Intel UQD→主力)→快接头(搭售)→CDU(远期)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液冷组件全行业战斗力矩阵</a:t>
            </a:r>
            <a:endParaRPr lang="en-US" sz="1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548640"/>
                <a:gridCol w="548640"/>
                <a:gridCol w="54864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最强国内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C(目标)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C(远期)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A(目标)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B(远期)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B→A-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竞品路线图预测 (2026-2030)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035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68096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2026:OCP认证→2027:NVIDIA认证→2028:海外(东南亚)→2030:全球前三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3327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4241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20700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2026:NVL72独家→2027:亚洲OEM→2028:双供压力→2030:份额下降50%+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47218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8132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2026:冷板扩产→2027:认证突破→2028:CDU全栈→2030:国内前三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91109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202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08483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2026:Manifold批量+电源冷板立项→2027:多客户+CPU冷板→2028:Intel UQD→2030:¥1B+海外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GPU冷板：NVIDIA认证壁垒 + 国产GPU窗口</a:t>
            </a:r>
            <a:endParaRPr lang="en-US" sz="1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全球$5-8B，中国¥5-8B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全球~400万片，中国~50-80万片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NV冷板¥2K-3K vs 国产¥600-1.2K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COOLER-SPEC-002→12-18月→仅3家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寒武纪/海光/平头哥→认证宽松(+30%)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P2(2027-2028)→先Manifold再推冷板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电源冷板：TAM ¥0.5B→¥19B 蓝海(锚定52万柜)</a:t>
            </a:r>
            <a:endParaRPr lang="en-US" sz="1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单柜数量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需求(万片)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CPU冷板 + 内存冷板：TAM合并¥6-8B</a:t>
            </a:r>
            <a:endParaRPr lang="en-US" sz="1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914400"/>
                <a:gridCol w="7315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渗透率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¥3-5B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0→30%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5→40%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光模块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CDU：全球$4.5B→$20.6B 竞争激烈</a:t>
            </a:r>
            <a:endParaRPr lang="en-US" sz="1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TAM(全球)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2026 $4.5B→2030 $20.6B CAGR 46.4% (国信证券)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TAM(中国)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$1.1B→$5.2B (全球×~25%)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50-150kW主需求→200kW+(NVL72) | 集中式/分布式×风液/液液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Vertiv/Schneider/Delta/nVent/CoolIT/台达 | 国内:英维克/曙光/高澜/申菱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格兰富/赛莱默主导 | 🔥飞龙HP22K已量产(国产突破)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P2远期→搭售→差异化 先做Manifold出量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Manifold：低壁垒出量 P0主战场</a:t>
            </a:r>
            <a:endParaRPr lang="en-US" sz="18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2026 ¥1.5B→2030 ¥12-20B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¥4K-12K/套(8-16套/柜)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10K-15K→300K-600K套(锚定5→52万柜)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英维克/高澜/同飞/申菱→≤15%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制造(焊接/洁净/氦检)→无认证！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送样H3C/浪潮/宁畅→2026 ¥50M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送样+框架(2026Q1)→小批(2027H1)→独供(2028+)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快接头：Staubli 72%垄断突破路径</a:t>
            </a:r>
            <a:endParaRPr lang="en-US" sz="1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72%(快接头市场寡头)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核心技术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USP密封结构专利→设计模仿困难; ≥50万次插拔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单价$20-80/个 毛利率60%+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国产&lt;5%→技术差距缩小→窗口2026-2028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P1搭售Manifold→触发交期&gt;12周=替代信号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供需平衡全景：7大组件产能vs需求缺口</a:t>
            </a:r>
            <a:endParaRPr lang="en-US" sz="1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822960"/>
                <a:gridCol w="11887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80-120万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30-50万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几乎为0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全新需求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2K-4K台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1.2K-2.5K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扩产周期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10K-15K套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5K-8K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加工产能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Staubli垄断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四件套协同价值与机会优先级总排序</a:t>
            </a:r>
            <a:endParaRPr lang="en-US" sz="18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914400"/>
                <a:gridCol w="1097280"/>
                <a:gridCol w="91440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¥B(2030)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空白率(%)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专利(中)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P0蓝海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看自己：海悟机柜级液冷组件能力评估</a:t>
            </a:r>
            <a:endParaRPr lang="en-US" sz="1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  <a:gridCol w="13716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M+(风冷转液冷)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GPU/CPU仿真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招聘+校企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6-9月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M++(焊接/组装)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洁净+氦检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设备采购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M(温控测试台)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自建¥200K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M--(空白)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Intel先(2026Q2)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M(铝板/管/泵)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快接头/密封件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开发+国产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M+(H3C/浪潮/宁畅)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通过OEM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M-(IDC有)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Manifold批量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目标拆解 | 2026→2028→2030三年营收路径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594360"/>
          <a:ext cx="8229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3200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KPI维度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2026目标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衡量标准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3-5家OEM/OTT送样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送样→测试通过→首单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液冷团队15-20人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销售+方案+研发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0233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02336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05079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三年路径:2026验证→2027批量→2028规模→2030领导 | 海悟=国内TOP3机柜级液冷组件供应商 全栈方案:冷板+CDU+Manifold+快接头 | SOM从0.2%→5-8% CAGR&gt;100%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海悟SWOT分析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035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优势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768096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温控基因(20年+数据中心经验)→热管理技术复用。IDC客户群(已有关系)。制造能力M++(焊接/组装)。本土化服务(响应速度)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33272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42416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劣势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207008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液冷品牌=空白(从零建)。认证=空白(Intel/NV/OCP均未取得)。海外渠道=无。液冷人才=缺乏(需招聘)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47218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8132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 机会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电源冷板=100%空白(no competitor)。国产GPU=认证半开放。Manifold=低壁垒出量。IDC采购决策自主。CAGR 60%+市场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911096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2024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威胁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084832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英维克全栈压制(冷板+CDU+Manifold)。CoolIT/AVC NV认证牢不可破。Staubli专利壁垒。认证周期长(12-24月)。竞品跟进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四看小结：海悟机会地图与进攻路线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Manifold送样H3C+浪潮+宁畅(P0)-&gt;电源冷板研发立项(100%缺口)-&gt;内存冷板差异化-&gt;Intel UQD启动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Manifold小批¥50M-&gt;电源冷板POC-&gt;OEM送样-&gt;框架协议-&gt;客户信任-&gt;冷板交叉销售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第三步(2028-2029)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UQD通过-&gt;CPU冷板¥80M-&gt;电源冷板¥120M-&gt;快接头搭售-&gt;¥400M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第四步(2030)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全线:冷板+Manifold+快接头+CDU-&gt;¥1.0B-&gt;国内液冷第二-&gt;海外ODM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定战略：专业热管理零部件供应商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海悟定位:专业热管理零部件供应商-&gt;非OEM竞争对手(合作供应视角)-&gt;非系统集成商(组件为王)-&gt;双线独立:国内线+海外线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P0双轮(2026)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Manifold低壁垒出量(¥50M)-&gt;电源冷板蓝海空白(先发)-&gt;内存冷板差异化-&gt;搭售快接头-&gt;建立OEM客户信任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P1储备(2027-2028)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UQD+CPU冷板-&gt;国产GPU冷板-&gt;快接头量产-&gt;搭售CDU-&gt;客户加深绑定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P2远期(2029-2030)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NVIDIA认证-&gt;全栈冷板-&gt;CDU差异化-&gt;海外ODM-&gt;国内第二/全球可选供应商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定策略：三路并行 + 四阶段进攻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直接路径(2026)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Manifold送样-&gt;H3C/浪潮/宁畅-&gt;小批量-&gt;框架协议。渠道最短 验证最快。目标:2026年内一家正式框架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间接路径(2027)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秦淮(字节通道)-&gt;数据港(阿里通道)-&gt;华勤/富士康(ODM)-&gt;CDU/Manifold招标。借IDC/ODM避开OEM认证门槛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认证路径(2027-2028)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UQD(2026Q2启动)-&gt;阿里液冷-&gt;NVIDIA(2028)-&gt;OCP。从外围打入核心认证供应商圈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Manifold出量(2026)-&gt;电源冷板爆量(2027Q3)-&gt;CPU冷板(2028H1)-&gt;快接头量产(2028)-&gt;CDU(2029+)-&gt;全栈(2030)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关键里程碑 &amp; 风险管控矩阵</a:t>
            </a:r>
            <a:endParaRPr lang="en-US" sz="18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2286000"/>
                <a:gridCol w="1463040"/>
                <a:gridCol w="4572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测试fail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多客户+保底3家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电源冷板研发立项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专利+A/B方案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供应不稳定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产能冗余+备份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电源冷板首次OEM送样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竞品跟进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先发6-12月+绑客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国产UQD标准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CPU冷板+快接头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产能/人才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扩产+校企合作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全栈+海外ODM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技术突变/海外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浸没储备/国内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财务模型 | 营收/成本/利润 + 敏感性分析 + 投资回报</a:t>
            </a:r>
            <a:endParaRPr lang="en-US" sz="18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  <a:gridCol w="914400"/>
                <a:gridCol w="10972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1,000-2,000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35-40%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40-45%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净利率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-10~-5%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CAPEX(¥M)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5-8x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  <a:gridCol w="13716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悲观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乐观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液冷渗透率(2028)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 ¥100-800M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 ¥50-250M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 ¥0-150M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209544"/>
            <a:ext cx="36576" cy="3657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21868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31520" y="3383280"/>
            <a:ext cx="77724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¥13M CAPEX → 2027 SOM ¥50-100M → ROI 3-8x | 盈亏平衡:2027H2 | 5年累计营收¥2.6-7.5B | Manifold份额最关键→P0优先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4320" y="3739896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2" name="Shape 8"/>
          <p:cNvSpPr/>
          <p:nvPr/>
        </p:nvSpPr>
        <p:spPr>
          <a:xfrm>
            <a:off x="274320" y="3739896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767328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¥13M CAPEX撬动¥1B SOM→ROI 10-20x(2030) 盈亏平衡2027H2 敏感性:Manifold份额最关键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战略定位深度：海悟在产业链中的角色</a:t>
            </a:r>
            <a:endParaRPr lang="en-US" sz="18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行业角色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专业热管理零部件供应商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非OEM(不做服务器)非集成(不做DC) 专注组件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价值主张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低成本高可靠国产液冷组件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价格-15% vs CoolIT/英维克 品质对标国际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国内外AI服务器OEM+DC运营方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H3C/浪潮/宁畅/华勤 -&gt; 秦淮/万国/数据港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Manifold+电源冷板双轮差异化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避开正面对抗CoolIT/英维克冷板 攻空白+低壁垒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2026:100%Manifold-&gt;2030:25%Manifold+25%电源+25%CPU+15%接头+10%CDU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策略深化：OEM准入四步法</a:t>
            </a:r>
            <a:endParaRPr lang="en-US" sz="18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18288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接触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建立关系 提交方案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客户拜访+方案书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送样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样品测试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3轮测试通过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框架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框架协议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合同+MOU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批量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正式量产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持续交付+质量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市场营销策略与品牌建设</a:t>
            </a:r>
            <a:endParaRPr lang="en-US" sz="18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海悟=国产液冷组件专家(冷板/Manifold/CDU/快接头)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ODCC 2026(北京)/OCP Summit 2026/Computex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白皮书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海悟液冷组件白皮书(2026)-&gt;技术博客-&gt;开源设计(Manifold)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客户推荐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H3C/浪潮POC成功=标杆案例-&gt;复用到更广OEM/IDC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数字营销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LinkedIn+CNKI+行业媒体 目标:2026 10篇技术文章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组织能力建设：液冷团队规划</a:t>
            </a:r>
            <a:endParaRPr lang="en-US" sz="18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822960"/>
                <a:gridCol w="82296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热管理/航空/汽车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精密制造/CNC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焊接/氦检/组装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热性能/耐久/IP等级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Intel/NVIDIA/OCP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OEM/DC行业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CAPEX与投资计划</a:t>
            </a:r>
            <a:endParaRPr lang="en-US" sz="18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18872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投资项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液冷测试台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热性能+耐久+IP等级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洁净车间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焊接+氦检+组装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CNC/加工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冷板/Manifold自产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研发(专利)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快接头/密封件/工艺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Intel/NVIDIA/OCP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累计¥13M(2026-2028)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风险评估与缓解矩阵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技术风险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电源冷板热设计复杂度-&gt;缓解:A/B双方案并行研发(6个月)+外聘1名专家+校企合作(华工/上交)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27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认证风险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647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UQD未通过-&gt;缓解:同步申请OCP+国产GPU认证 不依赖单一认证。2027Q2前完成3个认证申请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414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竞争风险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6791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英维克/高澜跟进电源冷板-&gt;缓解:先发6-12月+专利(2026Q3申请)+绑定3个OEM(框架锁定)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558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人才风险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5935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液冷人才稀缺-&gt;缓解:2026校园招聘5人+社会招聘5人+顾问(退休专家)。薪酬对标英维克+20%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关键成功因素(CSF)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Manifold先发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1381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送样H3C/浪潮/宁畅(2026H1)=第一关键。失败=全盘推迟。成功=打开3个最大客户=¥50M基线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44168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6245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电源冷板蓝海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56362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100%空白窗口仅12月。竞品跟进前锁定:专利(2026Q3)+OEM框架+3家POC。窗口关闭=失去最大差异化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93976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122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Intel UQD认证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31343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决定CPU冷板能否在2028进入。不进=丢失CPU冷板¥8B TAM。2026Q2启动=最大提前量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62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人才团队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液冷热管理人才=核心资产。竞争激烈(同行高薪)-&gt;海悟承诺:股权+增长+影响力=长期吸引力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93592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1188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客户背书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81304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H3C/浪潮任一成功=行业标杆-&gt;复用到全行业。无标杆=无法规模化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战略执行路线图 (2026-2030全景)</a:t>
            </a:r>
            <a:endParaRPr lang="en-US" sz="18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立项+专利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批量¥100M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POC+OEM送样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搭售研发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成熟¥100M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规模¥120M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认证¥80M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量产¥40M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扩展¥120M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增长¥70M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现金牛¥150M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爆炸¥250M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主力¥250M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核心结论与行动建议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市场基调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7955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液冷不等于趋势问题等于执行速度问题。全球AI液冷TAM $10B(2026E)到$50B(2030E) CAGR 50%+。窗口1-2年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25272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海悟最优路径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43560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Manifold(6月送样)+电源冷板(12月POC)=双P0。先卡位后扩张:2026 Manifold到2027冷板到2028全栈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928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竞争优势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07568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电源冷板=100%空白(全部竞品未做)=海悟独有差异化。Manifold=低壁垒高增速=50M速赢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3288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关键风险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1576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认证(CoolIT/英维克已领先12-24月)+人才(液冷热管理稀缺)+竞品跟进(窗口仅6-12月)。均有缓解策略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7296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投资价值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13M CAPEX vs 5B估值(2030)=385x。50M(2026)到1B(2030) CAGR 112%。净利率2027扭亏到2030 12%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130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 行动建议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立即:Manifold送样H3C/浪潮/宁畅(本周)。6月内:电源冷板研发立项+专利。12月内:Intel UQD启动+框架签订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致谢与声明</a:t>
            </a:r>
            <a:endParaRPr lang="en-US" sz="18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EDGAR 10-K/10-Q(12家: NVDA/AMD/INTC/GOOG/MSFT/AMZN/META/BIDU/VRT/NVENT/SMCI/DELL); 东方财富研报(72篇核心液冷赛道); 微信专家纪要(10篇); RSS情报(48篇供应链/技术/市场); 信通院/工信部/发改委公开报告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免责声明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【估算】标记数据为基于公开信息的推算,非财务预测。实际结果受市场/技术/竞争等多因素影响。本PPT仅供内部战略参考,不构成投资建议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华为五看三定框架。铁律体系(11条):数据交叉验证(Kimi+MiniMax)+来源索引(sources/)+推算公式(参数+步骤)+布局审查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v9 Expanded R4 | 103页 | PptxGenJS生成 | Microsoft YaHei 9pt+ | 白底#FFFFFF + #1F497D专业蓝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海悟科技 战略洞察部 | 2026年5月9日 | 机密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附录：关键源文件清单 (v6 2026-05-10更新)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🔥新增研报 (5篇 2026-05-10)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华源→国产超节点液冷 | 东吴→曙光海光HSL | 国信→$535B全球液冷 | 华金→昇腾路线图(→2028)+灵衢 | 中银国际→国产AI芯片41%份额 IDC排名 → sources/reports/supernode/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155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 EDGAR (12家)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GPU: NVDA/AMD/INTC | OTT: GOOG/MSFT/AMZN/META/BIDU | OEM: VRT(10-K/Q)/NVENT(10-K)/SMCI(10-K)/DELL(10-K)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556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核心研报 (593+篇)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9385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国信/开源/天风/民生/东吴/国金/华鑫/中邮/国海/头豹等 → sources/reports/industry_液冷/ + sources/reports/company/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957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RSS情报 (48篇)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供应链风险 | 芯片短缺 | 内存涨价 | OTT资本开支 | 数据中心趋势 → sources/rss/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358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竞品关键文件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186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10-K FY2025营收$20.1B | nVent 10-K Thermal $3.2B | SMCI 10-K GPU服务器$23.5B | DELL 10-K ISG $11.3B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758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587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GPU对比表格-精确修正.csv | 液冷客户表_GPU/OEM/OTT.csv | INDEX.md(源文件→洞察映射)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159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政策与标准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4988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信通院/工信部/发改委 | OCP液冷标准 | NVIDIA/Intel认证 | 铁律⑫联动刷新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9" name="Text 26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海悟科技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机柜级液冷战略洞察 v10 Compact</dc:title>
  <dc:subject>液冷五看三定 77页信息密度加强版</dc:subject>
  <dc:creator>海悟科技 战略洞察部</dc:creator>
  <cp:lastModifiedBy>海悟科技 战略洞察部</cp:lastModifiedBy>
  <cp:revision>1</cp:revision>
  <dcterms:created xsi:type="dcterms:W3CDTF">2026-05-12T08:48:40Z</dcterms:created>
  <dcterms:modified xsi:type="dcterms:W3CDTF">2026-05-12T08:48:40Z</dcterms:modified>
</cp:coreProperties>
</file>