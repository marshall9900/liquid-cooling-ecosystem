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2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AIDC机柜（万架·推算）</c:v>
                </c:pt>
              </c:strCache>
            </c:strRef>
          </c:tx>
          <c:spPr>
            <a:solidFill>
              <a:srgbClr val="F79646"/>
            </a:solidFill>
            <a:ln w="25400" cap="flat">
              <a:solidFill>
                <a:srgbClr val="F796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497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79646"/>
              </a:solidFill>
              <a:ln w="9525" cap="flat">
                <a:solidFill>
                  <a:srgbClr val="F796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2024A</c:v>
                  </c:pt>
                  <c:pt idx="1">
                    <c:v>2025E</c:v>
                  </c:pt>
                  <c:pt idx="2">
                    <c:v>2026E</c:v>
                  </c:pt>
                  <c:pt idx="3">
                    <c:v>2028E</c:v>
                  </c:pt>
                  <c:pt idx="4">
                    <c:v>2030E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26</c:v>
                </c:pt>
                <c:pt idx="2">
                  <c:v>90</c:v>
                </c:pt>
                <c:pt idx="3">
                  <c:v>170</c:v>
                </c:pt>
                <c:pt idx="4">
                  <c:v>310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液冷机柜（万架）</c:v>
                </c:pt>
              </c:strCache>
            </c:strRef>
          </c:tx>
          <c:spPr>
            <a:solidFill>
              <a:srgbClr val="1F497D"/>
            </a:solidFill>
            <a:ln w="25400" cap="flat">
              <a:solidFill>
                <a:srgbClr val="1F497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497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97D"/>
              </a:solidFill>
              <a:ln w="9525" cap="flat">
                <a:solidFill>
                  <a:srgbClr val="1F497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2024A</c:v>
                  </c:pt>
                  <c:pt idx="1">
                    <c:v>2025E</c:v>
                  </c:pt>
                  <c:pt idx="2">
                    <c:v>2026E</c:v>
                  </c:pt>
                  <c:pt idx="3">
                    <c:v>2028E</c:v>
                  </c:pt>
                  <c:pt idx="4">
                    <c:v>2030E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</c:v>
                </c:pt>
                <c:pt idx="1">
                  <c:v>10</c:v>
                </c:pt>
                <c:pt idx="2">
                  <c:v>53</c:v>
                </c:pt>
                <c:pt idx="3">
                  <c:v>120</c:v>
                </c:pt>
                <c:pt idx="4">
                  <c:v>250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F497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F81B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F81B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F497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液冷营收(¥M)</c:v>
                </c:pt>
              </c:strCache>
            </c:strRef>
          </c:tx>
          <c:spPr>
            <a:solidFill>
              <a:srgbClr val="4BACC6"/>
            </a:solidFill>
            <a:ln w="31750" cap="flat">
              <a:solidFill>
                <a:srgbClr val="4BACC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BACC6"/>
              </a:solidFill>
              <a:ln w="9525" cap="flat">
                <a:solidFill>
                  <a:srgbClr val="4BACC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2030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75</c:v>
                </c:pt>
                <c:pt idx="2">
                  <c:v>350</c:v>
                </c:pt>
                <c:pt idx="3">
                  <c:v>1500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SOM份额(%)</c:v>
                </c:pt>
              </c:strCache>
            </c:strRef>
          </c:tx>
          <c:spPr>
            <a:solidFill>
              <a:srgbClr val="F79646"/>
            </a:solidFill>
            <a:ln w="31750" cap="flat">
              <a:solidFill>
                <a:srgbClr val="F796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79646"/>
              </a:solidFill>
              <a:ln w="9525" cap="flat">
                <a:solidFill>
                  <a:srgbClr val="F796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2030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0.35</c:v>
                </c:pt>
                <c:pt idx="1">
                  <c:v>1.5</c:v>
                </c:pt>
                <c:pt idx="2">
                  <c:v>4</c:v>
                </c:pt>
                <c:pt idx="3">
                  <c:v>6.5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 数据刷新2026-05-30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NVL576 600KW/柜纯液冷; Google TPU V8 1300W全浸没+CDU标配; sources/sec/oem/VRT/submissions_2026-05-09.json, sources/sec/gpu/NVDA/submissions_2026-05-09.json → SEC 10-K核实GPU出货; 推算:风冷极限≈600W(风量×温差×比热) Rubin 1500W+=2.5倍风冷极限→液冷唯一解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idc/2026-05-09-idc-datacenter-insight.md | NVL576 600kW/柜 | 📐口径三重锁定 | 铁律⑩+⑪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全球OTT $6,000亿+(2026E) 同比+88% | 中国液冷服务器 ¥23.7亿(2024)→¥162亿(2029E)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 → 全球OTT $6,000亿+(2026E)同比+88%; sources/wechat/2026-05-06-global-liquid-cooling-market-173b-usd.md → $33.3B(2026E)→$173.1B(2032E) CAGR 26.5%; sources/wechat/2026-05-06-super-node-insight.md → 国产超节点2028E ¥3,414亿 | 中国液冷服务器 2024¥23.7亿→2029E¥162亿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s009+s010+s011合并: 阿里三年¥4,800亿(CEO吴泳铭) 磐久3.0全液冷 推算:液冷采购≈¥16-20亿/年 单柜Manifold ¥48K-120K×2,000柜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s012+s013+s014合并: 字节GPU直采¥2,300亿 零既有供应商=海悟最大机遇 单柜液冷BOM ¥60-75万×~3,000柜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s015+s016合并: 腾讯液冷¥10-15亿/年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s018+s019+s020合并: 四大OTT AI CAPEX ¥6,500亿+(2026E) SAM=液冷采购×(CDU+Manifold+冷板可参与)~10-20% | Google云订单积压$4,600亿 TPU月Token 3200万亿 | Anthropic+Apollo/黑石 $360亿TPU融资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s022+s023合并: 华为全联接大会2025 华金证券昇腾950研报(2026-04-12) 昇腾2026出货目标120万(产能75万,缺口45万) | Google TPU V8 1300W全浸没验证液冷刚需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s024+s025合并: GPU对比表格-精确修正.csv 寒武纪2025年报 阿里寒武纪采购5-6万颗(2026)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s026+s027合并: GPU对比表格-精确修正.csv 海光信息2025年报 信创DCU→国产液冷优先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s028+s029合并: 平头哥真武810E架构(阿里ODCC 2026) GPU对比表格 国产超节点2028E ¥3,414亿(CAGR 194%)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s033+s034合并: 新华三年报2025 H3C液冷采购信息 海悟Manifold送样H3C(2026Q3)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s040+s041合并: 万国数据/数据港/秦淮数据年报 IDC液冷采购2026年预计翻倍 TAM=TOP5 IDC×液冷渗透率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中国信通院 智算中心液冷市场 2024¥184亿→2029E~¥1300亿 | source_index.json → 研报667篇/SEC 13家/RSS 446篇/微信9篇/364源文件验证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V8 1300W 全浸没+CDU标配/云订单积压$4,600亿/TPU月Token 3200万亿(同比7x)/台湾+大陆+欧美三级供应链; Anthropic+Apollo/黑石 $360亿TPU融资 史上最大单笔AI基建融资;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全球OTT CAPEX $6,000亿+(2026E)同比+88% / 北美-中系GPU采购竞争格局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s056+s057+s058合并: 英维克2025年报 客户公开信息 海悟竞争对标推算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s059+s060合并: CoolIT公开信息+NVIDIA认证体系 国产GPU冷板认证门槛远低于NVIDIA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s066+s069合并: 液冷竞争格局全会审 国产冷板热阻0.042-0.048℃/W 海悟差异化窗口2026-2027 | 全产业链能力从加分项→准入门槛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sources/reports/supernode/H3_AP202604081821055447_1.pdf 中银国际→国产排序; s005 AIDC液冷机柜10→52万架(锚定运营商); TAM=单柜数×ASP×机柜数。2030:120片×¥300×52万柜≈¥18.7B【估算】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s084+s088+s089合并: 海悟液冷战略三年规划 SOM=液冷TAM×海悟份额 2026为验证年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s094+s096+s097合并: 海悟财务模型推算 SOM=液冷TAM×海悟份额×ASP ¥13M CAPEX=产线+认证+送样+团队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sources/sec/gpu/NVDA/submissions_2026-05-09.json, sources/sec/NVDA/AMD/INTC/ → 3家GPU/CPU SEC | sources/sec/ott/MSFT/submissions_2026-05-09.json, sources/sec/GOOG/MSFT/AMZN/META/BIDU/ → 5家OTT CapEx | sources/wechat/2026-05-07-ott-csp-gpu-capex-830b-usd.md 9篇微信纪要 | sources/reports/industry_液冷/ 72篇研报 | sources/rss/ 48篇RSS情报 | 韬(τ)定律:时间缩微替代几何缩微 | 三大催化赛道:光通信+液冷+国产AI算力 | 校验: Kimi ✅ MiniMax ✅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数据刷新2026-05-30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NVL576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~720KW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纯液冷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 TPU V8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1300W/颗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全浸没+CDU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 风冷物理极限600W已被全面突破 | NVL576 600KW/柜纯液冷 | TPU V8 1300W全浸没强制 刷新2026-05-30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548640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548640"/>
            <a:ext cx="2926080" cy="31089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0" y="640080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621792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智算中心负载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6126480" y="7863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GW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0" y="1115568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1097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液冷渗透率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6126480" y="126187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591056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57276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单柜功率峰值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6126480" y="17373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kW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43600" y="2066544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6126480" y="2048256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126480" y="22128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≤1.15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0" y="2542032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523744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AIDC机柜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126480" y="268833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310万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017520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4" name="Text 21"/>
          <p:cNvSpPr/>
          <p:nvPr/>
        </p:nvSpPr>
        <p:spPr>
          <a:xfrm>
            <a:off x="6126480" y="2999232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6126480" y="316382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250万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8" name="Text 2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📐 口径三重锁定：全量(~1400万) ⊃ AIDC(~90万) ⊃ 液冷(~53万·2026E) | 单柜峰值600kW(NVL576) | 信通院+IDC圈+券商交叉验证 刷新2026-05-30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1" name="Text 2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922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07899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08813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125272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$6,000亿+(2026E 同比+88%)+中国¥6,500亿+。每$1亿CAPEX≈$28万液冷BOM。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51790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52704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169164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195681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19659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13055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液冷机柜从~7万(2024A)→~52万(2030E)。口径=智算AIDC内液冷，与运营商~10万架锚定一致。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2395728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404872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2569464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| 中国智算中心液冷市场 ¥184亿(2024)→~¥1300亿(2029E 信通院) | 国信证券2026-04-14 刷新2026-05-30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 | AI Infra投入三年¥4,800亿 磐久3.0全液冷战略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 磐久128 AL128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01952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296265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731520" y="297180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31520" y="313639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需阿里云液冷认证(2027目标)→通过H3C代工→Manifold/CDU进入 | 年采购¥16-20亿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57200" y="3401568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731520" y="3410712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时间窗口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31520" y="3575304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2026-2027磐久3.0量产期=供应商选型 认证~12月→2026启动→2027入池 | SAM:¥5-24M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274320" y="39319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5" name="Shape 11"/>
          <p:cNvSpPr/>
          <p:nvPr/>
        </p:nvSpPr>
        <p:spPr>
          <a:xfrm>
            <a:off x="274320" y="39319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2"/>
          <p:cNvSpPr/>
          <p:nvPr/>
        </p:nvSpPr>
        <p:spPr>
          <a:xfrm>
            <a:off x="548640" y="39593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2kW液冷→350kW供电→Manifold+CDU招标→P1:通过H3C+认证进入 | 窗口:12-18月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 | GPU投入¥2,600亿 液冷最大单体客户 P0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 | 超节点~150kW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01952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 | 零既有供应商=最大窗口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296265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731520" y="297180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31520" y="313639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 渠道最短验证最快 | 采购¥18-22B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57200" y="3401568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731520" y="3410712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竞争态势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31520" y="3575304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英维克/CoolIT已进浪潮供链→海悟差异化:电源冷板(它们没做)+性价比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274320" y="39319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5" name="Shape 11"/>
          <p:cNvSpPr/>
          <p:nvPr/>
        </p:nvSpPr>
        <p:spPr>
          <a:xfrm>
            <a:off x="274320" y="39319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2"/>
          <p:cNvSpPr/>
          <p:nvPr/>
        </p:nvSpPr>
        <p:spPr>
          <a:xfrm>
            <a:off x="548640" y="39593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 | SAM: ¥30-60M | 窗口: 6-12月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 | AI CAPEX ¥1,300亿+ 星脉256卡超节点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 昇腾950PR预购&gt;5万颗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190195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91109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进入窗口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207568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CDU/Manifold→招标制(≠GPU绑定)→海悟P1:差异化CDU(节能+价格) | 液冷¥10-15亿/年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234086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235000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推荐路线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 | SAM: ¥15-25M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74320" y="2871216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274320" y="2871216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898648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 | 冷板被CoolIT锁定但CDU/Manifold公开招标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 | 决策权分布 + 规格汇总 + 优先级排序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01952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1188720"/>
                <a:gridCol w="1188720"/>
                <a:gridCol w="822960"/>
                <a:gridCol w="6400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3209544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3209544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3236976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| P0攻字节(零供应商)+P1阿里/腾讯 | Google TPU V8 1300W全浸没+Anthropic $36B TPU融资=史上最大AI基建 刷新2026-05-30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 | 芯片规格演进(→2028) + OEM生态与液冷机会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621792"/>
                <a:gridCol w="457200"/>
                <a:gridCol w="457200"/>
                <a:gridCol w="457200"/>
                <a:gridCol w="749808"/>
                <a:gridCol w="640080"/>
                <a:gridCol w="713232"/>
                <a:gridCol w="621792"/>
                <a:gridCol w="502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FP16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~500-600W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通用训推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~800-1000W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HiBL1.0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Prefill推理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~1000-1200W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144GB HiZQ2.0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Decode+训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~1500W+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288GB+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冷板微通道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千亿参数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~2000W+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288GB+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MLCP微通道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MoE/AGI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2395728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404872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OEM生态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2569464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超聚变(40%嫡系,冷板华为指定)+浪潮(25%)+宁畅(10%)→Manifold/CDU外购=海悟机会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2834640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284378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液冷趋势+策略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" y="3008376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910B风冷→950PR Must冷板→970 MLCP | 海悟:P0 Manifold(浪潮/宁畅)→P1 CDU(2027+)→P2 冷板(认证后)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74320" y="336499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274320" y="336499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39242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昇腾半封闭→海悟不做冷板正面竞争→Manifold/CDU突破 | 自研HBM打破垄断 | DeepSeek V4适配950PR→抢购潮 | 参考:Google TPU V8 1300W全浸没强制+CDU标配 刷新2026-05-30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 | 芯片规格 + 液冷策略 最开放的国产GPU生态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140817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41732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生态特点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58191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不指定液冷供应商→OEM自主选择→最开放的国产GPU液冷生态 | 590→690功耗跳升=冷板刚需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1847088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856232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海悟机会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" y="2020824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Manifold直接(无认证)→冷板P1(低门槛)→CPU冷板搭售 | 出货:2026E 50万卡→2028E 150万卡+(3倍增长)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74320" y="2377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274320" y="2377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404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 | TAM=50万卡×60%×¥1,500/卡=¥45M(2026E)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 | 芯片规格 + 信创液冷机会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140817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41732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信创优势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58191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DCU国产化=政策优先→央企/政府/运营商→国产液冷组件优先采购 | 深算3号500W=液冷刚需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1847088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856232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海悟路径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" y="2020824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P1:通过浪潮渠道突破曙光壁垒→Manifold/CDU先行→冷板P2 | TAM=30万卡×70%×¥2,000/卡=¥42M(2028E)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74320" y="2377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274320" y="2377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404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阿里平头哥+昆仑芯 | GPU/液冷机会对比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560320"/>
                <a:gridCol w="2286000"/>
                <a:gridCol w="20116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平头哥(阿里)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昆仑芯(百度)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真武810E 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昆仑芯R300 350W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沐曦/景嘉微/摩尔/壁仞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&lt;10万/家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风冷为主→冷板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P1:CDU/Manifold/冷板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P3(远期跟踪)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190195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91109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聚焦策略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207568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GPU: 昇腾(P1)+寒武纪(P0)+海光(P1)+平头哥(P1)=4家 合计340万卡/年 | 其余P3远期跟踪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74320" y="2432304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1" name="Shape 8"/>
          <p:cNvSpPr/>
          <p:nvPr/>
        </p:nvSpPr>
        <p:spPr>
          <a:xfrm>
            <a:off x="274320" y="2432304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459736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液冷采购¥2.5-5.2B | 阿里自研≠封闭生态→外部供应商可参与招标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 | 业务概览 + 液冷采购与海悟机会</a:t>
            </a:r>
            <a:endParaRPr lang="en-US" sz="1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服务器出货(2025)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~80万台(国内TOP3)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 3,000柜→2026E 8,000柜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英伟达(主)+昇腾(副)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英维克(CDU/冷板)+CoolIT(冷板)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190195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91109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海悟窗口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207568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H3C液冷出货8,000柜(2026E)→Manifold/CDU招标增量→海悟Manifold送样 | SAM: ¥20-40M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234086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235000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进入路径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P1(Manifold)→P2(CDU)→P2(冷板) | 目标:2027 Manifold批量 H3C液冷份额5-10%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74320" y="2871216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274320" y="2871216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898648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H3C液冷出货3,000→8,000柜(2026E) Manifold招标制→海悟P1送样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AIDC机柜(万架)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⚠️口径：AIDC机柜=智算中心专用机柜，非全量DC。四家CSP合计~10万架≈P5 AIDC~26万架的38%，其余为OTT自建+区域智算中心。CSP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 | 液冷需求 + 采购特征深度分析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1188720"/>
                <a:gridCol w="1188720"/>
                <a:gridCol w="13716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IDC运营方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采购模式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25万+柜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高(阿里/腾讯租户)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Manifold/CDU直供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15万+柜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高(阿里主力DC)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阿里指定招标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通过H3C/思泉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10万+柜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中(字节主力)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字节指定招标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8万+柜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中(多租户)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自主+客户指定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Manifold直供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190195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91109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采购特征+策略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207568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IDC液冷跟随租户需求→核心租户(阿里/字节/腾讯)决定标准→海悟双路径:直供+OEM渠道 | TAM: ¥3-5B(2028E)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74320" y="2432304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1" name="Shape 8"/>
          <p:cNvSpPr/>
          <p:nvPr/>
        </p:nvSpPr>
        <p:spPr>
          <a:xfrm>
            <a:off x="274320" y="2432304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459736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IDC液冷需求由OTT租户驱动 万国/数据港/秦淮=TOP3液冷IDC 海悟双路径:直供+OEM渠道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 | 中国液冷服务器 ¥23.7亿(2024)→¥162亿(2029E) 刷新2026-05-30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60350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768096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103327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04241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20700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147218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148132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164592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191109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92024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208483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350008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2359152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2523744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v7/v8园区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 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| TPU V8 1300W全浸没强制+CDU标配 | 中国液冷渗透率&lt;5% → 巨大空间 刷新2026-05-30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60350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768096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103327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04241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20700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147218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148132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164592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191109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92024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208483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350008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2359152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2523744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 | 全产业链能力从加分项→准入门槛 (ASIC+800V HVDC协同) 刷新2026-05-30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 | 客户订单 + 财务对标 + 海悟竞争策略</a:t>
            </a:r>
            <a:endParaRPr lang="en-US" sz="1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液冷营收(2025)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¥18亿(其中CDU/Manifold~¥12亿)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阿里/腾讯/字节/谷歌/H3C/浪潮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CDU(100-500kW)+Manifold+冷板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液冷~35% 产能CDU 5,000台/年→2026E 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01952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32004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海悟对标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100-500kW全系列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差异化:节能15%+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标准化+定制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性价比(低20%)+快交付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客户关系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阿里/腾讯/字节深度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零基础→P0字节突破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296265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731520" y="297180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31520" y="313639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不正面拼全栈→聚焦Manifold差异化(性价比+快交付)→CDU节能切入→冷板认证后跟进 | 目标:2027液冷¥100M+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274320" y="3493008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2" name="Shape 8"/>
          <p:cNvSpPr/>
          <p:nvPr/>
        </p:nvSpPr>
        <p:spPr>
          <a:xfrm>
            <a:off x="274320" y="3493008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3" name="Text 9"/>
          <p:cNvSpPr/>
          <p:nvPr/>
        </p:nvSpPr>
        <p:spPr>
          <a:xfrm>
            <a:off x="548640" y="3520440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英维克=国内液冷龙头(液冷¥18亿) 海悟差异化:Manifold性价比+CDU节能+字节零供应商突破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 | NVIDIA一供地位 + 替代可能性分析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NVIDIA认证一供(冷板) 全球液冷标杆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 ~50万片→2026E ~80万片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DGX认证(2年周期) 不可替代性高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55064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32004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替代维度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可行性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低(认证2年+深度绑定)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不正面竞争→等机会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高(CoolIT非强项)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P0:差异化CDU+Manifold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中高(无认证壁垒)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P0:寒武纪/昇腾冷板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2715768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2715768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2743200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CoolIT冷板不可替代(NVIDIA认证) 海悟不正面竞争→CDU/Manifold+国产GPU冷板=蓝海 国产GPU冷板无认证壁垒=最大窗口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0350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768096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3327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04241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20700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47218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8132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164592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191109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192024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208483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 | 竞争格局核心判断 + 海悟差异化窗口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32004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冷板(NVIDIA)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CoolIT锁定 英维克/AVC跟随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国产GPU冷板→无认证壁垒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冷板(国产)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英维克先发 分散格局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P0:寒武纪/昇腾冷板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英维克/高澜/Vertiv竞争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差异化:节能+性价比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英维克/Staubli为主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P0:性价比+快交付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国产替代窗口→海悟P1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2148840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15798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2322576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液冷竞争≠已定局→国产GPU路线开辟新赛道→海悟Manifold/国产冷板双线突破 | 不正面竞争→差异化突破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74320" y="267919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1" name="Shape 8"/>
          <p:cNvSpPr/>
          <p:nvPr/>
        </p:nvSpPr>
        <p:spPr>
          <a:xfrm>
            <a:off x="274320" y="267919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70662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竞争窗口明确:Manifold(P0)+国产GPU冷板(P0)+CDU差异化(P1) | 2026-2027黄金窗口 | 全产业链能力=准入门槛 刷新2026-05-30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0350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768096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3327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04241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20700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47218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8132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164592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191109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192024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208483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0350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768096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3327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04241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20700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47218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8132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164592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191109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192024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208483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¥0.5B→¥19B 蓝海(锚定52万柜)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2026 ¥1.5B→2030 ¥12-20B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10K-15K→300K-600K套(锚定5→52万柜)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 | 2026→2028→2030三年营收路径</a:t>
            </a:r>
            <a:endParaRPr lang="en-US" sz="1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594360"/>
          <a:ext cx="82296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32004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3-5家OEM/OTT送样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送样→测试通过→首单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团队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液冷团队15-20人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销售+方案+研发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0233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0507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三年路径:2026验证→2027批量→2028规模→2030领导 | 海悟=国内TOP3机柜级液冷组件供应商 全栈方案:冷板+CDU+Manifold+快接头 | SOM从0.2%→5-8% CAGR&gt;100%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0350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768096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33272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04241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207008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47218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8132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164592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1911096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192024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2084832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 | 三大催化赛道:光通信+液冷+国产AI算力→韬(τ)定律:时间缩微替代几何缩微 国产芯片摆脱先进制程依赖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2026-2027黄金窗口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CAPEX $6,000亿+(+88%) | NVL576 600KW/柜纯液冷 | TPU V8 1300W全浸没 | ASIC芯片全采液冷 | 800V HVDC架构→液冷协同 | 全产业链能力=准入门槛 | 率先OEM认证+头部PoC者胜出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406908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08736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32511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 | 营收/成本/利润 + 敏感性分析 + 投资回报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  <a:gridCol w="10972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1,000-2,000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25-30%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35-40%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40-45%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-10~-5%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15-20%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CAPEX(¥M)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 ¥100-800M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 ¥50-250M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 ¥0-150M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209544"/>
            <a:ext cx="36576" cy="36576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731520" y="3218688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31520" y="3383280"/>
            <a:ext cx="7772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¥13M CAPEX → 2027 SOM ¥50-100M → ROI 3-8x | 盈亏平衡:2027H2 | 5年累计营收¥2.6-7.5B | Manifold份额最关键→P0优先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274320" y="3739896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2" name="Shape 8"/>
          <p:cNvSpPr/>
          <p:nvPr/>
        </p:nvSpPr>
        <p:spPr>
          <a:xfrm>
            <a:off x="274320" y="3739896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3" name="Text 9"/>
          <p:cNvSpPr/>
          <p:nvPr/>
        </p:nvSpPr>
        <p:spPr>
          <a:xfrm>
            <a:off x="548640" y="3767328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¥13M CAPEX撬动¥1B SOM→ROI 10-20x(2030) 盈亏平衡2027H2 敏感性:Manifold份额最关键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液冷不等于趋势问题等于执行速度问题。全球服务器液冷TAM $12.6B(2026E)→$53.5B(2030E) CAGR 43.6%。中国液冷服务器 ¥23.7亿(2024)→¥162亿(2029E) CAGR 46.8%。韬(τ)定律:「时间缩微」替代「几何缩微」→国产芯片摆脱先进制程依赖 刷新2026-05-30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 | 全产业链能力从加分项→准入门槛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 | 三大催化赛道:光通信+液冷+国产AI算力 2026-2027黄金窗口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数据刷新2026-05-30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(5篇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华源→国产超节点液冷 | 东吴→曙光海光HSL | 国信→$535B全球液冷 | 华金→昇腾路线图(→2028)+灵衢 | 中银国际→国产AI芯片41%份额 IDC排名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v10 Compact</dc:title>
  <dc:subject>液冷五看三定 77页信息密度加强版</dc:subject>
  <dc:creator>海悟科技 战略洞察部</dc:creator>
  <cp:lastModifiedBy>海悟科技 战略洞察部</cp:lastModifiedBy>
  <cp:revision>1</cp:revision>
  <dcterms:created xsi:type="dcterms:W3CDTF">2026-05-29T23:05:21Z</dcterms:created>
  <dcterms:modified xsi:type="dcterms:W3CDTF">2026-05-29T23:05:21Z</dcterms:modified>
</cp:coreProperties>
</file>