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2"/>
    <p:sldId id="264" r:id="rId83"/>
    <p:sldId id="265" r:id="rId8"/>
    <p:sldId id="266" r:id="rId9"/>
    <p:sldId id="267" r:id="rId13"/>
    <p:sldId id="268" r:id="rId14"/>
    <p:sldId id="269" r:id="rId15"/>
    <p:sldId id="270" r:id="rId16"/>
    <p:sldId id="271" r:id="rId17"/>
    <p:sldId id="272" r:id="rId58"/>
    <p:sldId id="273" r:id="rId59"/>
    <p:sldId id="274" r:id="rId11"/>
    <p:sldId id="275" r:id="rId12"/>
    <p:sldId id="276" r:id="rId72"/>
    <p:sldId id="277" r:id="rId73"/>
    <p:sldId id="278" r:id="rId74"/>
    <p:sldId id="279" r:id="rId75"/>
    <p:sldId id="280" r:id="rId76"/>
    <p:sldId id="281" r:id="rId77"/>
    <p:sldId id="282" r:id="rId18"/>
    <p:sldId id="283" r:id="rId19"/>
    <p:sldId id="284" r:id="rId20"/>
    <p:sldId id="285" r:id="rId21"/>
    <p:sldId id="286" r:id="rId22"/>
    <p:sldId id="287" r:id="rId23"/>
    <p:sldId id="288" r:id="rId84"/>
    <p:sldId id="289" r:id="rId24"/>
    <p:sldId id="290" r:id="rId25"/>
    <p:sldId id="291" r:id="rId26"/>
    <p:sldId id="292" r:id="rId7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80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5"/>
    <p:sldId id="310" r:id="rId46"/>
    <p:sldId id="311" r:id="rId50"/>
    <p:sldId id="312" r:id="rId55"/>
    <p:sldId id="313" r:id="rId56"/>
    <p:sldId id="314" r:id="rId57"/>
    <p:sldId id="315" r:id="rId63"/>
    <p:sldId id="316" r:id="rId64"/>
    <p:sldId id="317" r:id="rId65"/>
    <p:sldId id="318" r:id="rId66"/>
    <p:sldId id="321" r:id="rId49"/>
    <p:sldId id="322" r:id="rId52"/>
    <p:sldId id="323" r:id="rId53"/>
    <p:sldId id="324" r:id="rId54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26.xml"/><Relationship Id="rId19" Type="http://schemas.openxmlformats.org/officeDocument/2006/relationships/slide" Target="slides/slide27.xml"/><Relationship Id="rId20" Type="http://schemas.openxmlformats.org/officeDocument/2006/relationships/slide" Target="slides/slide28.xml"/><Relationship Id="rId21" Type="http://schemas.openxmlformats.org/officeDocument/2006/relationships/slide" Target="slides/slide29.xml"/><Relationship Id="rId22" Type="http://schemas.openxmlformats.org/officeDocument/2006/relationships/slide" Target="slides/slide30.xml"/><Relationship Id="rId23" Type="http://schemas.openxmlformats.org/officeDocument/2006/relationships/slide" Target="slides/slide31.xml"/><Relationship Id="rId24" Type="http://schemas.openxmlformats.org/officeDocument/2006/relationships/slide" Target="slides/slide33.xml"/><Relationship Id="rId25" Type="http://schemas.openxmlformats.org/officeDocument/2006/relationships/slide" Target="slides/slide34.xml"/><Relationship Id="rId26" Type="http://schemas.openxmlformats.org/officeDocument/2006/relationships/slide" Target="slides/slide35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7.xml"/><Relationship Id="rId30" Type="http://schemas.openxmlformats.org/officeDocument/2006/relationships/slide" Target="slides/slide38.xml"/><Relationship Id="rId31" Type="http://schemas.openxmlformats.org/officeDocument/2006/relationships/slide" Target="slides/slide39.xml"/><Relationship Id="rId32" Type="http://schemas.openxmlformats.org/officeDocument/2006/relationships/slide" Target="slides/slide40.xml"/><Relationship Id="rId33" Type="http://schemas.openxmlformats.org/officeDocument/2006/relationships/slide" Target="slides/slide41.xml"/><Relationship Id="rId34" Type="http://schemas.openxmlformats.org/officeDocument/2006/relationships/slide" Target="slides/slide42.xml"/><Relationship Id="rId35" Type="http://schemas.openxmlformats.org/officeDocument/2006/relationships/slide" Target="slides/slide43.xml"/><Relationship Id="rId36" Type="http://schemas.openxmlformats.org/officeDocument/2006/relationships/slide" Target="slides/slide45.xml"/><Relationship Id="rId37" Type="http://schemas.openxmlformats.org/officeDocument/2006/relationships/slide" Target="slides/slide46.xml"/><Relationship Id="rId38" Type="http://schemas.openxmlformats.org/officeDocument/2006/relationships/slide" Target="slides/slide47.xml"/><Relationship Id="rId39" Type="http://schemas.openxmlformats.org/officeDocument/2006/relationships/slide" Target="slides/slide48.xml"/><Relationship Id="rId40" Type="http://schemas.openxmlformats.org/officeDocument/2006/relationships/slide" Target="slides/slide49.xml"/><Relationship Id="rId41" Type="http://schemas.openxmlformats.org/officeDocument/2006/relationships/slide" Target="slides/slide50.xml"/><Relationship Id="rId42" Type="http://schemas.openxmlformats.org/officeDocument/2006/relationships/slide" Target="slides/slide51.xml"/><Relationship Id="rId43" Type="http://schemas.openxmlformats.org/officeDocument/2006/relationships/slide" Target="slides/slide52.xml"/><Relationship Id="rId44" Type="http://schemas.openxmlformats.org/officeDocument/2006/relationships/slide" Target="slides/slide53.xml"/><Relationship Id="rId45" Type="http://schemas.openxmlformats.org/officeDocument/2006/relationships/slide" Target="slides/slide53.xml"/><Relationship Id="rId46" Type="http://schemas.openxmlformats.org/officeDocument/2006/relationships/slide" Target="slides/slide54.xml"/><Relationship Id="rId49" Type="http://schemas.openxmlformats.org/officeDocument/2006/relationships/slide" Target="slides/slide63.xml"/><Relationship Id="rId50" Type="http://schemas.openxmlformats.org/officeDocument/2006/relationships/slide" Target="slides/slide55.xml"/><Relationship Id="rId51" Type="http://schemas.openxmlformats.org/officeDocument/2006/relationships/slide" Target="slides/slide60.xml"/><Relationship Id="rId52" Type="http://schemas.openxmlformats.org/officeDocument/2006/relationships/slide" Target="slides/slide64.xml"/><Relationship Id="rId53" Type="http://schemas.openxmlformats.org/officeDocument/2006/relationships/slide" Target="slides/slide65.xml"/><Relationship Id="rId54" Type="http://schemas.openxmlformats.org/officeDocument/2006/relationships/slide" Target="slides/slide66.xml"/><Relationship Id="rId55" Type="http://schemas.openxmlformats.org/officeDocument/2006/relationships/slide" Target="slides/slide56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16.xml"/><Relationship Id="rId59" Type="http://schemas.openxmlformats.org/officeDocument/2006/relationships/slide" Target="slides/slide17.xml"/><Relationship Id="rId60" Type="http://schemas.openxmlformats.org/officeDocument/2006/relationships/slide" Target="slides/slide72.xml"/><Relationship Id="rId61" Type="http://schemas.openxmlformats.org/officeDocument/2006/relationships/slide" Target="slides/slide73.xml"/><Relationship Id="rId62" Type="http://schemas.openxmlformats.org/officeDocument/2006/relationships/slide" Target="slides/slide74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20.xml"/><Relationship Id="rId73" Type="http://schemas.openxmlformats.org/officeDocument/2006/relationships/slide" Target="slides/slide21.xml"/><Relationship Id="rId74" Type="http://schemas.openxmlformats.org/officeDocument/2006/relationships/slide" Target="slides/slide22.xml"/><Relationship Id="rId75" Type="http://schemas.openxmlformats.org/officeDocument/2006/relationships/slide" Target="slides/slide23.xml"/><Relationship Id="rId76" Type="http://schemas.openxmlformats.org/officeDocument/2006/relationships/slide" Target="slides/slide24.xml"/><Relationship Id="rId77" Type="http://schemas.openxmlformats.org/officeDocument/2006/relationships/slide" Target="slides/slide25.xml"/><Relationship Id="rId78" Type="http://schemas.openxmlformats.org/officeDocument/2006/relationships/slide" Target="slides/slide36.xml"/><Relationship Id="rId79" Type="http://schemas.openxmlformats.org/officeDocument/2006/relationships/slide" Target="slides/slide35.xml"/><Relationship Id="rId80" Type="http://schemas.openxmlformats.org/officeDocument/2006/relationships/slide" Target="slides/slide44.xml"/><Relationship Id="rId81" Type="http://schemas.openxmlformats.org/officeDocument/2006/relationships/slide" Target="slides/slide44.xml"/><Relationship Id="rId82" Type="http://schemas.openxmlformats.org/officeDocument/2006/relationships/slide" Target="slides/slide7.xml"/><Relationship Id="rId83" Type="http://schemas.openxmlformats.org/officeDocument/2006/relationships/slide" Target="slides/slide8.xml"/><Relationship Id="rId84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在用机架数(万架)</c:v>
                </c:pt>
              </c:strCache>
            </c:strRef>
          </c:tx>
          <c:spPr>
            <a:solidFill>
              <a:srgbClr val="1A365D"/>
            </a:solidFill>
            <a:ln w="3175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1085</c:v>
                </c:pt>
                <c:pt idx="2">
                  <c:v>1400</c:v>
                </c:pt>
                <c:pt idx="3">
                  <c:v>1750</c:v>
                </c:pt>
                <c:pt idx="4">
                  <c:v>2200</c:v>
                </c:pt>
                <c:pt idx="5">
                  <c:v>2600</c:v>
                </c:pt>
                <c:pt idx="6">
                  <c:v>3000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IT总负载(GW)</c:v>
                </c:pt>
              </c:strCache>
            </c:strRef>
          </c:tx>
          <c:spPr>
            <a:solidFill>
              <a:srgbClr val="ED8936"/>
            </a:solidFill>
            <a:ln w="3175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2.25</c:v>
                </c:pt>
                <c:pt idx="1">
                  <c:v>2.75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智算中心负载(GW)</c:v>
                </c:pt>
              </c:strCache>
            </c:strRef>
          </c:tx>
          <c:spPr>
            <a:solidFill>
              <a:srgbClr val="2C5282"/>
            </a:solidFill>
            <a:ln w="31750" cap="flat">
              <a:solidFill>
                <a:srgbClr val="2C52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1.3</c:v>
                </c:pt>
                <c:pt idx="2">
                  <c:v>2</c:v>
                </c:pt>
                <c:pt idx="3">
                  <c:v>2.9</c:v>
                </c:pt>
                <c:pt idx="4">
                  <c:v>3.9</c:v>
                </c:pt>
                <c:pt idx="5">
                  <c:v>4.8</c:v>
                </c:pt>
                <c:pt idx="6">
                  <c:v>5.5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365D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36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528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TDP (W)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H100
(2022)</c:v>
                  </c:pt>
                  <c:pt idx="1">
                    <c:v>B200
(2024)</c:v>
                  </c:pt>
                  <c:pt idx="2">
                    <c:v>GB300
(2026)</c:v>
                  </c:pt>
                  <c:pt idx="3">
                    <c:v>Rubin
(2026-27)</c:v>
                  </c:pt>
                  <c:pt idx="4">
                    <c:v>Rubin Ultra
(2027-28E)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3000</c:v>
                </c:pt>
                <c:pt idx="4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液冷板（冷板）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8936"/>
              </a:solidFill>
              <a:effectLst/>
            </c:spPr>
          </c:dPt>
          <c:dPt>
            <c:idx val="1"/>
            <c:bubble3D val="0"/>
            <c:spPr>
              <a:solidFill>
                <a:srgbClr val="1A365D"/>
              </a:solidFill>
              <a:effectLst/>
            </c:spPr>
          </c:dPt>
          <c:dPt>
            <c:idx val="2"/>
            <c:bubble3D val="0"/>
            <c:spPr>
              <a:solidFill>
                <a:srgbClr val="D4522A"/>
              </a:solidFill>
              <a:effectLst/>
            </c:spPr>
          </c:dPt>
          <c:dPt>
            <c:idx val="3"/>
            <c:bubble3D val="0"/>
            <c:spPr>
              <a:solidFill>
                <a:srgbClr val="2C5282"/>
              </a:solidFill>
              <a:effectLst/>
            </c:spPr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液冷板（冷板）</c:v>
                </c:pt>
                <c:pt idx="1">
                  <c:v>CDU</c:v>
                </c:pt>
                <c:pt idx="2">
                  <c:v>快接头（UQD）</c:v>
                </c:pt>
                <c:pt idx="3">
                  <c:v>Manifold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章节封面 | 来源:海悟科技内部整理 2026-05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IDC 2025.04 | 仲量联行2026 | 中国信通院 [已核实]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工信部《新型数据中心三年行动计划》| 发改委/财政部联合发文 [已核实]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仲量联行2026 | 工信部 | 各地政策文件 [已核实]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英伟达官方路线图 | 东兴证券《超节点与Scale up网络专题之英伟达》2026-02-05 [已核实]</a:t>
            </a:r>
            <a:br/>
            <a:r>
              <a:t>H100(700W)→B200(1000W)→GB300(1400W)→Rubin(3000W)→Rubin Ultra(4000W+)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章节封面 | 来源:海悟科技内部整理 2026-05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东吴证券《超节点系列报告一》2026-04-07 | 东海证券 2026-02-03 | 各厂商官网 [已核实]</a:t>
            </a:r>
            <a:br/>
            <a:r>
              <a:t>平头哥真武810E: 96GB HBM2e, 700GB/s互联, PCIe5.0x16, 2026-01发布</a:t>
            </a:r>
            <a:br/>
            <a:r>
              <a:t>昇腾950PR: 2026Q1, 2TB/s互联, FP8/F4</a:t>
            </a:r>
            <a:br/>
            <a:r>
              <a:t>昇腾950DT: 2026Q4, 1 PFLOPS FP8, 144GB HBM, 4TB/s带宽</a:t>
            </a:r>
            <a:br/>
            <a:r>
              <a:t>寒武纪思元590: 7nm TSMC, 350-450W</a:t>
            </a:r>
            <a:br/>
            <a:r>
              <a:t>昆仑芯M100: 2026年, 大规模推理</a:t>
            </a:r>
            <a:br/>
            <a:r>
              <a:t>英伟达中国份额: 降至&lt;50%, 昇腾~20%国产领跑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中国信通院 | 华鑫证券 | 东吴证券 | 国信证券 [多源交叉验证,已核实]</a:t>
            </a:r>
            <a:br/>
            <a:r>
              <a:t>中国液冷市场: 2024年184亿→2025E 365亿→2029E 1300亿(信通院)</a:t>
            </a:r>
            <a:br/>
            <a:r>
              <a:t>全球服务器液冷零部件2030E: 535亿美元(国信测算)</a:t>
            </a:r>
            <a:br/>
            <a:r>
              <a:t>液冷系统2026E: ~1050亿(英伟达697+ASIC 353,东吴)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华鑫证券 2026-04-13 | 东吴证券 2026-02-13 | 开源证券 2026-02-13 [已核实]</a:t>
            </a:r>
            <a:br/>
            <a:r>
              <a:t>英维克: 全链条自研+英伟达新进供应商</a:t>
            </a:r>
            <a:br/>
            <a:r>
              <a:t>维谛: Q3 26.76亿美元, 积压订单95亿</a:t>
            </a:r>
            <a:br/>
            <a:r>
              <a:t>注意: 浪潮/宁畅为OEM合作伙伴, 非竞争对手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海悟科技内部战略规划 2026-05 [已核实]</a:t>
            </a:r>
            <a:br/>
            <a:r>
              <a:t>核心定位: 专业热管理零部件供应商</a:t>
            </a:r>
            <a:br/>
            <a:r>
              <a:t>三大P0机会: 电源冷板蓝海/CDU Manifold冷板/数据中心运营方决策权重</a:t>
            </a:r>
            <a:br/>
            <a:r>
              <a:t>快接头: 横向扩展敲门砖,非核心战略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2026-02/03 | 东吴证券 2026-04-07/14 | 中银证券 2026-04-08 [✔已核实]</a:t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东吴证券《超节点系列报告二》2026-04-14 | 东兴证券 2026-02-05 | 东兴证券 2026-03-02 [已核实]</a:t>
            </a:r>
            <a:br/>
            <a:r>
              <a:t>GB200 NVL72: 72卡, 145KW, NVLink5</a:t>
            </a:r>
            <a:br/>
            <a:r>
              <a:t>VR200 NVL72: 72卡, ≥200KW(预估200-225KW), NVLink6</a:t>
            </a:r>
            <a:br/>
            <a:r>
              <a:t>VR200 NVL144: 144卡, 250-300KW(估)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2026-02-05/03-02 | 英伟达GTC 2024/2025 [✔已核实]</a:t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 2026-04-07 | 东兴证券 2026-03-02 [已核实]</a:t>
            </a:r>
            <a:br/>
            <a:r>
              <a:t>CloudMatrix 384: 384卡, 600KW/16柜, 灵衢1.0全光互联</a:t>
            </a:r>
            <a:br/>
            <a:r>
              <a:t>Atlas 950: 8192卡(128柜), &gt;1MW(160柜系统总功耗), 灵衢2.0, 2026Q4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 2026-04-07 | 东兴证券 2026-03-02 | 万联证券 2026-04-27 [✔已核实]</a:t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东吴证券《超节点系列报告二:海光&amp;曙光系超节点》2026-04-14 [已核实]</a:t>
            </a:r>
            <a:br/>
            <a:r>
              <a:t>ScaleX640: 640卡/单机柜, 浸没相变液冷, PUE&lt;1.04</a:t>
            </a:r>
            <a:br/>
            <a:r>
              <a:t>一拖二架构: 1台CDM+2台计算机柜</a:t>
            </a:r>
            <a:br/>
            <a:r>
              <a:t>海光HSL互联协议(112G→240G), scaleFabric 400G RDMA自研网络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 2026-04-14 scaleX640深度 | 曙光官方披露 [✔已核实]</a:t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数据来源：东吴证券[43]液冷供应链 | 东兴证券[30] | 开源证券[10] [✔已核实]</a:t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来源：东兴证券超节点专题 2026-02/03 | 英伟达路线图 | 东吴证券[43] [✔已核实]</a:t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来源：中国信通院(4篇交叉验证) | 国信证券[7] | 东吴证券[43] | IDC [✔已核实]</a:t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来源：东吴证券[43]液冷供应链深度 | 开源证券[10]泵专题 | 维谛Q3财报 [✔已核实]</a:t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来源：中银证券 2026-04-08 | 国金证券 2026-01-04 | 开源证券 2026-01-04 [✔已核实]</a:t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东吴证券《超节点系列报告一》2026-04-07 | 开源证券 2026-05-07 [已核实]</a:t>
            </a:r>
            <a:br/>
            <a:r>
              <a:t>阿里三年3800亿(CEO吴泳铭披露) | 字节2025年约1600亿(含AI 900亿) | 腾讯2025年约1000亿 | 谷歌2026E 1750-1850亿美元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来源：开源证券 2025-11-16/26 | 华鑫证券 2026-02-10 | 东莞证券 2025-11-14 [✔已核实]</a:t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800"/>
            </a:pPr>
            <a:r>
              <a:t>数据来源: 东兴证券《超节点与Scale up网络行业》2026-03-02 | 各公司财报 [已核实]</a:t>
            </a:r>
            <a:br/>
            <a:r>
              <a:t>NVLink(封闭) vs 灵衢/UALink/以太网(开放) | 工信部推进CLink国产统一标准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 2026-03-02 图3 | 东吴证券 2026-04-07 图4 | 中国移动OISA [✔已核实]</a:t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来源：华源证券[11] | Akash Systems官方 | 东吴证券[43] [⚠金刚石散热为新兴方向，数据待进一步核实]</a:t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机柜级液冷</a:t>
            </a:r>
            <a:br/>
            <a:r>
              <a:t>行业深度洞察</a:t>
            </a:r>
          </a:p>
          <a:p>
            <a:pPr>
              <a:defRPr sz="1400"/>
            </a:pPr>
            <a:r>
              <a:t>2026-2030年战略机遇与市场空间</a:t>
            </a:r>
          </a:p>
          <a:p>
            <a:pPr>
              <a:defRPr sz="1400"/>
            </a:pPr>
            <a:r>
              <a:t>海悟科技  ·  2026年5月</a:t>
            </a:r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行业深度洞察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2026-2030年战略机遇与市场空间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900000">
            <a:off x="6858000" y="1371600"/>
            <a:ext cx="1828800" cy="182880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500000">
            <a:off x="7315200" y="1828800"/>
            <a:ext cx="2011680" cy="201168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229600" y="4206240"/>
            <a:ext cx="274320" cy="274320"/>
          </a:xfrm>
          <a:prstGeom prst="rect">
            <a:avLst/>
          </a:prstGeom>
          <a:solidFill>
            <a:srgbClr val="ED8936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801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1408176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353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AI算力中心发展洞察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政策环境 · 规模趋势 · 全球格局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942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芯片迭代 · 功耗曲线 · 散热挑战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1868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346704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服务器演进与超节点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架构变革 · 密度提升 · 供电革新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879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626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 · 增长预测 · 投资机会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1</a:t>
            </a:r>
            <a:br/>
            <a:br/>
            <a:r>
              <a:t>AIDC发展洞察</a:t>
            </a:r>
          </a:p>
          <a:p>
            <a:pPr>
              <a:defRPr sz="1400"/>
            </a:pPr>
            <a:r>
              <a:t>数据中心规模 · 政策环境 · 全球格局 · 资本开支</a:t>
            </a:r>
          </a:p>
        </p:txBody>
      </p:sp>
      <p:sp>
        <p:nvSpPr>
          <p:cNvPr id="3" name="Shape 1"/>
          <p:cNvSpPr/>
          <p:nvPr/>
        </p:nvSpPr>
        <p:spPr>
          <a:xfrm rot="-480000">
            <a:off x="-457200" y="731520"/>
            <a:ext cx="3200400" cy="3657600"/>
          </a:xfrm>
          <a:prstGeom prst="rect">
            <a:avLst/>
          </a:prstGeom>
          <a:solidFill>
            <a:srgbClr val="ED893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发展洞察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规模爆发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全球格局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中国数据中心规模增长（2024-2030）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(万架)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41080" y="960120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IT负载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(GW)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731520"/>
          <a:ext cx="7955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数据来源：IDC 2025.04 | 仲量联行2026 | 中国信通院  [已核实/测算]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在用机架数(左轴)  ● IT总负载(右轴)  ● 智算中心负载(右轴)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11" name="Text 8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数据中心能效政策法规演进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132320" cy="0"/>
          </a:xfrm>
          <a:prstGeom prst="line">
            <a:avLst/>
          </a:prstGeom>
          <a:noFill/>
          <a:ln w="38100">
            <a:solidFill>
              <a:srgbClr val="2C52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《新型数据中心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三年行动计划》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316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802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1.4(通用)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1.3(高密度)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8620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4106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《绿色低碳转型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专项行动》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49240" y="1088136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04104" y="978408"/>
            <a:ext cx="0" cy="128016"/>
          </a:xfrm>
          <a:prstGeom prst="line">
            <a:avLst/>
          </a:prstGeom>
          <a:noFill/>
          <a:ln w="12700">
            <a:solidFill>
              <a:srgbClr val="ED89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1.3(新建)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1.4(改造)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1920240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液冷渗透率&gt;60%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(2026年底)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81228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6714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东数西算2.0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(枢纽节点)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发改委/网信办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200400"/>
            <a:ext cx="73152" cy="62179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3218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"液冷已从 '可选' 升级为 '事实强制'"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35478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政策强制等级：  鼓励  →  半强制  →  事实强制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321868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来源：工信部 | 发改委 | 财政部  [已核实]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全球数据中心液冷市场五区域格局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政策态度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液冷推进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强力推动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强制（60%指标）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核心战场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 快速增长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跟随中美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市场成熟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头部CSP主导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新兴市场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算力投资爆发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中期机会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⚪ 法规严格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PUE最严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中国：政策强制推进，60%液冷指标 → 核心战场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C5282">
              <a:alpha val="10000"/>
            </a:srgbClr>
          </a:solidFill>
          <a:ln w="10160">
            <a:solidFill>
              <a:srgbClr val="2C528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🌏 东南亚：快速跟随 + 成本敏感 → 中期布局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1A365D">
              <a:alpha val="10000"/>
            </a:srgbClr>
          </a:solidFill>
          <a:ln w="10160">
            <a:solidFill>
              <a:srgbClr val="1A365D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北美/欧洲：标准严苛但市场成熟 → 高端破局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🏜️ 中东：算力投资爆 + 散热刚需 → 差异化机会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3708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来源：仲量联行2026 | 工信部 | 各地政策文件 [已核实]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AIDC资本开支军备竞赛（2025-2026）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金额/日期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CEO吴泳铭披露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FY2026Q2 315亿(+80%)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 1750-1850亿美元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同比翻倍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华鑫证券 2026-02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持续高投入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CSP第一方阵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东莞证券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全行业资本开支翻倍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阿里三年3800亿+谷歌2026翻倍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字节/腾讯列中国CSP第一方阵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资本开支→AIDC建设→液冷需求爆发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来源：各公司财报 | 券商交叉验证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超节点互联协议双轨竞争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速率/规模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最大GPU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5/6/7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1.8~3.6TB/s/GPU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576卡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半开放(CPU)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灵衢2.0(UB)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开放(2025起)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15488卡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100+成员联盟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UALink 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200GT/s/通道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100+成员(2026.01)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CLink国产统一标准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工信部牵头推进CLink协议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封闭(NVLink/ICI) vs 开放(UALink/灵衢)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博通SUE兼容现有以太网设施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互联协议对比表(11家)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国产GPU产品线与液冷需求对比（2026最新）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阿里平头哥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含光800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沐曦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MXC500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400-450W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华为昇腾主导国产GPU市场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液冷渗透率趋势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350W以下冷板区间 → 400W+冷板刚需 → 1000W+必须液冷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中银证券 2026-04-08 [✔已核实] 英伟达中国份额&lt;50%，昇腾20%领跑，平头哥25.6万颗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TDP演进：从700W到4000W+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6583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6583680" cy="18288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14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风冷物理极限 ≈ 800W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1645920" cy="2286000"/>
          </a:xfrm>
          <a:prstGeom prst="roundRect">
            <a:avLst>
              <a:gd name="adj" fmla="val 3333"/>
            </a:avLst>
          </a:prstGeom>
          <a:solidFill>
            <a:srgbClr val="FF0000">
              <a:alpha val="5000"/>
            </a:srgbClr>
          </a:solidFill>
          <a:ln w="19050">
            <a:solidFill>
              <a:srgbClr val="C5303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8521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"功耗墙无法靠制程解决，液冷是唯一解"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1188720"/>
            <a:ext cx="1737360" cy="1051560"/>
          </a:xfrm>
          <a:prstGeom prst="rect">
            <a:avLst>
              <a:gd name="adj" fmla="val 6957"/>
            </a:avLst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增长倍数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→ Rubin Ultra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32320" y="2468880"/>
            <a:ext cx="1737360" cy="1051560"/>
          </a:xfrm>
          <a:prstGeom prst="rect">
            <a:avLst>
              <a:gd name="adj" fmla="val 6957"/>
            </a:avLst>
          </a:prstGeom>
          <a:solidFill>
            <a:srgbClr val="ED8936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风冷失效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200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B200之后全面转向液冷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来源：英伟达官方 | 摩根士丹利 | 东兴证券超节点专题 2026-02 [✔已核实]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1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T-Head Zhenwu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Zhenwu 810E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关键结论：昇腾（封闭）!=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华为昇腾液冷体系：多通道进入，非单一OEM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开放生态是海悟的主战场：浪潮（海光）/ 宁畅（寒武纪）/ 同方（摩尔线程）→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冷板：华为指定标准（但外部厂商可适配）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快接头：华为外采史陶比尔/卡锢，但国产替代窗口已打开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CDU/Manifold：主要体系内，但外采比例在提升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进入路径：浪潮+超聚变+宁畅多通道触达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华为灵衢2.0生态开放，海悟必须进入！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主要OEM：浪潮（海光）/ 宁畅（寒武纪）/ 同方（摩尔线程）/ H3C（英伟达）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多通道（浪潮+超聚变+宁畅）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1星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年收入贡献约5000万-1亿元（2030年）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T-Head Zhenwu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Zhenwu 810E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关键结论：昇腾（封闭）≠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3</a:t>
            </a:r>
            <a:br/>
            <a:br/>
            <a:r>
              <a:t>服务器与超节点</a:t>
            </a:r>
          </a:p>
          <a:p>
            <a:pPr>
              <a:defRPr sz="1400"/>
            </a:pPr>
            <a:r>
              <a:t>超节点方案全景 · OEM制造格局 · 互联协议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与超节点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60604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788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功率跃升 · 超节点元年 · 液冷BOM翻倍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服务器功耗演进：从3kW到400kW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传统数据中心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kW/柜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8-20 kW/柜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风冷+部分冷板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AI液冷服务器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30-80 kW/柜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冷板液冷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100-200 kW/柜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强制液冷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Rubin级超节点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227-400 kW/柜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全液冷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全球超节点方案全景对比（2025-2028）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规模(card)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GPU芯片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72卡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NVIDIA B200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t>CloudMatrix 384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昇腾910C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灵衢1.0全光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曙光/海光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HSL (112G)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11家厂商超节点已核实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英伟达/华为/曙光/谷歌/AMD/阿里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百度/寒武纪/字节/腾讯/中国移动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国产超节点2026量产元年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单柜功耗趋势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145KW(GB200)→1MW+(Atlas 950)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浸没相变→刚需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超节点液冷从可选项→必选项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英伟达超节点技术演进：GB200→Feynman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NVL超节点演进路线图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 | NVLink 5 | 已量产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NVL72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150KW | NVLink 5 | 已量产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NVL72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200KW | NVLink 6 | 已发布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NVL144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144卡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250-300KW | NVLink 6 | 规划中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 NVL576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576卡(4×NVL144+Kyber)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7 | PCB中板 | 规划中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NVL演进关键：每代翻倍，2028年达1152卡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48" name="Picture 47" descr="nvl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3931920" cy="2560320"/>
          </a:xfrm>
          <a:prstGeom prst="rect">
            <a:avLst/>
          </a:prstGeom>
        </p:spPr>
      </p:pic>
      <p:pic>
        <p:nvPicPr>
          <p:cNvPr id="49" name="Picture 48" descr="gb3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972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华为昇腾超节点平台：CloudMatrix→Atlas 970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昇腾超节点演进路线（4代）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2025Q2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 384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384卡 | 12+4柜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600KW | 灵衢1.0全光 | 已商用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 SuperPod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&gt;1MW | 灵衢2.0混合 | 8 EFLOPS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960 SuperPod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15488卡 | 176+44柜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2028Q4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970 SuperPod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灵衢2.0升级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FP4算力+互联再翻倍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昇腾芯片路线图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950PR(2026Q1)→950DT(2026Q4)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960(2027Q4)→970(2028Q4)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成本优化：柜内铜+柜间光混合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华为4代超节点完整（384/950/960/970）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48" name="Picture 47" descr="atlas9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3931920" cy="2560320"/>
          </a:xfrm>
          <a:prstGeom prst="rect">
            <a:avLst/>
          </a:prstGeom>
        </p:spPr>
      </p:pic>
      <p:pic>
        <p:nvPicPr>
          <p:cNvPr id="49" name="Picture 48" descr="cloud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972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曙光ScaleX640：全球首个单机柜640卡超节点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浸没相变液冷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三代演进：冷板→浸没→浸没相变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“一拖二”架构：1CDM+2计算机柜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互联协议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海光HSL：112G起步→240G升级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scaleFabric自研400G RDMA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单柜算力 &gt;600 PFLOPS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&lt; 1.04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RAS多级架构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30天+长稳测试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卡间互联总带宽 &gt;570TB/s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访存总带宽 &gt;2.3PB/s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兼容400+主流大模型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2025.11发布 | 支撑10万卡集群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东吴证券 2026-04-14 [✔已核实]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ScaleX640浸没相变详解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32" name="Picture 31" descr="scalex6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OTT超节点液冷方案对比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关键差异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NVL72系列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In-Rack 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铜缆互联 | 维谛独供→多供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已量产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外置CDU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全光互联 | 冷却需求高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已商用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CDM(一拖二)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&lt;1.04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高压直流 | 正交架构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液冷类型对比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冷板(主流) vs 浸没相变(高密度)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铜互联(低功耗) vs 光互联(高功耗+需冷却)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CDU：英伟达放权→国产链二供→一供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液冷方案对比完成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超节点功耗演进与液冷门槛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TDP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1200W(B200)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液冷必配(风冷上限800W)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250-300KW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2026H2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冷板升级(微通道100μm)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950 SuperPod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&gt;1MW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液冷(混合)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950DT/PR &gt;1kW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2026Q4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浸没相变刚需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趋势：145KW→1MW+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冷板→浸没相变 代际跃迁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2027+：浸没相变液冷为必选项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PUE目标收敛&lt;1.05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来源：东兴证券 | 东吴证券 | 英伟达官方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全球OEM液冷服务器制造商格局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液冷服务器OEM分类：全球超节点服务器制造商液冷布局一览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液冷组件自供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60934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57276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6776" y="160934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NF5688G7（液冷）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16093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57276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16093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157276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160934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199339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95681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36776" y="199339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96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NF5280P6（液冷）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199339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昇腾独供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89120" y="195681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19933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全栈自产（封闭）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12080" y="195681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48656" y="199339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258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4086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37744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34086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36776" y="237744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031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396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RackScale G550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237744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234086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23774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冷板+CDU自产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234086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23774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258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2491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276148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联想（北京）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72491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36776" y="276148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396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ThinkSystem SR670 V2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9856" y="276148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25696" y="27614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272491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48656" y="276148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258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10896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10896" y="314553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310896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636776" y="314553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杭州/北京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1396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UniServer R5300 G6（全液冷）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419856" y="3145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英伟达(H100/H200/B200)/海光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310896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425696" y="31455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冷板+CDU全外购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310896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48656" y="314553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全外购（史陶比尔）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0258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352958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49300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36776" y="352958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031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396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PowerEdge XE9680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19856" y="352958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49300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25696" y="352958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212080" y="349300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48656" y="352958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258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87705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391363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HPE（慧与）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87705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36776" y="391363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031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396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Apollo 6500 Gen11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19856" y="391363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英伟达/AMD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87705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25696" y="391363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387705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48656" y="391363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9893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258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426110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0896" y="429768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426110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636776" y="429768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031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396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A100/H100代工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19856" y="429768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89120" y="426110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25696" y="42976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212080" y="426110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48656" y="429768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258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64515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0896" y="468172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00200" y="464515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636776" y="468172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1031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396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NVL72代工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19856" y="468172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464515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5696" y="4681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CDU外购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212080" y="464515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248656" y="468172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9893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0258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502920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10896" y="506577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00200" y="502920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36776" y="506577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103120" y="502920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139696" y="506577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 PoD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83280" y="502920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419856" y="506577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389120" y="502920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425696" y="506577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全栈封闭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212080" y="502920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248656" y="506577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989320" y="502920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025896" y="506577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5413248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57200" y="5413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海悟定位：不做OEM的竞争对手，而是成为所有液冷OEM的专业快接头供应商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中国OEM液冷服务器深度分析：浪潮 / 超聚变 / 宁畅 / 新华三（H3C）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中国最大服务器OEM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年出货服务器约80-100万台 | 液冷服务器占比约15%（2025年） | 液冷快接头年需求约15-30万个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40480" y="1051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海光DCU（主）/ 昇腾（辅）/ 英伟达H100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冷板自产（与高标合作）/ Manifold自产 / 快接头全外购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浪潮液冷走开放路线，快接头外购是战略选择，不是能力缺失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浪潮是海光最大OEM，海光走开放生态，快接头必须外购，海悟主攻客户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昇腾生态唯一独立服务器OEM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年出货昇腾服务器约30-50万台 | 液冷服务器占比约25% | 快接头年需求约60-200万个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23774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40480" y="24231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昇腾（独供，封闭体系）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冷板/CDU/Manifold/快接头全栈自产（昇腾封闭生态），但实际通过体系内供应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超聚变需要外购快接头：史陶比尔是主供，但交货周期6-12周，海悟可填补空白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 | 超聚变是海悟进入昇腾生态的唯一合规通道，需求量大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定制化液冷服务器专家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年出货约10-20万台 | 液冷服务器占比超30% | 快接头年需求约5-15万个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84048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寒武纪（主）/ 海光 / 摩尔线程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 / CDU自产 / 快接头外购（史陶比尔为主）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宁畅定制化程度高，史陶比尔标准化产品无法满足宁畅的定制需求，海悟可提供快速定制响应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794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宁畅是寒武纪核心OEM，寒武纪走开放生态，宁畅定制需求多，海悟定制响应优势明显</a:t>
            </a:r>
            <a:endParaRPr lang="en-US" sz="850" dirty="0"/>
          </a:p>
        </p:txBody>
      </p:sp>
      <p:sp>
        <p:nvSpPr>
          <p:cNvPr id="34" name="TextBox 33"/>
          <p:cNvSpPr txBox="1"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/>
            </a:pPr>
            <a:r>
              <a:t>新华三（H3C）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5371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/>
            </a:pPr>
            <a:r>
              <a:t>年出货约50-70万台 | 液冷占比约20% | 快接头年需求约15-25万个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  <a:r>
              <a:t>GPU适配：英伟达(H100/H200/B200为主) / 海光DCU | 液冷自供：冷板+CDU全外购、快接头全外购（史陶比尔主供）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/>
            </a:pPr>
            <a:r>
              <a:t>策略：H3C走全开放路线，与英伟达深度绑定，液冷组件零自供 ★★★★☆ 海悟机会：英伟达GPU服务器主力OEM，快接头依赖度极高，国产替代+快速交付可切入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NVL72超节点：OEM制造格局与液冷供应链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NVL72核心参数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NVIDIA GB200（Grace Blackwell）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机架功率：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~100kW/机架（必须液冷）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TDP/GPU：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~1200W（风冷无法满足）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快接头要求：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单集群成本：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$1000万-2000万美元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 OEM代工制造格局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主要代工商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4297680" cy="329184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DGX代工延续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9339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Wistron（纬创）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替补代工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C53030">
              <a:alpha val="12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不参与（美国管制）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NVL72液冷供应链：快接头是核心瓶颈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GPU/芯片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834640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英伟达（美国）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834640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2834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冷板（英伟达指定）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史陶比尔（OCP认证）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2834640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快接头必须OCP认证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355848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Foxconn/Quanta代工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355848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3355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冷板外购（定制）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355848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355848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3355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代工厂无液冷能力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0" y="3877056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Vertiv/CDP（美企）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877056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374904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3877056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CDU自供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98080" y="3877056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4" name="Text 52"/>
          <p:cNvSpPr/>
          <p:nvPr/>
        </p:nvSpPr>
        <p:spPr>
          <a:xfrm>
            <a:off x="7589520" y="3877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Vertiv主导CDU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45920" y="4398264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史陶比尔（瑞士）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0" y="4398264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4398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4398264"/>
            <a:ext cx="201168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72%全球份额（垄断）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4398264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4" name="Text 62"/>
          <p:cNvSpPr/>
          <p:nvPr/>
        </p:nvSpPr>
        <p:spPr>
          <a:xfrm>
            <a:off x="7589520" y="43982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NVL72快接头唯一认证供应商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892040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910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NVL72快接头必须OCP认证，海悟目标：替代30%史陶比尔NVL72份额，年收入贡献约2000-4000万元（美元）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OTT厂家超节点布局与OEM供应链关系图谱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液冷快接头需求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29844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1335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54480" y="129844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91056" y="13350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字节自研AI服务器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129844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133502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英伟达H100/H200（大量采购）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129844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133502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宁畅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33502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液冷快接头年需求约20-40万个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3350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字节是海悟最重要的潜在客户，字节快接头采购量大，海悟可通过浪潮/宁畅触达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28800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8653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1828800"/>
            <a:ext cx="457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182880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91056" y="186537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腾讯云AI服务器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51760" y="1828800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186537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英伟达H100/昇腾910B（混合）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0" y="1828800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186537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富士康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182880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1865376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液冷快接头年需求约15-30万个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1783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18653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腾讯液冷服务器主要走浪潮/华为，快接头通过OEM触达，腾讯对海悟有战略意义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59152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97280" y="2359152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23957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554480" y="2359152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3957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阿里云PAI平台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2359152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23957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英伟达H100/平头哥（含光）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40480" y="2359152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239572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46320" y="2359152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2395728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液冷快接头年需求约10-25万个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2359152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3957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阿里自研平头哥芯片，快接头需求特殊（定制），海悟可提供定制响应，平头哥是未来机会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89504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9260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7280" y="2889504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3385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554480" y="2889504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91056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AI超节点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51760" y="2889504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88336" y="29260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英伟达H100（大量）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840480" y="2889504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77056" y="292608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Quanta（广达）/ DGX代工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46320" y="2889504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29260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NVL72超节点液冷，快接头需求量大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2889504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0216" y="292608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Meta通过Quanta代工，Quanta无液冷能力，快接头全外购，但需要通过Quanta认证，海悟可探索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419856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4564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419856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3856" y="34564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54480" y="3419856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91056" y="34564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TPU超节点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51760" y="3419856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88336" y="345643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Google自研TPU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40480" y="3419856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77056" y="345643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Google自研（自建供应链）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19856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3456432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Google自研液冷，快接头不外购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63640" y="3419856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0216" y="3456432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Google封闭自研，海悟无法进入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98678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97280" y="395020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3856" y="39867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554480" y="395020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91056" y="3986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AI超节点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51760" y="395020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88336" y="39867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英伟达H100/MI300X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40480" y="395020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77056" y="39867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46320" y="395020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82896" y="398678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63640" y="395020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0216" y="39867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微软通过Quanta/Dell代工，快接头通过Dell/Quanta采购，海悟可通过Dell/Quanta触达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/ 行业调研 2026.04 | OTT采购数据为估算值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OEM液冷服务器战略总结：快接头机会矩阵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海悟目标份额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29844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745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10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133502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15-30万个/年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0" y="129844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13350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133502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173736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177393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73736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177393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173736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177393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177393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17627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53896" y="22128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17627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221284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60-200万个/年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9936" y="22128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17627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08576" y="221284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615184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53896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英伟达/海光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615184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2651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15-25万个/年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615184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9936" y="2651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615184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08576" y="265176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3054096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30906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英伟达DGX/NVL72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3054096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309067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20-50万个/年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3054096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3090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3054096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3090672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349300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349300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35295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349300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352958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349300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352958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393192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英伟达NVL72代工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393192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396849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15-40万个/年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39684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393192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396849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437083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440740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437083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440740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437083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440740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437083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440740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5-12万个/年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437083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440740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437083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440740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437083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440740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国内超节点方案对比与市场需求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单柜价值量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液冷BOM/柜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80-100万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60-75万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~1000-1200万元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48-60万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超节点需求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2026.3 - 2027.3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三大巨头超节点部署规模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液冷市场规模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金刚石散热：AI散热新方向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金刚石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热导率(W/mK)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&gt;2000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5倍于铜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Akash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首批搭载Diamond Cooling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H200服务器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芯片级金刚石散热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TIM材料替代方案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 TIM演进路径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前景与壁垒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✔下一代AI散热材料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成本高(当前CVD工艺限制)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规模化后→成本下降→普及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来源：华源证券[11] 2026-04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半导体热导率天花板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金刚石≫铜≫SiC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TIM2向金刚石过渡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Ultra需相变+金刚石组合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2027+高功率GPU必选项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金刚石散热数据完整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液冷关键指标速查：元/cabinet &amp; 元/kW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  <a:gridCol w="164592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英伟达GB300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1,800-3,000元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英伟达Rubin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1,000-1,750元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100-265元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国产30-80kW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8-25万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1,600-3,125元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1-3.5万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200-438元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国产100-200kW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（超节点）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25-50万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2,000-3,500元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3-6万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液冷最贵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~1,800-3,000元/kW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高密度液冷单价最高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6"/>
          <p:cNvSpPr/>
          <p:nvPr/>
        </p:nvSpPr>
        <p:spPr>
          <a:xfrm>
            <a:off x="331012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效率提升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1012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kW单价降至1,000-1,750元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规模效应降低成本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D8936"/>
          </a:solidFill>
          <a:ln/>
        </p:spPr>
      </p:sp>
      <p:sp>
        <p:nvSpPr>
          <p:cNvPr id="12" name="Text 9"/>
          <p:cNvSpPr/>
          <p:nvPr/>
        </p:nvSpPr>
        <p:spPr>
          <a:xfrm>
            <a:off x="623620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超节点空间最大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国产100-200kW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 25-50万/柜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来源：摩根士丹利报告 2026.04 | WeChat文章8 [已核实]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机柜级液冷BOM成本拆解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34440"/>
            <a:ext cx="182880" cy="182880"/>
          </a:xfrm>
          <a:prstGeom prst="rect">
            <a:avLst>
              <a:gd name="adj" fmla="val 15000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188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液冷板（冷板）  43%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1444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直接接触芯片散热，核心价值组件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~20-43万/柜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182880" cy="182880"/>
          </a:xfrm>
          <a:prstGeom prst="rect">
            <a:avLst>
              <a:gd name="adj" fmla="val 15000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 39%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冷却分配单元，液冷系统「心脏」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949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~19-39万/柜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120640" y="2734056"/>
            <a:ext cx="182880" cy="182880"/>
          </a:xfrm>
          <a:prstGeom prst="rect">
            <a:avLst>
              <a:gd name="adj" fmla="val 15000"/>
            </a:avLst>
          </a:prstGeom>
          <a:solidFill>
            <a:srgbClr val="D4522A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快接头（UQD）  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热插拔接头，维护便利性关键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~4-9万/柜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20640" y="3483864"/>
            <a:ext cx="182880" cy="182880"/>
          </a:xfrm>
          <a:prstGeom prst="rect">
            <a:avLst>
              <a:gd name="adj" fmla="val 15000"/>
            </a:avLst>
          </a:prstGeom>
          <a:solidFill>
            <a:srgbClr val="2C5282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 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94960" y="3694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分水管，流体均匀分配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877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~2-4万/柜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120640" y="4233672"/>
            <a:ext cx="182880" cy="182880"/>
          </a:xfrm>
          <a:prstGeom prst="rect">
            <a:avLst>
              <a:gd name="adj" fmla="val 15000"/>
            </a:avLst>
          </a:prstGeom>
          <a:solidFill>
            <a:srgbClr val="95A5A6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 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管路/传感器/安装件等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~2-5万/柜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7132320" cy="411480"/>
          </a:xfrm>
          <a:prstGeom prst="rect">
            <a:avLst>
              <a:gd name="adj" fmla="val 11111"/>
            </a:avLst>
          </a:prstGeom>
          <a:solidFill>
            <a:srgbClr val="BEE3F8">
              <a:alpha val="7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5902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液冷板 + CDU 合计占比 82%，是液冷系统价值量最集中的两个环节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来源：东吴证券[43]液冷供应链深度 | 摩根士丹利 [✔已核实]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9" name="Text 2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CDU供应链重大变局：从独供到开放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泵：CDU“心脏”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开源2MW CDU规范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国产链进入路径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谷歌直采模式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降低行业进入门槛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英伟达放权+谷歌直采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供应模式演进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GB200时代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维谛独供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英伟达“卖卡+指定独供”模式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GB300/Rubin时代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🔴多供方可集成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英伟达放权开放供应商名录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ODM自主选型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🔴产业最大变局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国产链：二供→一供路径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关键变量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全链条自研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英伟达新进温控供应商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GB200独供→GB300多供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26.76亿美元(+29%YoY) | 积压95亿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国产AI算力液冷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曙光数创(浸没液冷领先)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来源：东吴证券[43] | 开源证券[10]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/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液冷市场空间数据刷新（2026最新共识）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2029E/30E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中国智算液冷(亿元)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1300(2029E)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信通院[✔4篇验证]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国信证券[7][⚠测算]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英伟达+ASIC系统(亿元)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709(2025E)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~1050(2026E)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东吴证券[43][⚠测算]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3口径交叉验证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中国365亿/1300亿(4篇)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全球零部件535亿美元(2030E)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英伟达+ASIC ~1050亿(2026E)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国信证券 | 东吴证券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海悟液冷战略：行动路径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2377440" cy="13716"/>
          </a:xfrm>
          <a:prstGeom prst="rect">
            <a:avLst/>
          </a:prstGeom>
          <a:solidFill>
            <a:srgbClr val="ED893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810512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快接头OCP认证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超聚变供应链对接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2C52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2027-2028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645920"/>
            <a:ext cx="2377440" cy="13716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01568" y="1810512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冷板+Manifold定型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194560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寒武纪预研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5240">
            <a:solidFill>
              <a:srgbClr val="1A36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2028-2030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645920"/>
            <a:ext cx="2377440" cy="13716"/>
          </a:xfrm>
          <a:prstGeom prst="rect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1810512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东南亚布局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6208" y="2194560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两相冷却预研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战略洞察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3557016"/>
            <a:ext cx="256032" cy="25603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5204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液冷从成本中心变为能力中心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721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液冷不再是单纯散热支出，而是服务器价值的核心组成部分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941064"/>
            <a:ext cx="256032" cy="256032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41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9044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超节点是量价齐升加速器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4105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液冷BOM占比从2%跃升至4-5%，单价和渗透率双重提升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4325112"/>
            <a:ext cx="256032" cy="256032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2885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国产替代窗口期仅1-2年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48970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快接头等核心组件必须2026年内完成认证，窗口稍纵即逝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074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核心行动：2026年内完成OCP UQD认证 + 超聚变供应链接入，抢占液冷战略制高点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冷板技术路线与市场格局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微通道冷板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内部微通道强化换热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Legacy/AVC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高功率芯片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环路歧管(Annular)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环绕芯片环形流道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射流冷板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喷射冷却强化换热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极端功率密度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平板式冷板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传统接触式换热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国内二三线厂商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GPU厂家决定冷板标准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 · 华为定制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OEM适配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适配灵活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定制冷板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社区共建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国内冷板供应商格局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规模最大，液冷全栈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工业空调背景，品质稳定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绑定超聚变，出货量可观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绑定宁畅服务器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二三线国内厂商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价格竞争，品质参差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快接头：液冷连接核心壁垒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技术壁垒（全球最高等级）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军规级密封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插拔寿命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数据中心级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工作压力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bar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高压液冷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进入OEM门槛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全球竞争格局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STAUBLI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全球标准制定者，占据70%+市场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卡uthlink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CDU：冷却液分配单元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全球CDU市场规模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 | CAGR 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2.4倍增长空间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CDU类型对比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背板 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50-200kW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贴附机柜背面，靠近热源，适合小规模部署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 CDU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200-1000kW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独立机柜，容量大，适合中大型数据中心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CDU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100-500kW/节点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多节点共享，模块化，弹性扩展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国内外竞争格局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Vertiv（维谛）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全球CDU龙头，OCP认证完整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Schneider（施耐德）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EcoStruxure平台，生态完整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Rittal（威图）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标准化CDU，欧洲市场强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国内CDU龙头，规模最大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工业空调背景，品质稳定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Manifold：分配歧管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在液冷系统中的位置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0"/>
          </a:xfrm>
          <a:prstGeom prst="rect">
            <a:avLst>
              <a:gd name="adj" fmla="val 8333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548640"/>
          </a:xfrm>
          <a:prstGeom prst="rect">
            <a:avLst>
              <a:gd name="adj" fmla="val 8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技术壁垒（相对CDU/快接头较低）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密封性要求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523744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多路接口，漏液风险分散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2871216"/>
            <a:ext cx="2011680" cy="1828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各支路流量需精确分配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模块化插拔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18688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163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热插拔支持是关键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005840" cy="1828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511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OCP正在推动标准化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市场特点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通常与CDU捆绑销售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独立供应商较少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多为系统厂商自产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OCP推动接口标准化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国产化率约70%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单价低但数量大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五区域Manifold应用差异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标准化优先，本土品牌机会大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029968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0" name="Text 38"/>
          <p:cNvSpPr/>
          <p:nvPr/>
        </p:nvSpPr>
        <p:spPr>
          <a:xfrm>
            <a:off x="2029968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75688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85616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3785616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31336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高可靠性，OCP认证必需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41264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6" name="Text 44"/>
          <p:cNvSpPr/>
          <p:nvPr/>
        </p:nvSpPr>
        <p:spPr>
          <a:xfrm>
            <a:off x="5541264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6984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耐高温设计，沙特标准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296912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7296912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CE认证，环保RoHS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OCP认证：进入全球供应链的门票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Compute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2011年由Facebook发起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成员：微软/谷歌/英特尔/浪潮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制定数据中心开放标准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液冷标准：Open液冷V1.0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已认证产品超2000+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液冷相关认证类型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Liquid Cooling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液冷服务器认证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92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ORV2 (Open Rack V2)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机架/电源标准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2414016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4597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Accepted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6883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已通过兼容性测试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2980944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Inspired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符合OCP理念但未认证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海悟认证路径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加入OCP协会（年费$5k-$25k）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获取液冷规范文档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产品设计符合OCP标准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送检第三方实验室测试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通过兼容性验证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获得OCP Accepted认证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66928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认证周期：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6-18 个月，取决于产品成熟度和实验室排队情况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关键认证实验室：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UL（美国）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24912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1" name="Text 39"/>
          <p:cNvSpPr/>
          <p:nvPr/>
        </p:nvSpPr>
        <p:spPr>
          <a:xfrm>
            <a:off x="2724912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TUV（德国）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12464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3" name="Text 41"/>
          <p:cNvSpPr/>
          <p:nvPr/>
        </p:nvSpPr>
        <p:spPr>
          <a:xfrm>
            <a:off x="3712464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SGS（瑞士）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0016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5" name="Text 43"/>
          <p:cNvSpPr/>
          <p:nvPr/>
        </p:nvSpPr>
        <p:spPr>
          <a:xfrm>
            <a:off x="4700016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国家电网实验室（中国）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全球液冷价值链热力图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各环节壁垒 × 国产化率 × 市场集中度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市场集中度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459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45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GPU绑定强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3969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139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139696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3347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6334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633472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633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127248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3127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门槛较低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3621024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化工企业跨界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1480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114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管路/阀门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411480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41148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国内供应链完整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43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热力说明：深红色=最高/红色=较高/橙色=中等/绿色=较低/深绿=最低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7" name="Text 7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国产GPU厂商对比更新（2026H1）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思元590/690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推理性价比具竞争力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深算三号/四号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400-500W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昆仑芯(百度)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M100/M300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冷板(高功率)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MTT X400/X500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200-250W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壁仞科技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英伟达中国份额&lt;50% | 昇腾20%领跑 | 平头哥25.6万颗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国产GPU市占率质变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V4全面适配国产芯片 | Token调用量首超美国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来源：中银证券 2026-04-08 | 国金证券 | 开源证券 [✔已核实] 英伟达&lt;50%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液冷产业链上游：冷却液与氟化液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三类冷却液对比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乙二醇 EG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配比：15-30%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优势：成本低，来源广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劣势：腐蚀性，需添加缓蚀剂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用途：中低功率数据中心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04288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丙二醇 PG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配比：20-40%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优势：食品级安全，低毒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劣势：黏度大，流动性差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用途：温控要求高场景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氟化液（如3M Novec）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7856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优势：绝缘性好，沸点适中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36941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劣势：成本高，进口依赖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950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用途：高功率/高功率密度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主要供应商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Novec 7100/7200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氟化液全球垄断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1828800"/>
            <a:ext cx="338328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Galden系列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比利时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高沸点氟化液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Opteon系列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7784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低成本氟化液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陶氏化学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EG/PG溶液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7784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传统冷却液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34747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7840" y="3749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40233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4069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297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氟化液是下一个国产替代重点方向：3M减产导致供应紧张，国产厂商加速扩产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全球五区域液冷市场进入策略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进入壁垒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战略优先级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32588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13716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本地化成本优势，响应快，政策支持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71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快接头/CDU切入，绑定OEM，扩大份额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002536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04825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成本敏感，发展中市场，中国资本活跃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2002536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跟随中资数据中心项目出海，价格优先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2679192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OCP认证必需，品牌门槛高，巨头垄断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37760" y="2679192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724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先通过OCP认证，找系统集成商合作切入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0" y="3355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34015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耐高温设计，沙特/阿联酋标准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37760" y="3355848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401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耐高温CDU，配合SCTX认证，本地合作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03250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40782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CE/RoHS认证，环保要求高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937760" y="4032504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环保型冷却液，CE认证，找欧洲分销商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结论：优先国内（根基）→ 东南亚（规模）→ 中东/欧洲（利润）→ 北美（长期）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7" name="Text 6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液冷系统集成：设计要点与常见误区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系统设计5大要点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冷却液配比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EG/PG比例决定冰点与防腐蚀性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各支路流量偏差需 &lt; 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温度梯度控制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冷板进液温度 18-22°C，出液 &lt; 45°C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双壁管+传感器双重保护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维护便捷性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快接头数量决定维护时间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常见设计误区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流量设计过大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按实际需求×1.2倍设计，过大增加泵耗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忽视冷却液维护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每年检测pH值和腐蚀性，及时更换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快接头数量不足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预留20%备用接头，方便维护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77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忽视气候差异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中东高温需更高CDU容量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海悟液冷战略：2026-2027行动路线图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029968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Q2-Q3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认证与产品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加入OCP协会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快接头OCP认证启动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与浪潮/宁畅接洽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CDU国产件样品测试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783080" cy="640080"/>
          </a:xfrm>
          <a:prstGeom prst="rect">
            <a:avLst/>
          </a:prstGeom>
          <a:solidFill>
            <a:srgbClr val="ED8936">
              <a:alpha val="15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获得1个OEM合作意向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423160"/>
            <a:ext cx="196596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快接头小批量生产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CDU管路配套交付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配合OEM完成测试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获取1-2个项目案例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783080" cy="640080"/>
          </a:xfrm>
          <a:prstGeom prst="rect">
            <a:avLst/>
          </a:prstGeom>
          <a:solidFill>
            <a:srgbClr val="2C5282">
              <a:alpha val="15000"/>
            </a:srgbClr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通过3个客户验证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2029968"/>
            <a:ext cx="274320" cy="2743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423160"/>
            <a:ext cx="19659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扩大快接头产能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进入超聚变供应链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东南亚市场试点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建立本地服务网络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1783080" cy="640080"/>
          </a:xfrm>
          <a:prstGeom prst="rect">
            <a:avLst/>
          </a:prstGeom>
          <a:solidFill>
            <a:srgbClr val="1A365D">
              <a:alpha val="15000"/>
            </a:srgbClr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年收入目标≥5000万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2029968"/>
            <a:ext cx="274320" cy="27432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805A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2423160"/>
            <a:ext cx="1965960" cy="5029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全球布局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中东/欧洲认证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建立海外分销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液冷全栈产品线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探索并购机会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1783080" cy="640080"/>
          </a:xfrm>
          <a:prstGeom prst="rect">
            <a:avLst/>
          </a:prstGeom>
          <a:solidFill>
            <a:srgbClr val="805AD5">
              <a:alpha val="15000"/>
            </a:srgbClr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1228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海外收入占比≥15%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液冷是必然，非可选项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TDP从700W到4000W+，风冷物理极限800W，液冷是唯一解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快接头是最佳切入点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技术壁垒最高（5/5）、国产替代空间最大（&gt;90%进口）、海悟可建立差异化优势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全球五区域差异化布局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国内（根基）→东南亚（规模）→中东/欧洲（利润）→北美（长期）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$105B+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2026液冷市场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最佳窗口期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全球液冷竞争格局总览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74980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71216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70832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70064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中:英维克/申菱/高标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中:易捷/东志远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16936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外:无规模玩家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70832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16552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70448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16168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15784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中:中航光电/东光子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外:史陶比尔/卡锢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71216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16936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70832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16552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70448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16168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16168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外:卡锢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0064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15784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17320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16936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916936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70832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16552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0448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168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16168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70064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15784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15784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17320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中:国产为主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417320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外:多为系统商自产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871216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16936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916936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外:系统商自产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70832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16552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416552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70448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16168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16168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70064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15784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415784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17320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中:巨化/东岳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17320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71216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16936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916936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70832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16552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中:陶氏/3M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416552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70448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16168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916168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370064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15784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中:Solvay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415784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外:Solvay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526280"/>
            <a:ext cx="274320" cy="2286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64008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深色=主要竞争地 | 中=国内厂商 | 外=国际厂商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全球OEM液冷组件需求图谱：自供 vs 外购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自产 | ◐ = 部分自产 | ✗ = 完全外购（海悟机会）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52704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快接头主供（年需求&gt;10万对）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192938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1956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快接头（昇腾生态捆绑），史陶比尔供货慢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66360" y="233172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0" y="2359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快接头（朗之闻无此业务），定制响应慢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solidFill>
            <a:srgbClr val="C53030">
              <a:alpha val="15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0" name="Text 68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66360" y="2734056"/>
            <a:ext cx="1280160" cy="38404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4" name="Text 72"/>
          <p:cNvSpPr/>
          <p:nvPr/>
        </p:nvSpPr>
        <p:spPr>
          <a:xfrm>
            <a:off x="52120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快接头（封闭体系，国产替代门槛高）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8" name="Text 76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2" name="Text 80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4" name="Text 82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6" name="Text 84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166360" y="3136392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8" name="Text 86"/>
          <p:cNvSpPr/>
          <p:nvPr/>
        </p:nvSpPr>
        <p:spPr>
          <a:xfrm>
            <a:off x="521208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快接头外购，可做Vertiv中国配套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2" name="Text 90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4" name="Text 92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6" name="Text 94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8" name="Text 96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0" name="Text 98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166360" y="353872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2" name="Text 100"/>
          <p:cNvSpPr/>
          <p:nvPr/>
        </p:nvSpPr>
        <p:spPr>
          <a:xfrm>
            <a:off x="521208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NVL72配套快接头，Quanta代工部分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8" name="Text 106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0" name="Text 108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2" name="Text 110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4" name="Text 112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166360" y="394106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6" name="Text 114"/>
          <p:cNvSpPr/>
          <p:nvPr/>
        </p:nvSpPr>
        <p:spPr>
          <a:xfrm>
            <a:off x="5212080" y="3968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DGX代工，快接头全外购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2" name="Text 120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4" name="Text 122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6" name="Text 124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8" name="Text 126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166360" y="434340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30" name="Text 128"/>
          <p:cNvSpPr/>
          <p:nvPr/>
        </p:nvSpPr>
        <p:spPr>
          <a:xfrm>
            <a:off x="5212080" y="4370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CDU全套自产，快接头外购（合作非竞争）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4" name="Text 132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6" name="Text 134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8" name="Text 136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0" name="Text 138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2" name="Text 140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166360" y="4745736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4" name="Text 142"/>
          <p:cNvSpPr/>
          <p:nvPr/>
        </p:nvSpPr>
        <p:spPr>
          <a:xfrm>
            <a:off x="5212080" y="47731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冷板/CDU自产，快接头外购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4572000"/>
            <a:ext cx="320040" cy="2286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6" name="Text 144"/>
          <p:cNvSpPr/>
          <p:nvPr/>
        </p:nvSpPr>
        <p:spPr>
          <a:xfrm>
            <a:off x="64008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蓝=国内OEM  绿=国际OEM  红=谨慎进入  ✓=自产  ✗=外购（机会）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全球专业热管理公司液冷能力图谱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专业热管理公司是海悟快接头的核心客户群：他们需要外购快接头来配套自己的液冷方案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液冷能力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合作机会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英维克（YingweiKATE）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55448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155448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液冷全栈自产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55448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00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快接头（自产不足），需外购配套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55448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国内液冷龙头，快接头外购，海悟主攻客户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029968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2075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40280" y="2029968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冷板+CDU（工业空调）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29000" y="202996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075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快接头（无此业务），需外购配套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075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202996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075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工业空调背景，冷板/CDU强，快接头空白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50545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51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37360" y="2505456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83080" y="25511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0280" y="2505456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29000" y="250545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25511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快接头（超聚变体系外购），需外购配套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50545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超聚变生态配套，史陶比尔供货慢，海悟有机会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8094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2980944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83080" y="30266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40280" y="2980944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29000" y="298094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快接头（朗之闻无此业务），需外购配套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09160" y="298094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0266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40680" y="298094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宁畅定制多，但体系封闭，定制响应是壁垒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45643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737360" y="3456432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35021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40280" y="3456432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CDU+InfraStruxure全球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29000" y="345643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0" y="3502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快接头（全球CDU配套），需OCP认证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09160" y="345643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5021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全球CDU龙头，快接头外购，海悟可通过中国Vertiv切入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931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Rittal（威图）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93192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308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240280" y="393192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0" y="3977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CDU+机柜标准化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429000" y="393192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快接头（欧洲CDU配套），需CE认证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09160" y="393192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40680" y="393192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0" y="3977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欧洲市场为主，认证门槛高，收益长远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海悟定位：不做液冷系统集成商的竞争对手，而是成为他们的快接头专业供应商，填补专业热管理公司的液冷组件短板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2" name="Text 9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快接头在液冷系统中的位置与供应价值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液冷系统组件关系图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芯片级换热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可拔插连接（关键！)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冷却液分配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换热器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二次换热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572000" cy="731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317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为什么快接头是关键？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漏液风险最高：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每个快接头都是潜在的漏液点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维护核心：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数据中心维护时先拔快接头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OEM必须外购：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专业热管理公司均不自产快接头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专业热管理公司快接头年需求汇总（估算）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280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25%份额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1655064"/>
            <a:ext cx="3840480" cy="384048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700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4-8万个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12%份额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2075688"/>
            <a:ext cx="3840480" cy="384048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121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Vertiv（中国）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3-6万个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10%份额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0" y="2496312"/>
            <a:ext cx="3840480" cy="384048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542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2-5万个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8%份额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0" y="2916936"/>
            <a:ext cx="3840480" cy="384048"/>
          </a:xfrm>
          <a:prstGeom prst="rect">
            <a:avLst/>
          </a:prstGeom>
          <a:solidFill>
            <a:srgbClr val="805AD5">
              <a:alpha val="12000"/>
            </a:srgbClr>
          </a:solidFill>
          <a:ln w="6350">
            <a:solidFill>
              <a:srgbClr val="805A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1-3万个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5%份额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840480" cy="384048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5-10万个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20%份额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国内专业热管理公司快接头年总需求：25-55万个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液冷专业公司合作策略矩阵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046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主攻客户，签订年度框架协议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9875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快速通过OCP认证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1161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提供免费样品测试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49040" y="13350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建立联合实验室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年度供货协议锁定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0" y="914400"/>
            <a:ext cx="1371600" cy="804672"/>
          </a:xfrm>
          <a:prstGeom prst="rect">
            <a:avLst/>
          </a:prstGeom>
          <a:solidFill>
            <a:srgbClr val="1A365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960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¥1500-2500万/年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37160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55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755648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深度合作，联合开发定制快接头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755648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与申菱研发联合设计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002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匹配申菱冷板接口标准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76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在申菱顺德工厂附近设仓储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定制化响应快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755648"/>
            <a:ext cx="1371600" cy="804672"/>
          </a:xfrm>
          <a:prstGeom prst="rect">
            <a:avLst/>
          </a:prstGeom>
          <a:solidFill>
            <a:srgbClr val="2C5282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801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¥500-1000万/年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1371600" cy="8046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596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超聚变/高标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596896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2642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跟随超聚变进入昇腾生态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596896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0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通过超聚变验证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4904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配套超聚变CDU出货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9040" y="30175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快速定制响应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191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绑定昇腾液冷标准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1371600" cy="804672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2642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¥300-800万/年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1371600" cy="80467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3438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宁畅/朗之闻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38144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4838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备选客户，定制化优先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3438144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深度定制快接头（宁畅要求多）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3685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响应速度快（比史陶比尔快）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4904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建立样板案例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49040" y="40325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逐步扩大份额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3438144"/>
            <a:ext cx="1371600" cy="804672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¥200-500万/年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1371600" cy="80467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4279392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0" y="43251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通过Vertiv进入全球液冷市场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0" y="4279392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2" name="Text 60"/>
          <p:cNvSpPr/>
          <p:nvPr/>
        </p:nvSpPr>
        <p:spPr>
          <a:xfrm>
            <a:off x="374904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先通过Vertiv中国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749040" y="45262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再进入Vertiv全球供应商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749040" y="47000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符合Vertiv OCP要求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49040" y="4873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欧洲/北美长期机会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4279392"/>
            <a:ext cx="1371600" cy="804672"/>
          </a:xfrm>
          <a:prstGeom prst="rect">
            <a:avLst/>
          </a:prstGeom>
          <a:solidFill>
            <a:srgbClr val="805AD5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98080" y="4325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9808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¥200-400万/年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海悟5年累计收入目标（5大专业热管理公司客户）：¥2.5-5亿元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2" name="Text 7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竞争态势总结：海悟竞争优势矩阵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S优势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10312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专注数据中心快接头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本地化服务响应快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成本比史陶比尔低30%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国内供应链完整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W劣势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10312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品牌知名度低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OCP认证尚未完成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量产经验有限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无国际客户背书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O机会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103120" cy="1417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史陶比尔交货慢，缺口大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国产替代政策支持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AI服务器爆发，快接头需求激增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东南亚/中东市场空白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T威胁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103120" cy="141732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史陶比尔加速布局中国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中航光电可能切入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价格战风险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技术标准被国外垄断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海悟竞争优势来源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技术差异化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专攻数据中心场景快接头，不做通用连接器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国内制造成本+规模化后比史陶比尔低30%+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服务差异化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745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国内24小时响应，定制化48小时出样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战略聚焦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只做快接头一件事，做到极致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优先目标客户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3520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规模最大，快接头需求最大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770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0" y="38770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定制需求多，史陶比尔服务差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4187952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233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893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233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昇腾生态，出货量大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4544568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590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5902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80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CDU配套快接头，间接供应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901184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4946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946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0" y="4946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配套合作，非竞争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全球液冷组件市场份额拆解（2025年估算）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快接头（全球市场约$2.5亿/年）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962656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72%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534924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783080"/>
            <a:ext cx="80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卡锢（Kaichuang） 13%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4780" y="1280160"/>
            <a:ext cx="329184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3954780" y="17830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国产其他 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75404" y="1280160"/>
            <a:ext cx="28803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5404" y="1783080"/>
            <a:ext cx="5623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 7%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海悟可触及空间（国产替代）：~15% = $3750万/年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冷板（全球市场约$18亿/年）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152144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98464" y="1280160"/>
            <a:ext cx="905256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5998464" y="17830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493776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830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0376" y="1280160"/>
            <a:ext cx="94640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0376" y="1783080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高标/其他国内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18220" y="1280160"/>
            <a:ext cx="617220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8618220" y="178308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海悟不建议切入冷板（壁垒高且格局分散）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CDU（全球市场约$32亿/年）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3375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2834640"/>
            <a:ext cx="1028700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0" name="Text 28"/>
          <p:cNvSpPr/>
          <p:nvPr/>
        </p:nvSpPr>
        <p:spPr>
          <a:xfrm>
            <a:off x="1600200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0340" y="2834640"/>
            <a:ext cx="61722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2720340" y="333756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Schneider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834640"/>
            <a:ext cx="74066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33756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申菱/其他国内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1104" y="2834640"/>
            <a:ext cx="49377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4261104" y="333756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CDU格局分散，海悟可配套管路/阀门（非核心 CDU）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411480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快接头国产替代空间（海悟主战场）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全球快接头年市场：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 = $1.8亿（美元）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卡锢（美国）份额：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= $3250万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~15% = $3750万/年（美元）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海悟目标（5年）：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拿下国产空间30% = $1125万/年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海悟可触及市场规模：快接头 TAM / SAM / 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市场规模三层模型（快接头）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全球数据中心快接头总市场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286000" cy="1188720"/>
          </a:xfrm>
          <a:prstGeom prst="rect">
            <a:avLst>
              <a:gd name="adj" fmla="val 6154"/>
            </a:avLst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1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海悟可触达市场（中国+东南亚）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82880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海悟5年实际可获得（保守）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5年收入预测（保守/基准/乐观）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$0.08亿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$0.28亿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914400"/>
            <a:ext cx="3383280" cy="310896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132588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快接头单价：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$80-120/个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（史陶比尔定价，海悟低30%）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AI服务器年增30%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渗透率：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2030年海悟占SAM 17%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海悟快接头量产时间：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OCP认证完成：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主要客户：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浪潮+宁畅+超聚变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结论：2030年海悟快接头基准收入预测 $2800万/年（约¥2亿元）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战略总结与行动建议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聚焦快接头，差异化切入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快接头是液冷价值链中技术壁垒最高（5/5）且国产化率最低（&lt;10%）的环节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海悟目标：比史陶比尔低30%定价，快速响应定制需求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优先OEM：浪潮（最大）&gt; 宁畅（定制多）&gt; 超聚变（昇腾生态）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同步推进OCP认证，目标2027年Q3完成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2028年：$1100万收入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占SAM 17%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借力OTT爆发，绑定超节点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NVL72超节点（100kW/机架）必须液冷，快接头需求爆发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字节/腾讯/阿里三大OTT 2026-2028年是集中建设期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NVL72供应链：史陶比尔垄断，海悟目标替代30%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新进入者优势：史陶比尔交货周期6-12周，海悟可做到4-6周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OTT客户占比 &gt;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平均交货周期 ≤ 6周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全球五区域，差异化布局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国内（根基）：浪潮/宁畅/超聚变全渗透，建立样板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东南亚（规模）：跟随中资数据中心出海，成本竞争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中东/欧洲（利润）：OCP认证 + CE认证，高毛利产品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北美（长期）：找Vertiv/Dell作为配套供应商间接进入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国内60% / 海外40%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C53030">
              <a:alpha val="50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10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风险提示：史陶比尔加速中国本地化建厂（苏州工厂已投产）/ OCP认证周期超预期 / GPU出口管制加剧导致OTT采购受阻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液冷四组件：四个独立业务，能力匹配决定切入路径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关键洞察：四个组件是四个独立业务，不是强耦合的——快接头≠唯一核心，冷板/CDU/Manifold各有独立商业逻辑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全球市场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核心能力要求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海悟能力匹配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切入路径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883664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1847088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18836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1847088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91256" y="1883664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精密制造+密封工艺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1847088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88366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47088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1883664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OEM测试 → 替代史陶比尔30%份额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542032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957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$18亿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505456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254203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0545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2505456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542032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GPU适配设计+流道精密加工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2542032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32120" y="2505456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68696" y="2542032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通过宁畅/浪潮等OEM合作，冷板定制开发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163824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200400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4300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957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$32亿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3163824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65376" y="3200400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6888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0545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3163824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91256" y="3200400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系统集成+规模制造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3163824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3200400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3163824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68696" y="3200400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为英维克/申菱等提供阀门/管路配套，进入CDU供应链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822192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3858768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4300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7957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0" y="3822192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65376" y="385876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0545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&gt;60%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154680" y="3822192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1256" y="3858768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定制化快速响应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17720" y="3822192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54296" y="38587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32120" y="3822192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8696" y="3858768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OTT超节点定制歧管（小批量，多批次，快速响应）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365D">
              <a:alpha val="8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海悟能力定位与四组件的匹配逻辑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1148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快接头（★★★★★）：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精密制造是海悟核心能力，壁垒高=护城河深，适合作为品牌切入点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冷板（★★★☆☆）：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定制化设计能力需建立，长期有空间，短期随OEM客户（宁畅/浪潮）渗透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CDU/Manifold（★★☆☆☆）：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海悟不做整机，通过管路/阀门/定制歧管配套进入CDU厂商供应链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液冷组件决策链：GPU厂家定冷板标准 / 服务器OEM定快接头/CDU接口 / 数据中心定CDU选型+管路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1" name="Text 7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冷板深度分析：GPU适配标准与市场机会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各GPU厂家的冷板标准决策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82296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3075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封闭（华为自定）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261872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07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华为定制冷板（铜基微通道/相变）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07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昇腾950PR/DT：TDP≥800W，需相变冷板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075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高澜股份（深度绑定）/ 飞荣达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80960" y="1261872"/>
            <a:ext cx="1188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307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封闭体系，海悟无法直接进入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英伟达（NVIDIA）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938528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984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OCP标准（NVL72指定）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984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97680" y="1938528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GB200：TDP≥1200W，必须液冷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984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AVC/Legacy（NVL72供应商）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9842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NVL72冷板由英伟达指定，史陶比尔快接头认证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2615184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660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开放（OEM自选）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68880" y="2615184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26609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开放标准，OEM自行选择冷板供应商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97680" y="2615184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6609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MLU590：TDP 350-450W，双腔冷板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615184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6609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浪潮冷板（与高标合作）/ 第三方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80960" y="2615184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26609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开放生态，OEM自选冷板，海悟可通过宁畅触达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3291840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开放（CUDA兼容）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291840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0" y="3291840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Z200：TDP 400-500W，需高效冷板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3291840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浪潮自产/ 英维克/ 高标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3337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海光是开放生态，浪潮是最大OEM，海悟可配套浪潮冷板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标准类型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8" name="Text 56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冷板方案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规格要求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当前供应商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4" name="Text 62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海悟在冷板市场的机会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开放生态（寒武纪/海光）：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通过宁畅/浪潮触达，海悟可配套冷板（非主要方向，浪潮已自产）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冷板壁垒高于快接头：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精密流道设计+GPU封装适配，定制化程度高，海悟当前聚焦快接头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长期机会：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冷板国产替代（目标客户：英维克/申菱等需要外购冷板的液冷系统集成商）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9" name="Text 6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CDU深度分析：市场规模/竞争格局与海悟机会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CDU全球市场规模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 | 2025年估算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中国市场：约¥80-120亿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CDU全球竞争格局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566928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1700784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1307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全球CDU龙头，技术领先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566928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09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141732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09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国内CDU龙头，全栈液冷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066544"/>
            <a:ext cx="5669280" cy="365760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12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施耐德电气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850392" cy="219456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3" name="Text 21"/>
          <p:cNvSpPr/>
          <p:nvPr/>
        </p:nvSpPr>
        <p:spPr>
          <a:xfrm>
            <a:off x="5788152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12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全球基础设施，CDU配套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566928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42032"/>
            <a:ext cx="566928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550468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工业空调背景，华为战略合作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871216"/>
            <a:ext cx="566928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453542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3" name="Text 31"/>
          <p:cNvSpPr/>
          <p:nvPr/>
        </p:nvSpPr>
        <p:spPr>
          <a:xfrm>
            <a:off x="5391302" y="2916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916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华为液冷核心供应商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566928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680314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8" name="Text 36"/>
          <p:cNvSpPr/>
          <p:nvPr/>
        </p:nvSpPr>
        <p:spPr>
          <a:xfrm>
            <a:off x="5618074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分散小厂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CDU核心厂商深度分析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优势：全栈自产（冷板+CDU+Manifold）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短板：快接头外购（史陶比尔为主）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9496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英维克CDU年出货约5000台，快接头年需求10-20万个，海悟可替代史陶比尔30%份额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178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CDU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4592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优势：全球技术领先，OCP认证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2044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短板：价格高，供货周期长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4960" y="4178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178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Vertiv中国快接头需求3-6万个/年，通过Vertiv中国进入全球供应链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654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4592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优势：华为战略合作，批量交付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2044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短板：快接头无此业务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94960" y="46542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46542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申菱CDU年出货约2000台，快接头需求约2-5万个/年，海琢可通过申菱触达华为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CDU战略定位：海悟不做CDU整机，通过管路/阀门配套进入CDU厂商供应链，快接头是核心切入点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Manifold深度分析：技术壁垒与海悟机会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Manifold是什么？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Manifold（歧管/环路分配器）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是液冷系统中连接冷板与CDU的关键组件，负责将冷却液分配到多个GPU冷板，并将热回液汇总返回CDU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→ Manifold → 冷板（每个GPU）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多路分配/汇流/流量控制/漏液检测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2/5（低于快接头/冷板，高于普通管件）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Manifold市场规模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（中国约¥15-20亿）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NVL72超节点需求：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NVL72必须环路歧管，需求爆发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国产GPU开放生态：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寒武纪/海光拉动歧管需求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OTT定制：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字节/腾讯/阿里超节点定制歧管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Manifold市场格局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816352"/>
            <a:ext cx="1143000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FusionPoD for AI歧管自产，昇腾体系内供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57200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218688"/>
            <a:ext cx="91440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1912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液冷服务器歧管自产，开放生态供货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57200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高标/精一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621024"/>
            <a:ext cx="822960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593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第三方歧管供应商，给OEM配套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457200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95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4023360"/>
            <a:ext cx="365760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3995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初创公司，快接头+歧管双线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352544"/>
            <a:ext cx="457200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425696"/>
            <a:ext cx="1325880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Text 38"/>
          <p:cNvSpPr/>
          <p:nvPr/>
        </p:nvSpPr>
        <p:spPr>
          <a:xfrm>
            <a:off x="3154680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398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4398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大量小工厂，无规模效应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2743200"/>
            <a:ext cx="3840480" cy="210312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海悟在Manifold市场的定位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配套供应，不做主攻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超聚变/浪潮已自产Manifold，技术壁垒低（2/5），市场规模小（$8亿）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OTT超节点定制歧管（字节/腾讯/阿里定制需求），史陶比尔无法满足，海悟快速响应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宁畅（寒武纪生态）/ 同方（摩尔线程）/ 神州数码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收入贡献预期：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Manifold年收入约¥500-1000万（非核心业务）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液冷四组件战略：快接头（🔴P0）&gt; 冷板（🟠P1）&gt; CDU（🟡P2）&gt; Manifold（⚪P3）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竞争格局⑧ 国产新进入者对比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海悟契合度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中航光电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8016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航空工业旗下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快接头+连接器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0" y="132588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89120" y="132588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371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8016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民营企业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6888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0" y="192024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965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92024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1460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28016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超聚变系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0" y="251460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超聚变推动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251460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2560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10896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8016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宁畅系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6888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657600" y="310896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宁畅推动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89120" y="310896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370332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8016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国企（巨化集团）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46888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0" y="370332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389120" y="3703320"/>
            <a:ext cx="109728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3484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海悟竞争定位：专攻快接头，不与现有玩家正面竞争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海悟策略：与中航光电（军工品质）错位 → 专注数据中心快接头量产；与东光子（专注但规模小）合作或竞争 → 海悟更快规模化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中国OTT超级节点深度分析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E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字节跳动（ByteDance）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豆包大模型训练集群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宁畅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高（AI推理+训练双需求）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冷板+CDU为主，定制化多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★★★★☆（供应商准入严格）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12B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腾讯（Tencent）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混元大模型/腾讯云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富士康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高（自有云+AI双驱动）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冷板为主，新建数据中心液冷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★★★☆☆（供应商体系成熟）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阿里巴巴（Alibaba）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通义千问/阿里云PAI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浪潮（主供）/ 华为 / 中科曙光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中高（大规模部署进行中）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冷板+CDU，新建+改造并行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阿里云基础设施团队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★★★★★（供应商体系最封闭）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中国OTT的共同特征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大规模使用英伟达H100/H800（出口管制后转向昇腾）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服务器来源以浪潮/华为为主，定制化程度高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液冷需求增速快，2026-2027年是集中部署期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713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供应商准入严格，需通过长周期验证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快接头基本依赖史陶比尔，国产替代空间大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OEM服务器制造商液冷布局与OTT供应关系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全球OEM（国际）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冷板+CDU（自研）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Meta/Microsoft/Google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Dell（戴尔）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Microsoft/Google/Meta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 Enterprise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液冷CDU（收购）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微软/亚马逊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SuperMicro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2816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大型CSP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Evoca（长凳）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定制液冷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3284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欧洲CSP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中国OEM（国内）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字节/腾讯/阿里/百度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746504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92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自有云+运营商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258568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0632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液冷（朗之闻）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8163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字节/腾讯/小米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3282696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液冷（自研）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328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政府/科研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79476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阿里/腾讯/政企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液冷快接头机会窗口：全球OEM的快接头均依赖史陶比尔/卡锢，国产替代空间最大 | 国内OEM的液冷团队均有快接头外购需求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NVL72超节点：供应链与液冷需求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2194560"/>
          </a:xfrm>
          <a:prstGeom prst="rect">
            <a:avLst>
              <a:gd name="adj" fmla="val 3333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 核心规格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Blackwell GPU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100kW/机架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GPU全互联（1.8TB/s）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散热方式：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必须液冷（风冷无法）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必须OCP认证（史陶比尔）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~$10M+/集群（估算）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NVIDIA（英伟达）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GPU芯片 + DGX设计标准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16733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DGX服务器代工（主供）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2066544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66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Dell/HP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20665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DGX服务器（部分份额）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459736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NVIDIA直供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24597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NVLink交换器/光模块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2852928"/>
            <a:ext cx="73152" cy="3474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8529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快接头（OCP认证必需）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246120"/>
            <a:ext cx="73152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3246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英维克/Dell自产/CDU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液冷需求深度分析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100kW/机架 = 必须液冷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环路歧管冷板（英伟达指定标准）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快接头必须OCP认证（史陶比尔为主）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CDU容量需求：单台&gt;30kW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2026年NVL72交付量预计&gt;10万GPU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海悟在NVL72供应链中的机会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核心机会：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NVL72快接头被史陶比尔垄断，海悟目标是替代30%份额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路径：OCP认证 → 进入Quanta/Dell供应链 → NVL72配套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时间窗口：2026-2027年NVL72大规模交付期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华为指定史陶比尔/卡锢，海悟无法进入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海悟机会：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昇腾体系直接机会几乎为零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超聚变作为昇腾OEM，海悟通过超聚变间接触达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超聚变：昇腾生态的唯一窗口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超聚变是昇腾体系唯一独立服务器OEM：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华为将x86服务器业务分拆给超聚变，超聚变独立运营昇腾服务器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海悟在超聚变生态中的机会：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超聚变需要外购快接头（史陶比尔为主），史陶比尔供货慢+价格高，海悟可通过超聚变进入昇腾液冷体系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超聚变快接头年需求估算：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超聚变年出货昇腾服务器约30-50万台，每台需快接头2-4个，年需求约60-200万个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战略意义：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超聚变是海悟进入昇腾生态的唯一合规通道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开放生态是海悟的主战场：浪潮（海光）/ 宁畅（寒武纪）/ 摩尔线程 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冷板/快接头/CDU/Manifold全部华为指定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海悟无法直接进入昇腾体系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唯一窗口：超聚变（昇腾OEM）间接触达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超聚变快接头年需求：60-200万个（估算）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🔓 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间接（超聚变）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年收入贡献约¥5000万-1亿（2030年）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机柜级液冷行业深度洞察</dc:title>
  <dc:subject>2026-2030年战略机遇与市场空间</dc:subject>
  <dc:creator>海悟科技</dc:creator>
  <cp:lastModifiedBy>海悟科技</cp:lastModifiedBy>
  <cp:revision>1</cp:revision>
  <dcterms:created xsi:type="dcterms:W3CDTF">2026-04-27T05:09:01Z</dcterms:created>
  <dcterms:modified xsi:type="dcterms:W3CDTF">2026-04-27T05:09:01Z</dcterms:modified>
</cp:coreProperties>
</file>