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五看三定 · v10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11480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数据中心热管理 | 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PP3-5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一看：看行业/趋势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5727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PP6-8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9568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二看：看市场/空间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19568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PP9-13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408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三看：看竞争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234086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PP14-17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72491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四看：看客户/渠道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72491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PP18-21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五看：看自己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PP22-24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4930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三定：目标/策略/控制点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4930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PP25-30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8770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组件深度：冷板/CDU/Manifold/快接头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87705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PP31-36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6110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2611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附录：数据溯源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2611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PP37-38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执行摘要：一句话结论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液冷不是趋势问题，是速度问题。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电源冷板蓝海 🔴P0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供应商空白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 ¥50M → 2028E ¥5B SAM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Manifold先行 🟠P0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H3C/浪潮送样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快接头敲门→CDU协同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01168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03045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海外双线独立 🟡P1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6520" y="26060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国内线: ¥50M→¥1B(2030)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海外线: ¥0→¥200M(2030)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数据溯源：基于GPU/Supernode/OEM/OTT/IDC/Cooling十维分析，全部含溯源链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营收路线图：双线驱动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国内线 (¥)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91440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¥50M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Manifold批量→H3C/浪潮/宁畅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+电源冷板+内存冷板蓝海爆量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¥400M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+CPU冷板+快接头(认证通过)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¥1.0B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全组件+系统级(含CDU)+运维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 (¥)</a:t>
            </a:r>
            <a:endParaRPr lang="en-US" sz="1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1440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2026-27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通过ODM间接出货(华勤等)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OEM认证取得+海外DC项目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¥200M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自有海外渠道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进入策略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Manifold先行（低门槛出量）→建立客户信任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3566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电源冷板+内存冷板（蓝海爆量）→差异化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CPU冷板（认证后主力）→Intel/NVIDIA认证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CDU+快接头（远期系统级）→全栈能力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海外 ODM→OEM认证→自有渠道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5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看行业 / 趋势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Capex持续暴涨 → GPU功耗翻倍 → 液冷从选配变标配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GPU功耗每代翻倍 — 风冷已到极限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H100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0"/>
            <a:ext cx="914400" cy="3200400"/>
          </a:xfrm>
          <a:prstGeom prst="rect">
            <a:avLst>
              <a:gd name="adj" fmla="val 5000"/>
            </a:avLst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74520" y="1143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-228600"/>
            <a:ext cx="914400" cy="3429000"/>
          </a:xfrm>
          <a:prstGeom prst="rect">
            <a:avLst>
              <a:gd name="adj" fmla="val 5000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B200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0" y="-457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-1371600"/>
            <a:ext cx="914400" cy="45720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GB200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09160" y="-914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1200W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-2286000"/>
            <a:ext cx="914400" cy="54864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GB300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26480" y="-1371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-3200400"/>
            <a:ext cx="914400" cy="6400800"/>
          </a:xfrm>
          <a:prstGeom prst="rect">
            <a:avLst>
              <a:gd name="adj" fmla="val 5000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34747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Rubin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43800" y="-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1500W+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726680" y="-3657600"/>
            <a:ext cx="914400" cy="6858000"/>
          </a:xfrm>
          <a:prstGeom prst="rect">
            <a:avLst>
              <a:gd name="adj" fmla="val 5000"/>
            </a:avLst>
          </a:prstGeom>
          <a:solidFill>
            <a:srgbClr val="E76F51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560320"/>
            <a:ext cx="8229600" cy="1828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风冷极限(600W) 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NVIDIA官网 + GPU洞察 v5 + SEC 10-K NVDA 2026-02-25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持续暴涨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字节跳动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¥200-250B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¥180-220B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¥120-150B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¥80-100B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+0-25%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AI Capex 2026E: ~$362B → 液冷采购额 $29-36B (8-10%)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SEC 10-Q MSFT/GOOG/AMZN/META (2026-04-30) + sources/wechat/2026-05-07-ott-csp-gpu-capex-830b-usd.md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一看小结：液冷不是趋势问题，是速度问题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Rubin 1500W+ (5年翻倍)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风冷物理极限~600W，液冷刚性不可逆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$362B(2026E), 中国 ¥650B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液冷采购额 $29-36B/年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液冷渗透率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2026年50%+新建DC必须液冷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32461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从选配变标配，PUE政策铁拳(1.25/1.15)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73152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DC建设加速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中国6大集群, 2026E液冷机柜53万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4160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2030E 400万+，TAM确定性极强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 / 空间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 → SAM → SOM 三层拆解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总可寻址市场 (国信证券 2026-04-14)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全球液冷组件市场 ($B)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114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05840"/>
                <a:gridCol w="1005840"/>
                <a:gridCol w="10058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3045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0E0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F5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6060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CAGR 43.6%  |  冷板+CDU占81.5%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84632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中国市场推估 (全球×25-30%)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4300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6459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2030E(¥B)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单机柜液冷价值量 (NVL72基准: $83,770)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冷板(服务)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</a:t>
                      </a:r>
                      <a:endParaRPr lang="en-US" sz="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$32,400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$8,820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77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$8,550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304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77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液冷占机柜(~$3M)约3%，但技术壁垒高、替换粘性强 | 源: 国信证券《服务器液冷专题》(2026-04-14)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SAM: 海悟可服务市场 (中国组件TAM中可切入)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¥3-5B(26E)→¥10-15B(28E) | 电源冷板 ¥0.5-1B→¥3-5B | 快接头(国产) ¥1-2B→¥5-10B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5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SOM: 海悟营收推算 (国内线)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推算公式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国内营收 = Σ(组件SAM × 市场份额 × 产能利用率 × 客户导入率 × 价格折扣)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2026E: ¥39B Manifold SAM × 1% × 70% × 50% × 90% ≈ ¥50M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海外线: 2028E ¥100M(ODM) → 2030E ¥200M(自有渠道)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五看三定v5 SOM推算 + OEM BOM × 机柜数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竞争格局：海悟差异化路线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国内龙头 | ¥1.5-2B液冷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不做CDU正面竞争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切蓝海组件(电源/内存冷板)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CoolIT/AVC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国际龙头(NVIDIA认证) | $8B+(Vertiv)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国内OEM渠道+成本优势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2402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通过H3C/浪潮切入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0F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快接头垄断72% | 非公开(私企)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880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国产替代P1储备，不主攻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31546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P0窗口1-2年, 成本低30%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高澜/申菱/同飞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国内同类 | ¥0.5-2B各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海悟策略: Manifold先出量建关系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06908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差异化: 电源冷板蓝海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cooling/2026-05-09-cooling-competition-insight.md + 各公司年报/SEC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差异化路线：四步进阶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Manifold出量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低门槛建立客户信任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6032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蓝海爆量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电源冷板+内存冷板差异化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¥300M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认证主力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UQD+CPU冷板认证后主力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¥400M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0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766560" y="1097280"/>
            <a:ext cx="1920240" cy="3200400"/>
          </a:xfrm>
          <a:prstGeom prst="roundRect">
            <a:avLst>
              <a:gd name="adj" fmla="val 7143"/>
            </a:avLst>
          </a:prstGeom>
          <a:solidFill>
            <a:srgbClr val="03045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280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全栈系统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18288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58000" y="23774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CDU+快接头+运维一体化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32004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¥1.0B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看客户 / 渠道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→ OTT → OEM → 海悟 四级决策链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客户/渠道优先级矩阵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828800"/>
                <a:gridCol w="1097280"/>
                <a:gridCol w="9144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切入点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2026目标(¥)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开放性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进度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间接通道: 通过H3C/秦淮数据 → 阿里/字节 (H3C为阿里+字节核心OEM伙伴)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2026核心任务: H3C+浪潮 Manifold送样测试 → 建立供应商关系 → 借H3C项目接触阿里/字节液冷团队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oem/2026-05-09-oem-server-insight.md + decision/2026-05-09-decision-chain.md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采购决策链: GPU 定标准 &gt; OEM 做适配 &gt; DC 自主决策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304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芯片厂家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(定冷板标准)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0058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NVIDIA: 选OEM+认证供应商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昇腾: 灵衢互联 一年一代翻倍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Atlas950→960→970(2028)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0" y="10058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争取NVIDIA认证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昇腾线需华为认证体系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服务器 OEM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(做适配采购)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3383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H3C/浪潮/宁畅: NVIDIA适配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超聚变: 华为体系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华勤: ODM灵活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33832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Manifold送样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冷板跟进 → CDU远期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669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760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OTT/IDC 运营方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(自主决策CDU/Manifold)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0" y="57607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字节/阿里: CDU招标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运营商DC: 自主采购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海外: OCP认证通道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5760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 → 通过秦淮/数据港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OCP认证 → 海外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核心洞察: 冷板标准由GPU公司决定，OEM只做适配。海悟必须先过GPU厂家标准这关。</a:t>
            </a:r>
            <a:endParaRPr lang="en-US" sz="900" dirty="0"/>
          </a:p>
        </p:txBody>
      </p:sp>
      <p:pic>
        <p:nvPicPr>
          <p:cNvPr id="19" name="Image 0" descr="/root/data/disk/liquid-cooling-ecosystem/analysis/liquid-cooling/ppt/v10-slides/slides/../../imgs/hj_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4114800"/>
            <a:ext cx="2560320" cy="14630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 × 差距分析 × 待海悟输入项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能力矩阵 &amp; 差距分析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645920"/>
                <a:gridCol w="237744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动作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最大短板: 认证（Intel UQD/NVIDIA/阿里）= 液冷准入门槛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【待海悟输入】标记项需海悟内部确认后补全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五看小结: 差距即机会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产品机会: Manifold有基础 → 电源冷板+内存冷板 = 蓝海爆量（竞品均未覆盖）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认证补课: Intel UQD(2028H1前) &gt; NVIDIA认证 &gt; 阿里认证 = 三证缺一不可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客户深耕: H3C/浪潮 2026年送样测试 → 借H3C渠道接触阿里/字节液冷团队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⏳ 测试能力: 2026Q3自建热性能测试台 → 研发+客户演示双重价值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 / 定策略 / 定控制点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定目标: 国内线营收路线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828800"/>
                <a:gridCol w="27432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营收(¥)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关键里程碑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定策略: 五步进攻路线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457200" cy="45720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Manifold破冰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0" y="10515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低门槛送样H3C/浪潮/宁畅 → 建立供应商关系 → 证明交付能力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874520"/>
            <a:ext cx="457200" cy="45720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蓝海差异化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8288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电源冷板+内存冷板 = 竞品均未覆盖 → 差异化标签 → 溢价空间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51760"/>
            <a:ext cx="457200" cy="457200"/>
          </a:xfrm>
          <a:prstGeom prst="oval">
            <a:avLst/>
          </a:prstGeom>
          <a:solidFill>
            <a:srgbClr val="E76F5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认证突围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26060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UQD(2028H1前) → NVIDIA认证 → 阿里认证 = 准入三证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375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429000"/>
            <a:ext cx="457200" cy="45720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国产替代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36576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33832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快接头国产化(成本低30%) → 借国产GPU/政策窗口 → P1储备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1148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0F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206240"/>
            <a:ext cx="457200" cy="457200"/>
          </a:xfrm>
          <a:prstGeom prst="oval">
            <a:avLst/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海外双线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434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0" y="4160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ODM(华勤/富士康)间接出货 → OEM认证取得 → 自有渠道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定控制点: 风险管控矩阵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48640"/>
                <a:gridCol w="548640"/>
                <a:gridCol w="32004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触发器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三定小结: 时间路线图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Manifold送样H3C/浪潮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0312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21945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2026H2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560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电源冷板研发立项+热测试台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37760" y="2240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3291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Manifold批量+电源冷板蓝海爆量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46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2027Q2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UQD认证启动(B计划触发前)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42976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2028H1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4663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UQD认证通过+CPU冷板主力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4343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539496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0077B6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5440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2028-30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5760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CDU+快接头+海外ODM→认证→自有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54406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组件深度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 · CDU · Manifold · 快接头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机柜级液冷四大组件拆解：市场空间 · 竞争格局 · 海悟机会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机柜级液冷组件BOM: NVL72单柜分解 ($83,770)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国信证券《服务器液冷专题》(2026-04-14)</a:t>
            </a:r>
            <a:endParaRPr lang="en-US" sz="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822960"/>
                <a:gridCol w="914400"/>
                <a:gridCol w="640080"/>
                <a:gridCol w="182880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单价(USD)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小计(USD)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占比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单柜液冷总额: $83,770 | 冷板(43%)+CDU(36%)=79% | 液冷占机柜(~$3M)约3%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海悟优先级: Manifold(低壁垒出量)→电源冷板(蓝海×技术同源)→CPU冷板(认证主力)→快接头(国产替代协同)→CDU(远期系统级)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关键: 2026年是"交易落地"元年 — 液冷从可选→标配，下半年规模化出货 (华源证券+国信证券共识)</a:t>
            </a:r>
            <a:endParaRPr lang="en-US" sz="900" dirty="0"/>
          </a:p>
        </p:txBody>
      </p:sp>
      <p:pic>
        <p:nvPicPr>
          <p:cNvPr id="9" name="Image 0" descr="/root/data/disk/liquid-cooling-ecosystem/analysis/liquid-cooling/ppt/v10-slides/slides/../../imgs/gx_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4023360"/>
            <a:ext cx="2926080" cy="1371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11" name="Text 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 | 液冷组件最大赛道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GB200 1200W → Rubin 1500W+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TAM(2026E)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 $5-8B | 中国 ¥12-18B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ASP(CPU冷板)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$80-150/片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ASP(GPU冷板)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$200-400/片(NVIDIA认证加成)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竞争格局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 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国际龙头 | NVIDIA认证 | $300-350/片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AVC(奇鋐) 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4360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国际主要 | NVIDIA认证 | $250-300/片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nVent 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 | CFD认证 | $450-500/片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54880" y="21945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943600" y="2194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国内龙头 | 在研 | ¥800-1200/片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54880" y="2468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943600" y="2468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 | 在研 | ¥600-1000/片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0" y="27432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0" y="2743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待认证 | — | —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海悟机会: ⚠️CPU冷板需要Intel UQD认证(2028H1前), GPU冷板需NVIDIA认证(1-2年)。2026-27策略: Manifold破冰+电源冷板蓝海差异化先行。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国际冷板市场由NVIDIA认证体系锁定，新进入者P0任务: Intel UQD认证(2026Q2启动)+NVIDIA样品测试(2027)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 | 2030E全球$20.6B, 占比36%</a:t>
            </a:r>
            <a:endParaRPr lang="en-US" sz="1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国信证券(2026-04-14) | 结论: CDU技术壁垒低,竞争最激烈。不主攻,但需储备能力以备系统级打包。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 | 2030E全球$5B, 国产替代最强窗口</a:t>
            </a:r>
            <a:endParaRPr lang="en-US" sz="1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源: 国信证券(2026-04-14) | 国产替代窗口2-3年, 成本优势30%+国产化政策驱动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 + 电源冷板 | 海悟2026-27核心战场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E0E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Manifold (先行出量)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全球 $1.2-2.5B | 中国 ¥3-5B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ASP: $500-1500/个 | 单柜 8-16个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壁垒: 低 (管路分配=制造)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竞争: 英维克/高澜/申菱/同飞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海悟: ✅ 已有基础 → 送样H3C/浪潮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2026目标: ¥50M (送样→小批量)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3E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🔵 电源冷板 (蓝海爆量)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TAM: 全球 $0.5-1B | 中国 ¥1-3B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ASP: $50-100/片 | 单柜 36+片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壁垒: 中等 (功率密度+热设计)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竞争: ❗供应商空白→蓝海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差异化: 竞品均未覆盖此赛道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520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2027目标: ¥300M (蓝海爆量)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核心逻辑: Manifold低门槛建立信任(H3C/浪潮) → 电源冷板差异化爆量(竞品空白) → CPU冷板认证跟进(2028)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组件优先级矩阵: 海悟进攻路线</a:t>
            </a:r>
            <a:endParaRPr lang="en-US" sz="2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48640"/>
                <a:gridCol w="1005840"/>
                <a:gridCol w="1005840"/>
                <a:gridCol w="914400"/>
                <a:gridCol w="1097280"/>
                <a:gridCol w="155448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 2026E(¥B)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竞争烈度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差异化空间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启动时间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045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2026核心动作: ① Manifold送样H3C/浪潮(¥50M)  ② 电源冷板研发立项(2027蓝海爆量¥300M)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7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 · 方法论 · 源文件索引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所有数据均可追溯至具体源文件，遵循五铁律三维治理体系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数据溯源 · 铁律治理 · 源文件索引 (v6)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六铁律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sources/刷新 → 洞察联动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990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四维统一(GPU/OTT/OEM/IDC)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550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五看三定汇总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91109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先分后合(子分析→汇总)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市场数据以最新源文件为准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🔥新文件导入→所有关联洞察联动刷新+索引留痕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5488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11项分析源 (v6, 2026-05-10)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gpu/2026-05-09-gpu-chip-insight.md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754880" y="13441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supernode/2026-05-09-supernode-insight.md v6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754880" y="15453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supernode/2026-05-10-*-insight.md ×2 NEW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4754880" y="17465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ott/2026-05-09-ott-cloud-insight.md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754880" y="19476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oem/2026-05-09-oem-server-insight.md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idc/2026-05-09-idc-datacenter-insight.md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4754880" y="235000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cooling/2026-05-09-cooling-competition v6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754880" y="255117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cooling/2026-05-10-guosen-*-space.md NEW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754880" y="275234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decision/standards/operations/strategy/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54880" y="29535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docs/2026-05-09-海悟液冷五看三定.md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754880" y="31546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7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analysis/liquid-cooling/INDEX.md NEW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新增源文件 (2026-05-10)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华源证券《关注26年国产超节点液冷新增量》(2026-04-12) | 东吴证券《海光&amp;曙光系超节点》(2026-04-14) | 国信证券《服务器液冷专题》(2026-04-14) 535亿美元CAGR43.6%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数据源: SEC EDGAR ×13 | Eastmoney研报 ×569+ | RSS(Hub+FlareSolverr) | 微信文章 | ChangeDetection网页快照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oval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 | 2026-05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海悟科技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 五看三定 v10</dc:title>
  <dc:subject>PptxGenJS Presentation</dc:subject>
  <dc:creator>海悟科技 × AI战略分析</dc:creator>
  <cp:lastModifiedBy>海悟科技 × AI战略分析</cp:lastModifiedBy>
  <cp:revision>1</cp:revision>
  <dcterms:created xsi:type="dcterms:W3CDTF">2026-05-10T03:45:36Z</dcterms:created>
  <dcterms:modified xsi:type="dcterms:W3CDTF">2026-05-10T03:45:36Z</dcterms:modified>
</cp:coreProperties>
</file>