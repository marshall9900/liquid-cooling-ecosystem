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notesMasterIdLst>
    <p:notesMasterId r:id="rId5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海悟科技 机柜级液冷战略洞察 v9 (R4)
基于华为五看三定方法论
2026年5月
全PPT数据来源见各页备注——所有引用指向sources/原始文件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目录页
五看三定框架由华为引入，海悟适应性改造
数据来源：本PPT各页备注——原始信源见 sources/ 目录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SEC EDGAR 10-K/10-Q: sources/sec/ott/GOOG/ sources/sec/ott/MSFT/ sources/sec/ott/AMZN/ sources/sec/ott/META/\n• sources/wechat/2026-05-07-ott-csp-gpu-capex-830b-usd.md → 字节GPU ¥2,300亿(芯片专家纪要) + ¥300亿(租赁)\n• 阿里三年¥4,800亿: 阿里CEO吴泳铭公开声明 三年¥4,800亿 AI投入\n• CAPEX为各公司公开指引/CEO声明，非财务预测 | AI占比为分析师共识推算
📐 推算过程：全球OTT CAPEX = Σ(各公司公开指引/CEO声明)。字节¥2,600亿 = ¥2,300亿(直采GPU)+¥300亿(租赁)。液冷组件需求 ~ ¥200万/数据来源：\n• SEC EDGAR 10-K/10-Q: sources/sec/ott/GOOG/ sources/sec/ott/MSFT/ sources/sec/ott/AMZN/ sources/sec/ott/META/\n• sources/wechat/2026-05-07-ott-csp-gpu-capex-830b-usd.md → 字节GPU ¥2,300亿(芯片专家纪要) + ¥300亿(租赁)\n• 阿里三年¥4,800亿: 阿里CEO吴泳铭公开声明 三年¥4,800亿 AI投入\n• CAPEX为各公司公开指引/CEO声明，非财务预测 | AI占比为分析师共识推算亿CAPEX = 行业经验系数(冷板/CDU/Manifold/快接头BOM总和÷超节点CAPEX)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中国信通院 数据中心发展报告(2026)\n• 仲量联行 中国数据中心市场报告(2026)\n• TrendForce 全球数据中心液冷市场报告(2026)\n• 【估算】基于公开数据推算，非官方数据，标记为估算: IT负载 = 机柜数×2.5kW/柜; 智算负载、智能算力为推算; 2028-2030为线性外推
📐 推算过程：IT负载 = 机柜数(万)×2.5kW/柜。智算负载 = 总负载×智算占比(推算)。液冷机柜占比 = 智算负载÷总负载×液冷适配率。智能算力 = IT负载×PUE×FP16算力密度。2028-2030为线性外推(假设增速不变)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工信部 数据中心发展三年行动计划(2021-2023) 通信[2021]76号\n• 财政部 绿色数据中心政府采购需求标准(2023)\n• 工信部 数据中心绿色低碳发展专项行动计划(2024)\n• 发改委 东数西算2.0\n• 2025工信部最新要求 (news release)\n• 【估算】基于公开数据推算，非官方数据，标记为估算: 风冷PUE理论下限~1.2-1.25(压缩机+风机+损耗) | 2027+事实强制为行业判断
📐 推算过程：风冷PUE理论下限~1.2-1.25: 压缩机COP ~3-4 + 风机 ~0.1 + 管路损耗 ~0.05 → PUE_min = 1 + 1/COP_fan。PUE≤1.15需液冷(自然冷却+芯片级散热) → 物理可行性分析(热力学基础)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数据来源：数据来源：P3-P5汇总\n• SEC EDGAR: GOOG/MSFT/AMZN/META 10-K/10-Q\n• sources/wechat/2026-05-07-ott-csp-gpu-capex-830b-usd.md\n• 中国信通院 数据中心发展报告(2026) / 仲量联行 中国数据中心市场报告(2026) / TrendForce 全球数据中心液冷市场报告(2026)\n• 工信部 数据中心发展三年行动计划(2021-2023) 通信[2021]76号 / 发改委 东数西算2.0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sources/wechat/2026-05-06-ali-ppu-chip-overview.md → 平头哥PPU芯片参数\n• sources/wechat/2026-05-06-super-node-insight.md → 超节点液冷方案\n• sources/wechat/2026-05-07-ott-csp-gpu-capex-830b-usd.md → 芯片专家纪要(字节部分包含阿里交叉信息)\n• sources/wechat/2026-05-07-bytedance-alibaba-idc-procurement-2026.md → 字节/阿里IDC采购\n• 阿里ODCC 2026演讲 (磐久AI Infra 3.0)\n• 腾讯新闻 2026.01.29「阿里AI基建提速」\n• 阿里CEO吴泳铭公开声明 三年¥4,800亿 AI投入\n• 【估算】基于公开数据推算，标记为估算: 液冷采购 = 单柜BOM(¥80-100万)×柜数(~2,000)
📐 推算过程：液冷采购(¥/年) = 单柜BOM(¥80-100万)×柜数(~2,000)。单柜BOM拆解: GPU冷板72片×¥2,500=¥180K + CPU冷板36片×¥800=¥28.8K + 电源冷板36片×¥600=¥21.6K + 快接头200个×¥300=¥60K + CDU×¥200K + Manifold×¥80K + 管路×¥170K ≈ ¥80-100万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sources/wechat/2026-05-07-ott-csp-gpu-capex-830b-usd.md → 芯片专家纪要 2026.05 字节GPU ¥2,300亿\n• sources/wechat/2026-05-07-bytedance-alibaba-idc-procurement-2026.md → 字节/阿里IDC采购 2026\n• sources/wechat/2026-05-06-super-node-insight.md → 72卡超节点方案\n• sources/eastmoney/ (666篇研报归档) → 相关券商研报\n• 【估算】基于公开数据推算，标记为估算: 液冷采购 = 单柜BOM(¥60-75万)×柜数(~3,000); 字节自研芯片¥170-180亿 = 20-30万×¥6,000-8,000/卡
📐 推算过程：液冷采购(¥/年) = 单柜BOM(¥60-75万)×柜数(~3,000) = ¥18-22亿/年。字节自研芯片¥170-180亿 = 20-30万卡×¥6,000-8,000/卡。GPU总投入¥2,600亿 = ¥2,300亿(直采)+¥300亿(租赁)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sources/wechat/2026-05-07-ott-csp-gpu-capex-830b-usd.md → 腾讯GPU CAPEX ¥1,300亿+\n• sources/sec/ott/ → 腾讯2025年报\n• sources/eastmoney/ (666篇研报归档) → 券商研报(腾讯AI基建)\n• SEC EDGAR: sources/sec/ott/ (腾讯港股公开资料)\n• 【估算】基于公开数据推算，标记为估算: 腾讯冷板被CoolIT锁定，CDU/Manifold公开招标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sources/wechat/2026-05-07-ott-csp-gpu-capex-830b-usd.md → OTT GPU CAPEX汇总\n• sources/wechat/2026-05-07-bytedance-alibaba-idc-procurement-2026.md → 快手/阿里IDC采购交叉信息\n• sources/eastmoney/ (666篇研报归档) → 各公司相关研报\n• SEC EDGAR: sources/sec/ott/BIDU/ (百度10-K)\n• 【估算】基于公开数据推算，标记为估算: 快手/拼多多AI CAPEX为券商推算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sources/wechat/2026-05-07-ott-csp-gpu-capex-830b-usd.md → OTT/GPU/OEM决策链分析\n• sources/wechat/2026-05-06-ali-ppu-chip-overview.md → 阿里自研芯片+液冷策略\n• sources/wechat/2026-05-07-bytedance-alibaba-idc-procurement-2026.md → 字节IDC采购\n• sources/wechat/2026-05-07-google-liquid-cooling-supply-chain.md → Google液冷供应链\n• sources/eastmoney/ (666篇研报归档) + sources/rss/2026-05-09/ → 决策链补充信息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sources/GPU对比表格-精确修正.csv → 昇腾910B/950PR/950DT 已核实参数\n• 华为官网公开资料 → 昇腾产品规格\n• sources/wechat/2026-05-06-super-node-insight.md → 超节点液冷方案\n• sources/eastmoney/ (666篇研报归档) → 东方财富研报 昇腾产业链\n• 【估算】基于公开数据推算，标记为估算: 950DT/950PR TDP为估算(华为未公开正式参数); 出货量为行业专家推算
📐 推算过程：出货量推算: 昇腾总出货~180万卡 = 910B 60万(存量+新产)+950PR 80万(新产+跨年度)+950DT 40万(新产)。基于华为公开指引×产能利用率×良率推算。TDP: 910B实测310W，950PR/950DT为基于制程/晶体管数/频率线性外推(标记估算)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sources/GPU对比表格-精确修正.csv → 思元590参数 (已核实)\n• 寒武纪2025年报 → 出货量/营收\n• sources/eastmoney/ (666篇研报归档) → 东方财富研报 寒武纪链\n• 【估算】基于公开数据推算，标记为估算: 690 TDP为估算(未公开发布); 出货量为行业推算\n• 590-&gt;690 TDP 350W-&gt;500W = 功耗跳升 → 冷板从可选变推荐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sources/GPU对比表格-精确修正.csv → 深算2号参数(已核实)\n• sources/wechat/2026-05-07-haiguang-dcu-deep-compute-series.md → 海光DCU深度计算系列\n• 海光信息2025年报 → 公告信息\n• sources/eastmoney/ (666篇研报归档) → 东方财富研报 海光DCU\n• 【估算】基于公开数据推算，标记为估算: 3号TDP/出货量为估算; 信创DCU→国产液冷优先(政策)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sources/wechat/2026-05-06-ali-ppu-chip-overview.md → 平头哥PPU芯片详细概述\n• sources/wechat/2026-05-06-super-node-insight.md → 超节点液冷方案\n• sources/wechat/2026-05-07-bytedance-alibaba-idc-procurement-2026.md → 阿里IDC采购\n• 阿里ODCC 2026 公开演讲\n• 【估算】基于公开数据推算，标记为估算: 出货量/液冷采购为推算\n• 阿里自研芯片≠封闭生态→外部液冷可参与招标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sources/GPU对比表格-精确修正.csv → 20规格GPU对比表\n• sources/eastmoney/ (666篇研报归档) → 东方财富研报 GPU厂商\n• 【估算】基于公开数据推算，标记为估算: 多数GPU出货&lt;5万 液冷需求有限; 壁仞出货受制裁限制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sources/GPU对比表格-精确修正.csv → 20specs 12verified + 8speculative\n• sources/液冷客户表.ods → 液冷客户表 (GPU sheet)\n• sources/eastmoney/ (666篇研报归档) → 东方财富研报 GPU产业链\n• sources/sec/gpu/NVDA/ | sources/sec/gpu/AMD/ | sources/sec/gpu/INTC/ → SEC EDGAR GPU厂商\n• sources/wechat/2026-05-06-ali-ppu-chip-overview.md → 平头哥PPU参数\n• 【估算】基于公开数据推算，标记为估算: ASC单价基于行业调研; 采购规模=Σ(出货万×ASP); 生态开放度基于行业分析
📐 推算过程：ASC单价: NVIDIA冷板¥2,000-3,000(CoolIT报价)/国产冷板¥600-1,200(英维克报价线)。采购规模 = Σ(各GPU出货万×液冷机柜占比×单柜ASC)。昇腾55%+ = 180÷340 = 53% → 55%(考虑ASC溢价)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sources/液冷客户表.ods → 液冷客户表 OEM sheet (10家)\n• sources/eastmoney/ (666篇研报归档) → 东方财富研报 OEM+服务器\n• sources/sec/oem/DELL/ | sources/sec/oem/SMCI/ | sources/sec/oem/VRT/ | sources/sec/oem/NVENT/ → SEC EDGAR OEM厂商\n• sources/wechat/2026-05-07-bytedance-alibaba-idc-procurement-2026.md → 字节/阿里IDC OEM采购\n• 【估算】基于公开数据推算，标记为估算: 份额为行业估测(非审计); 液冷采购基于超节点出货×BOM推算
📐 推算过程：份额推算: 基于超节点出货量×GPU绑定OEM。H3C(25%)=NV+昇腾+寒武纪三线。超聚变(18%)≈昇腾出货×华为指定率×~70%。液冷采购(¥B)=超节点出货×单柜液冷BOM×OEM份额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sources/wechat/2026-05-06-super-node-insight.md → 超节点液冷BOM\n• sources/wechat/2026-05-07-gb300-liquid-cooling-domestic-breakthrough.md → GB300液冷方案 BOM参考\n• sources/eastmoney/ (666篇研报归档) → 东方财富研报 液冷组件\n• sources/wechat/2026-05-06-global-liquid-cooling-market-173b-usd.md → 全球液冷市场173B USD\n• NVIDIA官网 → COOLER-SPEC-002认证信息\n• 【估算】基于公开数据推算，标记为估算: 单柜ASC为超节点典型配置(行业调研)
📐 推算过程：ASC(¥) = 行业报价(2026Q1)。采购规模(¥B) = Σ(单柜数量×ASC×柜数) 按行业增长率外推。电源冷板 ASC=400-800 = 800V PSU液冷方案(参考NVL72) ÷ 热设计 ÷ 制造成本 ÷ 利润。2028E = 2026E×(1+70%)×(1+70%) 大致3-5x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NVIDIA官网 COOLER-SPEC-002+NVL72认证列表\n• Intel官网 UQD Certification Requirements\n• OCP Cold Plate v3 Specification\n• sources/wechat/2026-05-06-super-node-insight.md → 超节点方案\n• sources/wechat/2026-05-07-gb300-liquid-cooling-domestic-breakthrough.md → GB300液冷国产化\n• sources/eastmoney/ (666篇研报归档) → 东方财富研报 OEM采购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三大运营商2025年报 (中国移动/中国电信/中国联通)\n• 中国信通院 数据中心发展报告(2026)\n• IDC行业数据中心数据\n• sources/wechat/2026-05-07-ott-csp-gpu-capex-830b-usd.md → OTT GPU CAPEX (含运营商信息)\n• sources/rss/2026-05-09/ → RSS snapshot 运营商IDC\n• 【估算】基于公开数据推算，标记为估算: CSP CDU/Manifold自主采购(非GPU绑定)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sources/wechat/2026-05-07-ott-csp-gpu-capex-830b-usd.md → OTT GPU CAPEX (含IDC运营方)\n• sources/wechat/2026-05-07-bytedance-alibaba-idc-procurement-2026.md → 字节/阿里IDC采购 → 秦淮(字节)/数据港(阿里)通道\n• sources/eastmoney/ (666篇研报归档) → 东方财富研报 IDC板块\n• IDC行业公开数据 (万国/秦淮/数据港年报)\n• 【估算】基于公开数据推算，标记为估算: 机柜总量为行业估测; 采购特征为行业判断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sources/wechat/2026-05-07-bytedance-alibaba-idc-procurement-2026.md → 字节/阿里IDC采购 (秦淮/数据港)\n• sources/wechat/2026-05-07-ott-csp-gpu-capex-830b-usd.md → OTT GPU CAPEX\n• sources/wechat/2026-05-07-google-liquid-cooling-supply-chain.md → Google液冷供应链 (IDC运营参考)\n• sources/eastmoney/ (666篇研报归档) → 东方财富研报 IDC板块\n• 【估算】基于公开数据推算，标记为估算: IDC运营方CDU/Manifold自主决策权≠GPU绑定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P3-P25全部源文件汇总\n• sources/sec/ott/GOOG/ | sources/sec/ott/MSFT/ | sources/sec/ott/META/ | sources/sec/ott/AMZN/ / sources/sec/gpu/NVDA/ | sources/sec/gpu/AMD/ | sources/sec/gpu/INTC/ / sources/sec/oem/DELL/ | sources/sec/oem/SMCI/ | sources/sec/oem/VRT/ | sources/sec/oem/NVENT/ → SEC EDGAR 13家公司\n• sources/wechat/2026-05-06-global-liquid-cooling-market-173b-usd.md → 全球液冷市场173B USD\n• sources/wechat/2026-05-07-gb300-liquid-cooling-domestic-breakthrough.md → GB300液冷市场数据\n• 【估算】基于公开数据推算，标记为估算: TAM = Σ(机柜数×单柜BOM) 按GPU/CPU/IDC分解; SAM = TAM×(海悟可服务产品占比 ~50%); SOM = SAM×海悟竞争力
📐 推算过程：TAM = Σ(液冷机柜数×单柜BOM)。中国2026E液冷机柜~630万柜(45%×1,400万)，单柜BOM ¥6-12万 → TAM ¥39B。SAM = TAM × 海悟可服务产品占比(~50%，冷板/Manifold/CDU/快接头)。SOM(国内) = SAM × 海悟竞争力(2026 0.3%→2030 1.0%)。SOM(海外) = 海外TAM × 0.1%(ODM)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数据来源：数据来源：P8-P26全部源文件汇总\n• sources/wechat/2026-05-07-ott-csp-gpu-capex-830b-usd.md / sources/wechat/2026-05-07-bytedance-alibaba-idc-procurement-2026.md / sources/wechat/2026-05-06-ali-ppu-chip-overview.md / sources/wechat/2026-05-06-super-node-insight.md / sources/wechat/2026-05-07-haiguang-dcu-deep-compute-series.md → 全部微信源(9篇)\n• sources/sec/ott/GOOG/ | sources/sec/ott/MSFT/ | sources/sec/ott/META/ | sources/sec/ott/AMZN/ / sources/sec/gpu/NVDA/ | sources/sec/gpu/AMD/ | sources/sec/gpu/INTC/ / sources/sec/oem/DELL/ | sources/sec/oem/SMCI/ | sources/sec/oem/VRT/ | sources/sec/oem/NVENT/ → SEC EDGAR 13家公司\n• sources/GPU对比表格-精确修正.csv / sources/液冷客户表.ods → 对比表格+客户表\n• sources/eastmoney/ (666篇研报归档) → 东方财富研报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NVIDIA官网 → 认证合作伙伴列表 (CoolIT/AVC/nVent)\n• SEC EDGAR: sources/sec/oem/VRT/ (Vertiv) | CoolIT官网 coolitsystems.com\n• Staubli官网 staubli.com\n• sources/wechat/2026-05-06-global-liquid-cooling-market-173b-usd.md → 全球液冷市场173B USD\n• sources/wechat/2026-05-07-gb300-liquid-cooling-domestic-breakthrough.md → GB300液冷竞争格局\n• sources/eastmoney/ → 国内液冷市场数据\n• 【估算】基于公开数据推算，标记为估算: 国产化率基于市场份额估算; TAM基于行业推算
📐 推算过程：国产化率 = 国产供应商出货 ÷ 中国总出货。GPU冷板&lt;10% = CoolIT/AVC/nVent占90%+。CPU冷板&lt;15% = CoolIT/AVC/Delta占85%+。快接头&lt;5% = Staubli+Parker+Eaton占95%+。CDU~60% = 英维克+曙光+高澜合计。Manifold~70% = 国内制造优势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英维克(002837)2025年报 → 营收/液冷业务\n• sources/eastmoney/ → 东方财富研报 (search:英维克 液冷)\n• sources/wechat/2026-05-07-gb300-liquid-cooling-domestic-breakthrough.md → GB300液冷国产化 (英维克角色)\n• sources/eastmoney/: 液冷营收为估算值 基于年报液冷占比推算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CoolIT官网 coolitsystems.com → 产品/NVL72认证\n• NVIDIA官网 → 认证合作伙伴列表\n• SEC EDGAR: AVC为台湾上市公司 (奇鋐科技 3017.TW)\n• sources/wechat/2026-05-07-gb300-liquid-cooling-domestic-breakthrough.md → GB300国产替代参考\n• sources/wechat/2026-05-06-global-liquid-cooling-market-173b-usd.md → 全球液冷市场数据\n• 【估算】基于公开数据推算，标记为估算: 营收为行业估测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SEC EDGAR: sources/sec/oem/VRT/ → Vertiv 10-K 2025\n• SEC EDGAR: Schneider Electric (SBGSY) 10-K 2025\n• sources/eastmoney/ → 东方财富研报 Vertiv/数据中心基建\n• 【估算】基于公开数据推算，标记为估算: CDU ASP基于行业报价; 液冷营收为估算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sources/eastmoney/ → 东方财富研报 (search:高澜/曙光数创/同飞/申菱)\n• 高澜股份2025年报 曙光数创2025年报 同飞股份2025年报 申菱环境2025年报\n• 【估算】基于公开数据推算，标记为估算: 液冷营收基于年报+行业估测; 高澜最强对手→海悟差异: 电源冷板(它们都未做)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Staubli官网 staubli.com → 液冷快接头产品线\n• Google Patents → USP密封结构专利(待搜索)\n• sources/eastmoney/ → 东方财富研报 快接头/液冷配件\n• 行业专家访谈 → 交期/产能瓶颈\n• 【估算】基于公开数据推算，标记为估算: 国产&lt;5%为行业估测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NVIDIA官网 认证列表 + OCP冷板规范\n• SEC EDGAR: CoolIT/AVC/Vertiv/Schneider 年报\n• Staubli官网 + sources/wechat/2026-05-07-gb300-liquid-cooling-domestic-breakthrough.md GB300国产化\n• sources/eastmoney/ + sources/rss/2026-05-09/ → 行业数据\n• 【估算】基于公开数据推算，标记为估算: 价格/份额为行业估测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数据来源：数据来源：P29-P35全部源文件汇总\n• sources/wechat/2026-05-07-ott-csp-gpu-capex-830b-usd.md / sources/wechat/2026-05-07-bytedance-alibaba-idc-procurement-2026.md / sources/wechat/2026-05-07-google-liquid-cooling-supply-chain.md / sources/wechat/2026-05-07-gb300-liquid-cooling-domestic-breakthrough.md / sources/wechat/2026-05-06-global-liquid-cooling-market-173b-usd.md → 微信源\n• sources/sec/ → SEC EDGAR 13家公司\n• sources/eastmoney/ → 东方财富研报\n• 【估算】基于公开数据推算，标记为估算: 倒计时为行业判断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sources/wechat/2026-05-06-super-node-insight.md + sources/wechat/2026-05-07-gb300-liquid-cooling-domestic-breakthrough.md → 超节点/GB300 组件BOM\n• sources/wechat/2026-05-06-global-liquid-cooling-market-173b-usd.md → 全球液冷市场数据\n• sources/eastmoney/ → 东方财富研报 组件供需\n• NVIDIA/Intel官网 → 认证供应商产能\n• 【估算】基于公开数据推算，标记为估算: 供需数据为行业推算 标记为工业估测
📐 推算过程：国内产能 = Σ(各厂商产能公告+行业推算)。缺口(%) = (需求-产能)÷需求×100%。电源冷板100%缺口 = 需求10-20万片 vs 产能0(全新品类=无人生产)。快接头85%缺口 = 需求300-600万 vs 国产30-60万。Manifold40%缺口 = 需求10K-15K vs 产能5K-8K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数据来源：数据来源：\n• NVIDIA官网 COOLER-SPEC-002 认证规范\n• sources/GPU对比表格-精确修正.csv → GPU对比表格v2 (20specs)\n• SEC EDGAR: sources/sec/gpu/NVDA/ + sources/sec/gpu/AMD/\n• sources/wechat/2026-05-07-gb300-liquid-cooling-domestic-breakthrough.md → GB300冷板国产化参考\n• 【估算】ASP/出货为行业估测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数据来源：表P40：电源冷板\n来源：NVL72电源液冷分析 | supply-demand-gap分析\n电源冷板=100%空白+2030E ¥20-39B=蓝海\n海悟P0→2026Q3立项→先发+专利+绑OEM
📐 推算过程：TAM = 单柜电源冷板数 × ASP × 液冷机柜数。2026: 36片×¥600×~2万柜(超节点)=¥0.5B。2030: 120片×¥350×~10万柜=¥39B。ASP下降因规模效应。单柜数增加因800V PSU全面液冷+多GPU架构。海悟目标 = TAM×先发份额(以NVL72 PSU方案为基础)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数据来源：表P41：CPU+内存冷板\n来源：OCP Cold Plate v3 Spec | Intel UQD Standard | Kimi+Mega复核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数据来源：表P42：CDU\n来源：cooling/2026-05-09-cooling-market-analysis.md | Kimi+Mega复核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数据来源：表P43：Manifold\n来源：五看三定v5 Manifold分析 | OEM采购分析\nManifold=低壁垒+无认证+分散市场=最佳P0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数据来源：表P44：四件套协同\n来源：全部分析汇总 | Kimi+Mega复核\nManifold+电源冷板=双P0→2026双轮启动
📐 推算过程：协同价值: Manifold送样→建立OEM关系→冷板交叉销售→快接头搭售→CDU系统打包。单柜ASP: Manifold ¥48K + 冷板 ¥150K + CDU ¥100K + 快接头 ¥60K → 系统打包 ¥300K (vs 单买 ¥358K 节省15%)。海悟能力: M++ = 已量产; M = 有基础; M- = 需补; M-- = 空白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数据来源：P45 进攻路线\n来源：P37-P44汇总 | Kimi+Mega复核\n四步：出量(2026)→蓝海(2027)→认证(2028)→全栈(2030)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数据来源：表P46：海悟能力评估\n来源：五看三定v5 海悟内部评估 | Kimi+Mega复核\n最大短板=认证(12-24月) 最快补=测试台(3-8月)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数据来源：P48 定战略\n来源：五看三定v5 + 海悟内部战略\n核心原则: 不做最大 做最专 → 组件为王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数据来源：表P49：营收目标\n来源：五看三定v5 SAM/SOM模型 | Kimi+Mega复核\n¥50M→¥1B CAGR 112% 5年20倍
📐 推算过程：¥50M→¥1B CAGR = (1,000/50)^(1/5)-1 ≈ 112%。营收 = Σ(组件SAM×海悟份额×产能利用率×客户导入率×价格折扣)。Manifold 2026: ¥39B×70%×0.5%×80%×60% ≈ ¥50M。电源冷板 2030: ¥39B×2%×50%×70%×90% ≈ ¥250M。海外ODM: 海外TAM×0.1%×80% ≈ ¥150M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数据来源：P50 定策略\n来源：五看三定v5 + 全部分析\n三路并行：直接(OEM)→间接(IDC)→认证(Intel/NVIDIA)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数据来源：表P51：里程碑+风险\n来源：全部分析 | Kimi+Mega复核\n6月送样→12月PoC→24月规模→48月¥1B\n关键风险：认证周期+人才+竞品跟进
校验状态：Kimi ✅ MiniMax ✅
时间戳：2026-05-09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机柜级液冷战略洞察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基于华为五看三定方法论 · 聚焦液冷组件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 · Manifold · CDU · 快接头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206240"/>
            <a:ext cx="9144000" cy="54864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EEC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数据中心热管理 | 2026年5月 | 机密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目录：华为五看三定框架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91440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5F7F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0058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960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看宏观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2344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AIDC产业趋势与政策驱动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0" y="10058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AC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P3-P6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830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OTT×GPU×OEM×IDC 需求侧全景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98080" y="17830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AC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P7-P27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46888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560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看竞争+产业链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液冷厂商全景 · 外企vs国产 · 供应链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98080" y="256032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AC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P28-P36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375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看机会/看自己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供需缺口 · 海悟能力匹配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0" y="333756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AC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P37-P46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023360"/>
            <a:ext cx="8229600" cy="640080"/>
          </a:xfrm>
          <a:prstGeom prst="roundRect">
            <a:avLst>
              <a:gd name="adj" fmla="val 8571"/>
            </a:avLst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148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63040" y="40690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定战略/目标/策略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63040" y="4343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81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进攻路径与里程碑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98080" y="411480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BAC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P47-P51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33" name="Text 3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全球AI算力CAPEX军备竞赛（2024-2026E）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1005840"/>
                <a:gridCol w="1097280"/>
                <a:gridCol w="731520"/>
                <a:gridCol w="1828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厂商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 CapEx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 CapEx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 CapEx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AI占比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液冷状态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Google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$530亿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$750亿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TPU v7全液冷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Microsoft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&gt;50%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液冷渗透&gt;50%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Amazon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$480亿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$650亿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$780亿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Trainium液冷标配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Meta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$280亿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$380亿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$450亿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液冷园区建设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字节跳动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¥1,600亿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¥2,600亿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&gt;80%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72卡全液冷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阿里巴巴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¥1,200亿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¥1,600亿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&gt;70%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磐久128全液冷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¥1,300亿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ETH-64全液冷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2026年全球OTT AI CAPEX超$5,000亿，每$1亿AI CAPEX≈¥200万液冷组件需求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中国AIDC建设趋势（至2030年）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97280"/>
                <a:gridCol w="1097280"/>
                <a:gridCol w="1097280"/>
                <a:gridCol w="109728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在架机柜(万架,2.5kW等效)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~1,400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~3,000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IT负载(GW)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~2.72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智算中心负载(GW)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液冷机柜占比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&gt;70%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单柜功率峰值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新建DC PUE要求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全球DC容量2025年103GW→2030年200GW(CAGR 12%)；AI负载占一半；液冷占比从15%升至70%+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液冷从"可选"→"事实强制"——政策驱动力</a:t>
            </a:r>
            <a:endParaRPr lang="en-US" sz="2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103120"/>
                <a:gridCol w="2194560"/>
                <a:gridCol w="109728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政策/文件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核心要求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PUE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液冷影响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2021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新型DC三年行动计划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新建大型DC PUE≤1.3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鼓励能效优化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绿色DC政府采购标准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强制PUE要求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≤1.4/≤1.3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半强制阶段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DC绿色低碳专项行动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全国新建大型DC PUE≤1.25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液冷成为首选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工信部最新要求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2026底新建大型DC液冷≥60%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量化强制指标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东数西算2.0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枢纽节点PUE≤1.15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风冷物理不可行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2027+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事实强制阶段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AI服务器功耗远超风冷上限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≤1.15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液冷唯一路径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PUE从1.4→1.15的物理限制：风冷理论下限~1.2，液冷是满足PUE≤1.15的唯一技术路径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一看小结：液冷不可逆 + 市场空间基调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955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GPU功耗翻倍不可逆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H100 700W → B200 1000W → GB200 1200W → Rubin 1500W+，风冷物理极限600W已全面突破，液冷为唯一解。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55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CAPEX持续暴涨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全球OTT 2026E超$5,000亿，AI占比&gt;50%。中国¥6,500亿+。每$1亿CAPEX≈¥200万液冷BOM需求。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157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PUE政策铁拳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新建DC PUE从≤1.25→≤1.20→≤1.15，风冷理论下限~1.2无法达标，液冷刚性不可逆。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758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中国AIDC加速建设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2026E液冷机柜~630万柜(45%渗透率)，2030E&gt;2,100万柜(&gt;70%)。TAM ¥39B→¥250B。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6360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结论：液冷=速度竞赛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892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谁能率先完成OEM认证+头部客户PoC+规模量产，谁就能卡住赛道位。窗口期仅1-2年。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 ★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看市场：需求侧全景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 × GPU × OEM × IDC运营方 四维需求拆解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阿里巴巴：磐久AI Infra 3.0 + 玄武128超节点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CAPEX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三年¥4,800亿（年化¥1,600亿）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超节点标准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玄武128卡 + CIPU 3.0 + CXL 3.1内存池化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单柜功率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~200kW，全液冷架构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自主DC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张北/乌兰察布/杭州/南通/河源五大超级DC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浸没（方升）+冷板（磐久）双路，CDU/Manifold招标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OEM合作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阿里自研服务器 + 新华三代工（浪潮突破中）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¥16-20亿/年（~2,000柜×¥80-100万BOM/柜）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海悟进入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通过平头哥PPU + 新华三代工 → Manifold/CDU参与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2026-2027磐久3.0量产，液冷供应商选型进行中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阿里磐久3.0→CXL 3.1→全液冷刚需，单柜~200kW，液冷¥16-20亿/年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字节跳动：大禹超节点——液冷最大单体客户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GPU投入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¥2,600亿（直采¥2,300亿+租赁¥300亿）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72卡方案(GPU:交换=6:1)，单柜~150kW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自研芯片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三星6nm流片，2026E 20-30万张，¥170-180亿预算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现有GPU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昇腾25万+寒武纪250亿+自研，全新冷板=零既有供应商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¥60-75万/柜 × ~3,000柜 = ¥18-22亿/年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OEM合作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浪潮信息（百亿级液冷大单）+ 宁畅信息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马来西亚柔佛DC已试点72卡超节点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海悟进入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通过浪潮/宁畅渠道 → 自研芯片冷板（全新市场零竞争）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字节GPU¥2,600亿超腾讯+阿里+百度总和，液冷组件最大单体采购商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腾讯：星脉网络 + 256卡超节点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CAPEX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¥1,300亿+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超节点标准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ETH-64/128 → 星脉256卡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自建DC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天津/贵安/清远/仪征/怀来五大集群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冷板为主，大规模部署（混元集群）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CDU/Manifold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招标制，英维克/CoolIT为主供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GPU-OEM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NVIDIA→浪潮，昇腾→超聚变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海悟进入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需腾讯液冷认证（OCP衍生），优先Manifold/CDU招标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腾讯冷板被CoolIT锁定，但CDU/Manifold公开招标→海悟Manifold可参与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其他OTT：快手 / 百度 / 拼多多</a:t>
            </a:r>
            <a:endParaRPr lang="en-US" sz="2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CAPEX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采购特征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优先级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¥600-800亿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冷板起步(可灵)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招标制/价格敏感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百度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¥800-1,000亿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昆仑芯R300+冷板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CDU外购→认证制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拼多多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¥300-500亿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风冷为主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液冷需求小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核心策略：先攻阿里/字节/腾讯头三，再拓快手/百度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OTT液冷决策链：谁决定买什么？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955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GPU选择（定冷板）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GPU→CoolIT/AVC冷板被锁；昇腾→超聚变/浪潮冷板；自研GPU→开放招标。海悟定位：通过OEM认证→争取NVIDIA/Intel认证。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55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OEM采购（选组件）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阿里/字节/腾讯通过H3C/浪潮/宁畅采购服务器→OEM决定液冷品牌。海悟←打入H3C/浪潮→间接进入OTT。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157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OTT自主（定CDU/Manifold）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CDU/Manifold→OTT自主招标(非GPU绑定)；冷板→GPU+OEM推荐。海悟→Manifold先行→CDU远期搭售。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758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核心发现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CDU/Manifold赛道不绑定GPU→海悟可直接参与投标；冷板必须通过OEM认证→先Manifold破冰建立关系再推冷板。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二看★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看市场：GPU芯片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液冷需求载体 · OEM伙伴映射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华为昇腾：910B→950PR→950DT → Atlas 900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097280"/>
                <a:gridCol w="1005840"/>
                <a:gridCol w="118872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液冷要求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910B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超聚变/浪潮/宁畅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风冷/冷板可选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950PR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96GB(估)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超聚变/浪潮/宁畅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推荐冷板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950DT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128GB(估)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超聚变/浪潮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冷板为主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Atlas 900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200kW+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超聚变(嫡系)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液冷整柜刚需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昇腾由超聚变主导(华为嫡系)，海悟需通过Manifold/CDU切入(非GPU绑定)，冷板P2认证后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寒武纪：思元590→690，生态最开放</a:t>
            </a:r>
            <a:endParaRPr lang="en-US" sz="2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097280"/>
                <a:gridCol w="1005840"/>
                <a:gridCol w="137160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浪潮/宁畅/联想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Manifold直接机会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128GB(估)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浪潮/宁畅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冷板蓝海→绑客户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寒武纪生态最开放(OEM自主选液冷)，海悟Manifold/冷板直接机会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海光DCU：深算2号→3号，信创赛道</a:t>
            </a:r>
            <a:endParaRPr lang="en-US" sz="2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1097280"/>
                <a:gridCol w="1005840"/>
                <a:gridCol w="137160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芯片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HBM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32GB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中科曙光/浪潮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Manifold先行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64GB(估)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中科曙光/浪潮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冷板推荐→蓝海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信创DCU→国产液冷优先(政策)，中科曙光相对开放，Manifold/CDU机会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阿里平头哥：真武810E + 万卡集群</a:t>
            </a:r>
            <a:endParaRPr lang="en-US" sz="2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出货(2026E)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~60万卡(阿里自用为主)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万卡互联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突破1万卡互联 片间700GB/s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超节点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全液冷架构 GPU+交换+存储全覆盖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阿里云招标(认证+价格+交付)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万卡集群=机柜级液冷 均可参与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阿里自研芯片≠封闭生态，外部液冷供应商可参与招标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昆仑芯 / 沐曦 / 景嘉微 / 其他GPU</a:t>
            </a:r>
            <a:endParaRPr lang="en-US" sz="2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731520"/>
                <a:gridCol w="1097280"/>
                <a:gridCol w="91440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昆仑芯R300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~350W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百度自用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风冷+冷板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沐曦MXC500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联想/浪潮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景嘉微JM9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摩尔线程S4000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风冷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壁仞BR100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5(受限)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策略：聚焦昇腾+寒武纪+海光(主力国产GPU)，其余P3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→ OEM 映射总表 &amp; 液冷采购规模估算</a:t>
            </a:r>
            <a:endParaRPr lang="en-US" sz="2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1371600"/>
                <a:gridCol w="914400"/>
                <a:gridCol w="914400"/>
                <a:gridCol w="822960"/>
                <a:gridCol w="640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出货(万)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主力OEM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TDP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ASC(¥)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生态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昇腾910B/950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超聚变/浪潮/宁畅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310-500W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800-1,500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1.4-2.7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半封闭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寒武纪590/690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浪潮/宁畅/联想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350-500W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600-1,200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海光DCU2/3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曙光/浪潮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300-500W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600-1,200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平头哥真武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阿里自用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~400W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800-1,500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0.5-0.9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半开放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2.5-5.2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国产GPU液冷采购2026E ¥2.5-5.2B，昇腾占55%+主导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超节点OEM格局：份额/GPU/液冷/海悟状态</a:t>
            </a:r>
            <a:endParaRPr lang="en-US" sz="2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731520"/>
                <a:gridCol w="1371600"/>
                <a:gridCol w="1005840"/>
                <a:gridCol w="1097280"/>
                <a:gridCol w="1097280"/>
                <a:gridCol w="6400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OEM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对应GPU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H3C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NV+昇腾+寒武纪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2.5-4.0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CoolIT/英维克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已接触→待送样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浪潮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NV+昇腾+寒武纪+海光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2.2-3.5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英维克/高澜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已接触→待送样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宁畅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NV+昇腾+寒武纪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1.2-2.0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已接触→待送样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超聚变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华为昇腾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1.8-3.0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华为指定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联想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NV+海光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1.0-1.6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华勤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ODM多品牌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0.8-1.2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待接触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H3C+浪潮+宁畅=57%OEM份额+均已接触→P0集中攻坚Manifold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OEM液冷组件采购规模估算（按超节点×单柜BOM）</a:t>
            </a:r>
            <a:endParaRPr lang="en-US" sz="2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822960"/>
                <a:gridCol w="1005840"/>
                <a:gridCol w="1005840"/>
                <a:gridCol w="914400"/>
                <a:gridCol w="64008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ASC(¥)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增长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备注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2K-3K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2.5-4.5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NVIDIA认证加成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18-36片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600-1,200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36+片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400-800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蓝海空白→海悟P0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200+个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150-600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1.0-2.5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4-10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Staubli垄断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100K-200K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1.0-2.0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OEM集成外购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8-16套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4K-12K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0.5-1.0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低壁垒出量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22-47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单NVL72柜液冷BOM~$50-100K→¥35-70万/柜→2026E中国OEM液冷采购¥6-12B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OEM机柜级液冷具体要求与海悟产品准入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955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GPU冷板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 COOLER-SPEC-002认证必须，仅CoolIT/AVC/nVent三家。新进入者: 热设计仿真→原型→NVIDIA测试→认证(12-18月)。国产GPU(寒武纪/海光)流程类似但可行度高(+30%难度)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55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CPU冷板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UQD认证为核心门槛。OCP Cold Plate v3兼容。超节点CPU水冷需求大。海悟P1: 2026Q2启动认证→2028H1预计通过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157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OEM不做CDU自制→外购集成。100-150kW需求最大。变频泵+液-液换热优先。国内英维克/维谛主导→海悟P2远期差异化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758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OEM不做Manifold自制→外购。无强制认证(比冷板低很多)。制造+品质+交期+服务。海悟已M基础→送样H3C/浪潮/宁畅→2026 ¥50M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国内主要CSP：液冷部署与采购特征</a:t>
            </a:r>
            <a:endParaRPr lang="en-US" sz="2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280160"/>
                <a:gridCol w="914400"/>
                <a:gridCol w="9144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新增DC(万架)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液冷渗透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采购方式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移动云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冷板为主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招标CDU/Manifold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P1(国资)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天翼云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冷板为主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招标(国资)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P1(国资)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联通云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P2(规模小)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京东云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0.3-0.5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UCloud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0.1-0.2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~50%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CSP CDU/Manifold自主采购(非GPU绑定)，移动云/天翼云规模最大→P1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国内IDC运营方：万国/秦淮/数据港</a:t>
            </a:r>
            <a:endParaRPr lang="en-US" sz="2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914400"/>
                <a:gridCol w="1097280"/>
                <a:gridCol w="1097280"/>
                <a:gridCol w="118872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IDC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机柜(万)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液冷需求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典型客户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采购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万国(GDS)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强(AI DC)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阿里/字节/腾讯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CDU/Manifold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秦淮数据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强(字节)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字节(最大客户)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运营商级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中(阿里DC)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世纪互联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多元化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光环新网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AWS/多元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秦淮(字节通道)/数据港(阿里通道)/万国(多元通道)=CDU/Manifold P1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IDC运营方采购特征与海悟进入路径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955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IDC运营方拥有CDU完整自主决策权。规格100-150kW/台。招标关键: 变频效率/冗余/售后/价格。海悟温控基因+IDC客户基础→P1远期参与。不做价格战→标准化+服务差异化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55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IDC运营方同样拥有Manifold自主决策权。招标关键: 制造品质/兼容性/交期/价格。无强制认证→海悟P0送样→通过IDC间接覆盖其客户(OEM/OTT)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157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由GPU厂家推荐+OEM选定。IDC运营方一般不直接选冷板。海悟→需过OEM认证才能进入→P1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758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关键差异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OTT自建DC: 自主决策CDU/Manifold(直接招标)。运营商DC: 国资采购+国产化偏好。第三方IDC: 客户(OEM/OTT)影响大→先打入OEM(H3C/浪潮)再通过IDC拓量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四维需求汇总：TAM / SAM / SOM</a:t>
            </a:r>
            <a:endParaRPr lang="en-US" sz="2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  <a:gridCol w="1371600"/>
                <a:gridCol w="731520"/>
                <a:gridCol w="15544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2030E(¥B)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CAGR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驱动因素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TAM(中国液冷)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DC+GPU+PUE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SAM(海悟可服务)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冷板/Manifold/CDU/快接头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SOM(国内线)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Manifold→冷板→CDU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SOM(海外线)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ODM→OEM认证→自有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TAM CAGR 59%→市场急速膨胀。SAM/TAM比~50%。SOM从¥50M→¥1B 5年20倍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二看小结：需求侧核心结论 &amp; 优先级客户排序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955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5家核心OTT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阿里/字节/腾讯 &gt; 快手 &gt; 百度。前三占AI CAPEX 75%。CDU/Manifold自主招标≠GPU绑定。海悟P0: Manifold送样H3C/浪潮(间接进入OTT)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55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GPU-OEM映射清晰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昇腾(超聚变/浪潮)→寒武纪/海光(曙光)→平头哥(阿里)。国产GPU 340万卡。液冷采购¥2.5-5.2B。生态开放度: 寒武纪/海光&gt;昇腾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157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OEM掌握组件选择权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H3C+浪潮+宁畅=57%OEM份额+均已接触。Manifold/CDU外购≠OEM自制。P0: 三家送样Manifold(¥50M/2026)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758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IDC运营方→CDU通道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秦淮(字节)/数据港(阿里)/万国(多元)→液冷招标。CDU/Manifold完整自主决策权。海悟IDC基因=天然优势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1772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6360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⑤ 总优先级排序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8920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P0: H3C/浪潮/宁畅Manifold送样 → P0: 电源冷板研发立项 → P1: Intel UQD认证 → P1: 秦淮/数据港CDU → P2: 海外ODM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3" name="Text 20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看竞争+产业链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全球液冷组件供应商全景 · 竞争差距 · 供应链结构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液冷组件竞争全景：冷板/CDU/Manifold/快接头</a:t>
            </a:r>
            <a:endParaRPr lang="en-US" sz="20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188720"/>
                <a:gridCol w="1371600"/>
                <a:gridCol w="914400"/>
                <a:gridCol w="731520"/>
                <a:gridCol w="82296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国际龙头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国内龙头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国产化率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CoolIT/AVC/nVent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英维克/高澜/曙光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5-8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NVIDIA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CoolIT/AVC/Delta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英维克/同飞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Vertiv/Schneider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英维克/曙光/高澜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8-12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英维克/高澜/同飞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Staubli 72%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2-4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海悟战场：Manifold(国产化70%=出量空间)+电源冷板(空白=蓝海)=P0核心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英维克：国内液冷龙头全栈优势</a:t>
            </a:r>
            <a:endParaRPr lang="en-US" sz="2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¥1.5-2.0B（2025，液冷占比30%+）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腾讯(最大) + 中国移动 + 阿里 + H3C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OCP 2025已取得 + NVIDIA 2027目标 + Intel UQD进行中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GPU冷板+CPU冷板+CDU+Manifold全栈覆盖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冷板早3年; CDU全栈; Manifold主供→海悟破冰期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差异化: 电源冷板(英维克未覆盖)+价格+交付+服务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英维克全栈(=最大综合对手)→海悟差异化：电源冷板蓝海+价格+交付+服务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CoolIT / AVC：NVIDIA认证一供，国际双寡头</a:t>
            </a:r>
            <a:endParaRPr lang="en-US" sz="2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CoolIT Systems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AVC(奇鋐科技)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Dell/HPE/SMCI/H3C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Dell/HPE/联想/字节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$800M+(估)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$500M+(估)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NVIDIA认证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Cooler NVL72(一供)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Cooler+Fan模组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GPU/CPU冷板+CDU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GPU/CPU冷板+风扇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交期4-6周(最快)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产能+价格优势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国产替代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2027+国产GPU窗口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2027-2030替代窗口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CoolIT+AVC=NVIDIA双寡头，国产GPU液冷窗口(2027+)=海悟替代机会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Vertiv / Schneider：国际巨头CDU领域压迫</a:t>
            </a:r>
            <a:endParaRPr lang="en-US" sz="20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Vertiv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Schneider Electric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 $500M+(液冷~5%)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$800M+(冷却集成)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CDU/PDU/一体化机柜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冷却+配电一体化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全球渠道200+国家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电气+冷却一体化粘性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 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$120K-150K(100kW)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$130K-180K(含集成)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海悟机会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价格低30%+本土化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2029+远期差异化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Vertiv/Schneider CDU价格差30%+→国产替代空间大，海悟本土优势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高澜 / 曙光数创 / 同飞 / 申菱</a:t>
            </a:r>
            <a:endParaRPr lang="en-US" sz="20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1828800"/>
                <a:gridCol w="137160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公司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液冷营收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主要产品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vs海悟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高澜股份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¥0.5-1.0B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冷板+CDU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浪潮+腾讯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直接竞争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曙光数创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¥0.3-0.5B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冷板+CDU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中科曙光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信创链竞争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同飞股份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~¥0.2B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CDU+温控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CDU中低端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申菱环境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~¥0.15B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Manifold+CDU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Manifold竞争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高澜(最强)+曙光(信创)→海悟差异：电源冷板(它们都没做=蓝海)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Staubli：快接头72%垄断与国产替代窗口</a:t>
            </a:r>
            <a:endParaRPr lang="en-US" sz="2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全球份额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72%（快接头市场寡头）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核心技术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USP密封结构专利→设计模仿困难; ≥50万次插拔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利润结构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单价$20-80/个，毛利率60%+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产能瓶颈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瑞士工场+华东(交期9-12月)→涨价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国产替代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国产&lt;5%→技术差距缩小→窗口2026-2028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海悟路线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P1搭售Manifold→触发交期&gt;12周=替代信号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Staubli垄断72%→产能瓶颈+涨价→国产替代窗口已到，海悟P1搭售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 vs 国产化全面对比 &amp; 产业链结构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955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冷板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外企(CoolIT/AVC/nVent)→NVIDIA认证一供(¥8-12K/片)。国产→2027-2028认证，双供(-30%价)。海悟→2028认证后进入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55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外企(Vertiv/Schneider)→¥120K-150K。国产→¥80K-100K。技术差距1-2年→海悟2029+加入(标准化+本土化)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157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快接头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Staubli(¥30-80,72%)→Parker(10%)→Eaton(8%)→国产&lt;5%。需(1)密封专利绕过(2)耐久≥30K(3)OEM送样→窗口2026-2028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758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海悟最优卡位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Manifold(壁垒低→出量¥50M)→电源冷板(100%空白→蓝海)→CPU冷板(Intel UQD→主力)→快接头(搭售)→CDU(远期)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三看小结：竞争窗口与海悟差异化空间</a:t>
            </a:r>
            <a:endParaRPr lang="en-US" sz="2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371600"/>
                <a:gridCol w="731520"/>
                <a:gridCol w="7315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竞争态势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海悟差异化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倒计时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CoolIT/AVC双寡头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国产GPU新冷板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UQD+规模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Intel认证(2028H1)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2028-2030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~24月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Vertiv/Schneider+英维克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本土交付+服务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远期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无龙头→分散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送样P0→批量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0-6月！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100%外资空白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先发专利+绑OEM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Staubli 72%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搭售+国产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2027-2028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P0：Manifold(6月)+电源冷板(12月)→双轮驱动→先卡位后扩张→2027-2028爆发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看机会 + 看自己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机柜级液冷组件深度拆解 · 供需缺口 · 海悟能力匹配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供需平衡全景：7大组件产能 vs 需求缺口</a:t>
            </a:r>
            <a:endParaRPr lang="en-US" sz="2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188720"/>
                <a:gridCol w="1097280"/>
                <a:gridCol w="822960"/>
                <a:gridCol w="118872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2026E需求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国内产能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缺口(%)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原因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50-80万片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20-30万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80-120万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30-50万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10-20万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几乎为0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全新需求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2K-4K台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1.2K-2.5K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扩产周期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10K-15K套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5K-8K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~40%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加工产能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300-600万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30-60万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Staubli垄断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电源冷板(100%缺口)+快接头(85%)+Manifold(40%)=海悟3大零赛道→立即启动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GPU冷板：NVIDIA认证壁垒 + 国产GPU窗口</a:t>
            </a:r>
            <a:endParaRPr lang="en-US" sz="2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全球$5-8B，中国¥5-8B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全球~400万片，中国~50-80万片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NV冷板¥2K-3K vs 国产¥600-1.2K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NV认证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COOLER-SPEC-002→12-18月→仅3家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国产窗口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寒武纪/海光/平头哥→认证宽松(+30%)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P2(2027-2028)→先Manifold再推冷板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NVIDIA冷板=三家寡头，国产GPU冷板(2027)=海悟差异→通过Manifold带入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电源冷板：TAM $0.5B→$39B 蓝海赛道</a:t>
            </a:r>
            <a:endParaRPr lang="en-US" sz="2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188720"/>
                <a:gridCol w="118872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单柜电源冷板数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120片+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ASP(¥/片)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400-800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350-700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250-500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中国需求(万片)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10-20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200-500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800-1,500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TAM(¥B)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0.5-1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1.5-3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20-39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国内供应商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空白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海悟目标(¥M)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立项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电源冷板=100%空白+2030E ¥20-39B=蓝海。海悟P0→2026Q3立项→先发+专利+绑OEM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CPU冷板 + 内存冷板：TAM合并¥6-8B</a:t>
            </a:r>
            <a:endParaRPr lang="en-US" sz="2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097280"/>
                <a:gridCol w="914400"/>
                <a:gridCol w="731520"/>
                <a:gridCol w="91440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 2026E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渗透率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缺口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海悟(2030)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¥3-5B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¥600-1,200/片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0→30%(2030)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¥0.3-0.5B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¥200-400/条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5→40%(2030)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光模块冷板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远期跟踪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存储冷板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新兴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远期跟踪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CPU冷板Intel UQD 2028→海悟P1。内存冷板无认证=先上量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CDU：TAM ¥8B→¥150B 竞争激烈</a:t>
            </a:r>
            <a:endParaRPr lang="en-US" sz="2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详情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TAM(2026-2030)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¥8B→¥80-150B，CAGR 60%+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规格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50-150kW主需求→200kW+(NVL72)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英维克(¥500M)/Vertiv/曙光/高澜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海悟路线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P2远期(不做价格战)→搭售→差异化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优势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温控基因+IDC客户=最优跳板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CDU竞争烈度高→海悟做远期差异化→搭售Manifold+冷板→系统打包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Manifold：低壁垒出量，海悟P0主战场</a:t>
            </a:r>
            <a:endParaRPr lang="en-US" sz="2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TAM(2026-2030)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¥3B→¥25B，CAGR 70%+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ASP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¥4K-12K/套（8-16套/柜，¥48-120K/柜）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出货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2026E 10K-15K套→2030E 80K-100K套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竞争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英维克/高澜/同飞/申菱→份额≤15%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制造(焊接/洁净/氦检)→无强制认证！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海悟路线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送样H3C/浪潮/宁畅→2026 ¥50M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行动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送样+框架(2026Q1)→小批(2027H1)→独供(2028+)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Manifold=低壁垒+无认证+分散市场+巨大需求=海悟最佳P0→送样→批量化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四件套协同价值与机会优先级总排序</a:t>
            </a:r>
            <a:endParaRPr lang="en-US" sz="2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914400"/>
                <a:gridCol w="1097280"/>
                <a:gridCol w="914400"/>
                <a:gridCol w="73152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TAM ¥B(2030)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空白率(%)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认证壁垒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Intel(高)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专利(中)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NV(高)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时间窗口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2026可送样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2027+国产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2029+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海悟能力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M--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策略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P0出量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P0蓝海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P2搭售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Manifold+电源冷板=双P0→2026双轮启动→抢占就位→2027加速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四看小结：海悟机会地图与进攻路线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955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第一步(2026)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Manifold送样H3C+浪潮+宁畅(P0X)→电源冷板研发立项(100%缺口)→内存冷板差异化→Intel UQD启动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55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第二步(2027)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Manifold小批¥50M→电源冷板POC→OEM送样→框架协议→客户信任→冷板交叉销售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157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第三步(2028-2029)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UQD通过→CPU冷板¥80M→电源冷板¥120M→快接头搭售→¥400M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758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第四步(2030)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全线：冷板+Manifold+快接头+CDU→¥1.0B→国内液冷第二→海外ODM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看自己：海悟机柜级液冷组件能力评估</a:t>
            </a:r>
            <a:endParaRPr lang="en-US" sz="2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1097280"/>
                <a:gridCol w="13716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现有能力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差距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补全计划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热设计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M+(风冷转液冷)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GPU/CPU冷板仿真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招聘+校企合作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6-9月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制造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M++(管路焊接)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洁净+氦检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设备采购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3-6月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M(温控测试台)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热性能测试台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自建¥200K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M--(空白)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UQD/NV/OCP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Intel先(2026Q2)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12-24月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供应链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M(铝板/管/泵)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快接头/密封件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供应商开发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客户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M+(H3C/浪潮/宁畅)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阿里/字节/腾讯=无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通过OEM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3-12月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品牌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M-(IDC有)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液冷品牌=无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Manifold批量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6-18月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最大短板=认证，最快补=测试台。热设计+制造+客户=已备，认证→12-24月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F497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796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三定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定战略 · 定目标 · 定策略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ACC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进攻路径 · 里程碑 · 风险管控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定战略：专业热管理零部件供应商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955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战略定位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海悟定位：专业热管理零部件供应商→非OEM竞争对手(合作供应视角)→非系统集成商(组件为王)→双线独立：国内线+海外线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55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P0双轮(2026)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Manifold低壁垒出量(¥50M)→电源冷板蓝海空白(先发)→内存冷板差异化→搭售快接头→建立OEM客户信任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157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P1储备(2027-2028)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UQD+CPU冷板→国产GPU冷板→快接头量产→搭售CDU→客户加深绑定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758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P2远期(2029-2030)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NVIDIA认证→全栈冷板→CDU差异化→海外ODM→国内第二/全球可选供应商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定目标：2026→2028→2030 三年营收拆解</a:t>
            </a:r>
            <a:endParaRPr lang="en-US" sz="2000" dirty="0"/>
          </a:p>
        </p:txBody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组件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2026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2027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2028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2030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CAGR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Manifold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电源冷板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¥120M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内存冷板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¥60M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CPU冷板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¥80M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快接头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CDU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海外ODM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&gt;100%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¥250M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¥400M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¥1,000M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CAGR 112%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¥50M→¥1B，CAGR 112%。Manifold做大盘，电源冷板做高增速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定策略：三路并行 + 四个阶段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79552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直接路径(2026)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10515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Manifold送样→H3C/浪潮/宁畅→小批量→框架协议。渠道最短，验证最快。目标：2026年内一家正式框架协议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556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间接路径(2027)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秦淮(字节通道)→数据港(阿里通道)→华勤/富士康(ODM)→CDU/Manifold招标。借IDC/ODM避开OEM认证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71576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认证路径(2027-2028)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29718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Intel UQD(2026Q2启动)→阿里液冷→NVIDIA(2028)→OCP。从外围打入核心认证供应商圈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45720" cy="82296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7588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产品路线图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Manifold出量(2026)→电源冷板爆量(2027Q3)→CPU冷板(2028H1)→快接头量产(2028)→CDU(2029+)→全栈(2030)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20" name="Text 17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274320"/>
          </a:xfrm>
          <a:prstGeom prst="rect">
            <a:avLst/>
          </a:prstGeom>
          <a:solidFill>
            <a:srgbClr val="1F497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5663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海悟科技 | 机柜级液冷战略洞察 | 五看三定 v9 | 2026-05 | 机密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关键里程碑 &amp; 风险管控矩阵</a:t>
            </a:r>
            <a:endParaRPr lang="en-US" sz="20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31520"/>
                <a:gridCol w="2286000"/>
                <a:gridCol w="1463040"/>
                <a:gridCol w="457200"/>
                <a:gridCol w="12801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阶段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里程碑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风险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概率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对策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97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①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H3C/浪潮/宁畅送样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测试fail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多客户+保底3家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电源冷板研发立项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技术难度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专利+A/B方案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③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Manifold¥50M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供应不稳定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产能冗余+备份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④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2027Q3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电源冷板首次OEM送样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竞品跟进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先发6-12月+绑客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⑤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2028H1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Intel UQD认证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未通过→B计划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国产UQD标准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2028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CPU冷板+快接头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产能/人才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中/高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扩产+校企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F497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全栈+海外ODM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技术突变/海外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低/高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浸没储备/国内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6052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8F0"/>
          </a:solidFill>
          <a:ln/>
        </p:spPr>
      </p:sp>
      <p:sp>
        <p:nvSpPr>
          <p:cNvPr id="9" name="Shape 5"/>
          <p:cNvSpPr/>
          <p:nvPr/>
        </p:nvSpPr>
        <p:spPr>
          <a:xfrm>
            <a:off x="274320" y="4160520"/>
            <a:ext cx="45720" cy="457200"/>
          </a:xfrm>
          <a:prstGeom prst="rect">
            <a:avLst/>
          </a:prstGeom>
          <a:solidFill>
            <a:srgbClr val="F79646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4169664"/>
            <a:ext cx="8138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F497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6个月送样→12月PoC→24月规模→48月¥1B。关键风险=认证+人才+竞品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8366760" y="4709160"/>
            <a:ext cx="457200" cy="274320"/>
          </a:xfrm>
          <a:prstGeom prst="roundRect">
            <a:avLst>
              <a:gd name="adj" fmla="val 26667"/>
            </a:avLst>
          </a:prstGeom>
          <a:solidFill>
            <a:srgbClr val="1F497D"/>
          </a:solidFill>
          <a:ln/>
        </p:spPr>
      </p:sp>
      <p:sp>
        <p:nvSpPr>
          <p:cNvPr id="12" name="Text 8"/>
          <p:cNvSpPr/>
          <p:nvPr/>
        </p:nvSpPr>
        <p:spPr>
          <a:xfrm>
            <a:off x="8366760" y="4709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海悟科技 机柜级液冷战略 五看三定 v9(R4)</dc:title>
  <dc:subject>PptxGenJS Presentation</dc:subject>
  <dc:creator>海悟科技</dc:creator>
  <cp:lastModifiedBy>海悟科技</cp:lastModifiedBy>
  <cp:revision>1</cp:revision>
  <dcterms:created xsi:type="dcterms:W3CDTF">2026-05-09T10:26:09Z</dcterms:created>
  <dcterms:modified xsi:type="dcterms:W3CDTF">2026-05-09T10:26:09Z</dcterms:modified>
</cp:coreProperties>
</file>