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77"/>
    <p:sldId id="264" r:id="rId82"/>
    <p:sldId id="265" r:id="rId83"/>
    <p:sldId id="266" r:id="rId9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25"/>
    <p:sldId id="275" r:id="rId26"/>
    <p:sldId id="276" r:id="rId78"/>
    <p:sldId id="277" r:id="rId72"/>
    <p:sldId id="278" r:id="rId73"/>
    <p:sldId id="279" r:id="rId74"/>
    <p:sldId id="280" r:id="rId75"/>
    <p:sldId id="281" r:id="rId76"/>
    <p:sldId id="282" r:id="rId21"/>
    <p:sldId id="283" r:id="rId20"/>
    <p:sldId id="284" r:id="rId19"/>
    <p:sldId id="285" r:id="rId22"/>
    <p:sldId id="286" r:id="rId23"/>
    <p:sldId id="287" r:id="rId79"/>
    <p:sldId id="288" r:id="rId37"/>
    <p:sldId id="289" r:id="rId41"/>
    <p:sldId id="290" r:id="rId80"/>
    <p:sldId id="291" r:id="rId43"/>
    <p:sldId id="292" r:id="rId42"/>
    <p:sldId id="293" r:id="rId30"/>
    <p:sldId id="294" r:id="rId32"/>
    <p:sldId id="295" r:id="rId33"/>
    <p:sldId id="296" r:id="rId31"/>
    <p:sldId id="297" r:id="rId34"/>
    <p:sldId id="298" r:id="rId38"/>
    <p:sldId id="299" r:id="rId35"/>
    <p:sldId id="300" r:id="rId36"/>
    <p:sldId id="301" r:id="rId50"/>
    <p:sldId id="302" r:id="rId55"/>
    <p:sldId id="303" r:id="rId63"/>
    <p:sldId id="304" r:id="rId64"/>
    <p:sldId id="305" r:id="rId65"/>
    <p:sldId id="306" r:id="rId66"/>
    <p:sldId id="307" r:id="rId45"/>
    <p:sldId id="308" r:id="rId46"/>
    <p:sldId id="309" r:id="rId40"/>
    <p:sldId id="310" r:id="rId39"/>
    <p:sldId id="311" r:id="rId56"/>
    <p:sldId id="312" r:id="rId57"/>
    <p:sldId id="313" r:id="rId84"/>
    <p:sldId id="314" r:id="rId47"/>
    <p:sldId id="315" r:id="rId48"/>
    <p:sldId id="316" r:id="rId49"/>
    <p:sldId id="317" r:id="rId52"/>
    <p:sldId id="318" r:id="rId53"/>
    <p:sldId id="319" r:id="rId54"/>
  </p:sldIdLst>
  <p:notesMasterIdLst>
    <p:notesMasterId r:id="rId6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7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8.xml"/><Relationship Id="rId13" Type="http://schemas.openxmlformats.org/officeDocument/2006/relationships/slide" Target="slides/slide43.xml"/><Relationship Id="rId14" Type="http://schemas.openxmlformats.org/officeDocument/2006/relationships/slide" Target="slides/slide44.xml"/><Relationship Id="rId15" Type="http://schemas.openxmlformats.org/officeDocument/2006/relationships/slide" Target="slides/slide45.xml"/><Relationship Id="rId16" Type="http://schemas.openxmlformats.org/officeDocument/2006/relationships/slide" Target="slides/slide46.xml"/><Relationship Id="rId17" Type="http://schemas.openxmlformats.org/officeDocument/2006/relationships/slide" Target="slides/slide47.xml"/><Relationship Id="rId18" Type="http://schemas.openxmlformats.org/officeDocument/2006/relationships/slide" Target="slides/slide48.xml"/><Relationship Id="rId19" Type="http://schemas.openxmlformats.org/officeDocument/2006/relationships/slide" Target="slides/slide49.xml"/><Relationship Id="rId20" Type="http://schemas.openxmlformats.org/officeDocument/2006/relationships/slide" Target="slides/slide21.xml"/><Relationship Id="rId21" Type="http://schemas.openxmlformats.org/officeDocument/2006/relationships/slide" Target="slides/slide20.xml"/><Relationship Id="rId22" Type="http://schemas.openxmlformats.org/officeDocument/2006/relationships/slide" Target="slides/slide50.xml"/><Relationship Id="rId23" Type="http://schemas.openxmlformats.org/officeDocument/2006/relationships/slide" Target="slides/slide51.xml"/><Relationship Id="rId24" Type="http://schemas.openxmlformats.org/officeDocument/2006/relationships/slide" Target="slides/slide29.xml"/><Relationship Id="rId25" Type="http://schemas.openxmlformats.org/officeDocument/2006/relationships/slide" Target="slides/slide12.xml"/><Relationship Id="rId26" Type="http://schemas.openxmlformats.org/officeDocument/2006/relationships/slide" Target="slides/slide13.xml"/><Relationship Id="rId27" Type="http://schemas.openxmlformats.org/officeDocument/2006/relationships/slide" Target="slides/slide32.xml"/><Relationship Id="rId28" Type="http://schemas.openxmlformats.org/officeDocument/2006/relationships/slide" Target="slides/slide33.xml"/><Relationship Id="rId29" Type="http://schemas.openxmlformats.org/officeDocument/2006/relationships/slide" Target="slides/slide36.xml"/><Relationship Id="rId30" Type="http://schemas.openxmlformats.org/officeDocument/2006/relationships/slide" Target="slides/slide26.xml"/><Relationship Id="rId31" Type="http://schemas.openxmlformats.org/officeDocument/2006/relationships/slide" Target="slides/slide29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30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53.xml"/><Relationship Id="rId38" Type="http://schemas.openxmlformats.org/officeDocument/2006/relationships/slide" Target="slides/slide31.xml"/><Relationship Id="rId39" Type="http://schemas.openxmlformats.org/officeDocument/2006/relationships/slide" Target="slides/slide54.xml"/><Relationship Id="rId40" Type="http://schemas.openxmlformats.org/officeDocument/2006/relationships/slide" Target="slides/slide42.xml"/><Relationship Id="rId41" Type="http://schemas.openxmlformats.org/officeDocument/2006/relationships/slide" Target="slides/slide22.xml"/><Relationship Id="rId42" Type="http://schemas.openxmlformats.org/officeDocument/2006/relationships/slide" Target="slides/slide25.xml"/><Relationship Id="rId43" Type="http://schemas.openxmlformats.org/officeDocument/2006/relationships/slide" Target="slides/slide24.xml"/><Relationship Id="rId44" Type="http://schemas.openxmlformats.org/officeDocument/2006/relationships/slide" Target="slides/slide53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58.xml"/><Relationship Id="rId48" Type="http://schemas.openxmlformats.org/officeDocument/2006/relationships/slide" Target="slides/slide59.xml"/><Relationship Id="rId49" Type="http://schemas.openxmlformats.org/officeDocument/2006/relationships/slide" Target="slides/slide60.xml"/><Relationship Id="rId50" Type="http://schemas.openxmlformats.org/officeDocument/2006/relationships/slide" Target="slides/slide34.xml"/><Relationship Id="rId51" Type="http://schemas.openxmlformats.org/officeDocument/2006/relationships/slide" Target="slides/slide60.xml"/><Relationship Id="rId52" Type="http://schemas.openxmlformats.org/officeDocument/2006/relationships/slide" Target="slides/slide61.xml"/><Relationship Id="rId53" Type="http://schemas.openxmlformats.org/officeDocument/2006/relationships/slide" Target="slides/slide62.xml"/><Relationship Id="rId54" Type="http://schemas.openxmlformats.org/officeDocument/2006/relationships/slide" Target="slides/slide63.xml"/><Relationship Id="rId55" Type="http://schemas.openxmlformats.org/officeDocument/2006/relationships/slide" Target="slides/slide35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70.xml"/><Relationship Id="rId59" Type="http://schemas.openxmlformats.org/officeDocument/2006/relationships/slide" Target="slides/slide71.xml"/><Relationship Id="rId60" Type="http://schemas.openxmlformats.org/officeDocument/2006/relationships/slide" Target="slides/slide72.xml"/><Relationship Id="rId61" Type="http://schemas.openxmlformats.org/officeDocument/2006/relationships/slide" Target="slides/slide73.xml"/><Relationship Id="rId62" Type="http://schemas.openxmlformats.org/officeDocument/2006/relationships/slide" Target="slides/slide74.xml"/><Relationship Id="rId63" Type="http://schemas.openxmlformats.org/officeDocument/2006/relationships/slide" Target="slides/slide36.xml"/><Relationship Id="rId64" Type="http://schemas.openxmlformats.org/officeDocument/2006/relationships/slide" Target="slides/slide37.xml"/><Relationship Id="rId65" Type="http://schemas.openxmlformats.org/officeDocument/2006/relationships/slide" Target="slides/slide38.xml"/><Relationship Id="rId66" Type="http://schemas.openxmlformats.org/officeDocument/2006/relationships/slide" Target="slides/slide39.xml"/><Relationship Id="rId67" Type="http://schemas.openxmlformats.org/officeDocument/2006/relationships/notesMaster" Target="notesMasters/notesMaster1.xml"/><Relationship Id="rId68" Type="http://schemas.openxmlformats.org/officeDocument/2006/relationships/presProps" Target="presProps.xml"/><Relationship Id="rId69" Type="http://schemas.openxmlformats.org/officeDocument/2006/relationships/viewProps" Target="viewProps.xml"/><Relationship Id="rId70" Type="http://schemas.openxmlformats.org/officeDocument/2006/relationships/theme" Target="theme/theme1.xml"/><Relationship Id="rId71" Type="http://schemas.openxmlformats.org/officeDocument/2006/relationships/tableStyles" Target="tableStyles.xml"/><Relationship Id="rId72" Type="http://schemas.openxmlformats.org/officeDocument/2006/relationships/slide" Target="slides/slide15.xml"/><Relationship Id="rId73" Type="http://schemas.openxmlformats.org/officeDocument/2006/relationships/slide" Target="slides/slide16.xml"/><Relationship Id="rId74" Type="http://schemas.openxmlformats.org/officeDocument/2006/relationships/slide" Target="slides/slide17.xml"/><Relationship Id="rId75" Type="http://schemas.openxmlformats.org/officeDocument/2006/relationships/slide" Target="slides/slide18.xml"/><Relationship Id="rId76" Type="http://schemas.openxmlformats.org/officeDocument/2006/relationships/slide" Target="slides/slide19.xml"/><Relationship Id="rId77" Type="http://schemas.openxmlformats.org/officeDocument/2006/relationships/slide" Target="slides/slide9.xml"/><Relationship Id="rId78" Type="http://schemas.openxmlformats.org/officeDocument/2006/relationships/slide" Target="slides/slide14.xml"/><Relationship Id="rId79" Type="http://schemas.openxmlformats.org/officeDocument/2006/relationships/slide" Target="slides/slide52.xml"/><Relationship Id="rId80" Type="http://schemas.openxmlformats.org/officeDocument/2006/relationships/slide" Target="slides/slide23.xml"/><Relationship Id="rId81" Type="http://schemas.openxmlformats.org/officeDocument/2006/relationships/slide" Target="slides/slide44.xml"/><Relationship Id="rId82" Type="http://schemas.openxmlformats.org/officeDocument/2006/relationships/slide" Target="slides/slide10.xml"/><Relationship Id="rId83" Type="http://schemas.openxmlformats.org/officeDocument/2006/relationships/slide" Target="slides/slide11.xml"/><Relationship Id="rId84" Type="http://schemas.openxmlformats.org/officeDocument/2006/relationships/slide" Target="slides/slide5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在用机架数(万架)</c:v>
                </c:pt>
              </c:strCache>
            </c:strRef>
          </c:tx>
          <c:spPr>
            <a:solidFill>
              <a:srgbClr val="1A365D"/>
            </a:solidFill>
            <a:ln w="31750" cap="flat">
              <a:solidFill>
                <a:srgbClr val="1A365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1A365D"/>
              </a:solidFill>
              <a:ln w="9525" cap="flat">
                <a:solidFill>
                  <a:srgbClr val="1A365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2024A</c:v>
                  </c:pt>
                  <c:pt idx="1">
                    <c:v>2025E</c:v>
                  </c:pt>
                  <c:pt idx="2">
                    <c:v>2026E</c:v>
                  </c:pt>
                  <c:pt idx="3">
                    <c:v>2027E</c:v>
                  </c:pt>
                  <c:pt idx="4">
                    <c:v>2028E</c:v>
                  </c:pt>
                  <c:pt idx="5">
                    <c:v>2029E</c:v>
                  </c:pt>
                  <c:pt idx="6">
                    <c:v>2030E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900</c:v>
                </c:pt>
                <c:pt idx="1">
                  <c:v>1085</c:v>
                </c:pt>
                <c:pt idx="2">
                  <c:v>1400</c:v>
                </c:pt>
                <c:pt idx="3">
                  <c:v>1750</c:v>
                </c:pt>
                <c:pt idx="4">
                  <c:v>2200</c:v>
                </c:pt>
                <c:pt idx="5">
                  <c:v>2600</c:v>
                </c:pt>
                <c:pt idx="6">
                  <c:v>3000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IT总负载(GW)</c:v>
                </c:pt>
              </c:strCache>
            </c:strRef>
          </c:tx>
          <c:spPr>
            <a:solidFill>
              <a:srgbClr val="ED8936"/>
            </a:solidFill>
            <a:ln w="31750" cap="flat">
              <a:solidFill>
                <a:srgbClr val="ED893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ED8936"/>
              </a:solidFill>
              <a:ln w="9525" cap="flat">
                <a:solidFill>
                  <a:srgbClr val="ED893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2024A</c:v>
                  </c:pt>
                  <c:pt idx="1">
                    <c:v>2025E</c:v>
                  </c:pt>
                  <c:pt idx="2">
                    <c:v>2026E</c:v>
                  </c:pt>
                  <c:pt idx="3">
                    <c:v>2027E</c:v>
                  </c:pt>
                  <c:pt idx="4">
                    <c:v>2028E</c:v>
                  </c:pt>
                  <c:pt idx="5">
                    <c:v>2029E</c:v>
                  </c:pt>
                  <c:pt idx="6">
                    <c:v>2030E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2.25</c:v>
                </c:pt>
                <c:pt idx="1">
                  <c:v>2.75</c:v>
                </c:pt>
                <c:pt idx="2">
                  <c:v>3.5</c:v>
                </c:pt>
                <c:pt idx="3">
                  <c:v>4.5</c:v>
                </c:pt>
                <c:pt idx="4">
                  <c:v>5.5</c:v>
                </c:pt>
                <c:pt idx="5">
                  <c:v>6.5</c:v>
                </c:pt>
                <c:pt idx="6">
                  <c:v>7.5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智算中心负载(GW)</c:v>
                </c:pt>
              </c:strCache>
            </c:strRef>
          </c:tx>
          <c:spPr>
            <a:solidFill>
              <a:srgbClr val="2C5282"/>
            </a:solidFill>
            <a:ln w="31750" cap="flat">
              <a:solidFill>
                <a:srgbClr val="2C528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2C5282"/>
              </a:solidFill>
              <a:ln w="9525" cap="flat">
                <a:solidFill>
                  <a:srgbClr val="2C528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2024A</c:v>
                  </c:pt>
                  <c:pt idx="1">
                    <c:v>2025E</c:v>
                  </c:pt>
                  <c:pt idx="2">
                    <c:v>2026E</c:v>
                  </c:pt>
                  <c:pt idx="3">
                    <c:v>2027E</c:v>
                  </c:pt>
                  <c:pt idx="4">
                    <c:v>2028E</c:v>
                  </c:pt>
                  <c:pt idx="5">
                    <c:v>2029E</c:v>
                  </c:pt>
                  <c:pt idx="6">
                    <c:v>2030E</c:v>
                  </c:pt>
                </c:lvl>
              </c:multiLvlStrCache>
            </c:multiLvl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0.8</c:v>
                </c:pt>
                <c:pt idx="1">
                  <c:v>1.3</c:v>
                </c:pt>
                <c:pt idx="2">
                  <c:v>2</c:v>
                </c:pt>
                <c:pt idx="3">
                  <c:v>2.9</c:v>
                </c:pt>
                <c:pt idx="4">
                  <c:v>3.9</c:v>
                </c:pt>
                <c:pt idx="5">
                  <c:v>4.8</c:v>
                </c:pt>
                <c:pt idx="6">
                  <c:v>5.5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0D5DD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2C528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8ECF0"/>
              </a:solidFill>
              <a:prstDash val="dash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1A365D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1A365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50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2C5282"/>
              </a:solidFill>
              <a:latin typeface="Microsoft YaHei"/>
              <a:cs typeface="Microsoft YaHe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GPU TDP (W)</c:v>
                </c:pt>
              </c:strCache>
            </c:strRef>
          </c:tx>
          <c:spPr>
            <a:solidFill>
              <a:srgbClr val="2C528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1A365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c528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c528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d893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5303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c53030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H100
(2022)</c:v>
                  </c:pt>
                  <c:pt idx="1">
                    <c:v>B200
(2024)</c:v>
                  </c:pt>
                  <c:pt idx="2">
                    <c:v>GB300
(2026)</c:v>
                  </c:pt>
                  <c:pt idx="3">
                    <c:v>Rubin
(2026-27)</c:v>
                  </c:pt>
                  <c:pt idx="4">
                    <c:v>Rubin Ultra
(2027-28E)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700</c:v>
                </c:pt>
                <c:pt idx="1">
                  <c:v>1000</c:v>
                </c:pt>
                <c:pt idx="2">
                  <c:v>1400</c:v>
                </c:pt>
                <c:pt idx="3">
                  <c:v>3000</c:v>
                </c:pt>
                <c:pt idx="4">
                  <c:v>4000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100" u="none">
                  <a:solidFill>
                    <a:srgbClr val="1A365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0D5DD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A365D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8ECF0"/>
              </a:solidFill>
              <a:prstDash val="dash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2C528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液冷板（冷板）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D8936"/>
              </a:solidFill>
              <a:effectLst/>
            </c:spPr>
          </c:dPt>
          <c:dPt>
            <c:idx val="1"/>
            <c:bubble3D val="0"/>
            <c:spPr>
              <a:solidFill>
                <a:srgbClr val="1A365D"/>
              </a:solidFill>
              <a:effectLst/>
            </c:spPr>
          </c:dPt>
          <c:dPt>
            <c:idx val="2"/>
            <c:bubble3D val="0"/>
            <c:spPr>
              <a:solidFill>
                <a:srgbClr val="D4522A"/>
              </a:solidFill>
              <a:effectLst/>
            </c:spPr>
          </c:dPt>
          <c:dPt>
            <c:idx val="3"/>
            <c:bubble3D val="0"/>
            <c:spPr>
              <a:solidFill>
                <a:srgbClr val="2C5282"/>
              </a:solidFill>
              <a:effectLst/>
            </c:spPr>
          </c:dPt>
          <c:dPt>
            <c:idx val="4"/>
            <c:bubble3D val="0"/>
            <c:spPr>
              <a:solidFill>
                <a:srgbClr val="95A5A6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液冷板（冷板）</c:v>
                </c:pt>
                <c:pt idx="1">
                  <c:v>CDU</c:v>
                </c:pt>
                <c:pt idx="2">
                  <c:v>快接头（UQD）</c:v>
                </c:pt>
                <c:pt idx="3">
                  <c:v>Manifold</c:v>
                </c:pt>
                <c:pt idx="4">
                  <c:v>其他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43</c:v>
                </c:pt>
                <c:pt idx="1">
                  <c:v>39</c:v>
                </c:pt>
                <c:pt idx="2">
                  <c:v>9</c:v>
                </c:pt>
                <c:pt idx="3">
                  <c:v>4</c:v>
                </c:pt>
                <c:pt idx="4">
                  <c:v>5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1A365D"/>
              </a:solidFill>
              <a:latin typeface="Microsoft YaHei"/>
              <a:cs typeface="Microsoft YaHe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市场规模（亿元）</c:v>
                </c:pt>
              </c:strCache>
            </c:strRef>
          </c:tx>
          <c:spPr>
            <a:solidFill>
              <a:srgbClr val="ED893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1A365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2026E</c:v>
                  </c:pt>
                  <c:pt idx="1">
                    <c:v>2027E</c:v>
                  </c:pt>
                  <c:pt idx="2">
                    <c:v>2028E</c:v>
                  </c:pt>
                  <c:pt idx="3">
                    <c:v>2029E</c:v>
                  </c:pt>
                  <c:pt idx="4">
                    <c:v>2030E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200</c:v>
                </c:pt>
                <c:pt idx="1">
                  <c:v>400</c:v>
                </c:pt>
                <c:pt idx="2">
                  <c:v>700</c:v>
                </c:pt>
                <c:pt idx="3">
                  <c:v>900</c:v>
                </c:pt>
                <c:pt idx="4">
                  <c:v>1170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1A365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0D5DD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365D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8ECF0"/>
              </a:solidFill>
              <a:prstDash val="dash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2C528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  <a:t>数据来源：东兴证券超节点专题 2026-02/03 | 东吴证券 2026-04-07/14 | 中银证券 2026-04-08 [✔已核实]</a:t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  <a:t>数据来源：东兴证券超节点专题 2026-02-05/03-02 | 英伟达GTC 2024/2025 [✔已核实]</a:t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  <a:t>数据来源：东吴证券 2026-04-07 | 东兴证券 2026-03-02 | 万联证券 2026-04-27 [✔已核实]</a:t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  <a:t>来源：东吴证券 2026-04-14 scaleX640深度 | 曙光官方披露 [✔已核实]</a:t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  <a:t>数据来源：东吴证券[43]液冷供应链 | 东兴证券[30] | 开源证券[10] [✔已核实]</a:t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  <a:t>来源：东兴证券超节点专题 2026-02/03 | 英伟达路线图 | 东吴证券[43] [✔已核实]</a:t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  <a:t>来源：中国信通院(4篇交叉验证) | 国信证券[7] | 东吴证券[43] | IDC [✔已核实]</a:t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  <a:t>来源：东吴证券[43]液冷供应链深度 | 开源证券[10]泵专题 | 维谛Q3财报 [✔已核实]</a:t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  <a:t>来源：东吴证券[43] | 开源证券[1] | 维谛Q3财报 | 东吴证券[44]拓普 [✔已核实]</a:t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  <a:t>来源：中银证券 2026-04-08 | 国金证券 2026-01-04 | 开源证券 2026-01-04 [✔已核实]</a:t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  <a:t>来源：开源证券 2025-11-16/26 | 华鑫证券 2026-02-10 | 东莞证券 2025-11-14 [✔已核实]</a:t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  <a:t>来源：东兴证券 2026-03-02 图3 | 东吴证券 2026-04-07 图4 | 中国移动OISA [✔已核实]</a:t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  <a:t>来源：华源证券[11] | Akash Systems官方 | 东吴证券[43] [⚠金刚石散热为新兴方向，数据待进一步核实]</a:t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chart" Target="..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chart" Target="..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ED8936"/>
          </a:solidFill>
          <a:ln/>
        </p:spPr>
        <p:txBody>
          <a:bodyPr/>
          <a:p>
            <a:pPr>
              <a:defRPr sz="3600" b="1"/>
            </a:pPr>
            <a:r>
              <a:t>机柜级液冷</a:t>
            </a:r>
            <a:br/>
            <a:r>
              <a:t>行业深度洞察</a:t>
            </a:r>
            <a:br/>
            <a:r>
              <a:t>2026-2030年战略机遇与市场空间</a:t>
            </a:r>
            <a:br/>
            <a:br/>
            <a:r>
              <a:t>海悟科技 · 2026年5月</a:t>
            </a:r>
          </a:p>
        </p:txBody>
      </p:sp>
      <p:sp>
        <p:nvSpPr>
          <p:cNvPr id="3" name="Shape 1"/>
          <p:cNvSpPr/>
          <p:nvPr/>
        </p:nvSpPr>
        <p:spPr>
          <a:xfrm>
            <a:off x="731520" y="1280160"/>
            <a:ext cx="54864" cy="1645920"/>
          </a:xfrm>
          <a:prstGeom prst="rect">
            <a:avLst/>
          </a:prstGeom>
          <a:solidFill>
            <a:srgbClr val="ED8936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1005840" y="118872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机柜级液冷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1005840" y="20116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行业深度洞察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1005840" y="29260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2026-2030年战略机遇与市场空间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3200400" cy="18288"/>
          </a:xfrm>
          <a:prstGeom prst="rect">
            <a:avLst/>
          </a:prstGeom>
          <a:solidFill>
            <a:srgbClr val="ED8936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31520" y="38404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41605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EE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2026年4月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 rot="900000">
            <a:off x="6858000" y="1371600"/>
            <a:ext cx="1828800" cy="1828800"/>
          </a:xfrm>
          <a:prstGeom prst="rect">
            <a:avLst/>
          </a:prstGeom>
          <a:solidFill>
            <a:srgbClr val="ED8936">
              <a:alpha val="15000"/>
            </a:srgbClr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 rot="1500000">
            <a:off x="7315200" y="1828800"/>
            <a:ext cx="2011680" cy="2011680"/>
          </a:xfrm>
          <a:prstGeom prst="rect">
            <a:avLst/>
          </a:prstGeom>
          <a:solidFill>
            <a:srgbClr val="BEE3F8">
              <a:alpha val="10000"/>
            </a:srgbClr>
          </a:solidFill>
          <a:ln/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 rot="2700000">
            <a:off x="8229600" y="4206240"/>
            <a:ext cx="274320" cy="274320"/>
          </a:xfrm>
          <a:prstGeom prst="rect">
            <a:avLst/>
          </a:prstGeom>
          <a:solidFill>
            <a:srgbClr val="ED8936">
              <a:alpha val="50000"/>
            </a:srgbClr>
          </a:solidFill>
          <a:ln/>
        </p:spPr>
        <p:txBody>
          <a:bodyPr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ED8936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31520" y="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  录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31520" y="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100" dirty="0">
                <a:solidFill>
                  <a:srgbClr val="BEE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1280160"/>
            <a:ext cx="3657600" cy="804672"/>
          </a:xfrm>
          <a:prstGeom prst="roundRect">
            <a:avLst>
              <a:gd name="adj" fmla="val 6818"/>
            </a:avLst>
          </a:prstGeom>
          <a:solidFill>
            <a:srgbClr val="F7FAFC"/>
          </a:solidFill>
          <a:ln w="1016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68680" y="1280160"/>
            <a:ext cx="5943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1554480" y="1408176"/>
            <a:ext cx="27432" cy="548640"/>
          </a:xfrm>
          <a:prstGeom prst="rect">
            <a:avLst/>
          </a:prstGeom>
          <a:solidFill>
            <a:srgbClr val="BEE3F8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737360" y="1353312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AI算力中心发展洞察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737360" y="1719072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政策环境 · 规模趋势 · 全球格局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31520" y="2249424"/>
            <a:ext cx="3657600" cy="804672"/>
          </a:xfrm>
          <a:prstGeom prst="roundRect">
            <a:avLst>
              <a:gd name="adj" fmla="val 6818"/>
            </a:avLst>
          </a:prstGeom>
          <a:solidFill>
            <a:srgbClr val="F7FAFC"/>
          </a:solidFill>
          <a:ln w="1016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68680" y="2249424"/>
            <a:ext cx="5943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1554480" y="2377440"/>
            <a:ext cx="27432" cy="548640"/>
          </a:xfrm>
          <a:prstGeom prst="rect">
            <a:avLst/>
          </a:prstGeom>
          <a:solidFill>
            <a:srgbClr val="BEE3F8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1737360" y="2322576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GPU功耗演进洞察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737360" y="2688336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芯片迭代 · 功耗曲线 · 散热挑战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31520" y="3218688"/>
            <a:ext cx="3657600" cy="804672"/>
          </a:xfrm>
          <a:prstGeom prst="roundRect">
            <a:avLst>
              <a:gd name="adj" fmla="val 6818"/>
            </a:avLst>
          </a:prstGeom>
          <a:solidFill>
            <a:srgbClr val="F7FAFC"/>
          </a:solidFill>
          <a:ln w="1016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68680" y="3218688"/>
            <a:ext cx="5943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1554480" y="3346704"/>
            <a:ext cx="27432" cy="548640"/>
          </a:xfrm>
          <a:prstGeom prst="rect">
            <a:avLst/>
          </a:prstGeom>
          <a:solidFill>
            <a:srgbClr val="BEE3F8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1737360" y="329184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服务器演进与超节点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737360" y="365760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架构变革 · 密度提升 · 供电革新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31520" y="4187952"/>
            <a:ext cx="3657600" cy="804672"/>
          </a:xfrm>
          <a:prstGeom prst="roundRect">
            <a:avLst>
              <a:gd name="adj" fmla="val 6818"/>
            </a:avLst>
          </a:prstGeom>
          <a:solidFill>
            <a:srgbClr val="F7FAFC"/>
          </a:solidFill>
          <a:ln w="1016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868680" y="4187952"/>
            <a:ext cx="5943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800" dirty="0"/>
          </a:p>
        </p:txBody>
      </p:sp>
      <p:sp>
        <p:nvSpPr>
          <p:cNvPr id="23" name="Shape 21"/>
          <p:cNvSpPr/>
          <p:nvPr/>
        </p:nvSpPr>
        <p:spPr>
          <a:xfrm>
            <a:off x="1554480" y="4315968"/>
            <a:ext cx="27432" cy="548640"/>
          </a:xfrm>
          <a:prstGeom prst="rect">
            <a:avLst/>
          </a:prstGeom>
          <a:solidFill>
            <a:srgbClr val="BEE3F8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1737360" y="4261104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液冷市场空间量化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737360" y="4626864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市场测算 · 增长预测 · 投资机会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321040" y="4572000"/>
            <a:ext cx="502920" cy="320040"/>
          </a:xfrm>
          <a:prstGeom prst="roundRect">
            <a:avLst>
              <a:gd name="adj" fmla="val 14286"/>
            </a:avLst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8321040" y="4572000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ED8936"/>
          </a:solidFill>
          <a:ln/>
        </p:spPr>
        <p:txBody>
          <a:bodyPr/>
          <a:p>
            <a:pPr>
              <a:defRPr sz="3600" b="1"/>
            </a:pPr>
            <a:r>
              <a:t>Part 1</a:t>
            </a:r>
          </a:p>
          <a:p>
            <a:pPr>
              <a:defRPr sz="1400"/>
            </a:pPr>
            <a:r>
              <a:t>AIDC发展洞察</a:t>
            </a:r>
            <a:br/>
            <a:r>
              <a:t>数据中心规模 · 政策环境 · 全球格局 · 资本开支</a:t>
            </a:r>
          </a:p>
        </p:txBody>
      </p:sp>
      <p:sp>
        <p:nvSpPr>
          <p:cNvPr id="3" name="Shape 1"/>
          <p:cNvSpPr/>
          <p:nvPr/>
        </p:nvSpPr>
        <p:spPr>
          <a:xfrm rot="-480000">
            <a:off x="-457200" y="731520"/>
            <a:ext cx="3200400" cy="3657600"/>
          </a:xfrm>
          <a:prstGeom prst="rect">
            <a:avLst/>
          </a:prstGeom>
          <a:solidFill>
            <a:srgbClr val="ED8936">
              <a:alpha val="8000"/>
            </a:srgbClr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31520" y="128016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维度一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2011680"/>
            <a:ext cx="2286000" cy="36576"/>
          </a:xfrm>
          <a:prstGeom prst="rect">
            <a:avLst/>
          </a:prstGeom>
          <a:solidFill>
            <a:srgbClr val="ED8936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2860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AI算力中心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731520" y="29718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发展洞察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731520" y="3749040"/>
            <a:ext cx="1371600" cy="320040"/>
          </a:xfrm>
          <a:prstGeom prst="roundRect">
            <a:avLst>
              <a:gd name="adj" fmla="val 14286"/>
            </a:avLst>
          </a:prstGeom>
          <a:solidFill>
            <a:srgbClr val="ED8936">
              <a:alpha val="75000"/>
            </a:srgbClr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31520" y="37490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政策强制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286000" y="3749040"/>
            <a:ext cx="1371600" cy="320040"/>
          </a:xfrm>
          <a:prstGeom prst="roundRect">
            <a:avLst>
              <a:gd name="adj" fmla="val 14286"/>
            </a:avLst>
          </a:prstGeom>
          <a:solidFill>
            <a:srgbClr val="ED8936">
              <a:alpha val="75000"/>
            </a:srgbClr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2286000" y="37490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规模爆发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840480" y="3749040"/>
            <a:ext cx="1371600" cy="320040"/>
          </a:xfrm>
          <a:prstGeom prst="roundRect">
            <a:avLst>
              <a:gd name="adj" fmla="val 14286"/>
            </a:avLst>
          </a:prstGeom>
          <a:solidFill>
            <a:srgbClr val="ED8936">
              <a:alpha val="75000"/>
            </a:srgbClr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3840480" y="37490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全球格局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321040" y="4572000"/>
            <a:ext cx="502920" cy="320040"/>
          </a:xfrm>
          <a:prstGeom prst="roundRect">
            <a:avLst>
              <a:gd name="adj" fmla="val 14286"/>
            </a:avLst>
          </a:prstGeom>
          <a:solidFill>
            <a:srgbClr val="FFFFFF">
              <a:alpha val="20000"/>
            </a:srgbClr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321040" y="4572000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中国数据中心规模增长（2024-2030）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" y="960120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机架数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(万架)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641080" y="960120"/>
            <a:ext cx="4754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IT负载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(GW)</a:t>
            </a:r>
            <a:endParaRPr lang="en-US" sz="8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640080" y="731520"/>
          <a:ext cx="795528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4251960"/>
            <a:ext cx="8229600" cy="292608"/>
          </a:xfrm>
          <a:prstGeom prst="roundRect">
            <a:avLst>
              <a:gd name="adj" fmla="val 12500"/>
            </a:avLst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548640" y="4251960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数据来源：IDC 2025.04 | 仲量联行2026 | 中国信通院  [已核实/测算]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457200" y="3794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在用机架数(左轴)  ● IT总负载(右轴)  ● 智算中心负载(右轴)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8321040" y="4572000"/>
            <a:ext cx="502920" cy="320040"/>
          </a:xfrm>
          <a:prstGeom prst="roundRect">
            <a:avLst>
              <a:gd name="adj" fmla="val 14286"/>
            </a:avLst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8321040" y="4572000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数据中心能效政策法规演进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7132320" cy="0"/>
          </a:xfrm>
          <a:prstGeom prst="line">
            <a:avLst/>
          </a:prstGeom>
          <a:noFill/>
          <a:ln w="38100">
            <a:solidFill>
              <a:srgbClr val="2C5282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475488" y="1069848"/>
            <a:ext cx="146304" cy="146304"/>
          </a:xfrm>
          <a:prstGeom prst="ellipse">
            <a:avLst/>
          </a:prstGeom>
          <a:solidFill>
            <a:srgbClr val="ED8936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7607808" y="1069848"/>
            <a:ext cx="146304" cy="146304"/>
          </a:xfrm>
          <a:prstGeom prst="ellipse">
            <a:avLst/>
          </a:prstGeom>
          <a:solidFill>
            <a:srgbClr val="ED8936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960120" y="1088136"/>
            <a:ext cx="109728" cy="109728"/>
          </a:xfrm>
          <a:prstGeom prst="ellipse">
            <a:avLst/>
          </a:prstGeom>
          <a:solidFill>
            <a:srgbClr val="2C5282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40080" y="640080"/>
            <a:ext cx="749808" cy="29260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2021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014984" y="978408"/>
            <a:ext cx="0" cy="128016"/>
          </a:xfrm>
          <a:prstGeom prst="line">
            <a:avLst/>
          </a:prstGeom>
          <a:noFill/>
          <a:ln w="12700">
            <a:solidFill>
              <a:srgbClr val="BEE3F8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502920" y="1325880"/>
            <a:ext cx="1325880" cy="502920"/>
          </a:xfrm>
          <a:prstGeom prst="roundRect">
            <a:avLst>
              <a:gd name="adj" fmla="val 9091"/>
            </a:avLst>
          </a:prstGeom>
          <a:solidFill>
            <a:srgbClr val="F7FAFC"/>
          </a:solidFill>
          <a:ln w="1016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548640" y="132588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PUE ≤ 1.3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502920" y="1920240"/>
            <a:ext cx="1325880" cy="50292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8640" y="192024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工信部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《新型数据中心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三年行动计划》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502920" y="2514600"/>
            <a:ext cx="1325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工信部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2423160" y="1088136"/>
            <a:ext cx="109728" cy="109728"/>
          </a:xfrm>
          <a:prstGeom prst="ellipse">
            <a:avLst/>
          </a:prstGeom>
          <a:solidFill>
            <a:srgbClr val="2C5282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2103120" y="640080"/>
            <a:ext cx="749808" cy="29260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2023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478024" y="978408"/>
            <a:ext cx="0" cy="128016"/>
          </a:xfrm>
          <a:prstGeom prst="line">
            <a:avLst/>
          </a:prstGeom>
          <a:noFill/>
          <a:ln w="12700">
            <a:solidFill>
              <a:srgbClr val="BEE3F8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1965960" y="1325880"/>
            <a:ext cx="1325880" cy="502920"/>
          </a:xfrm>
          <a:prstGeom prst="roundRect">
            <a:avLst>
              <a:gd name="adj" fmla="val 9091"/>
            </a:avLst>
          </a:prstGeom>
          <a:solidFill>
            <a:srgbClr val="F7FAFC"/>
          </a:solidFill>
          <a:ln w="1016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2011680" y="132588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PUE ≤ 1.4(通用)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≤ 1.3(高密度)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1965960" y="1920240"/>
            <a:ext cx="1325880" cy="50292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2011680" y="192024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财政部/工信部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联合发文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1965960" y="2514600"/>
            <a:ext cx="1325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财政部/工信部</a:t>
            </a:r>
            <a:endParaRPr lang="en-US" sz="650" dirty="0"/>
          </a:p>
        </p:txBody>
      </p:sp>
      <p:sp>
        <p:nvSpPr>
          <p:cNvPr id="23" name="Shape 21"/>
          <p:cNvSpPr/>
          <p:nvPr/>
        </p:nvSpPr>
        <p:spPr>
          <a:xfrm>
            <a:off x="3886200" y="1088136"/>
            <a:ext cx="109728" cy="109728"/>
          </a:xfrm>
          <a:prstGeom prst="ellipse">
            <a:avLst/>
          </a:prstGeom>
          <a:solidFill>
            <a:srgbClr val="2C5282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3566160" y="640080"/>
            <a:ext cx="749808" cy="29260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941064" y="978408"/>
            <a:ext cx="0" cy="128016"/>
          </a:xfrm>
          <a:prstGeom prst="line">
            <a:avLst/>
          </a:prstGeom>
          <a:noFill/>
          <a:ln w="12700">
            <a:solidFill>
              <a:srgbClr val="BEE3F8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3429000" y="1325880"/>
            <a:ext cx="1325880" cy="502920"/>
          </a:xfrm>
          <a:prstGeom prst="roundRect">
            <a:avLst>
              <a:gd name="adj" fmla="val 9091"/>
            </a:avLst>
          </a:prstGeom>
          <a:solidFill>
            <a:srgbClr val="F7FAFC"/>
          </a:solidFill>
          <a:ln w="1016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3474720" y="132588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PUE ≤ 1.25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3429000" y="1920240"/>
            <a:ext cx="1325880" cy="50292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3474720" y="192024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发改委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《绿色低碳转型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专项行动》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3429000" y="2514600"/>
            <a:ext cx="1325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发改委</a:t>
            </a:r>
            <a:endParaRPr lang="en-US" sz="650" dirty="0"/>
          </a:p>
        </p:txBody>
      </p:sp>
      <p:sp>
        <p:nvSpPr>
          <p:cNvPr id="31" name="Shape 29"/>
          <p:cNvSpPr/>
          <p:nvPr/>
        </p:nvSpPr>
        <p:spPr>
          <a:xfrm>
            <a:off x="5349240" y="1088136"/>
            <a:ext cx="109728" cy="109728"/>
          </a:xfrm>
          <a:prstGeom prst="ellipse">
            <a:avLst/>
          </a:prstGeom>
          <a:solidFill>
            <a:srgbClr val="ED8936"/>
          </a:solidFill>
          <a:ln/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5029200" y="640080"/>
            <a:ext cx="749808" cy="29260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404104" y="978408"/>
            <a:ext cx="0" cy="128016"/>
          </a:xfrm>
          <a:prstGeom prst="line">
            <a:avLst/>
          </a:prstGeom>
          <a:noFill/>
          <a:ln w="12700">
            <a:solidFill>
              <a:srgbClr val="ED8936"/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4892040" y="1325880"/>
            <a:ext cx="1325880" cy="502920"/>
          </a:xfrm>
          <a:prstGeom prst="roundRect">
            <a:avLst>
              <a:gd name="adj" fmla="val 9091"/>
            </a:avLst>
          </a:prstGeom>
          <a:solidFill>
            <a:srgbClr val="FFF7ED"/>
          </a:solidFill>
          <a:ln w="15240">
            <a:solidFill>
              <a:srgbClr val="ED8936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4937760" y="132588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PUE ≤ 1.3(新建)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≤ 1.4(改造)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892040" y="1920240"/>
            <a:ext cx="1325880" cy="59436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4937760" y="1920240"/>
            <a:ext cx="1234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工信部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液冷渗透率&gt;60%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(2026年底)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4892040" y="2514600"/>
            <a:ext cx="1325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工信部</a:t>
            </a:r>
            <a:endParaRPr lang="en-US" sz="650" dirty="0"/>
          </a:p>
        </p:txBody>
      </p:sp>
      <p:sp>
        <p:nvSpPr>
          <p:cNvPr id="39" name="Shape 37"/>
          <p:cNvSpPr/>
          <p:nvPr/>
        </p:nvSpPr>
        <p:spPr>
          <a:xfrm>
            <a:off x="6812280" y="1088136"/>
            <a:ext cx="109728" cy="109728"/>
          </a:xfrm>
          <a:prstGeom prst="ellipse">
            <a:avLst/>
          </a:prstGeom>
          <a:solidFill>
            <a:srgbClr val="2C5282"/>
          </a:solidFill>
          <a:ln/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6492240" y="640080"/>
            <a:ext cx="749808" cy="29260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6867144" y="978408"/>
            <a:ext cx="0" cy="128016"/>
          </a:xfrm>
          <a:prstGeom prst="line">
            <a:avLst/>
          </a:prstGeom>
          <a:noFill/>
          <a:ln w="12700">
            <a:solidFill>
              <a:srgbClr val="BEE3F8"/>
            </a:solidFill>
            <a:prstDash val="solid"/>
          </a:ln>
        </p:spPr>
        <p:txBody>
          <a:bodyPr/>
          <a:p/>
        </p:txBody>
      </p:sp>
      <p:sp>
        <p:nvSpPr>
          <p:cNvPr id="42" name="Shape 40"/>
          <p:cNvSpPr/>
          <p:nvPr/>
        </p:nvSpPr>
        <p:spPr>
          <a:xfrm>
            <a:off x="6355080" y="1325880"/>
            <a:ext cx="1325880" cy="502920"/>
          </a:xfrm>
          <a:prstGeom prst="roundRect">
            <a:avLst>
              <a:gd name="adj" fmla="val 9091"/>
            </a:avLst>
          </a:prstGeom>
          <a:solidFill>
            <a:srgbClr val="F7FAFC"/>
          </a:solidFill>
          <a:ln w="1016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6400800" y="132588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PUE ≤ 1.15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6355080" y="1920240"/>
            <a:ext cx="1325880" cy="50292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6400800" y="192024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东数西算2.0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(枢纽节点)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6355080" y="2514600"/>
            <a:ext cx="1325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发改委/网信办</a:t>
            </a:r>
            <a:endParaRPr lang="en-US" sz="650" dirty="0"/>
          </a:p>
        </p:txBody>
      </p:sp>
      <p:sp>
        <p:nvSpPr>
          <p:cNvPr id="47" name="Shape 45"/>
          <p:cNvSpPr/>
          <p:nvPr/>
        </p:nvSpPr>
        <p:spPr>
          <a:xfrm>
            <a:off x="457200" y="3200400"/>
            <a:ext cx="8229600" cy="621792"/>
          </a:xfrm>
          <a:prstGeom prst="roundRect">
            <a:avLst>
              <a:gd name="adj" fmla="val 8824"/>
            </a:avLst>
          </a:prstGeom>
          <a:solidFill>
            <a:srgbClr val="FFF7ED"/>
          </a:solidFill>
          <a:ln w="19050">
            <a:solidFill>
              <a:srgbClr val="ED8936"/>
            </a:solidFill>
            <a:prstDash val="solid"/>
          </a:ln>
        </p:spPr>
        <p:txBody>
          <a:bodyPr/>
          <a:p/>
        </p:txBody>
      </p:sp>
      <p:sp>
        <p:nvSpPr>
          <p:cNvPr id="48" name="Shape 46"/>
          <p:cNvSpPr/>
          <p:nvPr/>
        </p:nvSpPr>
        <p:spPr>
          <a:xfrm>
            <a:off x="457200" y="3200400"/>
            <a:ext cx="73152" cy="621792"/>
          </a:xfrm>
          <a:prstGeom prst="rect">
            <a:avLst/>
          </a:prstGeom>
          <a:solidFill>
            <a:srgbClr val="ED8936"/>
          </a:solidFill>
          <a:ln/>
        </p:spPr>
        <p:txBody>
          <a:bodyPr/>
          <a:p/>
        </p:txBody>
      </p:sp>
      <p:sp>
        <p:nvSpPr>
          <p:cNvPr id="49" name="Text 47"/>
          <p:cNvSpPr/>
          <p:nvPr/>
        </p:nvSpPr>
        <p:spPr>
          <a:xfrm>
            <a:off x="731520" y="321868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"液冷已从 '可选' 升级为 '事实强制'"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731520" y="3547872"/>
            <a:ext cx="4754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政策强制等级：  鼓励  →  半强制  →  事实强制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943600" y="3218688"/>
            <a:ext cx="25603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来源：工信部 | 发改委 | 财政部  [已核实]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8321040" y="4572000"/>
            <a:ext cx="502920" cy="320040"/>
          </a:xfrm>
          <a:prstGeom prst="roundRect">
            <a:avLst>
              <a:gd name="adj" fmla="val 14286"/>
            </a:avLst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53" name="Text 51"/>
          <p:cNvSpPr/>
          <p:nvPr/>
        </p:nvSpPr>
        <p:spPr>
          <a:xfrm>
            <a:off x="8321040" y="4572000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09728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全球数据中心液冷市场五区域格局</a:t>
            </a:r>
            <a:endParaRPr lang="en-US" sz="2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645920"/>
                <a:gridCol w="1188720"/>
                <a:gridCol w="2011680"/>
                <a:gridCol w="137160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区域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政策态度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PUE标准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液冷推进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海悟机会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中国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D89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🔴 强力推动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≤1.3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D89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强制（60%指标）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D89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核心战场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东南亚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452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🟠 快速增长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≤1.5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跟随中美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近期布局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北美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🟡 市场成熟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≤1.4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头部CSP主导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长期目标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中东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🟡 新兴市场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≤1.5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算力投资爆发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C528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中期机会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欧洲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⚪ 法规严格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32F2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≤1.2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PUE最严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长期布局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703320"/>
            <a:ext cx="3840480" cy="256032"/>
          </a:xfrm>
          <a:prstGeom prst="roundRect">
            <a:avLst>
              <a:gd name="adj" fmla="val 14286"/>
            </a:avLst>
          </a:prstGeom>
          <a:solidFill>
            <a:srgbClr val="ED8936">
              <a:alpha val="10000"/>
            </a:srgbClr>
          </a:solidFill>
          <a:ln w="10160">
            <a:solidFill>
              <a:srgbClr val="ED8936">
                <a:alpha val="5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530352" y="3703320"/>
            <a:ext cx="36941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🇨🇳 中国：政策强制推进，60%液冷指标 → 核心战场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457200" y="4005072"/>
            <a:ext cx="3840480" cy="256032"/>
          </a:xfrm>
          <a:prstGeom prst="roundRect">
            <a:avLst>
              <a:gd name="adj" fmla="val 14286"/>
            </a:avLst>
          </a:prstGeom>
          <a:solidFill>
            <a:srgbClr val="2C5282">
              <a:alpha val="10000"/>
            </a:srgbClr>
          </a:solidFill>
          <a:ln w="10160">
            <a:solidFill>
              <a:srgbClr val="2C5282">
                <a:alpha val="5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530352" y="4005072"/>
            <a:ext cx="36941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🌏 东南亚：快速跟随 + 成本敏感 → 中期布局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4572000" y="3703320"/>
            <a:ext cx="3840480" cy="256032"/>
          </a:xfrm>
          <a:prstGeom prst="roundRect">
            <a:avLst>
              <a:gd name="adj" fmla="val 14286"/>
            </a:avLst>
          </a:prstGeom>
          <a:solidFill>
            <a:srgbClr val="1A365D">
              <a:alpha val="10000"/>
            </a:srgbClr>
          </a:solidFill>
          <a:ln w="10160">
            <a:solidFill>
              <a:srgbClr val="1A365D">
                <a:alpha val="5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4645152" y="3703320"/>
            <a:ext cx="36941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🌍 北美/欧洲：标准严苛但市场成熟 → 高端破局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4572000" y="4005072"/>
            <a:ext cx="3840480" cy="256032"/>
          </a:xfrm>
          <a:prstGeom prst="roundRect">
            <a:avLst>
              <a:gd name="adj" fmla="val 14286"/>
            </a:avLst>
          </a:prstGeom>
          <a:solidFill>
            <a:srgbClr val="ED8936">
              <a:alpha val="10000"/>
            </a:srgbClr>
          </a:solidFill>
          <a:ln w="10160">
            <a:solidFill>
              <a:srgbClr val="ED8936">
                <a:alpha val="5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4645152" y="4005072"/>
            <a:ext cx="36941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🏜️ 中东：算力投资爆 + 散热刚需 → 差异化机会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457200" y="437083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来源：仲量联行2026 | 工信部 | 各地政策文件 [已核实]</a:t>
            </a:r>
            <a:endParaRPr lang="en-US" sz="700" dirty="0"/>
          </a:p>
        </p:txBody>
      </p:sp>
      <p:sp>
        <p:nvSpPr>
          <p:cNvPr id="14" name="Shape 11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>
            <a:pPr>
              <a:defRPr sz="3600" b="1"/>
            </a:pPr>
            <a:r>
              <a:t>Part 2</a:t>
            </a:r>
          </a:p>
          <a:p>
            <a:pPr>
              <a:defRPr sz="1400"/>
            </a:pPr>
            <a:r>
              <a:t>GPU洞察</a:t>
            </a:r>
            <a:br/>
            <a:r>
              <a:t>GPU功耗演进 · 国产GPU产品线 · 市场份额变化</a:t>
            </a:r>
          </a:p>
        </p:txBody>
      </p:sp>
      <p:sp>
        <p:nvSpPr>
          <p:cNvPr id="3" name="Text 1"/>
          <p:cNvSpPr/>
          <p:nvPr/>
        </p:nvSpPr>
        <p:spPr>
          <a:xfrm>
            <a:off x="457200" y="109728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 TDP演进：从700W到4000W+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1097280"/>
          <a:ext cx="658368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274320" y="3291840"/>
            <a:ext cx="6583680" cy="18288"/>
          </a:xfrm>
          <a:prstGeom prst="rect">
            <a:avLst/>
          </a:prstGeom>
          <a:solidFill>
            <a:srgbClr val="D32F2F"/>
          </a:solidFill>
          <a:ln w="19050">
            <a:solidFill>
              <a:srgbClr val="D32F2F"/>
            </a:solidFill>
            <a:prstDash val="dash"/>
          </a:ln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4114800" y="31089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32F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⚡ 风冷物理极限 ≈ 800W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760720" y="1371600"/>
            <a:ext cx="1645920" cy="2286000"/>
          </a:xfrm>
          <a:prstGeom prst="roundRect">
            <a:avLst>
              <a:gd name="adj" fmla="val 3333"/>
            </a:avLst>
          </a:prstGeom>
          <a:solidFill>
            <a:srgbClr val="FF0000">
              <a:alpha val="5000"/>
            </a:srgbClr>
          </a:solidFill>
          <a:ln w="19050">
            <a:solidFill>
              <a:srgbClr val="C53030"/>
            </a:solidFill>
            <a:prstDash val="dash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5852160" y="329184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预测值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274320" y="4160520"/>
            <a:ext cx="6583680" cy="548640"/>
          </a:xfrm>
          <a:prstGeom prst="roundRect">
            <a:avLst>
              <a:gd name="adj" fmla="val 10000"/>
            </a:avLst>
          </a:prstGeom>
          <a:solidFill>
            <a:srgbClr val="FFF7ED"/>
          </a:solidFill>
          <a:ln w="19050">
            <a:solidFill>
              <a:srgbClr val="ED8936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274320" y="4160520"/>
            <a:ext cx="64008" cy="548640"/>
          </a:xfrm>
          <a:prstGeom prst="rect">
            <a:avLst/>
          </a:prstGeom>
          <a:solidFill>
            <a:srgbClr val="ED8936"/>
          </a:solidFill>
          <a:ln/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548640" y="4187952"/>
            <a:ext cx="61264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"功耗墙无法靠制程解决，液冷是唯一解"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7132320" y="1188720"/>
            <a:ext cx="1737360" cy="1051560"/>
          </a:xfrm>
          <a:prstGeom prst="rect">
            <a:avLst>
              <a:gd name="adj" fmla="val 6957"/>
            </a:avLst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7223760" y="12344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增长倍数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7223760" y="14630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5.7x</a:t>
            </a:r>
            <a:endParaRPr lang="en-US" sz="3000" dirty="0"/>
          </a:p>
        </p:txBody>
      </p:sp>
      <p:sp>
        <p:nvSpPr>
          <p:cNvPr id="15" name="Text 12"/>
          <p:cNvSpPr/>
          <p:nvPr/>
        </p:nvSpPr>
        <p:spPr>
          <a:xfrm>
            <a:off x="7223760" y="192024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H100 → Rubin Ultra</a:t>
            </a:r>
            <a:endParaRPr lang="en-US" sz="700" dirty="0"/>
          </a:p>
        </p:txBody>
      </p:sp>
      <p:sp>
        <p:nvSpPr>
          <p:cNvPr id="16" name="Shape 13"/>
          <p:cNvSpPr/>
          <p:nvPr/>
        </p:nvSpPr>
        <p:spPr>
          <a:xfrm>
            <a:off x="7132320" y="2468880"/>
            <a:ext cx="1737360" cy="1051560"/>
          </a:xfrm>
          <a:prstGeom prst="rect">
            <a:avLst>
              <a:gd name="adj" fmla="val 6957"/>
            </a:avLst>
          </a:prstGeom>
          <a:solidFill>
            <a:srgbClr val="ED8936"/>
          </a:solidFill>
          <a:ln/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7223760" y="251460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风冷失效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7223760" y="274320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</a:t>
            </a:r>
            <a:endParaRPr lang="en-US" sz="2800" dirty="0"/>
          </a:p>
        </p:txBody>
      </p:sp>
      <p:sp>
        <p:nvSpPr>
          <p:cNvPr id="19" name="Text 16"/>
          <p:cNvSpPr/>
          <p:nvPr/>
        </p:nvSpPr>
        <p:spPr>
          <a:xfrm>
            <a:off x="7223760" y="320040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B200之后全面转向液冷</a:t>
            </a:r>
            <a:endParaRPr lang="en-US" sz="700" dirty="0"/>
          </a:p>
        </p:txBody>
      </p:sp>
      <p:sp>
        <p:nvSpPr>
          <p:cNvPr id="20" name="Text 17"/>
          <p:cNvSpPr/>
          <p:nvPr/>
        </p:nvSpPr>
        <p:spPr>
          <a:xfrm>
            <a:off x="457200" y="4919472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来源：英伟达官方 | 摩根士丹利 | 东兴证券超节点专题 2026-02 [✔已核实]</a:t>
            </a:r>
            <a:endParaRPr lang="en-US" sz="700" dirty="0"/>
          </a:p>
        </p:txBody>
      </p:sp>
      <p:sp>
        <p:nvSpPr>
          <p:cNvPr id="21" name="Shape 18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09728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服务器功耗演进：从3kW到400kW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3017520"/>
            <a:ext cx="1371600" cy="914400"/>
          </a:xfrm>
          <a:prstGeom prst="rect">
            <a:avLst>
              <a:gd name="adj" fmla="val 8000"/>
            </a:avLst>
          </a:prstGeom>
          <a:solidFill>
            <a:srgbClr val="BEE3F8"/>
          </a:solidFill>
          <a:ln/>
          <a:effectLst>
            <a:outerShdw sx="100000" sy="100000" kx="0" ky="0" algn="bl" rotWithShape="0" blurRad="76200" dist="25400" dir="162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365760" y="315468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传统数据中心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356616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3-8 kW/柜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342900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风冷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737360" y="2560320"/>
            <a:ext cx="1371600" cy="1371600"/>
          </a:xfrm>
          <a:prstGeom prst="rect">
            <a:avLst>
              <a:gd name="adj" fmla="val 5333"/>
            </a:avLst>
          </a:prstGeom>
          <a:solidFill>
            <a:srgbClr val="A0D2F0"/>
          </a:solidFill>
          <a:ln/>
          <a:effectLst>
            <a:outerShdw sx="100000" sy="100000" kx="0" ky="0" algn="bl" rotWithShape="0" blurRad="76200" dist="25400" dir="162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828800" y="269748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GPU服务器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2022-2024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828800" y="333756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8-20 kW/柜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828800" y="342900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风冷+部分冷板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00400" y="1920240"/>
            <a:ext cx="1371600" cy="2011680"/>
          </a:xfrm>
          <a:prstGeom prst="rect">
            <a:avLst>
              <a:gd name="adj" fmla="val 5333"/>
            </a:avLst>
          </a:prstGeom>
          <a:solidFill>
            <a:srgbClr val="2C5282"/>
          </a:solidFill>
          <a:ln/>
          <a:effectLst>
            <a:outerShdw sx="100000" sy="100000" kx="0" ky="0" algn="bl" rotWithShape="0" blurRad="76200" dist="25400" dir="162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3291840" y="205740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AI液冷服务器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2024-2026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291840" y="301752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30-80 kW/柜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91840" y="342900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冷板液冷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63440" y="1280160"/>
            <a:ext cx="1371600" cy="2651760"/>
          </a:xfrm>
          <a:prstGeom prst="rect">
            <a:avLst>
              <a:gd name="adj" fmla="val 5333"/>
            </a:avLst>
          </a:prstGeom>
          <a:solidFill>
            <a:srgbClr val="ED8936"/>
          </a:solidFill>
          <a:ln/>
          <a:effectLst>
            <a:outerShdw sx="100000" sy="100000" kx="0" ky="0" algn="bl" rotWithShape="0" blurRad="76200" dist="25400" dir="162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4754880" y="141732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超节点服务器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2026-2027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754880" y="26974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100-200 kW/柜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54880" y="342900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强制液冷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126480" y="640080"/>
            <a:ext cx="1371600" cy="3291840"/>
          </a:xfrm>
          <a:prstGeom prst="rect">
            <a:avLst>
              <a:gd name="adj" fmla="val 5333"/>
            </a:avLst>
          </a:prstGeom>
          <a:solidFill>
            <a:srgbClr val="D4522A"/>
          </a:solidFill>
          <a:ln/>
          <a:effectLst>
            <a:outerShdw sx="100000" sy="100000" kx="0" ky="0" algn="bl" rotWithShape="0" blurRad="76200" dist="25400" dir="162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217920" y="77724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Rubin级超节点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2027+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217920" y="237744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227-400 kW/柜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17920" y="342900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全液冷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37160" y="2560320"/>
            <a:ext cx="3017520" cy="27432"/>
          </a:xfrm>
          <a:prstGeom prst="rect">
            <a:avLst/>
          </a:prstGeom>
          <a:solidFill>
            <a:srgbClr val="D32F2F"/>
          </a:solidFill>
          <a:ln w="19050">
            <a:solidFill>
              <a:srgbClr val="D32F2F"/>
            </a:solidFill>
            <a:prstDash val="dash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3200400" y="23774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32F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风冷物理上限 15-30kW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017520" y="2194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32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⬆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274320" y="4206240"/>
            <a:ext cx="7132320" cy="594360"/>
          </a:xfrm>
          <a:prstGeom prst="rect">
            <a:avLst>
              <a:gd name="adj" fmla="val 7692"/>
            </a:avLst>
          </a:prstGeom>
          <a:solidFill>
            <a:srgbClr val="1A365D">
              <a:alpha val="95000"/>
            </a:srgbClr>
          </a:solidFill>
          <a:ln w="19050">
            <a:solidFill>
              <a:srgbClr val="ED8936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548640" y="4251960"/>
            <a:ext cx="6675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关键结论：单柜 &gt; 30kW 时，风冷物理上限被突破，液冷成为刚需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57200" y="47548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来源：WeChat文章3（超节点专家调研）| WeChat文章8 [已核实]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09728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超节点功耗演进与液冷门槛</a:t>
            </a:r>
            <a:endParaRPr lang="en-US" sz="24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914400"/>
                <a:gridCol w="1645920"/>
                <a:gridCol w="1097280"/>
                <a:gridCol w="1188720"/>
                <a:gridCol w="13716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超节点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单柜功耗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液冷方案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GPU TDP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发布年份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关键判断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GB200 NVL72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145KW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冷板液冷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1200W(B200)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2024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D89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⚡ 液冷必配(风冷上限800W)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2300W(VR200)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250-300KW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冷板液冷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2300W(VR200)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2026H2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D89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⚡ 冷板升级(微通道100μm)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Atlas 950 SuperPod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&gt;1MW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液冷(混合)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950DT/PR &gt;1kW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2026Q4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D89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🔴 浸没相变刚需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2926080"/>
            <a:ext cx="2560320" cy="1371600"/>
          </a:xfrm>
          <a:prstGeom prst="rect">
            <a:avLst>
              <a:gd name="adj" fmla="val 5333"/>
            </a:avLst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548640" y="30175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📈 趋势：145KW→1MW+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冷板→浸没相变 代际跃迁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8640" y="35204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2027+：浸没相变液冷为必选项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548640" y="39319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PUE目标收敛&lt;1.05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3291840" y="2926080"/>
            <a:ext cx="2560320" cy="1371600"/>
          </a:xfrm>
          <a:prstGeom prst="rect">
            <a:avLst>
              <a:gd name="adj" fmla="val 5333"/>
            </a:avLst>
          </a:prstGeom>
          <a:solidFill>
            <a:srgbClr val="2C5282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3383280" y="30175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来源：东兴证券 | 东吴证券 | 英伟达官方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/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3383280" y="35204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3383280" y="39319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/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6126480" y="2926080"/>
            <a:ext cx="2560320" cy="1371600"/>
          </a:xfrm>
          <a:prstGeom prst="rect">
            <a:avLst>
              <a:gd name="adj" fmla="val 5333"/>
            </a:avLst>
          </a:prstGeom>
          <a:solidFill>
            <a:srgbClr val="ED8936"/>
          </a:solidFill>
          <a:ln/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6217920" y="30175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📈 液冷BOM占比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217920" y="33832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 2% → 超节点 4-5%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217920" y="3840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翻倍！价值量大幅跃升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57200" y="45720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来源：WeChat文章3（超节点专家调研）| 三大巨头资本开支公告 [已核实]</a:t>
            </a:r>
            <a:endParaRPr lang="en-US" sz="700" dirty="0"/>
          </a:p>
        </p:txBody>
      </p:sp>
      <p:sp>
        <p:nvSpPr>
          <p:cNvPr id="18" name="Shape 15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09728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AIDC资本开支军备竞赛（2025-2026）</a:t>
            </a:r>
            <a:endParaRPr lang="en-US" sz="24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914400"/>
                <a:gridCol w="1645920"/>
                <a:gridCol w="1097280"/>
                <a:gridCol w="1188720"/>
                <a:gridCol w="13716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CAPEX计划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CAPEX计划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金额/日期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同比变化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来源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可信度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三年3800亿AI基建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三年3800亿AI基建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CEO吴泳铭披露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FY2026Q2 315亿(+80%)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开源证券 2025-11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D89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✔已核实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2025全年~915亿美元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2026E 1750-1850亿美元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同比翻倍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2025全年~915亿美元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华鑫证券 2026-02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D89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✔已核实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Q3 2025 129.83亿元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Q3 2025 129.83亿元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持续高投入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CSP第一方阵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东莞证券 2025-11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D89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✔已核实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2926080"/>
            <a:ext cx="2560320" cy="1371600"/>
          </a:xfrm>
          <a:prstGeom prst="rect">
            <a:avLst>
              <a:gd name="adj" fmla="val 5333"/>
            </a:avLst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548640" y="30175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📈 全行业资本开支翻倍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阿里三年3800亿+谷歌2026翻倍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8640" y="35204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字节/腾讯列中国CSP第一方阵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548640" y="39319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资本开支→AIDC建设→液冷需求爆发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3291840" y="2926080"/>
            <a:ext cx="2560320" cy="1371600"/>
          </a:xfrm>
          <a:prstGeom prst="rect">
            <a:avLst>
              <a:gd name="adj" fmla="val 5333"/>
            </a:avLst>
          </a:prstGeom>
          <a:solidFill>
            <a:srgbClr val="2C5282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3383280" y="30175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来源：各公司财报 | 券商交叉验证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/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3383280" y="35204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3383280" y="39319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/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6126480" y="2926080"/>
            <a:ext cx="2560320" cy="1371600"/>
          </a:xfrm>
          <a:prstGeom prst="rect">
            <a:avLst>
              <a:gd name="adj" fmla="val 5333"/>
            </a:avLst>
          </a:prstGeom>
          <a:solidFill>
            <a:srgbClr val="ED8936"/>
          </a:solidFill>
          <a:ln/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6217920" y="30175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📈 液冷BOM占比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217920" y="33832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 2% → 超节点 4-5%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217920" y="3840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翻倍！价值量大幅跃升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57200" y="45720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来源：WeChat文章3（超节点专家调研）| 三大巨头资本开支公告 [已核实]</a:t>
            </a:r>
            <a:endParaRPr lang="en-US" sz="700" dirty="0"/>
          </a:p>
        </p:txBody>
      </p:sp>
      <p:sp>
        <p:nvSpPr>
          <p:cNvPr id="18" name="Shape 15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09728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超节点互联协议双轨竞争</a:t>
            </a:r>
            <a:endParaRPr lang="en-US" sz="24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914400"/>
                <a:gridCol w="1645920"/>
                <a:gridCol w="1097280"/>
                <a:gridCol w="1188720"/>
                <a:gridCol w="13716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协议名称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协议名称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类型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速率/规模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最大GPU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开放性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英伟达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NVLink 5/6/7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私有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1.8~3.6TB/s/GPU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576卡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D89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半开放(CPU)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TB/s级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灵衢2.0(UB)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开放(2025起)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TB/s级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15488卡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D89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100+成员联盟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AMD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UALink 1.0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开放标准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200GT/s/通道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1024卡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D89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100+成员(2026.01)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2926080"/>
            <a:ext cx="2560320" cy="1371600"/>
          </a:xfrm>
          <a:prstGeom prst="rect">
            <a:avLst>
              <a:gd name="adj" fmla="val 5333"/>
            </a:avLst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548640" y="30175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🔴 CLink国产统一标准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工信部牵头推进CLink协议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8640" y="35204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封闭(NVLink/ICI) vs 开放(UALink/灵衢)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548640" y="39319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博通SUE兼容现有以太网设施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3291840" y="2926080"/>
            <a:ext cx="2560320" cy="1371600"/>
          </a:xfrm>
          <a:prstGeom prst="rect">
            <a:avLst>
              <a:gd name="adj" fmla="val 5333"/>
            </a:avLst>
          </a:prstGeom>
          <a:solidFill>
            <a:srgbClr val="2C5282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3383280" y="30175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✔ 互联协议对比表(11家)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（仅三大巨头）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3383280" y="35204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~45-56 亿元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3383280" y="39319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超节点液冷BOM市场总量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6126480" y="2926080"/>
            <a:ext cx="2560320" cy="1371600"/>
          </a:xfrm>
          <a:prstGeom prst="rect">
            <a:avLst>
              <a:gd name="adj" fmla="val 5333"/>
            </a:avLst>
          </a:prstGeom>
          <a:solidFill>
            <a:srgbClr val="ED8936"/>
          </a:solidFill>
          <a:ln/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6217920" y="30175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📈 液冷BOM占比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217920" y="33832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 2% → 超节点 4-5%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217920" y="3840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翻倍！价值量大幅跃升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57200" y="45720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来源：WeChat文章3（超节点专家调研）| 三大巨头资本开支公告 [已核实]</a:t>
            </a:r>
            <a:endParaRPr lang="en-US" sz="700" dirty="0"/>
          </a:p>
        </p:txBody>
      </p:sp>
      <p:sp>
        <p:nvSpPr>
          <p:cNvPr id="18" name="Shape 15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100" dirty="0"/>
          </a:p>
        </p:txBody>
      </p:sp>
      <p:pic>
        <p:nvPicPr>
          <p:cNvPr id="24" name="Picture 23" descr="img-1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28800"/>
            <a:ext cx="8229600" cy="27432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/>
            </a:pPr>
            <a:r>
              <a:t>📎 超节点互联协议架构对比 | 来源:东兴证券《超节点与Scale up网络行业》2026-03-02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>
            <a:pPr>
              <a:defRPr sz="3600" b="1"/>
            </a:pPr>
            <a:r>
              <a:t>Part 3</a:t>
            </a:r>
          </a:p>
          <a:p>
            <a:pPr>
              <a:defRPr sz="1400"/>
            </a:pPr>
            <a:r>
              <a:t>服务器与超节点</a:t>
            </a:r>
            <a:br/>
            <a:r>
              <a:t>超节点方案全景 · OEM制造格局 · 互联协议</a:t>
            </a:r>
          </a:p>
        </p:txBody>
      </p:sp>
      <p:sp>
        <p:nvSpPr>
          <p:cNvPr id="3" name="Text 1"/>
          <p:cNvSpPr/>
          <p:nvPr/>
        </p:nvSpPr>
        <p:spPr>
          <a:xfrm>
            <a:off x="457200" y="109728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机柜级液冷BOM成本拆解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1097280"/>
          <a:ext cx="457200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120640" y="1234440"/>
            <a:ext cx="182880" cy="182880"/>
          </a:xfrm>
          <a:prstGeom prst="rect">
            <a:avLst>
              <a:gd name="adj" fmla="val 15000"/>
            </a:avLst>
          </a:prstGeom>
          <a:solidFill>
            <a:srgbClr val="ED8936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5394960" y="118872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液冷板（冷板）  43%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394960" y="1444752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直接接触芯片散热，核心价值组件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5394960" y="1627632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~20-43万/柜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5120640" y="1984248"/>
            <a:ext cx="182880" cy="182880"/>
          </a:xfrm>
          <a:prstGeom prst="rect">
            <a:avLst>
              <a:gd name="adj" fmla="val 15000"/>
            </a:avLst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5394960" y="193852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  39%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394960" y="2194560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冷却分配单元，液冷系统「心脏」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5394960" y="2377440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~19-39万/柜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5120640" y="2734056"/>
            <a:ext cx="182880" cy="182880"/>
          </a:xfrm>
          <a:prstGeom prst="rect">
            <a:avLst>
              <a:gd name="adj" fmla="val 15000"/>
            </a:avLst>
          </a:prstGeom>
          <a:solidFill>
            <a:srgbClr val="D4522A"/>
          </a:solidFill>
          <a:ln/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5394960" y="268833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快接头（UQD）  9%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394960" y="2944368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热插拔接头，维护便利性关键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5394960" y="3127248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452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~4-9万/柜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5120640" y="3483864"/>
            <a:ext cx="182880" cy="182880"/>
          </a:xfrm>
          <a:prstGeom prst="rect">
            <a:avLst>
              <a:gd name="adj" fmla="val 15000"/>
            </a:avLst>
          </a:prstGeom>
          <a:solidFill>
            <a:srgbClr val="2C5282"/>
          </a:solidFill>
          <a:ln/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5394960" y="343814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Manifold  4%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5394960" y="3694176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分水管，流体均匀分配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5394960" y="3877056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C5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~2-4万/柜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5120640" y="4233672"/>
            <a:ext cx="182880" cy="182880"/>
          </a:xfrm>
          <a:prstGeom prst="rect">
            <a:avLst>
              <a:gd name="adj" fmla="val 15000"/>
            </a:avLst>
          </a:prstGeom>
          <a:solidFill>
            <a:srgbClr val="95A5A6"/>
          </a:solidFill>
          <a:ln/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5394960" y="4187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其他  5%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5394960" y="4443984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管路/传感器/安装件等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5394960" y="4626864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95A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~2-5万/柜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274320" y="4572000"/>
            <a:ext cx="7132320" cy="411480"/>
          </a:xfrm>
          <a:prstGeom prst="rect">
            <a:avLst>
              <a:gd name="adj" fmla="val 11111"/>
            </a:avLst>
          </a:prstGeom>
          <a:solidFill>
            <a:srgbClr val="BEE3F8">
              <a:alpha val="70000"/>
            </a:srgbClr>
          </a:solidFill>
          <a:ln/>
        </p:spPr>
        <p:txBody>
          <a:bodyPr/>
          <a:p/>
        </p:txBody>
      </p:sp>
      <p:sp>
        <p:nvSpPr>
          <p:cNvPr id="26" name="Text 23"/>
          <p:cNvSpPr/>
          <p:nvPr/>
        </p:nvSpPr>
        <p:spPr>
          <a:xfrm>
            <a:off x="548640" y="4590288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液冷板 + CDU 合计占比 82%，是液冷系统价值量最集中的两个环节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457200" y="4965192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来源：东吴证券[43]液冷供应链深度 | 摩根士丹利 [✔已核实]</a:t>
            </a:r>
            <a:endParaRPr lang="en-US" sz="700" dirty="0"/>
          </a:p>
        </p:txBody>
      </p:sp>
      <p:sp>
        <p:nvSpPr>
          <p:cNvPr id="28" name="Shape 25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29" name="Text 26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09728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2026-2030年中国机柜级液冷市场规模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1097280"/>
          <a:ext cx="594360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1234440"/>
            <a:ext cx="2560320" cy="502920"/>
          </a:xfrm>
          <a:prstGeom prst="roundRect">
            <a:avLst>
              <a:gd name="adj" fmla="val 10909"/>
            </a:avLst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548640" y="126187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CAGR = 43.6%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457200" y="3840480"/>
            <a:ext cx="5486400" cy="384048"/>
          </a:xfrm>
          <a:prstGeom prst="roundRect">
            <a:avLst>
              <a:gd name="adj" fmla="val 11905"/>
            </a:avLst>
          </a:prstGeom>
          <a:solidFill>
            <a:srgbClr val="FFF7ED"/>
          </a:solidFill>
          <a:ln w="12700">
            <a:solidFill>
              <a:srgbClr val="ED8936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640080" y="3858768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五年累计 ≈ 3,370亿元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583680" y="1188720"/>
            <a:ext cx="2194560" cy="1188720"/>
          </a:xfrm>
          <a:prstGeom prst="rect">
            <a:avLst>
              <a:gd name="adj" fmla="val 6154"/>
            </a:avLst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6675120" y="12801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五年CAGR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675120" y="160020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43.6%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6675120" y="205740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2026-2030年复合增速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6583680" y="2606040"/>
            <a:ext cx="2194560" cy="1188720"/>
          </a:xfrm>
          <a:prstGeom prst="rect">
            <a:avLst>
              <a:gd name="adj" fmla="val 6154"/>
            </a:avLst>
          </a:prstGeom>
          <a:solidFill>
            <a:srgbClr val="ED8936"/>
          </a:solidFill>
          <a:ln/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6675120" y="26974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五年累计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675120" y="30175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≈3,370亿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6675120" y="347472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中国液冷市场总量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6492240" y="4023360"/>
            <a:ext cx="2377440" cy="822960"/>
          </a:xfrm>
          <a:prstGeom prst="roundRect">
            <a:avLst>
              <a:gd name="adj" fmla="val 6667"/>
            </a:avLst>
          </a:prstGeom>
          <a:solidFill>
            <a:srgbClr val="F7FAFC"/>
          </a:solidFill>
          <a:ln w="1016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6583680" y="406908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5年4.85倍增长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AI算力驱动液冷进入爆发期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457200" y="4919472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来源：中国信通院 | IDC | 多家券商交叉验证 [✔已核实] 中国液冷市场 2025E 365亿→2029E 1300亿</a:t>
            </a:r>
            <a:endParaRPr lang="en-US" sz="700" dirty="0"/>
          </a:p>
        </p:txBody>
      </p:sp>
      <p:sp>
        <p:nvSpPr>
          <p:cNvPr id="20" name="Shape 17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09728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液冷市场空间数据刷新（2026最新共识）</a:t>
            </a:r>
            <a:endParaRPr lang="en-US" sz="24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914400"/>
                <a:gridCol w="1645920"/>
                <a:gridCol w="1097280"/>
                <a:gridCol w="1188720"/>
                <a:gridCol w="13716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口径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2024A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2025E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2029E/30E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CAGR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来源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中国智算液冷(亿元)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184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365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1300(2029E)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37.4%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D89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信通院[✔4篇验证]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535(2030E)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535(2030E)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43.6%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D89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国信证券[7][⚠测算]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英伟达+ASIC系统(亿元)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709(2025E)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~1050(2026E)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D89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东吴证券[43][⚠测算]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2926080"/>
            <a:ext cx="2560320" cy="1371600"/>
          </a:xfrm>
          <a:prstGeom prst="rect">
            <a:avLst>
              <a:gd name="adj" fmla="val 5333"/>
            </a:avLst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548640" y="30175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✔ 3口径交叉验证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中国365亿/1300亿(4篇)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8640" y="35204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全球零部件535亿美元(2030E)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548640" y="39319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英伟达+ASIC ~1050亿(2026E)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3291840" y="2926080"/>
            <a:ext cx="2560320" cy="1371600"/>
          </a:xfrm>
          <a:prstGeom prst="rect">
            <a:avLst>
              <a:gd name="adj" fmla="val 5333"/>
            </a:avLst>
          </a:prstGeom>
          <a:solidFill>
            <a:srgbClr val="2C5282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3383280" y="30175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来源：中国信通院 | 国信证券 | 东吴证券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/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3383280" y="35204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3383280" y="39319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/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6126480" y="2926080"/>
            <a:ext cx="2560320" cy="1371600"/>
          </a:xfrm>
          <a:prstGeom prst="rect">
            <a:avLst>
              <a:gd name="adj" fmla="val 5333"/>
            </a:avLst>
          </a:prstGeom>
          <a:solidFill>
            <a:srgbClr val="ED8936"/>
          </a:solidFill>
          <a:ln/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6217920" y="30175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📈 液冷BOM占比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217920" y="33832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 2% → 超节点 4-5%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217920" y="3840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翻倍！价值量大幅跃升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57200" y="45720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来源：WeChat文章3（超节点专家调研）| 三大巨头资本开支公告 [已核实]</a:t>
            </a:r>
            <a:endParaRPr lang="en-US" sz="700" dirty="0"/>
          </a:p>
        </p:txBody>
      </p:sp>
      <p:sp>
        <p:nvSpPr>
          <p:cNvPr id="18" name="Shape 15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09728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全球超节点方案全景对比（2025-2028）</a:t>
            </a:r>
            <a:endParaRPr lang="en-US" sz="24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914400"/>
                <a:gridCol w="1645920"/>
                <a:gridCol w="1097280"/>
                <a:gridCol w="1188720"/>
                <a:gridCol w="13716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超节点名称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厂商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规模(card)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GPU芯片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互联协议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液冷方案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GB200 NVL72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英伟达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昇腾910C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B200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NVLink 5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D89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冷板液冷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昇腾910C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华为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384卡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昇腾910C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灵衢1.0全光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D89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冷板液冷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ScaleX640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曙光/海光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640卡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海光DCU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HSL (112G)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D89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浸没相变液冷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2926080"/>
            <a:ext cx="2560320" cy="1371600"/>
          </a:xfrm>
          <a:prstGeom prst="rect">
            <a:avLst>
              <a:gd name="adj" fmla="val 5333"/>
            </a:avLst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548640" y="30175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✔ 11家厂商超节点已核实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英伟达/华为/曙光/谷歌/AMD/阿里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8640" y="35204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百度/寒武纪/字节/腾讯/中国移动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548640" y="39319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国产超节点2026量产元年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3291840" y="2926080"/>
            <a:ext cx="2560320" cy="1371600"/>
          </a:xfrm>
          <a:prstGeom prst="rect">
            <a:avLst>
              <a:gd name="adj" fmla="val 5333"/>
            </a:avLst>
          </a:prstGeom>
          <a:solidFill>
            <a:srgbClr val="2C5282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3383280" y="30175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📊 单柜功耗趋势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145KW(GB200)→1MW+(Atlas 950)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3383280" y="35204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浸没相变→刚需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3383280" y="39319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超节点液冷从可选项→必选项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6126480" y="2926080"/>
            <a:ext cx="2560320" cy="1371600"/>
          </a:xfrm>
          <a:prstGeom prst="rect">
            <a:avLst>
              <a:gd name="adj" fmla="val 5333"/>
            </a:avLst>
          </a:prstGeom>
          <a:solidFill>
            <a:srgbClr val="ED8936"/>
          </a:solidFill>
          <a:ln/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6217920" y="30175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📈 液冷BOM占比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217920" y="33832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 2% → 超节点 4-5%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217920" y="3840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翻倍！价值量大幅跃升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57200" y="45720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来源：WeChat文章3（超节点专家调研）| 三大巨头资本开支公告 [已核实]</a:t>
            </a:r>
            <a:endParaRPr lang="en-US" sz="700" dirty="0"/>
          </a:p>
        </p:txBody>
      </p:sp>
      <p:sp>
        <p:nvSpPr>
          <p:cNvPr id="18" name="Shape 15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英伟达超节点技术演进：GB200→Feynman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9144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NVL超节点演进路线图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457200" cy="384048"/>
          </a:xfrm>
          <a:prstGeom prst="rect">
            <a:avLst/>
          </a:prstGeom>
          <a:solidFill>
            <a:srgbClr val="2F855A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274320" y="1234440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2026H1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731520" y="1234440"/>
            <a:ext cx="146304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2F855A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22960" y="1252728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GB200 NVL72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22960" y="1435608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F8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72卡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2194560" y="1234440"/>
            <a:ext cx="2103120" cy="384048"/>
          </a:xfrm>
          <a:prstGeom prst="rect">
            <a:avLst/>
          </a:prstGeom>
          <a:solidFill>
            <a:srgbClr val="EDF2F7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2286000" y="123444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145KW | NVLink 5 | 已量产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274320" y="1664208"/>
            <a:ext cx="457200" cy="384048"/>
          </a:xfrm>
          <a:prstGeom prst="rect">
            <a:avLst/>
          </a:prstGeom>
          <a:solidFill>
            <a:srgbClr val="2C5282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274320" y="1664208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2026H1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731520" y="1664208"/>
            <a:ext cx="146304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2C5282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22960" y="1682496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GB300 NVL72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22960" y="1865376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5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72卡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2194560" y="1664208"/>
            <a:ext cx="2103120" cy="384048"/>
          </a:xfrm>
          <a:prstGeom prst="rect">
            <a:avLst/>
          </a:prstGeom>
          <a:solidFill>
            <a:srgbClr val="EDF2F7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2286000" y="1664208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150KW | NVLink 5 | 已量产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274320" y="2093976"/>
            <a:ext cx="457200" cy="384048"/>
          </a:xfrm>
          <a:prstGeom prst="rect">
            <a:avLst/>
          </a:prstGeom>
          <a:solidFill>
            <a:srgbClr val="ED8936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274320" y="2093976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2026H1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731520" y="2093976"/>
            <a:ext cx="146304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D8936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822960" y="2112264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VR200 NVL72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22960" y="2295144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72卡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2194560" y="2093976"/>
            <a:ext cx="2103120" cy="384048"/>
          </a:xfrm>
          <a:prstGeom prst="rect">
            <a:avLst/>
          </a:prstGeom>
          <a:solidFill>
            <a:srgbClr val="EDF2F7"/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2286000" y="2093976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200KW | NVLink 6 | 已发布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274320" y="2523744"/>
            <a:ext cx="457200" cy="384048"/>
          </a:xfrm>
          <a:prstGeom prst="rect">
            <a:avLst/>
          </a:prstGeom>
          <a:solidFill>
            <a:srgbClr val="C53030"/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274320" y="2523744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2026H2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731520" y="2523744"/>
            <a:ext cx="1463040" cy="384048"/>
          </a:xfrm>
          <a:prstGeom prst="rect">
            <a:avLst/>
          </a:prstGeom>
          <a:solidFill>
            <a:srgbClr val="FFF5F5"/>
          </a:solidFill>
          <a:ln w="12700">
            <a:solidFill>
              <a:srgbClr val="C53030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822960" y="2542032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VR200 NVL144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22960" y="2724912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144卡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2194560" y="2523744"/>
            <a:ext cx="2103120" cy="384048"/>
          </a:xfrm>
          <a:prstGeom prst="rect">
            <a:avLst/>
          </a:prstGeom>
          <a:solidFill>
            <a:srgbClr val="EDF2F7"/>
          </a:solidFill>
          <a:ln/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2286000" y="2523744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250-300KW | NVLink 6 | 规划中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274320" y="2953512"/>
            <a:ext cx="457200" cy="384048"/>
          </a:xfrm>
          <a:prstGeom prst="rect">
            <a:avLst/>
          </a:prstGeom>
          <a:solidFill>
            <a:srgbClr val="C53030"/>
          </a:solidFill>
          <a:ln/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274320" y="2953512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731520" y="2953512"/>
            <a:ext cx="1463040" cy="384048"/>
          </a:xfrm>
          <a:prstGeom prst="rect">
            <a:avLst/>
          </a:prstGeom>
          <a:solidFill>
            <a:srgbClr val="FFF5F5"/>
          </a:solidFill>
          <a:ln w="12700">
            <a:solidFill>
              <a:srgbClr val="C53030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822960" y="2971800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Rubin Ultra NVL576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22960" y="3154680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576卡(4×NVL144+Kyber)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2194560" y="2953512"/>
            <a:ext cx="2103120" cy="384048"/>
          </a:xfrm>
          <a:prstGeom prst="rect">
            <a:avLst/>
          </a:prstGeom>
          <a:solidFill>
            <a:srgbClr val="EDF2F7"/>
          </a:solidFill>
          <a:ln/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2286000" y="2953512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NVLink 7 | PCB中板 | 规划中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4572000" y="914400"/>
            <a:ext cx="4297680" cy="2194560"/>
          </a:xfrm>
          <a:prstGeom prst="rect">
            <a:avLst/>
          </a:prstGeom>
          <a:solidFill>
            <a:srgbClr val="FFF5F5"/>
          </a:solidFill>
          <a:ln w="19050">
            <a:solidFill>
              <a:srgbClr val="C53030"/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4709160" y="100584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昇腾封闭生态特征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709160" y="1325880"/>
            <a:ext cx="402336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🔒 冷板标准：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华为定制，外部厂商无法适配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🔒 快接头：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华为指定史陶比尔为主，但国产替代窗口已打开，华为明确欢迎国内产业伙伴基于灵衢2.0生态进入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🔒 CDU：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华为自产或超聚变体系内供应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🔒 Manifold：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昇腾体系封闭指定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 海悟在华为昇腾体系的机会路径：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浪潮/超聚变/宁畅均可触达昇腾液冷服务器，海悟不依赖单一OEM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主要渠道：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浪潮（海光+昇腾双线）/ 超聚变（昇腾为主）/ 宁畅（寒武纪为主，部分昇腾）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274320" y="3337560"/>
            <a:ext cx="8595360" cy="1417320"/>
          </a:xfrm>
          <a:prstGeom prst="rect">
            <a:avLst/>
          </a:prstGeom>
          <a:solidFill>
            <a:srgbClr val="ED8936">
              <a:alpha val="8000"/>
            </a:srgbClr>
          </a:solidFill>
          <a:ln w="19050">
            <a:solidFill>
              <a:srgbClr val="ED8936"/>
            </a:solidFill>
            <a:prstDash val="solid"/>
          </a:ln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457200" y="3429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NVL演进关键：每代翻倍，2028年达1152卡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57200" y="37490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🔑 华为昇腾液冷供应链核心伙伴：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申菱环境（华为液冷唯一合作伙伴）/ 英维克（CDU+冷板+快接头全链）/ 恒为科技（唯一联合研发落地合作方）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🔑 华为快接头（UQD）供应：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可能仍以史陶比尔为主，但华为开放灵衢2.0生态，欢迎国内产业伙伴，快接头国产替代窗口已打开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🔑 海悟进入路径：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不依赖单一OEM，通过浪潮（液冷服务器）/ 超聚变（FusionPoD for AI）/ 宁畅均可触达昇腾液冷体系，快接头供应不限于超聚变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🔑 华为超聚变不是唯一通道：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浪潮也大量出货昇腾液冷服务器（年出货量不低），海悟可通过多个OEM触达昇腾生态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000" dirty="0"/>
          </a:p>
        </p:txBody>
      </p:sp>
      <p:pic>
        <p:nvPicPr>
          <p:cNvPr id="48" name="Picture 47" descr="img-0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45920"/>
            <a:ext cx="8229600" cy="3200400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/>
            </a:pPr>
            <a:r>
              <a:t>📎 NVIDIA GB200 NVL72 机柜架构与NVLink拓扑 | 来源:东兴证券《超节点与Scale up网络专题之英伟达》2026-02-05</a:t>
            </a:r>
          </a:p>
        </p:txBody>
      </p:sp>
      <p:pic>
        <p:nvPicPr>
          <p:cNvPr id="50" name="Picture 49" descr="img-02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3474720"/>
            <a:ext cx="4114800" cy="1463040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/>
            </a:pPr>
            <a:r>
              <a:t>📎 NVLink代际演进 | 来源:同上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华为昇腾超节点平台：CloudMatrix→Atlas 970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9144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昇腾超节点演进路线（4代）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457200" cy="384048"/>
          </a:xfrm>
          <a:prstGeom prst="rect">
            <a:avLst/>
          </a:prstGeom>
          <a:solidFill>
            <a:srgbClr val="2F855A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274320" y="1234440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2025Q2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731520" y="1234440"/>
            <a:ext cx="146304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2F855A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22960" y="1252728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CloudMatrix 384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22960" y="1435608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F8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384卡 | 12+4柜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2194560" y="1234440"/>
            <a:ext cx="2103120" cy="384048"/>
          </a:xfrm>
          <a:prstGeom prst="rect">
            <a:avLst/>
          </a:prstGeom>
          <a:solidFill>
            <a:srgbClr val="EDF2F7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2286000" y="123444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600KW | 灵衢1.0全光 | 已商用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274320" y="1664208"/>
            <a:ext cx="457200" cy="384048"/>
          </a:xfrm>
          <a:prstGeom prst="rect">
            <a:avLst/>
          </a:prstGeom>
          <a:solidFill>
            <a:srgbClr val="2C5282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274320" y="1664208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2026Q4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731520" y="1664208"/>
            <a:ext cx="146304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2C5282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22960" y="1682496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Atlas 950 SuperPod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22960" y="1865376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5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8192卡 | 128+32柜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2194560" y="1664208"/>
            <a:ext cx="2103120" cy="384048"/>
          </a:xfrm>
          <a:prstGeom prst="rect">
            <a:avLst/>
          </a:prstGeom>
          <a:solidFill>
            <a:srgbClr val="EDF2F7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2286000" y="1664208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&gt;1MW | 灵衢2.0混合 | 8 EFLOPS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274320" y="2093976"/>
            <a:ext cx="457200" cy="384048"/>
          </a:xfrm>
          <a:prstGeom prst="rect">
            <a:avLst/>
          </a:prstGeom>
          <a:solidFill>
            <a:srgbClr val="ED8936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274320" y="2093976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2027Q4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731520" y="2093976"/>
            <a:ext cx="146304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D8936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822960" y="2112264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Atlas 960 SuperPod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22960" y="2295144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8192卡 | 128+32柜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2194560" y="2093976"/>
            <a:ext cx="2103120" cy="384048"/>
          </a:xfrm>
          <a:prstGeom prst="rect">
            <a:avLst/>
          </a:prstGeom>
          <a:solidFill>
            <a:srgbClr val="EDF2F7"/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2286000" y="2093976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15488卡 | 176+44柜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274320" y="2523744"/>
            <a:ext cx="457200" cy="384048"/>
          </a:xfrm>
          <a:prstGeom prst="rect">
            <a:avLst/>
          </a:prstGeom>
          <a:solidFill>
            <a:srgbClr val="C53030"/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274320" y="2523744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2028Q4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731520" y="2523744"/>
            <a:ext cx="1463040" cy="384048"/>
          </a:xfrm>
          <a:prstGeom prst="rect">
            <a:avLst/>
          </a:prstGeom>
          <a:solidFill>
            <a:srgbClr val="FFF5F5"/>
          </a:solidFill>
          <a:ln w="12700">
            <a:solidFill>
              <a:srgbClr val="C53030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822960" y="2542032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Atlas 970 SuperPod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22960" y="2724912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灵衢2.0升级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2194560" y="2523744"/>
            <a:ext cx="2103120" cy="384048"/>
          </a:xfrm>
          <a:prstGeom prst="rect">
            <a:avLst/>
          </a:prstGeom>
          <a:solidFill>
            <a:srgbClr val="EDF2F7"/>
          </a:solidFill>
          <a:ln/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2286000" y="2523744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FP4算力+互联再翻倍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274320" y="2953512"/>
            <a:ext cx="457200" cy="384048"/>
          </a:xfrm>
          <a:prstGeom prst="rect">
            <a:avLst/>
          </a:prstGeom>
          <a:solidFill>
            <a:srgbClr val="C53030"/>
          </a:solidFill>
          <a:ln/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274320" y="2953512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昇腾芯片路线图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731520" y="2953512"/>
            <a:ext cx="1463040" cy="384048"/>
          </a:xfrm>
          <a:prstGeom prst="rect">
            <a:avLst/>
          </a:prstGeom>
          <a:solidFill>
            <a:srgbClr val="FFF5F5"/>
          </a:solidFill>
          <a:ln w="12700">
            <a:solidFill>
              <a:srgbClr val="C53030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822960" y="2971800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950PR(2026Q1)→950DT(2026Q4)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22960" y="3154680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960(2027Q4)→970(2028Q4)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2194560" y="2953512"/>
            <a:ext cx="2103120" cy="384048"/>
          </a:xfrm>
          <a:prstGeom prst="rect">
            <a:avLst/>
          </a:prstGeom>
          <a:solidFill>
            <a:srgbClr val="EDF2F7"/>
          </a:solidFill>
          <a:ln/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2286000" y="2953512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成本优化：柜内铜+柜间光混合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4572000" y="914400"/>
            <a:ext cx="4297680" cy="2194560"/>
          </a:xfrm>
          <a:prstGeom prst="rect">
            <a:avLst/>
          </a:prstGeom>
          <a:solidFill>
            <a:srgbClr val="FFF5F5"/>
          </a:solidFill>
          <a:ln w="19050">
            <a:solidFill>
              <a:srgbClr val="C53030"/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4709160" y="100584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昇腾封闭生态特征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709160" y="1325880"/>
            <a:ext cx="402336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🔒 冷板标准：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华为定制，外部厂商无法适配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🔒 快接头：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华为指定史陶比尔为主，但国产替代窗口已打开，华为明确欢迎国内产业伙伴基于灵衢2.0生态进入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🔒 CDU：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华为自产或超聚变体系内供应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🔒 Manifold：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昇腾体系封闭指定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 海悟在华为昇腾体系的机会路径：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浪潮/超聚变/宁畅均可触达昇腾液冷服务器，海悟不依赖单一OEM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主要渠道：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浪潮（海光+昇腾双线）/ 超聚变（昇腾为主）/ 宁畅（寒武纪为主，部分昇腾）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274320" y="3337560"/>
            <a:ext cx="8595360" cy="1417320"/>
          </a:xfrm>
          <a:prstGeom prst="rect">
            <a:avLst/>
          </a:prstGeom>
          <a:solidFill>
            <a:srgbClr val="ED8936">
              <a:alpha val="8000"/>
            </a:srgbClr>
          </a:solidFill>
          <a:ln w="19050">
            <a:solidFill>
              <a:srgbClr val="ED8936"/>
            </a:solidFill>
            <a:prstDash val="solid"/>
          </a:ln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457200" y="3429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✔ 华为4代超节点完整（384/950/960/970）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57200" y="37490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🔑 华为昇腾液冷供应链核心伙伴：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申菱环境（华为液冷唯一合作伙伴）/ 英维克（CDU+冷板+快接头全链）/ 恒为科技（唯一联合研发落地合作方）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🔑 华为快接头（UQD）供应：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可能仍以史陶比尔为主，但华为开放灵衢2.0生态，欢迎国内产业伙伴，快接头国产替代窗口已打开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🔑 海悟进入路径：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不依赖单一OEM，通过浪潮（液冷服务器）/ 超聚变（FusionPoD for AI）/ 宁畅均可触达昇腾液冷体系，快接头供应不限于超聚变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🔑 华为超聚变不是唯一通道：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浪潮也大量出货昇腾液冷服务器（年出货量不低），海悟可通过多个OEM触达昇腾生态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000" dirty="0"/>
          </a:p>
        </p:txBody>
      </p:sp>
      <p:pic>
        <p:nvPicPr>
          <p:cNvPr id="48" name="Picture 47" descr="img-14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28800"/>
            <a:ext cx="4114800" cy="2743200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/>
            </a:pPr>
            <a:r>
              <a:t>📎 华为灵衢互联拓扑 | 来源:东兴证券 2026-03-02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09728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曙光ScaleX640：全球首个单机柜640卡超节点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3017520"/>
            <a:ext cx="1371600" cy="914400"/>
          </a:xfrm>
          <a:prstGeom prst="rect">
            <a:avLst>
              <a:gd name="adj" fmla="val 8000"/>
            </a:avLst>
          </a:prstGeom>
          <a:solidFill>
            <a:srgbClr val="BEE3F8"/>
          </a:solidFill>
          <a:ln/>
          <a:effectLst>
            <a:outerShdw sx="100000" sy="100000" kx="0" ky="0" algn="bl" rotWithShape="0" blurRad="76200" dist="25400" dir="162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365760" y="315468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浸没相变液冷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356616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三代演进：冷板→浸没→浸没相变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342900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“一拖二”架构：1CDM+2计算机柜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737360" y="2560320"/>
            <a:ext cx="1371600" cy="1371600"/>
          </a:xfrm>
          <a:prstGeom prst="rect">
            <a:avLst>
              <a:gd name="adj" fmla="val 5333"/>
            </a:avLst>
          </a:prstGeom>
          <a:solidFill>
            <a:srgbClr val="A0D2F0"/>
          </a:solidFill>
          <a:ln/>
          <a:effectLst>
            <a:outerShdw sx="100000" sy="100000" kx="0" ky="0" algn="bl" rotWithShape="0" blurRad="76200" dist="25400" dir="162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828800" y="269748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互联协议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海光HSL：112G起步→240G升级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828800" y="333756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scaleFabric自研400G RDMA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828800" y="342900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性能指标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00400" y="1920240"/>
            <a:ext cx="1371600" cy="2011680"/>
          </a:xfrm>
          <a:prstGeom prst="rect">
            <a:avLst>
              <a:gd name="adj" fmla="val 5333"/>
            </a:avLst>
          </a:prstGeom>
          <a:solidFill>
            <a:srgbClr val="2C5282"/>
          </a:solidFill>
          <a:ln/>
          <a:effectLst>
            <a:outerShdw sx="100000" sy="100000" kx="0" ky="0" algn="bl" rotWithShape="0" blurRad="76200" dist="25400" dir="162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3291840" y="205740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单柜算力 &gt;600 PFLOPS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PUE &lt; 1.04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291840" y="301752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100+ RAS多级架构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91840" y="342900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30天+长稳测试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63440" y="1280160"/>
            <a:ext cx="1371600" cy="2651760"/>
          </a:xfrm>
          <a:prstGeom prst="rect">
            <a:avLst>
              <a:gd name="adj" fmla="val 5333"/>
            </a:avLst>
          </a:prstGeom>
          <a:solidFill>
            <a:srgbClr val="ED8936"/>
          </a:solidFill>
          <a:ln/>
          <a:effectLst>
            <a:outerShdw sx="100000" sy="100000" kx="0" ky="0" algn="bl" rotWithShape="0" blurRad="76200" dist="25400" dir="162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4754880" y="141732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关键数据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卡间互联总带宽 &gt;570TB/s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754880" y="26974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访存总带宽 &gt;2.3PB/s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54880" y="342900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兼容400+主流大模型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126480" y="640080"/>
            <a:ext cx="1371600" cy="3291840"/>
          </a:xfrm>
          <a:prstGeom prst="rect">
            <a:avLst>
              <a:gd name="adj" fmla="val 5333"/>
            </a:avLst>
          </a:prstGeom>
          <a:solidFill>
            <a:srgbClr val="D4522A"/>
          </a:solidFill>
          <a:ln/>
          <a:effectLst>
            <a:outerShdw sx="100000" sy="100000" kx="0" ky="0" algn="bl" rotWithShape="0" blurRad="76200" dist="25400" dir="162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217920" y="77724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发布时间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2025.11发布 | 支撑10万卡集群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217920" y="237744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东吴证券 2026-04-14 [✔已核实]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17920" y="342900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✔ ScaleX640浸没相变详解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37160" y="2560320"/>
            <a:ext cx="3017520" cy="27432"/>
          </a:xfrm>
          <a:prstGeom prst="rect">
            <a:avLst/>
          </a:prstGeom>
          <a:solidFill>
            <a:srgbClr val="D32F2F"/>
          </a:solidFill>
          <a:ln w="19050">
            <a:solidFill>
              <a:srgbClr val="D32F2F"/>
            </a:solidFill>
            <a:prstDash val="dash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3200400" y="23774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32F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风冷物理上限 15-30kW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017520" y="2194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32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⬆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274320" y="4206240"/>
            <a:ext cx="7132320" cy="594360"/>
          </a:xfrm>
          <a:prstGeom prst="rect">
            <a:avLst>
              <a:gd name="adj" fmla="val 7692"/>
            </a:avLst>
          </a:prstGeom>
          <a:solidFill>
            <a:srgbClr val="1A365D">
              <a:alpha val="95000"/>
            </a:srgbClr>
          </a:solidFill>
          <a:ln w="19050">
            <a:solidFill>
              <a:srgbClr val="ED8936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548640" y="4251960"/>
            <a:ext cx="6675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关键结论：单柜 &gt; 30kW 时，风冷物理上限被突破，液冷成为刚需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57200" y="47548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来源：WeChat文章3（超节点专家调研）| WeChat文章8 [已核实]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100" dirty="0"/>
          </a:p>
        </p:txBody>
      </p:sp>
      <p:pic>
        <p:nvPicPr>
          <p:cNvPr id="32" name="Picture 31" descr="img-0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71600"/>
            <a:ext cx="8229600" cy="365760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/>
            </a:pPr>
            <a:r>
              <a:t>📎 曙光ScaleX640浸没相变液冷超节点架构 | 来源:东吴证券《超节点系列报告二》2026-04-14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09728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OTT超节点液冷方案对比</a:t>
            </a:r>
            <a:endParaRPr lang="en-US" sz="24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914400"/>
                <a:gridCol w="1645920"/>
                <a:gridCol w="1097280"/>
                <a:gridCol w="1188720"/>
                <a:gridCol w="13716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超节点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液冷类型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CDU配置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PUE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关键差异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状态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NVL72系列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冷板液冷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In-Rack CDU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~1.1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铜缆互联 | 维谛独供→多供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D89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已量产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~1.2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冷板液冷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外置CDU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~1.2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全光互联 | 冷却需求高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D89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已商用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ScaleX640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浸没相变液冷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CDM(一拖二)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&lt;1.04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高压直流 | 正交架构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D89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已发布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2926080"/>
            <a:ext cx="2560320" cy="1371600"/>
          </a:xfrm>
          <a:prstGeom prst="rect">
            <a:avLst>
              <a:gd name="adj" fmla="val 5333"/>
            </a:avLst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548640" y="30175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液冷类型对比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冷板(主流) vs 浸没相变(高密度)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8640" y="35204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铜互联(低功耗) vs 光互联(高功耗+需冷却)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548640" y="39319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CDU：英伟达放权→国产链二供→一供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3291840" y="2926080"/>
            <a:ext cx="2560320" cy="1371600"/>
          </a:xfrm>
          <a:prstGeom prst="rect">
            <a:avLst>
              <a:gd name="adj" fmla="val 5333"/>
            </a:avLst>
          </a:prstGeom>
          <a:solidFill>
            <a:srgbClr val="2C5282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3383280" y="30175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✔ 液冷方案对比完成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/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3383280" y="35204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3383280" y="39319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/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6126480" y="2926080"/>
            <a:ext cx="2560320" cy="1371600"/>
          </a:xfrm>
          <a:prstGeom prst="rect">
            <a:avLst>
              <a:gd name="adj" fmla="val 5333"/>
            </a:avLst>
          </a:prstGeom>
          <a:solidFill>
            <a:srgbClr val="ED8936"/>
          </a:solidFill>
          <a:ln/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6217920" y="30175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📈 液冷BOM占比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217920" y="33832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 2% → 超节点 4-5%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217920" y="3840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翻倍！价值量大幅跃升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57200" y="45720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来源：WeChat文章3（超节点专家调研）| 三大巨头资本开支公告 [已核实]</a:t>
            </a:r>
            <a:endParaRPr lang="en-US" sz="700" dirty="0"/>
          </a:p>
        </p:txBody>
      </p:sp>
      <p:sp>
        <p:nvSpPr>
          <p:cNvPr id="18" name="Shape 15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OTT厂家超节点布局与OEM供应链关系图谱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822960" cy="384048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274320" y="914400"/>
            <a:ext cx="822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OTT厂家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1097280" y="914400"/>
            <a:ext cx="457200" cy="384048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097280" y="914400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区域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554480" y="914400"/>
            <a:ext cx="1097280" cy="384048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554480" y="914400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超节点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651760" y="914400"/>
            <a:ext cx="1188720" cy="384048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2651760" y="914400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840480" y="914400"/>
            <a:ext cx="1005840" cy="384048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3840480" y="914400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OEM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846320" y="914400"/>
            <a:ext cx="1417320" cy="384048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4846320" y="914400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液冷快接头需求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263640" y="914400"/>
            <a:ext cx="1783080" cy="384048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263640" y="91440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海悟机会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74320" y="1298448"/>
            <a:ext cx="822960" cy="53035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310896" y="1335024"/>
            <a:ext cx="7498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字节跳动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1097280" y="1298448"/>
            <a:ext cx="457200" cy="53035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133856" y="1335024"/>
            <a:ext cx="3840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57E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1554480" y="1298448"/>
            <a:ext cx="1097280" cy="53035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1591056" y="1335024"/>
            <a:ext cx="10241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字节自研AI服务器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2651760" y="1298448"/>
            <a:ext cx="1188720" cy="53035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2688336" y="1335024"/>
            <a:ext cx="11155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英伟达H100/H200（大量采购）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3840480" y="1298448"/>
            <a:ext cx="1005840" cy="53035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3877056" y="1335024"/>
            <a:ext cx="9326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 / 华为 / 宁畅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4846320" y="1298448"/>
            <a:ext cx="1417320" cy="53035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4882896" y="1335024"/>
            <a:ext cx="1344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液冷快接头年需求约20-40万个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6263640" y="1298448"/>
            <a:ext cx="1783080" cy="53035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6300216" y="1335024"/>
            <a:ext cx="17099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字节是海悟最重要的潜在客户，字节快接头采购量大，海悟可通过浪潮/宁畅触达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274320" y="1828800"/>
            <a:ext cx="82296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310896" y="1865376"/>
            <a:ext cx="7498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腾讯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1097280" y="1828800"/>
            <a:ext cx="4572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1133856" y="1865376"/>
            <a:ext cx="3840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57E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1554480" y="1828800"/>
            <a:ext cx="109728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1591056" y="1865376"/>
            <a:ext cx="10241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腾讯云AI服务器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2651760" y="1828800"/>
            <a:ext cx="11887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2688336" y="1865376"/>
            <a:ext cx="11155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英伟达H100/昇腾910B（混合）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3840480" y="1828800"/>
            <a:ext cx="100584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3877056" y="1865376"/>
            <a:ext cx="9326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 / 华为 / 富士康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4846320" y="1828800"/>
            <a:ext cx="14173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4882896" y="1865376"/>
            <a:ext cx="1344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液冷快接头年需求约15-30万个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6263640" y="1828800"/>
            <a:ext cx="178308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6300216" y="1865376"/>
            <a:ext cx="17099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腾讯液冷服务器主要走浪潮/华为，快接头通过OEM触达，腾讯对海悟有战略意义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274320" y="2359152"/>
            <a:ext cx="822960" cy="53035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310896" y="2395728"/>
            <a:ext cx="7498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阿里巴巴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1097280" y="2359152"/>
            <a:ext cx="457200" cy="53035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9" name="Text 47"/>
          <p:cNvSpPr/>
          <p:nvPr/>
        </p:nvSpPr>
        <p:spPr>
          <a:xfrm>
            <a:off x="1133856" y="2395728"/>
            <a:ext cx="3840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57E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1554480" y="2359152"/>
            <a:ext cx="1097280" cy="53035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1" name="Text 49"/>
          <p:cNvSpPr/>
          <p:nvPr/>
        </p:nvSpPr>
        <p:spPr>
          <a:xfrm>
            <a:off x="1591056" y="2395728"/>
            <a:ext cx="10241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阿里云PAI平台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2651760" y="2359152"/>
            <a:ext cx="1188720" cy="53035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3" name="Text 51"/>
          <p:cNvSpPr/>
          <p:nvPr/>
        </p:nvSpPr>
        <p:spPr>
          <a:xfrm>
            <a:off x="2688336" y="2395728"/>
            <a:ext cx="11155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英伟达H100/平头哥（含光）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3840480" y="2359152"/>
            <a:ext cx="1005840" cy="53035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5" name="Text 53"/>
          <p:cNvSpPr/>
          <p:nvPr/>
        </p:nvSpPr>
        <p:spPr>
          <a:xfrm>
            <a:off x="3877056" y="2395728"/>
            <a:ext cx="9326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 / 华为 / 中科曙光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4846320" y="2359152"/>
            <a:ext cx="1417320" cy="53035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7" name="Text 55"/>
          <p:cNvSpPr/>
          <p:nvPr/>
        </p:nvSpPr>
        <p:spPr>
          <a:xfrm>
            <a:off x="4882896" y="2395728"/>
            <a:ext cx="1344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液冷快接头年需求约10-25万个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6263640" y="2359152"/>
            <a:ext cx="1783080" cy="53035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9" name="Text 57"/>
          <p:cNvSpPr/>
          <p:nvPr/>
        </p:nvSpPr>
        <p:spPr>
          <a:xfrm>
            <a:off x="6300216" y="2395728"/>
            <a:ext cx="17099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阿里自研平头哥芯片，快接头需求特殊（定制），海悟可提供定制响应，平头哥是未来机会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274320" y="2889504"/>
            <a:ext cx="822960" cy="53035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61" name="Text 59"/>
          <p:cNvSpPr/>
          <p:nvPr/>
        </p:nvSpPr>
        <p:spPr>
          <a:xfrm>
            <a:off x="310896" y="2926080"/>
            <a:ext cx="7498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Meta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1097280" y="2889504"/>
            <a:ext cx="457200" cy="53035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63" name="Text 61"/>
          <p:cNvSpPr/>
          <p:nvPr/>
        </p:nvSpPr>
        <p:spPr>
          <a:xfrm>
            <a:off x="1133856" y="2926080"/>
            <a:ext cx="3840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美国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1554480" y="2889504"/>
            <a:ext cx="1097280" cy="53035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65" name="Text 63"/>
          <p:cNvSpPr/>
          <p:nvPr/>
        </p:nvSpPr>
        <p:spPr>
          <a:xfrm>
            <a:off x="1591056" y="2926080"/>
            <a:ext cx="10241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Meta AI超节点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2651760" y="2889504"/>
            <a:ext cx="1188720" cy="53035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67" name="Text 65"/>
          <p:cNvSpPr/>
          <p:nvPr/>
        </p:nvSpPr>
        <p:spPr>
          <a:xfrm>
            <a:off x="2688336" y="2926080"/>
            <a:ext cx="11155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英伟达H100（大量）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3840480" y="2889504"/>
            <a:ext cx="1005840" cy="53035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69" name="Text 67"/>
          <p:cNvSpPr/>
          <p:nvPr/>
        </p:nvSpPr>
        <p:spPr>
          <a:xfrm>
            <a:off x="3877056" y="2926080"/>
            <a:ext cx="9326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Quanta（广达）/ DGX代工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4846320" y="2889504"/>
            <a:ext cx="1417320" cy="53035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71" name="Text 69"/>
          <p:cNvSpPr/>
          <p:nvPr/>
        </p:nvSpPr>
        <p:spPr>
          <a:xfrm>
            <a:off x="4882896" y="2926080"/>
            <a:ext cx="1344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NVL72超节点液冷，快接头需求量大</a:t>
            </a:r>
            <a:endParaRPr lang="en-US" sz="750" dirty="0"/>
          </a:p>
        </p:txBody>
      </p:sp>
      <p:sp>
        <p:nvSpPr>
          <p:cNvPr id="72" name="Shape 70"/>
          <p:cNvSpPr/>
          <p:nvPr/>
        </p:nvSpPr>
        <p:spPr>
          <a:xfrm>
            <a:off x="6263640" y="2889504"/>
            <a:ext cx="1783080" cy="53035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73" name="Text 71"/>
          <p:cNvSpPr/>
          <p:nvPr/>
        </p:nvSpPr>
        <p:spPr>
          <a:xfrm>
            <a:off x="6300216" y="2926080"/>
            <a:ext cx="17099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Meta通过Quanta代工，Quanta无液冷能力，快接头全外购，但需要通过Quanta认证，海悟可探索</a:t>
            </a:r>
            <a:endParaRPr lang="en-US" sz="750" dirty="0"/>
          </a:p>
        </p:txBody>
      </p:sp>
      <p:sp>
        <p:nvSpPr>
          <p:cNvPr id="74" name="Shape 72"/>
          <p:cNvSpPr/>
          <p:nvPr/>
        </p:nvSpPr>
        <p:spPr>
          <a:xfrm>
            <a:off x="274320" y="3419856"/>
            <a:ext cx="822960" cy="53035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75" name="Text 73"/>
          <p:cNvSpPr/>
          <p:nvPr/>
        </p:nvSpPr>
        <p:spPr>
          <a:xfrm>
            <a:off x="310896" y="3456432"/>
            <a:ext cx="7498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Google</a:t>
            </a:r>
            <a:endParaRPr lang="en-US" sz="750" dirty="0"/>
          </a:p>
        </p:txBody>
      </p:sp>
      <p:sp>
        <p:nvSpPr>
          <p:cNvPr id="76" name="Shape 74"/>
          <p:cNvSpPr/>
          <p:nvPr/>
        </p:nvSpPr>
        <p:spPr>
          <a:xfrm>
            <a:off x="1097280" y="3419856"/>
            <a:ext cx="457200" cy="53035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77" name="Text 75"/>
          <p:cNvSpPr/>
          <p:nvPr/>
        </p:nvSpPr>
        <p:spPr>
          <a:xfrm>
            <a:off x="1133856" y="3456432"/>
            <a:ext cx="3840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美国</a:t>
            </a:r>
            <a:endParaRPr lang="en-US" sz="750" dirty="0"/>
          </a:p>
        </p:txBody>
      </p:sp>
      <p:sp>
        <p:nvSpPr>
          <p:cNvPr id="78" name="Shape 76"/>
          <p:cNvSpPr/>
          <p:nvPr/>
        </p:nvSpPr>
        <p:spPr>
          <a:xfrm>
            <a:off x="1554480" y="3419856"/>
            <a:ext cx="1097280" cy="53035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79" name="Text 77"/>
          <p:cNvSpPr/>
          <p:nvPr/>
        </p:nvSpPr>
        <p:spPr>
          <a:xfrm>
            <a:off x="1591056" y="3456432"/>
            <a:ext cx="10241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Google TPU超节点</a:t>
            </a:r>
            <a:endParaRPr lang="en-US" sz="750" dirty="0"/>
          </a:p>
        </p:txBody>
      </p:sp>
      <p:sp>
        <p:nvSpPr>
          <p:cNvPr id="80" name="Shape 78"/>
          <p:cNvSpPr/>
          <p:nvPr/>
        </p:nvSpPr>
        <p:spPr>
          <a:xfrm>
            <a:off x="2651760" y="3419856"/>
            <a:ext cx="1188720" cy="53035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81" name="Text 79"/>
          <p:cNvSpPr/>
          <p:nvPr/>
        </p:nvSpPr>
        <p:spPr>
          <a:xfrm>
            <a:off x="2688336" y="3456432"/>
            <a:ext cx="11155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Google自研TPU</a:t>
            </a:r>
            <a:endParaRPr lang="en-US" sz="750" dirty="0"/>
          </a:p>
        </p:txBody>
      </p:sp>
      <p:sp>
        <p:nvSpPr>
          <p:cNvPr id="82" name="Shape 80"/>
          <p:cNvSpPr/>
          <p:nvPr/>
        </p:nvSpPr>
        <p:spPr>
          <a:xfrm>
            <a:off x="3840480" y="3419856"/>
            <a:ext cx="1005840" cy="53035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83" name="Text 81"/>
          <p:cNvSpPr/>
          <p:nvPr/>
        </p:nvSpPr>
        <p:spPr>
          <a:xfrm>
            <a:off x="3877056" y="3456432"/>
            <a:ext cx="9326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Google自研（自建供应链）</a:t>
            </a:r>
            <a:endParaRPr lang="en-US" sz="750" dirty="0"/>
          </a:p>
        </p:txBody>
      </p:sp>
      <p:sp>
        <p:nvSpPr>
          <p:cNvPr id="84" name="Shape 82"/>
          <p:cNvSpPr/>
          <p:nvPr/>
        </p:nvSpPr>
        <p:spPr>
          <a:xfrm>
            <a:off x="4846320" y="3419856"/>
            <a:ext cx="1417320" cy="53035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85" name="Text 83"/>
          <p:cNvSpPr/>
          <p:nvPr/>
        </p:nvSpPr>
        <p:spPr>
          <a:xfrm>
            <a:off x="4882896" y="3456432"/>
            <a:ext cx="1344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Google自研液冷，快接头不外购</a:t>
            </a:r>
            <a:endParaRPr lang="en-US" sz="750" dirty="0"/>
          </a:p>
        </p:txBody>
      </p:sp>
      <p:sp>
        <p:nvSpPr>
          <p:cNvPr id="86" name="Shape 84"/>
          <p:cNvSpPr/>
          <p:nvPr/>
        </p:nvSpPr>
        <p:spPr>
          <a:xfrm>
            <a:off x="6263640" y="3419856"/>
            <a:ext cx="1783080" cy="53035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87" name="Text 85"/>
          <p:cNvSpPr/>
          <p:nvPr/>
        </p:nvSpPr>
        <p:spPr>
          <a:xfrm>
            <a:off x="6300216" y="3456432"/>
            <a:ext cx="17099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Google封闭自研，海悟无法进入</a:t>
            </a:r>
            <a:endParaRPr lang="en-US" sz="750" dirty="0"/>
          </a:p>
        </p:txBody>
      </p:sp>
      <p:sp>
        <p:nvSpPr>
          <p:cNvPr id="88" name="Shape 86"/>
          <p:cNvSpPr/>
          <p:nvPr/>
        </p:nvSpPr>
        <p:spPr>
          <a:xfrm>
            <a:off x="274320" y="3950208"/>
            <a:ext cx="822960" cy="53035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89" name="Text 87"/>
          <p:cNvSpPr/>
          <p:nvPr/>
        </p:nvSpPr>
        <p:spPr>
          <a:xfrm>
            <a:off x="310896" y="3986784"/>
            <a:ext cx="7498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</a:t>
            </a:r>
            <a:endParaRPr lang="en-US" sz="750" dirty="0"/>
          </a:p>
        </p:txBody>
      </p:sp>
      <p:sp>
        <p:nvSpPr>
          <p:cNvPr id="90" name="Shape 88"/>
          <p:cNvSpPr/>
          <p:nvPr/>
        </p:nvSpPr>
        <p:spPr>
          <a:xfrm>
            <a:off x="1097280" y="3950208"/>
            <a:ext cx="457200" cy="53035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91" name="Text 89"/>
          <p:cNvSpPr/>
          <p:nvPr/>
        </p:nvSpPr>
        <p:spPr>
          <a:xfrm>
            <a:off x="1133856" y="3986784"/>
            <a:ext cx="3840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美国</a:t>
            </a:r>
            <a:endParaRPr lang="en-US" sz="750" dirty="0"/>
          </a:p>
        </p:txBody>
      </p:sp>
      <p:sp>
        <p:nvSpPr>
          <p:cNvPr id="92" name="Shape 90"/>
          <p:cNvSpPr/>
          <p:nvPr/>
        </p:nvSpPr>
        <p:spPr>
          <a:xfrm>
            <a:off x="1554480" y="3950208"/>
            <a:ext cx="1097280" cy="53035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93" name="Text 91"/>
          <p:cNvSpPr/>
          <p:nvPr/>
        </p:nvSpPr>
        <p:spPr>
          <a:xfrm>
            <a:off x="1591056" y="3986784"/>
            <a:ext cx="10241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Azure AI超节点</a:t>
            </a:r>
            <a:endParaRPr lang="en-US" sz="750" dirty="0"/>
          </a:p>
        </p:txBody>
      </p:sp>
      <p:sp>
        <p:nvSpPr>
          <p:cNvPr id="94" name="Shape 92"/>
          <p:cNvSpPr/>
          <p:nvPr/>
        </p:nvSpPr>
        <p:spPr>
          <a:xfrm>
            <a:off x="2651760" y="3950208"/>
            <a:ext cx="1188720" cy="53035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95" name="Text 93"/>
          <p:cNvSpPr/>
          <p:nvPr/>
        </p:nvSpPr>
        <p:spPr>
          <a:xfrm>
            <a:off x="2688336" y="3986784"/>
            <a:ext cx="11155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英伟达H100/MI300X</a:t>
            </a:r>
            <a:endParaRPr lang="en-US" sz="750" dirty="0"/>
          </a:p>
        </p:txBody>
      </p:sp>
      <p:sp>
        <p:nvSpPr>
          <p:cNvPr id="96" name="Shape 94"/>
          <p:cNvSpPr/>
          <p:nvPr/>
        </p:nvSpPr>
        <p:spPr>
          <a:xfrm>
            <a:off x="3840480" y="3950208"/>
            <a:ext cx="1005840" cy="53035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97" name="Text 95"/>
          <p:cNvSpPr/>
          <p:nvPr/>
        </p:nvSpPr>
        <p:spPr>
          <a:xfrm>
            <a:off x="3877056" y="3986784"/>
            <a:ext cx="9326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Quanta / Dell / HP</a:t>
            </a:r>
            <a:endParaRPr lang="en-US" sz="750" dirty="0"/>
          </a:p>
        </p:txBody>
      </p:sp>
      <p:sp>
        <p:nvSpPr>
          <p:cNvPr id="98" name="Shape 96"/>
          <p:cNvSpPr/>
          <p:nvPr/>
        </p:nvSpPr>
        <p:spPr>
          <a:xfrm>
            <a:off x="4846320" y="3950208"/>
            <a:ext cx="1417320" cy="53035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99" name="Text 97"/>
          <p:cNvSpPr/>
          <p:nvPr/>
        </p:nvSpPr>
        <p:spPr>
          <a:xfrm>
            <a:off x="4882896" y="3986784"/>
            <a:ext cx="1344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NVL72超节点液冷</a:t>
            </a:r>
            <a:endParaRPr lang="en-US" sz="750" dirty="0"/>
          </a:p>
        </p:txBody>
      </p:sp>
      <p:sp>
        <p:nvSpPr>
          <p:cNvPr id="100" name="Shape 98"/>
          <p:cNvSpPr/>
          <p:nvPr/>
        </p:nvSpPr>
        <p:spPr>
          <a:xfrm>
            <a:off x="6263640" y="3950208"/>
            <a:ext cx="1783080" cy="53035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1" name="Text 99"/>
          <p:cNvSpPr/>
          <p:nvPr/>
        </p:nvSpPr>
        <p:spPr>
          <a:xfrm>
            <a:off x="6300216" y="3986784"/>
            <a:ext cx="17099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微软通过Quanta/Dell代工，快接头通过Dell/Quanta采购，海悟可通过Dell/Quanta触达</a:t>
            </a:r>
            <a:endParaRPr lang="en-US" sz="750" dirty="0"/>
          </a:p>
        </p:txBody>
      </p:sp>
      <p:sp>
        <p:nvSpPr>
          <p:cNvPr id="102" name="Text 100"/>
          <p:cNvSpPr/>
          <p:nvPr/>
        </p:nvSpPr>
        <p:spPr>
          <a:xfrm>
            <a:off x="457200" y="4919472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来源：IDC / 行业调研 2026.04 | OTT采购数据为估算值</a:t>
            </a:r>
            <a:endParaRPr lang="en-US" sz="700" dirty="0"/>
          </a:p>
        </p:txBody>
      </p:sp>
      <p:sp>
        <p:nvSpPr>
          <p:cNvPr id="103" name="Shape 101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104" name="Text 102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GB200 NVL72超节点：OEM制造格局与液冷供应链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114800" cy="1463040"/>
          </a:xfrm>
          <a:prstGeom prst="rect">
            <a:avLst/>
          </a:prstGeom>
          <a:solidFill>
            <a:srgbClr val="1A365D">
              <a:alpha val="8000"/>
            </a:srgbClr>
          </a:solidFill>
          <a:ln w="19050">
            <a:solidFill>
              <a:srgbClr val="1A365D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" y="9875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GB200 NVL72核心参数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1280160"/>
            <a:ext cx="3840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GPU：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72× NVIDIA GB200（Grace Blackwell）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机架功率：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~100kW/机架（必须液冷）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TDP/GPU：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~1200W（风冷无法满足）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液冷方案：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环路歧管冷板（英伟达指定）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快接头要求：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OCP认证（史陶比尔为主）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单集群成本：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$1000万-2000万美元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572000" y="91440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NVL72 OEM代工制造格局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0" y="1261872"/>
            <a:ext cx="4297680" cy="329184"/>
          </a:xfrm>
          <a:prstGeom prst="rect">
            <a:avLst/>
          </a:prstGeom>
          <a:solidFill>
            <a:srgbClr val="ED8936">
              <a:alpha val="12000"/>
            </a:srgbClr>
          </a:solidFill>
          <a:ln w="6350">
            <a:solidFill>
              <a:srgbClr val="ED8936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709160" y="129844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Foxconn（富士康）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217920" y="129844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主要代工商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7955280" y="129844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已量产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572000" y="1627632"/>
            <a:ext cx="4297680" cy="329184"/>
          </a:xfrm>
          <a:prstGeom prst="rect">
            <a:avLst/>
          </a:prstGeom>
          <a:solidFill>
            <a:srgbClr val="2C5282">
              <a:alpha val="12000"/>
            </a:srgbClr>
          </a:solidFill>
          <a:ln w="6350">
            <a:solidFill>
              <a:srgbClr val="2C5282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709160" y="166420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Quanta（广达）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217920" y="166420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DGX代工延续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7955280" y="166420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已量产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572000" y="1993392"/>
            <a:ext cx="4297680" cy="329184"/>
          </a:xfrm>
          <a:prstGeom prst="rect">
            <a:avLst/>
          </a:prstGeom>
          <a:solidFill>
            <a:srgbClr val="ED8936">
              <a:alpha val="12000"/>
            </a:srgbClr>
          </a:solidFill>
          <a:ln w="6350">
            <a:solidFill>
              <a:srgbClr val="ED8936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4709160" y="202996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Wistron（纬创）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217920" y="202996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替补代工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7955280" y="202996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认证中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572000" y="2359152"/>
            <a:ext cx="4297680" cy="329184"/>
          </a:xfrm>
          <a:prstGeom prst="rect">
            <a:avLst/>
          </a:prstGeom>
          <a:solidFill>
            <a:srgbClr val="C53030">
              <a:alpha val="12000"/>
            </a:srgbClr>
          </a:solidFill>
          <a:ln w="6350">
            <a:solidFill>
              <a:srgbClr val="C53030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4709160" y="239572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Huawei（华为）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217920" y="239572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不参与（美国管制）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7955280" y="239572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不适用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274320" y="251460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NVL72液冷供应链：快接头是核心瓶颈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74320" y="2834640"/>
            <a:ext cx="1371600" cy="475488"/>
          </a:xfrm>
          <a:prstGeom prst="rect">
            <a:avLst/>
          </a:prstGeom>
          <a:solidFill>
            <a:srgbClr val="999999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274320" y="2834640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GPU/芯片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1645920" y="2834640"/>
            <a:ext cx="201168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999999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1737360" y="2834640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英伟达（美国）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657600" y="2834640"/>
            <a:ext cx="1828800" cy="475488"/>
          </a:xfrm>
          <a:prstGeom prst="rect">
            <a:avLst/>
          </a:prstGeom>
          <a:solidFill>
            <a:srgbClr val="EDF2F7"/>
          </a:solidFill>
          <a:ln/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3749040" y="2834640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冷板（英伟达指定）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5486400" y="2834640"/>
            <a:ext cx="2011680" cy="475488"/>
          </a:xfrm>
          <a:prstGeom prst="rect">
            <a:avLst/>
          </a:prstGeom>
          <a:solidFill>
            <a:srgbClr val="EDF2F7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5577840" y="2834640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史陶比尔（OCP认证）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7498080" y="2834640"/>
            <a:ext cx="1371600" cy="475488"/>
          </a:xfrm>
          <a:prstGeom prst="rect">
            <a:avLst/>
          </a:prstGeom>
          <a:solidFill>
            <a:srgbClr val="EDF2F7"/>
          </a:solidFill>
          <a:ln/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7589520" y="2834640"/>
            <a:ext cx="1188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快接头必须OCP认证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274320" y="3355848"/>
            <a:ext cx="1371600" cy="475488"/>
          </a:xfrm>
          <a:prstGeom prst="rect">
            <a:avLst/>
          </a:prstGeom>
          <a:solidFill>
            <a:srgbClr val="ED8936"/>
          </a:solidFill>
          <a:ln/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274320" y="3355848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服务器OEM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1645920" y="3355848"/>
            <a:ext cx="201168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D8936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1737360" y="3355848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Foxconn/Quanta代工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3657600" y="3355848"/>
            <a:ext cx="1828800" cy="475488"/>
          </a:xfrm>
          <a:prstGeom prst="rect">
            <a:avLst/>
          </a:prstGeom>
          <a:solidFill>
            <a:srgbClr val="EDF2F7"/>
          </a:solidFill>
          <a:ln/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3749040" y="3355848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冷板外购（定制）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5486400" y="3355848"/>
            <a:ext cx="2011680" cy="475488"/>
          </a:xfrm>
          <a:prstGeom prst="rect">
            <a:avLst/>
          </a:prstGeom>
          <a:solidFill>
            <a:srgbClr val="EDF2F7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5577840" y="3355848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外购（史陶比尔）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7498080" y="3355848"/>
            <a:ext cx="1371600" cy="475488"/>
          </a:xfrm>
          <a:prstGeom prst="rect">
            <a:avLst/>
          </a:prstGeom>
          <a:solidFill>
            <a:srgbClr val="EDF2F7"/>
          </a:solidFill>
          <a:ln/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7589520" y="3355848"/>
            <a:ext cx="1188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代工厂无液冷能力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274320" y="3877056"/>
            <a:ext cx="1371600" cy="475488"/>
          </a:xfrm>
          <a:prstGeom prst="rect">
            <a:avLst/>
          </a:prstGeom>
          <a:solidFill>
            <a:srgbClr val="2C5282"/>
          </a:solidFill>
          <a:ln/>
        </p:spPr>
        <p:txBody>
          <a:bodyPr/>
          <a:p/>
        </p:txBody>
      </p:sp>
      <p:sp>
        <p:nvSpPr>
          <p:cNvPr id="46" name="Text 44"/>
          <p:cNvSpPr/>
          <p:nvPr/>
        </p:nvSpPr>
        <p:spPr>
          <a:xfrm>
            <a:off x="274320" y="3877056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CDU/Manifold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1645920" y="3877056"/>
            <a:ext cx="201168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2C5282"/>
            </a:solidFill>
            <a:prstDash val="solid"/>
          </a:ln>
        </p:spPr>
        <p:txBody>
          <a:bodyPr/>
          <a:p/>
        </p:txBody>
      </p:sp>
      <p:sp>
        <p:nvSpPr>
          <p:cNvPr id="48" name="Text 46"/>
          <p:cNvSpPr/>
          <p:nvPr/>
        </p:nvSpPr>
        <p:spPr>
          <a:xfrm>
            <a:off x="1737360" y="3877056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Vertiv/CDP（美企）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3657600" y="3877056"/>
            <a:ext cx="1828800" cy="475488"/>
          </a:xfrm>
          <a:prstGeom prst="rect">
            <a:avLst/>
          </a:prstGeom>
          <a:solidFill>
            <a:srgbClr val="EDF2F7"/>
          </a:solidFill>
          <a:ln/>
        </p:spPr>
        <p:txBody>
          <a:bodyPr/>
          <a:p/>
        </p:txBody>
      </p:sp>
      <p:sp>
        <p:nvSpPr>
          <p:cNvPr id="50" name="Text 48"/>
          <p:cNvSpPr/>
          <p:nvPr/>
        </p:nvSpPr>
        <p:spPr>
          <a:xfrm>
            <a:off x="3749040" y="3877056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CDU全套自产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5486400" y="3877056"/>
            <a:ext cx="2011680" cy="475488"/>
          </a:xfrm>
          <a:prstGeom prst="rect">
            <a:avLst/>
          </a:prstGeom>
          <a:solidFill>
            <a:srgbClr val="EDF2F7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2" name="Text 50"/>
          <p:cNvSpPr/>
          <p:nvPr/>
        </p:nvSpPr>
        <p:spPr>
          <a:xfrm>
            <a:off x="5577840" y="3877056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CDU自供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7498080" y="3877056"/>
            <a:ext cx="1371600" cy="475488"/>
          </a:xfrm>
          <a:prstGeom prst="rect">
            <a:avLst/>
          </a:prstGeom>
          <a:solidFill>
            <a:srgbClr val="EDF2F7"/>
          </a:solidFill>
          <a:ln/>
        </p:spPr>
        <p:txBody>
          <a:bodyPr/>
          <a:p/>
        </p:txBody>
      </p:sp>
      <p:sp>
        <p:nvSpPr>
          <p:cNvPr id="54" name="Text 52"/>
          <p:cNvSpPr/>
          <p:nvPr/>
        </p:nvSpPr>
        <p:spPr>
          <a:xfrm>
            <a:off x="7589520" y="3877056"/>
            <a:ext cx="1188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Vertiv主导CDU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274320" y="4398264"/>
            <a:ext cx="1371600" cy="475488"/>
          </a:xfrm>
          <a:prstGeom prst="rect">
            <a:avLst/>
          </a:prstGeom>
          <a:solidFill>
            <a:srgbClr val="C53030"/>
          </a:solidFill>
          <a:ln/>
        </p:spPr>
        <p:txBody>
          <a:bodyPr/>
          <a:p/>
        </p:txBody>
      </p:sp>
      <p:sp>
        <p:nvSpPr>
          <p:cNvPr id="56" name="Text 54"/>
          <p:cNvSpPr/>
          <p:nvPr/>
        </p:nvSpPr>
        <p:spPr>
          <a:xfrm>
            <a:off x="274320" y="4398264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1645920" y="4398264"/>
            <a:ext cx="201168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C53030"/>
            </a:solidFill>
            <a:prstDash val="solid"/>
          </a:ln>
        </p:spPr>
        <p:txBody>
          <a:bodyPr/>
          <a:p/>
        </p:txBody>
      </p:sp>
      <p:sp>
        <p:nvSpPr>
          <p:cNvPr id="58" name="Text 56"/>
          <p:cNvSpPr/>
          <p:nvPr/>
        </p:nvSpPr>
        <p:spPr>
          <a:xfrm>
            <a:off x="1737360" y="4398264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史陶比尔（瑞士）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3657600" y="4398264"/>
            <a:ext cx="1828800" cy="475488"/>
          </a:xfrm>
          <a:prstGeom prst="rect">
            <a:avLst/>
          </a:prstGeom>
          <a:solidFill>
            <a:srgbClr val="EDF2F7"/>
          </a:solidFill>
          <a:ln/>
        </p:spPr>
        <p:txBody>
          <a:bodyPr/>
          <a:p/>
        </p:txBody>
      </p:sp>
      <p:sp>
        <p:nvSpPr>
          <p:cNvPr id="60" name="Text 58"/>
          <p:cNvSpPr/>
          <p:nvPr/>
        </p:nvSpPr>
        <p:spPr>
          <a:xfrm>
            <a:off x="3749040" y="4398264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N/A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5486400" y="4398264"/>
            <a:ext cx="2011680" cy="475488"/>
          </a:xfrm>
          <a:prstGeom prst="rect">
            <a:avLst/>
          </a:prstGeom>
          <a:solidFill>
            <a:srgbClr val="FFF5F5"/>
          </a:solidFill>
          <a:ln w="12700">
            <a:solidFill>
              <a:srgbClr val="C53030"/>
            </a:solidFill>
            <a:prstDash val="solid"/>
          </a:ln>
        </p:spPr>
        <p:txBody>
          <a:bodyPr/>
          <a:p/>
        </p:txBody>
      </p:sp>
      <p:sp>
        <p:nvSpPr>
          <p:cNvPr id="62" name="Text 60"/>
          <p:cNvSpPr/>
          <p:nvPr/>
        </p:nvSpPr>
        <p:spPr>
          <a:xfrm>
            <a:off x="5577840" y="4398264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72%全球份额（垄断）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7498080" y="4398264"/>
            <a:ext cx="1371600" cy="475488"/>
          </a:xfrm>
          <a:prstGeom prst="rect">
            <a:avLst/>
          </a:prstGeom>
          <a:solidFill>
            <a:srgbClr val="EDF2F7"/>
          </a:solidFill>
          <a:ln/>
        </p:spPr>
        <p:txBody>
          <a:bodyPr/>
          <a:p/>
        </p:txBody>
      </p:sp>
      <p:sp>
        <p:nvSpPr>
          <p:cNvPr id="64" name="Text 62"/>
          <p:cNvSpPr/>
          <p:nvPr/>
        </p:nvSpPr>
        <p:spPr>
          <a:xfrm>
            <a:off x="7589520" y="4398264"/>
            <a:ext cx="1188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NVL72快接头唯一认证供应商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274320" y="4892040"/>
            <a:ext cx="8595360" cy="384048"/>
          </a:xfrm>
          <a:prstGeom prst="rect">
            <a:avLst/>
          </a:prstGeom>
          <a:solidFill>
            <a:srgbClr val="FFF7ED"/>
          </a:solidFill>
          <a:ln w="12700">
            <a:solidFill>
              <a:srgbClr val="ED8936"/>
            </a:solidFill>
            <a:prstDash val="solid"/>
          </a:ln>
        </p:spPr>
        <p:txBody>
          <a:bodyPr/>
          <a:p/>
        </p:txBody>
      </p:sp>
      <p:sp>
        <p:nvSpPr>
          <p:cNvPr id="66" name="Text 64"/>
          <p:cNvSpPr/>
          <p:nvPr/>
        </p:nvSpPr>
        <p:spPr>
          <a:xfrm>
            <a:off x="457200" y="491032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NVL72快接头必须OCP认证，海悟目标：替代30%史陶比尔NVL72份额，年收入贡献约2000-4000万元（美元）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68" name="Text 66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>
            <a:pPr>
              <a:defRPr sz="3600" b="1"/>
            </a:pPr>
            <a:r>
              <a:t>Part 4</a:t>
            </a:r>
          </a:p>
          <a:p>
            <a:pPr>
              <a:defRPr sz="1400"/>
            </a:pPr>
            <a:r>
              <a:t>机柜级液冷行业洞察</a:t>
            </a:r>
            <a:br/>
            <a:r>
              <a:t>市场空间分析 · 四组件对标 · 竞品动态 · 战略路径</a:t>
            </a:r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全球液冷竞争格局总览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371600" y="1005840"/>
            <a:ext cx="7498080" cy="41148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371600" y="1005840"/>
            <a:ext cx="14996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国内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871216" y="1005840"/>
            <a:ext cx="14996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东南亚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370832" y="1005840"/>
            <a:ext cx="14996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北美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870448" y="1005840"/>
            <a:ext cx="14996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中东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70064" y="1005840"/>
            <a:ext cx="14996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欧洲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1463040"/>
            <a:ext cx="1097280" cy="621792"/>
          </a:xfrm>
          <a:prstGeom prst="rect">
            <a:avLst/>
          </a:prstGeom>
          <a:solidFill>
            <a:srgbClr val="2C5282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274320" y="1463040"/>
            <a:ext cx="1097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371600" y="1463040"/>
            <a:ext cx="1499616" cy="62179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1417320" y="1536192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中:英维克/申菱/高标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417320" y="1783080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外:AVC/Legacy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2871216" y="1463040"/>
            <a:ext cx="1499616" cy="621792"/>
          </a:xfrm>
          <a:prstGeom prst="rect">
            <a:avLst/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2916936" y="1536192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中:易捷/东志远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2916936" y="1783080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外:无规模玩家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4370832" y="1463040"/>
            <a:ext cx="1499616" cy="62179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4416552" y="1536192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中:无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4416552" y="1783080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外:AVC/Legacy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5870448" y="1463040"/>
            <a:ext cx="1499616" cy="621792"/>
          </a:xfrm>
          <a:prstGeom prst="rect">
            <a:avLst/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16168" y="1536192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中:极少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5916168" y="1783080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外:极少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7370064" y="1463040"/>
            <a:ext cx="1499616" cy="62179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7415784" y="1536192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中:极少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7415784" y="1783080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外:极少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274320" y="2103120"/>
            <a:ext cx="1097280" cy="621792"/>
          </a:xfrm>
          <a:prstGeom prst="rect">
            <a:avLst/>
          </a:prstGeom>
          <a:solidFill>
            <a:srgbClr val="2C5282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274320" y="2103120"/>
            <a:ext cx="1097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371600" y="2103120"/>
            <a:ext cx="1499616" cy="62179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1417320" y="2176272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中:中航光电/东光子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1417320" y="2423160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外:史陶比尔/卡锢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2871216" y="2103120"/>
            <a:ext cx="1499616" cy="621792"/>
          </a:xfrm>
          <a:prstGeom prst="rect">
            <a:avLst/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2916936" y="2176272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中:极少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2916936" y="2423160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外:史陶比尔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4370832" y="2103120"/>
            <a:ext cx="1499616" cy="62179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4416552" y="2176272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中:极少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4416552" y="2423160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外:史陶比尔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5870448" y="2103120"/>
            <a:ext cx="1499616" cy="621792"/>
          </a:xfrm>
          <a:prstGeom prst="rect">
            <a:avLst/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5916168" y="2176272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中:极少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5916168" y="2423160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外:卡锢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7370064" y="2103120"/>
            <a:ext cx="1499616" cy="62179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7415784" y="2176272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中:极少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7415784" y="2423160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外:史陶比尔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274320" y="2743200"/>
            <a:ext cx="1097280" cy="621792"/>
          </a:xfrm>
          <a:prstGeom prst="rect">
            <a:avLst/>
          </a:prstGeom>
          <a:solidFill>
            <a:srgbClr val="2C5282"/>
          </a:solidFill>
          <a:ln/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274320" y="2743200"/>
            <a:ext cx="1097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1371600" y="2743200"/>
            <a:ext cx="1499616" cy="62179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1417320" y="2816352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中:英维克/申菱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1417320" y="3063240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外:Vertiv/施耐德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2871216" y="2743200"/>
            <a:ext cx="1499616" cy="621792"/>
          </a:xfrm>
          <a:prstGeom prst="rect">
            <a:avLst/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0" name="Text 48"/>
          <p:cNvSpPr/>
          <p:nvPr/>
        </p:nvSpPr>
        <p:spPr>
          <a:xfrm>
            <a:off x="2916936" y="2816352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中:易捷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2916936" y="3063240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外:Vertiv/施耐德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4370832" y="2743200"/>
            <a:ext cx="1499616" cy="62179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3" name="Text 51"/>
          <p:cNvSpPr/>
          <p:nvPr/>
        </p:nvSpPr>
        <p:spPr>
          <a:xfrm>
            <a:off x="4416552" y="2816352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中:Vertiv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4416552" y="3063240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外:Vertiv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5870448" y="2743200"/>
            <a:ext cx="1499616" cy="621792"/>
          </a:xfrm>
          <a:prstGeom prst="rect">
            <a:avLst/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6" name="Text 54"/>
          <p:cNvSpPr/>
          <p:nvPr/>
        </p:nvSpPr>
        <p:spPr>
          <a:xfrm>
            <a:off x="5916168" y="2816352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中:极少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5916168" y="3063240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外:Vertiv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7370064" y="2743200"/>
            <a:ext cx="1499616" cy="62179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9" name="Text 57"/>
          <p:cNvSpPr/>
          <p:nvPr/>
        </p:nvSpPr>
        <p:spPr>
          <a:xfrm>
            <a:off x="7415784" y="2816352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中:极少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7415784" y="3063240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外:Rittal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274320" y="3383280"/>
            <a:ext cx="1097280" cy="621792"/>
          </a:xfrm>
          <a:prstGeom prst="rect">
            <a:avLst/>
          </a:prstGeom>
          <a:solidFill>
            <a:srgbClr val="2C5282"/>
          </a:solidFill>
          <a:ln/>
        </p:spPr>
        <p:txBody>
          <a:bodyPr/>
          <a:p/>
        </p:txBody>
      </p:sp>
      <p:sp>
        <p:nvSpPr>
          <p:cNvPr id="62" name="Text 60"/>
          <p:cNvSpPr/>
          <p:nvPr/>
        </p:nvSpPr>
        <p:spPr>
          <a:xfrm>
            <a:off x="274320" y="3383280"/>
            <a:ext cx="1097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Manifold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1371600" y="3383280"/>
            <a:ext cx="1499616" cy="62179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64" name="Text 62"/>
          <p:cNvSpPr/>
          <p:nvPr/>
        </p:nvSpPr>
        <p:spPr>
          <a:xfrm>
            <a:off x="1417320" y="3456432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中:国产为主</a:t>
            </a:r>
            <a:endParaRPr lang="en-US" sz="750" dirty="0"/>
          </a:p>
        </p:txBody>
      </p:sp>
      <p:sp>
        <p:nvSpPr>
          <p:cNvPr id="65" name="Text 63"/>
          <p:cNvSpPr/>
          <p:nvPr/>
        </p:nvSpPr>
        <p:spPr>
          <a:xfrm>
            <a:off x="1417320" y="3703320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外:多为系统商自产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2871216" y="3383280"/>
            <a:ext cx="1499616" cy="621792"/>
          </a:xfrm>
          <a:prstGeom prst="rect">
            <a:avLst/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67" name="Text 65"/>
          <p:cNvSpPr/>
          <p:nvPr/>
        </p:nvSpPr>
        <p:spPr>
          <a:xfrm>
            <a:off x="2916936" y="3456432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中:国产</a:t>
            </a:r>
            <a:endParaRPr lang="en-US" sz="750" dirty="0"/>
          </a:p>
        </p:txBody>
      </p:sp>
      <p:sp>
        <p:nvSpPr>
          <p:cNvPr id="68" name="Text 66"/>
          <p:cNvSpPr/>
          <p:nvPr/>
        </p:nvSpPr>
        <p:spPr>
          <a:xfrm>
            <a:off x="2916936" y="3703320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外:系统商自产</a:t>
            </a:r>
            <a:endParaRPr lang="en-US" sz="750" dirty="0"/>
          </a:p>
        </p:txBody>
      </p:sp>
      <p:sp>
        <p:nvSpPr>
          <p:cNvPr id="69" name="Shape 67"/>
          <p:cNvSpPr/>
          <p:nvPr/>
        </p:nvSpPr>
        <p:spPr>
          <a:xfrm>
            <a:off x="4370832" y="3383280"/>
            <a:ext cx="1499616" cy="62179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70" name="Text 68"/>
          <p:cNvSpPr/>
          <p:nvPr/>
        </p:nvSpPr>
        <p:spPr>
          <a:xfrm>
            <a:off x="4416552" y="3456432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中:Vertiv</a:t>
            </a:r>
            <a:endParaRPr lang="en-US" sz="750" dirty="0"/>
          </a:p>
        </p:txBody>
      </p:sp>
      <p:sp>
        <p:nvSpPr>
          <p:cNvPr id="71" name="Text 69"/>
          <p:cNvSpPr/>
          <p:nvPr/>
        </p:nvSpPr>
        <p:spPr>
          <a:xfrm>
            <a:off x="4416552" y="3703320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外:Vertiv</a:t>
            </a:r>
            <a:endParaRPr lang="en-US" sz="750" dirty="0"/>
          </a:p>
        </p:txBody>
      </p:sp>
      <p:sp>
        <p:nvSpPr>
          <p:cNvPr id="72" name="Shape 70"/>
          <p:cNvSpPr/>
          <p:nvPr/>
        </p:nvSpPr>
        <p:spPr>
          <a:xfrm>
            <a:off x="5870448" y="3383280"/>
            <a:ext cx="1499616" cy="621792"/>
          </a:xfrm>
          <a:prstGeom prst="rect">
            <a:avLst/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73" name="Text 71"/>
          <p:cNvSpPr/>
          <p:nvPr/>
        </p:nvSpPr>
        <p:spPr>
          <a:xfrm>
            <a:off x="5916168" y="3456432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中:极少</a:t>
            </a:r>
            <a:endParaRPr lang="en-US" sz="750" dirty="0"/>
          </a:p>
        </p:txBody>
      </p:sp>
      <p:sp>
        <p:nvSpPr>
          <p:cNvPr id="74" name="Text 72"/>
          <p:cNvSpPr/>
          <p:nvPr/>
        </p:nvSpPr>
        <p:spPr>
          <a:xfrm>
            <a:off x="5916168" y="3703320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外:Rittal</a:t>
            </a:r>
            <a:endParaRPr lang="en-US" sz="750" dirty="0"/>
          </a:p>
        </p:txBody>
      </p:sp>
      <p:sp>
        <p:nvSpPr>
          <p:cNvPr id="75" name="Shape 73"/>
          <p:cNvSpPr/>
          <p:nvPr/>
        </p:nvSpPr>
        <p:spPr>
          <a:xfrm>
            <a:off x="7370064" y="3383280"/>
            <a:ext cx="1499616" cy="62179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76" name="Text 74"/>
          <p:cNvSpPr/>
          <p:nvPr/>
        </p:nvSpPr>
        <p:spPr>
          <a:xfrm>
            <a:off x="7415784" y="3456432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中:极少</a:t>
            </a:r>
            <a:endParaRPr lang="en-US" sz="750" dirty="0"/>
          </a:p>
        </p:txBody>
      </p:sp>
      <p:sp>
        <p:nvSpPr>
          <p:cNvPr id="77" name="Text 75"/>
          <p:cNvSpPr/>
          <p:nvPr/>
        </p:nvSpPr>
        <p:spPr>
          <a:xfrm>
            <a:off x="7415784" y="3703320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外:Rittal</a:t>
            </a:r>
            <a:endParaRPr lang="en-US" sz="750" dirty="0"/>
          </a:p>
        </p:txBody>
      </p:sp>
      <p:sp>
        <p:nvSpPr>
          <p:cNvPr id="78" name="Shape 76"/>
          <p:cNvSpPr/>
          <p:nvPr/>
        </p:nvSpPr>
        <p:spPr>
          <a:xfrm>
            <a:off x="274320" y="4023360"/>
            <a:ext cx="1097280" cy="621792"/>
          </a:xfrm>
          <a:prstGeom prst="rect">
            <a:avLst/>
          </a:prstGeom>
          <a:solidFill>
            <a:srgbClr val="2C5282"/>
          </a:solidFill>
          <a:ln/>
        </p:spPr>
        <p:txBody>
          <a:bodyPr/>
          <a:p/>
        </p:txBody>
      </p:sp>
      <p:sp>
        <p:nvSpPr>
          <p:cNvPr id="79" name="Text 77"/>
          <p:cNvSpPr/>
          <p:nvPr/>
        </p:nvSpPr>
        <p:spPr>
          <a:xfrm>
            <a:off x="274320" y="4023360"/>
            <a:ext cx="1097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冷却液</a:t>
            </a:r>
            <a:endParaRPr lang="en-US" sz="1000" dirty="0"/>
          </a:p>
        </p:txBody>
      </p:sp>
      <p:sp>
        <p:nvSpPr>
          <p:cNvPr id="80" name="Shape 78"/>
          <p:cNvSpPr/>
          <p:nvPr/>
        </p:nvSpPr>
        <p:spPr>
          <a:xfrm>
            <a:off x="1371600" y="4023360"/>
            <a:ext cx="1499616" cy="62179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81" name="Text 79"/>
          <p:cNvSpPr/>
          <p:nvPr/>
        </p:nvSpPr>
        <p:spPr>
          <a:xfrm>
            <a:off x="1417320" y="4096512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中:巨化/东岳</a:t>
            </a:r>
            <a:endParaRPr lang="en-US" sz="750" dirty="0"/>
          </a:p>
        </p:txBody>
      </p:sp>
      <p:sp>
        <p:nvSpPr>
          <p:cNvPr id="82" name="Text 80"/>
          <p:cNvSpPr/>
          <p:nvPr/>
        </p:nvSpPr>
        <p:spPr>
          <a:xfrm>
            <a:off x="1417320" y="4343400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外:3M/陶氏</a:t>
            </a:r>
            <a:endParaRPr lang="en-US" sz="750" dirty="0"/>
          </a:p>
        </p:txBody>
      </p:sp>
      <p:sp>
        <p:nvSpPr>
          <p:cNvPr id="83" name="Shape 81"/>
          <p:cNvSpPr/>
          <p:nvPr/>
        </p:nvSpPr>
        <p:spPr>
          <a:xfrm>
            <a:off x="2871216" y="4023360"/>
            <a:ext cx="1499616" cy="621792"/>
          </a:xfrm>
          <a:prstGeom prst="rect">
            <a:avLst/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84" name="Text 82"/>
          <p:cNvSpPr/>
          <p:nvPr/>
        </p:nvSpPr>
        <p:spPr>
          <a:xfrm>
            <a:off x="2916936" y="4096512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中:进口</a:t>
            </a:r>
            <a:endParaRPr lang="en-US" sz="750" dirty="0"/>
          </a:p>
        </p:txBody>
      </p:sp>
      <p:sp>
        <p:nvSpPr>
          <p:cNvPr id="85" name="Text 83"/>
          <p:cNvSpPr/>
          <p:nvPr/>
        </p:nvSpPr>
        <p:spPr>
          <a:xfrm>
            <a:off x="2916936" y="4343400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外:3M/陶氏</a:t>
            </a:r>
            <a:endParaRPr lang="en-US" sz="750" dirty="0"/>
          </a:p>
        </p:txBody>
      </p:sp>
      <p:sp>
        <p:nvSpPr>
          <p:cNvPr id="86" name="Shape 84"/>
          <p:cNvSpPr/>
          <p:nvPr/>
        </p:nvSpPr>
        <p:spPr>
          <a:xfrm>
            <a:off x="4370832" y="4023360"/>
            <a:ext cx="1499616" cy="62179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87" name="Text 85"/>
          <p:cNvSpPr/>
          <p:nvPr/>
        </p:nvSpPr>
        <p:spPr>
          <a:xfrm>
            <a:off x="4416552" y="4096512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中:陶氏/3M</a:t>
            </a:r>
            <a:endParaRPr lang="en-US" sz="750" dirty="0"/>
          </a:p>
        </p:txBody>
      </p:sp>
      <p:sp>
        <p:nvSpPr>
          <p:cNvPr id="88" name="Text 86"/>
          <p:cNvSpPr/>
          <p:nvPr/>
        </p:nvSpPr>
        <p:spPr>
          <a:xfrm>
            <a:off x="4416552" y="4343400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外:3M/陶氏</a:t>
            </a:r>
            <a:endParaRPr lang="en-US" sz="750" dirty="0"/>
          </a:p>
        </p:txBody>
      </p:sp>
      <p:sp>
        <p:nvSpPr>
          <p:cNvPr id="89" name="Shape 87"/>
          <p:cNvSpPr/>
          <p:nvPr/>
        </p:nvSpPr>
        <p:spPr>
          <a:xfrm>
            <a:off x="5870448" y="4023360"/>
            <a:ext cx="1499616" cy="621792"/>
          </a:xfrm>
          <a:prstGeom prst="rect">
            <a:avLst/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90" name="Text 88"/>
          <p:cNvSpPr/>
          <p:nvPr/>
        </p:nvSpPr>
        <p:spPr>
          <a:xfrm>
            <a:off x="5916168" y="4096512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中:进口</a:t>
            </a:r>
            <a:endParaRPr lang="en-US" sz="750" dirty="0"/>
          </a:p>
        </p:txBody>
      </p:sp>
      <p:sp>
        <p:nvSpPr>
          <p:cNvPr id="91" name="Text 89"/>
          <p:cNvSpPr/>
          <p:nvPr/>
        </p:nvSpPr>
        <p:spPr>
          <a:xfrm>
            <a:off x="5916168" y="4343400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外:3M/陶氏</a:t>
            </a:r>
            <a:endParaRPr lang="en-US" sz="750" dirty="0"/>
          </a:p>
        </p:txBody>
      </p:sp>
      <p:sp>
        <p:nvSpPr>
          <p:cNvPr id="92" name="Shape 90"/>
          <p:cNvSpPr/>
          <p:nvPr/>
        </p:nvSpPr>
        <p:spPr>
          <a:xfrm>
            <a:off x="7370064" y="4023360"/>
            <a:ext cx="1499616" cy="62179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93" name="Text 91"/>
          <p:cNvSpPr/>
          <p:nvPr/>
        </p:nvSpPr>
        <p:spPr>
          <a:xfrm>
            <a:off x="7415784" y="4096512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中:Solvay</a:t>
            </a:r>
            <a:endParaRPr lang="en-US" sz="750" dirty="0"/>
          </a:p>
        </p:txBody>
      </p:sp>
      <p:sp>
        <p:nvSpPr>
          <p:cNvPr id="94" name="Text 92"/>
          <p:cNvSpPr/>
          <p:nvPr/>
        </p:nvSpPr>
        <p:spPr>
          <a:xfrm>
            <a:off x="7415784" y="4343400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外:Solvay</a:t>
            </a:r>
            <a:endParaRPr lang="en-US" sz="750" dirty="0"/>
          </a:p>
        </p:txBody>
      </p:sp>
      <p:sp>
        <p:nvSpPr>
          <p:cNvPr id="95" name="Shape 93"/>
          <p:cNvSpPr/>
          <p:nvPr/>
        </p:nvSpPr>
        <p:spPr>
          <a:xfrm>
            <a:off x="274320" y="4526280"/>
            <a:ext cx="274320" cy="22860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96" name="Text 94"/>
          <p:cNvSpPr/>
          <p:nvPr/>
        </p:nvSpPr>
        <p:spPr>
          <a:xfrm>
            <a:off x="640080" y="45262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深色=主要竞争地 | 中=国内厂商 | 外=国际厂商</a:t>
            </a:r>
            <a:endParaRPr lang="en-US" sz="800" dirty="0"/>
          </a:p>
        </p:txBody>
      </p:sp>
      <p:sp>
        <p:nvSpPr>
          <p:cNvPr id="97" name="Shape 95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98" name="Text 96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液冷竞品2026最新动态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868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英维克（国内龙头）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2011680" cy="1097280"/>
          </a:xfrm>
          <a:prstGeom prst="rect">
            <a:avLst>
              <a:gd name="adj" fmla="val 5000"/>
            </a:avLst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274320" y="12344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新晋英伟达温控供应商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15087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0.001%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74320" y="19202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UQD进入英伟达MGX生态(2024.10 OCP)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423160" y="1188720"/>
            <a:ext cx="2011680" cy="1097280"/>
          </a:xfrm>
          <a:prstGeom prst="rect">
            <a:avLst>
              <a:gd name="adj" fmla="val 5000"/>
            </a:avLst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2423160" y="12344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谷歌Deschutes 5 CDU(2025.10 OCP)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423160" y="15087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10,000次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423160" y="19202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/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572000" y="1188720"/>
            <a:ext cx="2011680" cy="1097280"/>
          </a:xfrm>
          <a:prstGeom prst="rect">
            <a:avLst>
              <a:gd name="adj" fmla="val 5000"/>
            </a:avLst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4572000" y="12344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维谛(Vertiv)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0" y="15087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GB200唯一认证CDU→GB300多供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72000" y="19202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Q3净销售额26.76亿美元(+29% YoY)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720840" y="1188720"/>
            <a:ext cx="2011680" cy="1097280"/>
          </a:xfrm>
          <a:prstGeom prst="rect">
            <a:avLst>
              <a:gd name="adj" fmla="val 5000"/>
            </a:avLst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720840" y="12344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未交付订单95亿美元 | 订单出货比1.4x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720840" y="15087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苏州华东研发制造基地(2025.12落地)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720840" y="19202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加入英伟达生态伙伴网络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74320" y="2468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国产链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2788920"/>
            <a:ext cx="5029200" cy="411480"/>
          </a:xfrm>
          <a:prstGeom prst="rect">
            <a:avLst/>
          </a:prstGeom>
          <a:solidFill>
            <a:srgbClr val="F7FAFC"/>
          </a:solidFill>
          <a:ln w="19050">
            <a:solidFill>
              <a:srgbClr val="1A365D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274320" y="2788920"/>
            <a:ext cx="54864" cy="41148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411480" y="278892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高澜股份：国产AI算力液冷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057400" y="278892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曙光数创：浸没液冷+ScaleX640协同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2560320" y="278892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申菱环境：华为唯一液冷合作伙伴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74320" y="3264408"/>
            <a:ext cx="5029200" cy="411480"/>
          </a:xfrm>
          <a:prstGeom prst="rect">
            <a:avLst/>
          </a:prstGeom>
          <a:solidFill>
            <a:srgbClr val="F7FAFC"/>
          </a:solidFill>
          <a:ln w="19050">
            <a:solidFill>
              <a:srgbClr val="2C5282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274320" y="3264408"/>
            <a:ext cx="54864" cy="411480"/>
          </a:xfrm>
          <a:prstGeom prst="rect">
            <a:avLst/>
          </a:prstGeom>
          <a:solidFill>
            <a:srgbClr val="2C5282"/>
          </a:solidFill>
          <a:ln/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411480" y="3264408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拓普集团：已获15亿液冷订单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057400" y="3264408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🔴 国产链从二供→一供加速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2560320" y="3264408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OCP认证完整，北美OEM主力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274320" y="3739896"/>
            <a:ext cx="5029200" cy="411480"/>
          </a:xfrm>
          <a:prstGeom prst="rect">
            <a:avLst/>
          </a:prstGeom>
          <a:solidFill>
            <a:srgbClr val="F7FAFC"/>
          </a:solidFill>
          <a:ln w="19050">
            <a:solidFill>
              <a:srgbClr val="ED8936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274320" y="3739896"/>
            <a:ext cx="54864" cy="411480"/>
          </a:xfrm>
          <a:prstGeom prst="rect">
            <a:avLst/>
          </a:prstGeom>
          <a:solidFill>
            <a:srgbClr val="ED8936"/>
          </a:solidFill>
          <a:ln/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411480" y="3739896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国产（新进入者）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057400" y="3739896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2560320" y="3739896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东光子/中航光电，价格低30%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5486400" y="914400"/>
            <a:ext cx="3383280" cy="2377440"/>
          </a:xfrm>
          <a:prstGeom prst="rect">
            <a:avLst/>
          </a:prstGeom>
          <a:solidFill>
            <a:srgbClr val="ED8936">
              <a:alpha val="8000"/>
            </a:srgbClr>
          </a:solidFill>
          <a:ln w="19050">
            <a:solidFill>
              <a:srgbClr val="ED8936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5623560" y="10058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海悟机会窗口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623560" y="1417320"/>
            <a:ext cx="31089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目标定价：</a:t>
            </a:r>
            <a:pPr indent="0" marL="0">
              <a:buNone/>
            </a:pPr>
            <a:r>
              <a:rPr lang="en-US" sz="9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比史陶比尔低 30%</a:t>
            </a:r>
            <a:endParaRPr lang="en-US" sz="950" dirty="0"/>
          </a:p>
          <a:p>
            <a:pPr indent="0" marL="0">
              <a:buNone/>
            </a:pPr>
            <a:r>
              <a:rPr lang="en-US" sz="6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窗口期：</a:t>
            </a:r>
            <a:pPr indent="0" marL="0">
              <a:buNone/>
            </a:pPr>
            <a:r>
              <a:rPr lang="en-US" sz="9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1-2年国产替代黄金期</a:t>
            </a:r>
            <a:endParaRPr lang="en-US" sz="950" dirty="0"/>
          </a:p>
          <a:p>
            <a:pPr indent="0" marL="0">
              <a:buNone/>
            </a:pPr>
            <a:r>
              <a:rPr lang="en-US" sz="6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路径：</a:t>
            </a:r>
            <a:pPr indent="0" marL="0">
              <a:buNone/>
            </a:pPr>
            <a:r>
              <a:rPr lang="en-US" sz="9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OCP认证 → 进入头部OEM供应链</a:t>
            </a:r>
            <a:endParaRPr lang="en-US" sz="950" dirty="0"/>
          </a:p>
          <a:p>
            <a:pPr indent="0" marL="0">
              <a:buNone/>
            </a:pPr>
            <a:r>
              <a:rPr lang="en-US" sz="6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关键客户：</a:t>
            </a:r>
            <a:pPr indent="0" marL="0">
              <a:buNone/>
            </a:pPr>
            <a:r>
              <a:rPr lang="en-US" sz="9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浪潮、宁畅、超聚变</a:t>
            </a:r>
            <a:endParaRPr lang="en-US" sz="950" dirty="0"/>
          </a:p>
          <a:p>
            <a:pPr indent="0" marL="0">
              <a:buNone/>
            </a:pPr>
            <a:r>
              <a:rPr lang="en-US" sz="6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核心优势：</a:t>
            </a:r>
            <a:pPr indent="0" marL="0">
              <a:buNone/>
            </a:pPr>
            <a:r>
              <a:rPr lang="en-US" sz="9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国内服务响应快，成本可控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274320" y="4343400"/>
            <a:ext cx="8595360" cy="50292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D8936"/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457200" y="437083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⚡ 快接头是液冷价值链中技术壁垒最高、国产替代空间最大的环节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57200" y="4919472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来源：OCP Alliance | 行业调研 2026.04 [已核实]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全球专业热管理公司液冷能力图谱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86868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专业热管理公司是海悟快接头的核心客户群：他们需要外购快接头来配套自己的液冷方案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1463040" cy="36576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274320" y="118872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公司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737360" y="1188720"/>
            <a:ext cx="502920" cy="36576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737360" y="118872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区域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240280" y="1188720"/>
            <a:ext cx="1188720" cy="36576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2240280" y="118872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液冷能力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429000" y="1188720"/>
            <a:ext cx="1280160" cy="36576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3429000" y="118872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快接头需求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709160" y="1188720"/>
            <a:ext cx="731520" cy="36576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4709160" y="118872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合作机会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440680" y="1188720"/>
            <a:ext cx="1828800" cy="36576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440680" y="11887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备注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74320" y="1554480"/>
            <a:ext cx="146304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320040" y="160020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英维克（YingweiKATE）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737360" y="1554480"/>
            <a:ext cx="50292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1783080" y="1600200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2240280" y="1554480"/>
            <a:ext cx="118872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2286000" y="1600200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液冷全栈自产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3429000" y="1554480"/>
            <a:ext cx="128016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3474720" y="1600200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快接头（自产不足），需外购配套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4709160" y="1554480"/>
            <a:ext cx="73152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4754880" y="1600200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★★★★★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5440680" y="1554480"/>
            <a:ext cx="182880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5486400" y="160020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国内液冷龙头，快接头外购，海悟主攻客户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274320" y="2029968"/>
            <a:ext cx="146304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320040" y="207568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申菱环境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737360" y="2029968"/>
            <a:ext cx="50292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1783080" y="2075688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2240280" y="2029968"/>
            <a:ext cx="118872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2286000" y="2075688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冷板+CDU（工业空调）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3429000" y="2029968"/>
            <a:ext cx="128016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3474720" y="2075688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快接头（无此业务），需外购配套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4709160" y="2029968"/>
            <a:ext cx="73152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4754880" y="2075688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★★★★☆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5440680" y="2029968"/>
            <a:ext cx="182880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5486400" y="2075688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工业空调背景，冷板/CDU强，快接头空白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274320" y="2505456"/>
            <a:ext cx="146304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320040" y="255117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高标（超聚变系）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1737360" y="2505456"/>
            <a:ext cx="50292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1783080" y="2551176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2240280" y="2505456"/>
            <a:ext cx="118872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6" name="Text 44"/>
          <p:cNvSpPr/>
          <p:nvPr/>
        </p:nvSpPr>
        <p:spPr>
          <a:xfrm>
            <a:off x="2286000" y="2551176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冷板+CDU（OEM绑定）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3429000" y="2505456"/>
            <a:ext cx="128016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8" name="Text 46"/>
          <p:cNvSpPr/>
          <p:nvPr/>
        </p:nvSpPr>
        <p:spPr>
          <a:xfrm>
            <a:off x="3474720" y="2551176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快接头（超聚变体系外购），需外购配套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4709160" y="2505456"/>
            <a:ext cx="73152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0" name="Text 48"/>
          <p:cNvSpPr/>
          <p:nvPr/>
        </p:nvSpPr>
        <p:spPr>
          <a:xfrm>
            <a:off x="4754880" y="2551176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★★★★☆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5440680" y="2505456"/>
            <a:ext cx="182880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2" name="Text 50"/>
          <p:cNvSpPr/>
          <p:nvPr/>
        </p:nvSpPr>
        <p:spPr>
          <a:xfrm>
            <a:off x="5486400" y="2551176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超聚变生态配套，史陶比尔供货慢，海悟有机会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274320" y="2980944"/>
            <a:ext cx="146304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4" name="Text 52"/>
          <p:cNvSpPr/>
          <p:nvPr/>
        </p:nvSpPr>
        <p:spPr>
          <a:xfrm>
            <a:off x="320040" y="3026664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朗之闻（宁畅系）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1737360" y="2980944"/>
            <a:ext cx="50292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6" name="Text 54"/>
          <p:cNvSpPr/>
          <p:nvPr/>
        </p:nvSpPr>
        <p:spPr>
          <a:xfrm>
            <a:off x="1783080" y="3026664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2240280" y="2980944"/>
            <a:ext cx="118872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8" name="Text 56"/>
          <p:cNvSpPr/>
          <p:nvPr/>
        </p:nvSpPr>
        <p:spPr>
          <a:xfrm>
            <a:off x="2286000" y="3026664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冷板+CDU（OEM绑定）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3429000" y="2980944"/>
            <a:ext cx="128016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60" name="Text 58"/>
          <p:cNvSpPr/>
          <p:nvPr/>
        </p:nvSpPr>
        <p:spPr>
          <a:xfrm>
            <a:off x="3474720" y="3026664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快接头（朗之闻无此业务），需外购配套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4709160" y="2980944"/>
            <a:ext cx="73152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62" name="Text 60"/>
          <p:cNvSpPr/>
          <p:nvPr/>
        </p:nvSpPr>
        <p:spPr>
          <a:xfrm>
            <a:off x="4754880" y="3026664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★★★☆☆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5440680" y="2980944"/>
            <a:ext cx="182880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64" name="Text 62"/>
          <p:cNvSpPr/>
          <p:nvPr/>
        </p:nvSpPr>
        <p:spPr>
          <a:xfrm>
            <a:off x="5486400" y="3026664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宁畅定制多，但体系封闭，定制响应是壁垒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274320" y="3456432"/>
            <a:ext cx="146304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66" name="Text 64"/>
          <p:cNvSpPr/>
          <p:nvPr/>
        </p:nvSpPr>
        <p:spPr>
          <a:xfrm>
            <a:off x="320040" y="3502152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Vertiv（维谛）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1737360" y="3456432"/>
            <a:ext cx="50292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68" name="Text 66"/>
          <p:cNvSpPr/>
          <p:nvPr/>
        </p:nvSpPr>
        <p:spPr>
          <a:xfrm>
            <a:off x="1783080" y="3502152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美国</a:t>
            </a:r>
            <a:endParaRPr lang="en-US" sz="750" dirty="0"/>
          </a:p>
        </p:txBody>
      </p:sp>
      <p:sp>
        <p:nvSpPr>
          <p:cNvPr id="69" name="Shape 67"/>
          <p:cNvSpPr/>
          <p:nvPr/>
        </p:nvSpPr>
        <p:spPr>
          <a:xfrm>
            <a:off x="2240280" y="3456432"/>
            <a:ext cx="118872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70" name="Text 68"/>
          <p:cNvSpPr/>
          <p:nvPr/>
        </p:nvSpPr>
        <p:spPr>
          <a:xfrm>
            <a:off x="2286000" y="3502152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CDU+InfraStruxure全球</a:t>
            </a:r>
            <a:endParaRPr lang="en-US" sz="750" dirty="0"/>
          </a:p>
        </p:txBody>
      </p:sp>
      <p:sp>
        <p:nvSpPr>
          <p:cNvPr id="71" name="Shape 69"/>
          <p:cNvSpPr/>
          <p:nvPr/>
        </p:nvSpPr>
        <p:spPr>
          <a:xfrm>
            <a:off x="3429000" y="3456432"/>
            <a:ext cx="128016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72" name="Text 70"/>
          <p:cNvSpPr/>
          <p:nvPr/>
        </p:nvSpPr>
        <p:spPr>
          <a:xfrm>
            <a:off x="3474720" y="3502152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快接头（全球CDU配套），需OCP认证</a:t>
            </a:r>
            <a:endParaRPr lang="en-US" sz="750" dirty="0"/>
          </a:p>
        </p:txBody>
      </p:sp>
      <p:sp>
        <p:nvSpPr>
          <p:cNvPr id="73" name="Shape 71"/>
          <p:cNvSpPr/>
          <p:nvPr/>
        </p:nvSpPr>
        <p:spPr>
          <a:xfrm>
            <a:off x="4709160" y="3456432"/>
            <a:ext cx="73152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74" name="Text 72"/>
          <p:cNvSpPr/>
          <p:nvPr/>
        </p:nvSpPr>
        <p:spPr>
          <a:xfrm>
            <a:off x="4754880" y="3502152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★★★☆☆</a:t>
            </a:r>
            <a:endParaRPr lang="en-US" sz="750" dirty="0"/>
          </a:p>
        </p:txBody>
      </p:sp>
      <p:sp>
        <p:nvSpPr>
          <p:cNvPr id="75" name="Shape 73"/>
          <p:cNvSpPr/>
          <p:nvPr/>
        </p:nvSpPr>
        <p:spPr>
          <a:xfrm>
            <a:off x="5440680" y="3456432"/>
            <a:ext cx="182880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76" name="Text 74"/>
          <p:cNvSpPr/>
          <p:nvPr/>
        </p:nvSpPr>
        <p:spPr>
          <a:xfrm>
            <a:off x="5486400" y="3502152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全球CDU龙头，快接头外购，海悟可通过中国Vertiv切入</a:t>
            </a:r>
            <a:endParaRPr lang="en-US" sz="750" dirty="0"/>
          </a:p>
        </p:txBody>
      </p:sp>
      <p:sp>
        <p:nvSpPr>
          <p:cNvPr id="77" name="Shape 75"/>
          <p:cNvSpPr/>
          <p:nvPr/>
        </p:nvSpPr>
        <p:spPr>
          <a:xfrm>
            <a:off x="274320" y="3931920"/>
            <a:ext cx="146304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78" name="Text 76"/>
          <p:cNvSpPr/>
          <p:nvPr/>
        </p:nvSpPr>
        <p:spPr>
          <a:xfrm>
            <a:off x="320040" y="397764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Rittal（威图）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1737360" y="3931920"/>
            <a:ext cx="50292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80" name="Text 78"/>
          <p:cNvSpPr/>
          <p:nvPr/>
        </p:nvSpPr>
        <p:spPr>
          <a:xfrm>
            <a:off x="1783080" y="3977640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德国</a:t>
            </a:r>
            <a:endParaRPr lang="en-US" sz="750" dirty="0"/>
          </a:p>
        </p:txBody>
      </p:sp>
      <p:sp>
        <p:nvSpPr>
          <p:cNvPr id="81" name="Shape 79"/>
          <p:cNvSpPr/>
          <p:nvPr/>
        </p:nvSpPr>
        <p:spPr>
          <a:xfrm>
            <a:off x="2240280" y="3931920"/>
            <a:ext cx="118872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82" name="Text 80"/>
          <p:cNvSpPr/>
          <p:nvPr/>
        </p:nvSpPr>
        <p:spPr>
          <a:xfrm>
            <a:off x="2286000" y="3977640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CDU+机柜标准化</a:t>
            </a:r>
            <a:endParaRPr lang="en-US" sz="750" dirty="0"/>
          </a:p>
        </p:txBody>
      </p:sp>
      <p:sp>
        <p:nvSpPr>
          <p:cNvPr id="83" name="Shape 81"/>
          <p:cNvSpPr/>
          <p:nvPr/>
        </p:nvSpPr>
        <p:spPr>
          <a:xfrm>
            <a:off x="3429000" y="3931920"/>
            <a:ext cx="128016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84" name="Text 82"/>
          <p:cNvSpPr/>
          <p:nvPr/>
        </p:nvSpPr>
        <p:spPr>
          <a:xfrm>
            <a:off x="3474720" y="3977640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快接头（欧洲CDU配套），需CE认证</a:t>
            </a:r>
            <a:endParaRPr lang="en-US" sz="750" dirty="0"/>
          </a:p>
        </p:txBody>
      </p:sp>
      <p:sp>
        <p:nvSpPr>
          <p:cNvPr id="85" name="Shape 83"/>
          <p:cNvSpPr/>
          <p:nvPr/>
        </p:nvSpPr>
        <p:spPr>
          <a:xfrm>
            <a:off x="4709160" y="3931920"/>
            <a:ext cx="73152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86" name="Text 84"/>
          <p:cNvSpPr/>
          <p:nvPr/>
        </p:nvSpPr>
        <p:spPr>
          <a:xfrm>
            <a:off x="4754880" y="3977640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★★☆☆☆</a:t>
            </a:r>
            <a:endParaRPr lang="en-US" sz="750" dirty="0"/>
          </a:p>
        </p:txBody>
      </p:sp>
      <p:sp>
        <p:nvSpPr>
          <p:cNvPr id="87" name="Shape 85"/>
          <p:cNvSpPr/>
          <p:nvPr/>
        </p:nvSpPr>
        <p:spPr>
          <a:xfrm>
            <a:off x="5440680" y="3931920"/>
            <a:ext cx="182880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88" name="Text 86"/>
          <p:cNvSpPr/>
          <p:nvPr/>
        </p:nvSpPr>
        <p:spPr>
          <a:xfrm>
            <a:off x="5486400" y="397764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欧洲市场为主，认证门槛高，收益长远</a:t>
            </a:r>
            <a:endParaRPr lang="en-US" sz="750" dirty="0"/>
          </a:p>
        </p:txBody>
      </p:sp>
      <p:sp>
        <p:nvSpPr>
          <p:cNvPr id="89" name="Shape 87"/>
          <p:cNvSpPr/>
          <p:nvPr/>
        </p:nvSpPr>
        <p:spPr>
          <a:xfrm>
            <a:off x="274320" y="4480560"/>
            <a:ext cx="8595360" cy="502920"/>
          </a:xfrm>
          <a:prstGeom prst="rect">
            <a:avLst/>
          </a:prstGeom>
          <a:solidFill>
            <a:srgbClr val="F0FFF4"/>
          </a:solidFill>
          <a:ln w="12700">
            <a:solidFill>
              <a:srgbClr val="2F855A"/>
            </a:solidFill>
            <a:prstDash val="solid"/>
          </a:ln>
        </p:spPr>
        <p:txBody>
          <a:bodyPr/>
          <a:p/>
        </p:txBody>
      </p:sp>
      <p:sp>
        <p:nvSpPr>
          <p:cNvPr id="90" name="Text 88"/>
          <p:cNvSpPr/>
          <p:nvPr/>
        </p:nvSpPr>
        <p:spPr>
          <a:xfrm>
            <a:off x="457200" y="45079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海悟定位：不做液冷系统集成商的竞争对手，而是成为他们的快接头专业供应商，填补专业热管理公司的液冷组件短板</a:t>
            </a:r>
            <a:endParaRPr lang="en-US" sz="1000" dirty="0"/>
          </a:p>
        </p:txBody>
      </p:sp>
      <p:sp>
        <p:nvSpPr>
          <p:cNvPr id="91" name="Shape 89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92" name="Text 90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全球OEM液冷组件需求图谱：自供 vs 外购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8686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= 自产 | ◐ = 部分自产 | ✗ = 完全外购（海悟机会）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1371600" cy="384048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274320" y="114300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OEM厂商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645920" y="1143000"/>
            <a:ext cx="685800" cy="384048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645920" y="1143000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331720" y="1143000"/>
            <a:ext cx="685800" cy="384048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2331720" y="1143000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017520" y="1143000"/>
            <a:ext cx="685800" cy="384048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3017520" y="1143000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703320" y="1143000"/>
            <a:ext cx="731520" cy="384048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3703320" y="1143000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Manifold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434840" y="1143000"/>
            <a:ext cx="731520" cy="384048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4434840" y="1143000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冷却液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166360" y="1143000"/>
            <a:ext cx="1280160" cy="384048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5166360" y="1143000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海悟机会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74320" y="1527048"/>
            <a:ext cx="1371600" cy="384048"/>
          </a:xfrm>
          <a:prstGeom prst="rect">
            <a:avLst/>
          </a:prstGeom>
          <a:solidFill>
            <a:srgbClr val="0057E7">
              <a:alpha val="15000"/>
            </a:srgbClr>
          </a:solidFill>
          <a:ln w="6350">
            <a:solidFill>
              <a:srgbClr val="0057E7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274320" y="152704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浪潮（Inspur）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1645920" y="1527048"/>
            <a:ext cx="685800" cy="384048"/>
          </a:xfrm>
          <a:prstGeom prst="rect">
            <a:avLst/>
          </a:prstGeom>
          <a:solidFill>
            <a:srgbClr val="F7FAFC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1645920" y="1527048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◐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331720" y="1527048"/>
            <a:ext cx="685800" cy="384048"/>
          </a:xfrm>
          <a:prstGeom prst="rect">
            <a:avLst/>
          </a:prstGeom>
          <a:solidFill>
            <a:srgbClr val="F7FAFC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2331720" y="1527048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017520" y="1527048"/>
            <a:ext cx="685800" cy="384048"/>
          </a:xfrm>
          <a:prstGeom prst="rect">
            <a:avLst/>
          </a:prstGeom>
          <a:solidFill>
            <a:srgbClr val="F7FAFC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3017520" y="1527048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8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703320" y="1527048"/>
            <a:ext cx="731520" cy="384048"/>
          </a:xfrm>
          <a:prstGeom prst="rect">
            <a:avLst/>
          </a:prstGeom>
          <a:solidFill>
            <a:srgbClr val="F7FAFC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3703320" y="1527048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◐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434840" y="1527048"/>
            <a:ext cx="731520" cy="384048"/>
          </a:xfrm>
          <a:prstGeom prst="rect">
            <a:avLst/>
          </a:prstGeom>
          <a:solidFill>
            <a:srgbClr val="F7FAFC"/>
          </a:solidFill>
          <a:ln/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4434840" y="1527048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◐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166360" y="1527048"/>
            <a:ext cx="1280160" cy="384048"/>
          </a:xfrm>
          <a:prstGeom prst="rect">
            <a:avLst/>
          </a:prstGeom>
          <a:solidFill>
            <a:srgbClr val="F0FFF4"/>
          </a:solidFill>
          <a:ln/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5212080" y="1554480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快接头主供（年需求&gt;10万对）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274320" y="1929384"/>
            <a:ext cx="1371600" cy="384048"/>
          </a:xfrm>
          <a:prstGeom prst="rect">
            <a:avLst/>
          </a:prstGeom>
          <a:solidFill>
            <a:srgbClr val="0057E7">
              <a:alpha val="15000"/>
            </a:srgbClr>
          </a:solidFill>
          <a:ln w="6350">
            <a:solidFill>
              <a:srgbClr val="0057E7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274320" y="1929384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超聚变（xFusion）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1645920" y="1929384"/>
            <a:ext cx="685800" cy="384048"/>
          </a:xfrm>
          <a:prstGeom prst="rect">
            <a:avLst/>
          </a:prstGeom>
          <a:solidFill>
            <a:srgbClr val="F7FAFC"/>
          </a:solidFill>
          <a:ln/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1645920" y="1929384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8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2331720" y="1929384"/>
            <a:ext cx="685800" cy="384048"/>
          </a:xfrm>
          <a:prstGeom prst="rect">
            <a:avLst/>
          </a:prstGeom>
          <a:solidFill>
            <a:srgbClr val="F7FAFC"/>
          </a:solidFill>
          <a:ln/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2331720" y="1929384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3017520" y="1929384"/>
            <a:ext cx="685800" cy="384048"/>
          </a:xfrm>
          <a:prstGeom prst="rect">
            <a:avLst/>
          </a:prstGeom>
          <a:solidFill>
            <a:srgbClr val="F7FAFC"/>
          </a:solidFill>
          <a:ln/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3017520" y="1929384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8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3703320" y="1929384"/>
            <a:ext cx="731520" cy="384048"/>
          </a:xfrm>
          <a:prstGeom prst="rect">
            <a:avLst/>
          </a:prstGeom>
          <a:solidFill>
            <a:srgbClr val="F7FAFC"/>
          </a:solidFill>
          <a:ln/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3703320" y="1929384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◐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434840" y="1929384"/>
            <a:ext cx="731520" cy="384048"/>
          </a:xfrm>
          <a:prstGeom prst="rect">
            <a:avLst/>
          </a:prstGeom>
          <a:solidFill>
            <a:srgbClr val="F7FAFC"/>
          </a:solidFill>
          <a:ln/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4434840" y="1929384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◐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5166360" y="1929384"/>
            <a:ext cx="1280160" cy="384048"/>
          </a:xfrm>
          <a:prstGeom prst="rect">
            <a:avLst/>
          </a:prstGeom>
          <a:solidFill>
            <a:srgbClr val="F0FFF4"/>
          </a:solidFill>
          <a:ln/>
        </p:spPr>
        <p:txBody>
          <a:bodyPr/>
          <a:p/>
        </p:txBody>
      </p:sp>
      <p:sp>
        <p:nvSpPr>
          <p:cNvPr id="46" name="Text 44"/>
          <p:cNvSpPr/>
          <p:nvPr/>
        </p:nvSpPr>
        <p:spPr>
          <a:xfrm>
            <a:off x="5212080" y="1956816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快接头（昇腾生态捆绑），史陶比尔供货慢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274320" y="2331720"/>
            <a:ext cx="1371600" cy="384048"/>
          </a:xfrm>
          <a:prstGeom prst="rect">
            <a:avLst/>
          </a:prstGeom>
          <a:solidFill>
            <a:srgbClr val="0057E7">
              <a:alpha val="15000"/>
            </a:srgbClr>
          </a:solidFill>
          <a:ln w="6350">
            <a:solidFill>
              <a:srgbClr val="0057E7"/>
            </a:solidFill>
            <a:prstDash val="solid"/>
          </a:ln>
        </p:spPr>
        <p:txBody>
          <a:bodyPr/>
          <a:p/>
        </p:txBody>
      </p:sp>
      <p:sp>
        <p:nvSpPr>
          <p:cNvPr id="48" name="Text 46"/>
          <p:cNvSpPr/>
          <p:nvPr/>
        </p:nvSpPr>
        <p:spPr>
          <a:xfrm>
            <a:off x="274320" y="233172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宁畅（Nettrix）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1645920" y="2331720"/>
            <a:ext cx="685800" cy="384048"/>
          </a:xfrm>
          <a:prstGeom prst="rect">
            <a:avLst/>
          </a:prstGeom>
          <a:solidFill>
            <a:srgbClr val="F7FAFC"/>
          </a:solidFill>
          <a:ln/>
        </p:spPr>
        <p:txBody>
          <a:bodyPr/>
          <a:p/>
        </p:txBody>
      </p:sp>
      <p:sp>
        <p:nvSpPr>
          <p:cNvPr id="50" name="Text 48"/>
          <p:cNvSpPr/>
          <p:nvPr/>
        </p:nvSpPr>
        <p:spPr>
          <a:xfrm>
            <a:off x="1645920" y="2331720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8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2331720" y="2331720"/>
            <a:ext cx="685800" cy="384048"/>
          </a:xfrm>
          <a:prstGeom prst="rect">
            <a:avLst/>
          </a:prstGeom>
          <a:solidFill>
            <a:srgbClr val="F7FAFC"/>
          </a:solidFill>
          <a:ln/>
        </p:spPr>
        <p:txBody>
          <a:bodyPr/>
          <a:p/>
        </p:txBody>
      </p:sp>
      <p:sp>
        <p:nvSpPr>
          <p:cNvPr id="52" name="Text 50"/>
          <p:cNvSpPr/>
          <p:nvPr/>
        </p:nvSpPr>
        <p:spPr>
          <a:xfrm>
            <a:off x="2331720" y="2331720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3017520" y="2331720"/>
            <a:ext cx="685800" cy="384048"/>
          </a:xfrm>
          <a:prstGeom prst="rect">
            <a:avLst/>
          </a:prstGeom>
          <a:solidFill>
            <a:srgbClr val="F7FAFC"/>
          </a:solidFill>
          <a:ln/>
        </p:spPr>
        <p:txBody>
          <a:bodyPr/>
          <a:p/>
        </p:txBody>
      </p:sp>
      <p:sp>
        <p:nvSpPr>
          <p:cNvPr id="54" name="Text 52"/>
          <p:cNvSpPr/>
          <p:nvPr/>
        </p:nvSpPr>
        <p:spPr>
          <a:xfrm>
            <a:off x="3017520" y="2331720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8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3703320" y="2331720"/>
            <a:ext cx="731520" cy="384048"/>
          </a:xfrm>
          <a:prstGeom prst="rect">
            <a:avLst/>
          </a:prstGeom>
          <a:solidFill>
            <a:srgbClr val="F7FAFC"/>
          </a:solidFill>
          <a:ln/>
        </p:spPr>
        <p:txBody>
          <a:bodyPr/>
          <a:p/>
        </p:txBody>
      </p:sp>
      <p:sp>
        <p:nvSpPr>
          <p:cNvPr id="56" name="Text 54"/>
          <p:cNvSpPr/>
          <p:nvPr/>
        </p:nvSpPr>
        <p:spPr>
          <a:xfrm>
            <a:off x="3703320" y="2331720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◐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4434840" y="2331720"/>
            <a:ext cx="731520" cy="384048"/>
          </a:xfrm>
          <a:prstGeom prst="rect">
            <a:avLst/>
          </a:prstGeom>
          <a:solidFill>
            <a:srgbClr val="F7FAFC"/>
          </a:solidFill>
          <a:ln/>
        </p:spPr>
        <p:txBody>
          <a:bodyPr/>
          <a:p/>
        </p:txBody>
      </p:sp>
      <p:sp>
        <p:nvSpPr>
          <p:cNvPr id="58" name="Text 56"/>
          <p:cNvSpPr/>
          <p:nvPr/>
        </p:nvSpPr>
        <p:spPr>
          <a:xfrm>
            <a:off x="4434840" y="2331720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◐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5166360" y="2331720"/>
            <a:ext cx="1280160" cy="384048"/>
          </a:xfrm>
          <a:prstGeom prst="rect">
            <a:avLst/>
          </a:prstGeom>
          <a:solidFill>
            <a:srgbClr val="F0FFF4"/>
          </a:solidFill>
          <a:ln/>
        </p:spPr>
        <p:txBody>
          <a:bodyPr/>
          <a:p/>
        </p:txBody>
      </p:sp>
      <p:sp>
        <p:nvSpPr>
          <p:cNvPr id="60" name="Text 58"/>
          <p:cNvSpPr/>
          <p:nvPr/>
        </p:nvSpPr>
        <p:spPr>
          <a:xfrm>
            <a:off x="5212080" y="2359152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快接头（朗之闻无此业务），定制响应慢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274320" y="2734056"/>
            <a:ext cx="1371600" cy="384048"/>
          </a:xfrm>
          <a:prstGeom prst="rect">
            <a:avLst/>
          </a:prstGeom>
          <a:solidFill>
            <a:srgbClr val="C53030">
              <a:alpha val="15000"/>
            </a:srgbClr>
          </a:solidFill>
          <a:ln w="6350">
            <a:solidFill>
              <a:srgbClr val="C53030"/>
            </a:solidFill>
            <a:prstDash val="solid"/>
          </a:ln>
        </p:spPr>
        <p:txBody>
          <a:bodyPr/>
          <a:p/>
        </p:txBody>
      </p:sp>
      <p:sp>
        <p:nvSpPr>
          <p:cNvPr id="62" name="Text 60"/>
          <p:cNvSpPr/>
          <p:nvPr/>
        </p:nvSpPr>
        <p:spPr>
          <a:xfrm>
            <a:off x="274320" y="273405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华为（Huawei）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1645920" y="2734056"/>
            <a:ext cx="685800" cy="384048"/>
          </a:xfrm>
          <a:prstGeom prst="rect">
            <a:avLst/>
          </a:prstGeom>
          <a:solidFill>
            <a:srgbClr val="F7FAFC"/>
          </a:solidFill>
          <a:ln/>
        </p:spPr>
        <p:txBody>
          <a:bodyPr/>
          <a:p/>
        </p:txBody>
      </p:sp>
      <p:sp>
        <p:nvSpPr>
          <p:cNvPr id="64" name="Text 62"/>
          <p:cNvSpPr/>
          <p:nvPr/>
        </p:nvSpPr>
        <p:spPr>
          <a:xfrm>
            <a:off x="1645920" y="2734056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8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2331720" y="2734056"/>
            <a:ext cx="685800" cy="384048"/>
          </a:xfrm>
          <a:prstGeom prst="rect">
            <a:avLst/>
          </a:prstGeom>
          <a:solidFill>
            <a:srgbClr val="F7FAFC"/>
          </a:solidFill>
          <a:ln/>
        </p:spPr>
        <p:txBody>
          <a:bodyPr/>
          <a:p/>
        </p:txBody>
      </p:sp>
      <p:sp>
        <p:nvSpPr>
          <p:cNvPr id="66" name="Text 64"/>
          <p:cNvSpPr/>
          <p:nvPr/>
        </p:nvSpPr>
        <p:spPr>
          <a:xfrm>
            <a:off x="2331720" y="2734056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3017520" y="2734056"/>
            <a:ext cx="685800" cy="384048"/>
          </a:xfrm>
          <a:prstGeom prst="rect">
            <a:avLst/>
          </a:prstGeom>
          <a:solidFill>
            <a:srgbClr val="F7FAFC"/>
          </a:solidFill>
          <a:ln/>
        </p:spPr>
        <p:txBody>
          <a:bodyPr/>
          <a:p/>
        </p:txBody>
      </p:sp>
      <p:sp>
        <p:nvSpPr>
          <p:cNvPr id="68" name="Text 66"/>
          <p:cNvSpPr/>
          <p:nvPr/>
        </p:nvSpPr>
        <p:spPr>
          <a:xfrm>
            <a:off x="3017520" y="2734056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8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3703320" y="2734056"/>
            <a:ext cx="731520" cy="384048"/>
          </a:xfrm>
          <a:prstGeom prst="rect">
            <a:avLst/>
          </a:prstGeom>
          <a:solidFill>
            <a:srgbClr val="F7FAFC"/>
          </a:solidFill>
          <a:ln/>
        </p:spPr>
        <p:txBody>
          <a:bodyPr/>
          <a:p/>
        </p:txBody>
      </p:sp>
      <p:sp>
        <p:nvSpPr>
          <p:cNvPr id="70" name="Text 68"/>
          <p:cNvSpPr/>
          <p:nvPr/>
        </p:nvSpPr>
        <p:spPr>
          <a:xfrm>
            <a:off x="3703320" y="2734056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◐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4434840" y="2734056"/>
            <a:ext cx="731520" cy="384048"/>
          </a:xfrm>
          <a:prstGeom prst="rect">
            <a:avLst/>
          </a:prstGeom>
          <a:solidFill>
            <a:srgbClr val="F7FAFC"/>
          </a:solidFill>
          <a:ln/>
        </p:spPr>
        <p:txBody>
          <a:bodyPr/>
          <a:p/>
        </p:txBody>
      </p:sp>
      <p:sp>
        <p:nvSpPr>
          <p:cNvPr id="72" name="Text 70"/>
          <p:cNvSpPr/>
          <p:nvPr/>
        </p:nvSpPr>
        <p:spPr>
          <a:xfrm>
            <a:off x="4434840" y="2734056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◐</a:t>
            </a:r>
            <a:endParaRPr lang="en-US" sz="1100" dirty="0"/>
          </a:p>
        </p:txBody>
      </p:sp>
      <p:sp>
        <p:nvSpPr>
          <p:cNvPr id="73" name="Shape 71"/>
          <p:cNvSpPr/>
          <p:nvPr/>
        </p:nvSpPr>
        <p:spPr>
          <a:xfrm>
            <a:off x="5166360" y="2734056"/>
            <a:ext cx="1280160" cy="384048"/>
          </a:xfrm>
          <a:prstGeom prst="rect">
            <a:avLst/>
          </a:prstGeom>
          <a:solidFill>
            <a:srgbClr val="FFF5F5"/>
          </a:solidFill>
          <a:ln/>
        </p:spPr>
        <p:txBody>
          <a:bodyPr/>
          <a:p/>
        </p:txBody>
      </p:sp>
      <p:sp>
        <p:nvSpPr>
          <p:cNvPr id="74" name="Text 72"/>
          <p:cNvSpPr/>
          <p:nvPr/>
        </p:nvSpPr>
        <p:spPr>
          <a:xfrm>
            <a:off x="5212080" y="2761488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快接头（封闭体系，国产替代门槛高）</a:t>
            </a:r>
            <a:endParaRPr lang="en-US" sz="750" dirty="0"/>
          </a:p>
        </p:txBody>
      </p:sp>
      <p:sp>
        <p:nvSpPr>
          <p:cNvPr id="75" name="Shape 73"/>
          <p:cNvSpPr/>
          <p:nvPr/>
        </p:nvSpPr>
        <p:spPr>
          <a:xfrm>
            <a:off x="274320" y="3136392"/>
            <a:ext cx="1371600" cy="384048"/>
          </a:xfrm>
          <a:prstGeom prst="rect">
            <a:avLst/>
          </a:prstGeom>
          <a:solidFill>
            <a:srgbClr val="2F855A">
              <a:alpha val="15000"/>
            </a:srgbClr>
          </a:solidFill>
          <a:ln w="6350">
            <a:solidFill>
              <a:srgbClr val="2F855A"/>
            </a:solidFill>
            <a:prstDash val="solid"/>
          </a:ln>
        </p:spPr>
        <p:txBody>
          <a:bodyPr/>
          <a:p/>
        </p:txBody>
      </p:sp>
      <p:sp>
        <p:nvSpPr>
          <p:cNvPr id="76" name="Text 74"/>
          <p:cNvSpPr/>
          <p:nvPr/>
        </p:nvSpPr>
        <p:spPr>
          <a:xfrm>
            <a:off x="274320" y="3136392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Vertiv（维谛）</a:t>
            </a:r>
            <a:endParaRPr lang="en-US" sz="850" dirty="0"/>
          </a:p>
        </p:txBody>
      </p:sp>
      <p:sp>
        <p:nvSpPr>
          <p:cNvPr id="77" name="Shape 75"/>
          <p:cNvSpPr/>
          <p:nvPr/>
        </p:nvSpPr>
        <p:spPr>
          <a:xfrm>
            <a:off x="1645920" y="3136392"/>
            <a:ext cx="685800" cy="384048"/>
          </a:xfrm>
          <a:prstGeom prst="rect">
            <a:avLst/>
          </a:prstGeom>
          <a:solidFill>
            <a:srgbClr val="F7FAFC"/>
          </a:solidFill>
          <a:ln/>
        </p:spPr>
        <p:txBody>
          <a:bodyPr/>
          <a:p/>
        </p:txBody>
      </p:sp>
      <p:sp>
        <p:nvSpPr>
          <p:cNvPr id="78" name="Text 76"/>
          <p:cNvSpPr/>
          <p:nvPr/>
        </p:nvSpPr>
        <p:spPr>
          <a:xfrm>
            <a:off x="1645920" y="3136392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100" dirty="0"/>
          </a:p>
        </p:txBody>
      </p:sp>
      <p:sp>
        <p:nvSpPr>
          <p:cNvPr id="79" name="Shape 77"/>
          <p:cNvSpPr/>
          <p:nvPr/>
        </p:nvSpPr>
        <p:spPr>
          <a:xfrm>
            <a:off x="2331720" y="3136392"/>
            <a:ext cx="685800" cy="384048"/>
          </a:xfrm>
          <a:prstGeom prst="rect">
            <a:avLst/>
          </a:prstGeom>
          <a:solidFill>
            <a:srgbClr val="F7FAFC"/>
          </a:solidFill>
          <a:ln/>
        </p:spPr>
        <p:txBody>
          <a:bodyPr/>
          <a:p/>
        </p:txBody>
      </p:sp>
      <p:sp>
        <p:nvSpPr>
          <p:cNvPr id="80" name="Text 78"/>
          <p:cNvSpPr/>
          <p:nvPr/>
        </p:nvSpPr>
        <p:spPr>
          <a:xfrm>
            <a:off x="2331720" y="3136392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100" dirty="0"/>
          </a:p>
        </p:txBody>
      </p:sp>
      <p:sp>
        <p:nvSpPr>
          <p:cNvPr id="81" name="Shape 79"/>
          <p:cNvSpPr/>
          <p:nvPr/>
        </p:nvSpPr>
        <p:spPr>
          <a:xfrm>
            <a:off x="3017520" y="3136392"/>
            <a:ext cx="685800" cy="384048"/>
          </a:xfrm>
          <a:prstGeom prst="rect">
            <a:avLst/>
          </a:prstGeom>
          <a:solidFill>
            <a:srgbClr val="F7FAFC"/>
          </a:solidFill>
          <a:ln/>
        </p:spPr>
        <p:txBody>
          <a:bodyPr/>
          <a:p/>
        </p:txBody>
      </p:sp>
      <p:sp>
        <p:nvSpPr>
          <p:cNvPr id="82" name="Text 80"/>
          <p:cNvSpPr/>
          <p:nvPr/>
        </p:nvSpPr>
        <p:spPr>
          <a:xfrm>
            <a:off x="3017520" y="3136392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8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83" name="Shape 81"/>
          <p:cNvSpPr/>
          <p:nvPr/>
        </p:nvSpPr>
        <p:spPr>
          <a:xfrm>
            <a:off x="3703320" y="3136392"/>
            <a:ext cx="731520" cy="384048"/>
          </a:xfrm>
          <a:prstGeom prst="rect">
            <a:avLst/>
          </a:prstGeom>
          <a:solidFill>
            <a:srgbClr val="F7FAFC"/>
          </a:solidFill>
          <a:ln/>
        </p:spPr>
        <p:txBody>
          <a:bodyPr/>
          <a:p/>
        </p:txBody>
      </p:sp>
      <p:sp>
        <p:nvSpPr>
          <p:cNvPr id="84" name="Text 82"/>
          <p:cNvSpPr/>
          <p:nvPr/>
        </p:nvSpPr>
        <p:spPr>
          <a:xfrm>
            <a:off x="3703320" y="3136392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◐</a:t>
            </a:r>
            <a:endParaRPr lang="en-US" sz="1100" dirty="0"/>
          </a:p>
        </p:txBody>
      </p:sp>
      <p:sp>
        <p:nvSpPr>
          <p:cNvPr id="85" name="Shape 83"/>
          <p:cNvSpPr/>
          <p:nvPr/>
        </p:nvSpPr>
        <p:spPr>
          <a:xfrm>
            <a:off x="4434840" y="3136392"/>
            <a:ext cx="731520" cy="384048"/>
          </a:xfrm>
          <a:prstGeom prst="rect">
            <a:avLst/>
          </a:prstGeom>
          <a:solidFill>
            <a:srgbClr val="F7FAFC"/>
          </a:solidFill>
          <a:ln/>
        </p:spPr>
        <p:txBody>
          <a:bodyPr/>
          <a:p/>
        </p:txBody>
      </p:sp>
      <p:sp>
        <p:nvSpPr>
          <p:cNvPr id="86" name="Text 84"/>
          <p:cNvSpPr/>
          <p:nvPr/>
        </p:nvSpPr>
        <p:spPr>
          <a:xfrm>
            <a:off x="4434840" y="3136392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100" dirty="0"/>
          </a:p>
        </p:txBody>
      </p:sp>
      <p:sp>
        <p:nvSpPr>
          <p:cNvPr id="87" name="Shape 85"/>
          <p:cNvSpPr/>
          <p:nvPr/>
        </p:nvSpPr>
        <p:spPr>
          <a:xfrm>
            <a:off x="5166360" y="3136392"/>
            <a:ext cx="1280160" cy="384048"/>
          </a:xfrm>
          <a:prstGeom prst="rect">
            <a:avLst/>
          </a:prstGeom>
          <a:solidFill>
            <a:srgbClr val="F0FFF4"/>
          </a:solidFill>
          <a:ln/>
        </p:spPr>
        <p:txBody>
          <a:bodyPr/>
          <a:p/>
        </p:txBody>
      </p:sp>
      <p:sp>
        <p:nvSpPr>
          <p:cNvPr id="88" name="Text 86"/>
          <p:cNvSpPr/>
          <p:nvPr/>
        </p:nvSpPr>
        <p:spPr>
          <a:xfrm>
            <a:off x="5212080" y="3163824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快接头外购，可做Vertiv中国配套</a:t>
            </a:r>
            <a:endParaRPr lang="en-US" sz="750" dirty="0"/>
          </a:p>
        </p:txBody>
      </p:sp>
      <p:sp>
        <p:nvSpPr>
          <p:cNvPr id="89" name="Shape 87"/>
          <p:cNvSpPr/>
          <p:nvPr/>
        </p:nvSpPr>
        <p:spPr>
          <a:xfrm>
            <a:off x="274320" y="3538728"/>
            <a:ext cx="1371600" cy="384048"/>
          </a:xfrm>
          <a:prstGeom prst="rect">
            <a:avLst/>
          </a:prstGeom>
          <a:solidFill>
            <a:srgbClr val="2F855A">
              <a:alpha val="15000"/>
            </a:srgbClr>
          </a:solidFill>
          <a:ln w="6350">
            <a:solidFill>
              <a:srgbClr val="2F855A"/>
            </a:solidFill>
            <a:prstDash val="solid"/>
          </a:ln>
        </p:spPr>
        <p:txBody>
          <a:bodyPr/>
          <a:p/>
        </p:txBody>
      </p:sp>
      <p:sp>
        <p:nvSpPr>
          <p:cNvPr id="90" name="Text 88"/>
          <p:cNvSpPr/>
          <p:nvPr/>
        </p:nvSpPr>
        <p:spPr>
          <a:xfrm>
            <a:off x="274320" y="353872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Dell</a:t>
            </a:r>
            <a:endParaRPr lang="en-US" sz="850" dirty="0"/>
          </a:p>
        </p:txBody>
      </p:sp>
      <p:sp>
        <p:nvSpPr>
          <p:cNvPr id="91" name="Shape 89"/>
          <p:cNvSpPr/>
          <p:nvPr/>
        </p:nvSpPr>
        <p:spPr>
          <a:xfrm>
            <a:off x="1645920" y="3538728"/>
            <a:ext cx="685800" cy="384048"/>
          </a:xfrm>
          <a:prstGeom prst="rect">
            <a:avLst/>
          </a:prstGeom>
          <a:solidFill>
            <a:srgbClr val="F7FAFC"/>
          </a:solidFill>
          <a:ln/>
        </p:spPr>
        <p:txBody>
          <a:bodyPr/>
          <a:p/>
        </p:txBody>
      </p:sp>
      <p:sp>
        <p:nvSpPr>
          <p:cNvPr id="92" name="Text 90"/>
          <p:cNvSpPr/>
          <p:nvPr/>
        </p:nvSpPr>
        <p:spPr>
          <a:xfrm>
            <a:off x="1645920" y="3538728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◐</a:t>
            </a:r>
            <a:endParaRPr lang="en-US" sz="1100" dirty="0"/>
          </a:p>
        </p:txBody>
      </p:sp>
      <p:sp>
        <p:nvSpPr>
          <p:cNvPr id="93" name="Shape 91"/>
          <p:cNvSpPr/>
          <p:nvPr/>
        </p:nvSpPr>
        <p:spPr>
          <a:xfrm>
            <a:off x="2331720" y="3538728"/>
            <a:ext cx="685800" cy="384048"/>
          </a:xfrm>
          <a:prstGeom prst="rect">
            <a:avLst/>
          </a:prstGeom>
          <a:solidFill>
            <a:srgbClr val="F7FAFC"/>
          </a:solidFill>
          <a:ln/>
        </p:spPr>
        <p:txBody>
          <a:bodyPr/>
          <a:p/>
        </p:txBody>
      </p:sp>
      <p:sp>
        <p:nvSpPr>
          <p:cNvPr id="94" name="Text 92"/>
          <p:cNvSpPr/>
          <p:nvPr/>
        </p:nvSpPr>
        <p:spPr>
          <a:xfrm>
            <a:off x="2331720" y="3538728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100" dirty="0"/>
          </a:p>
        </p:txBody>
      </p:sp>
      <p:sp>
        <p:nvSpPr>
          <p:cNvPr id="95" name="Shape 93"/>
          <p:cNvSpPr/>
          <p:nvPr/>
        </p:nvSpPr>
        <p:spPr>
          <a:xfrm>
            <a:off x="3017520" y="3538728"/>
            <a:ext cx="685800" cy="384048"/>
          </a:xfrm>
          <a:prstGeom prst="rect">
            <a:avLst/>
          </a:prstGeom>
          <a:solidFill>
            <a:srgbClr val="F7FAFC"/>
          </a:solidFill>
          <a:ln/>
        </p:spPr>
        <p:txBody>
          <a:bodyPr/>
          <a:p/>
        </p:txBody>
      </p:sp>
      <p:sp>
        <p:nvSpPr>
          <p:cNvPr id="96" name="Text 94"/>
          <p:cNvSpPr/>
          <p:nvPr/>
        </p:nvSpPr>
        <p:spPr>
          <a:xfrm>
            <a:off x="3017520" y="3538728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8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97" name="Shape 95"/>
          <p:cNvSpPr/>
          <p:nvPr/>
        </p:nvSpPr>
        <p:spPr>
          <a:xfrm>
            <a:off x="3703320" y="3538728"/>
            <a:ext cx="731520" cy="384048"/>
          </a:xfrm>
          <a:prstGeom prst="rect">
            <a:avLst/>
          </a:prstGeom>
          <a:solidFill>
            <a:srgbClr val="F7FAFC"/>
          </a:solidFill>
          <a:ln/>
        </p:spPr>
        <p:txBody>
          <a:bodyPr/>
          <a:p/>
        </p:txBody>
      </p:sp>
      <p:sp>
        <p:nvSpPr>
          <p:cNvPr id="98" name="Text 96"/>
          <p:cNvSpPr/>
          <p:nvPr/>
        </p:nvSpPr>
        <p:spPr>
          <a:xfrm>
            <a:off x="3703320" y="3538728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◐</a:t>
            </a:r>
            <a:endParaRPr lang="en-US" sz="1100" dirty="0"/>
          </a:p>
        </p:txBody>
      </p:sp>
      <p:sp>
        <p:nvSpPr>
          <p:cNvPr id="99" name="Shape 97"/>
          <p:cNvSpPr/>
          <p:nvPr/>
        </p:nvSpPr>
        <p:spPr>
          <a:xfrm>
            <a:off x="4434840" y="3538728"/>
            <a:ext cx="731520" cy="384048"/>
          </a:xfrm>
          <a:prstGeom prst="rect">
            <a:avLst/>
          </a:prstGeom>
          <a:solidFill>
            <a:srgbClr val="F7FAFC"/>
          </a:solidFill>
          <a:ln/>
        </p:spPr>
        <p:txBody>
          <a:bodyPr/>
          <a:p/>
        </p:txBody>
      </p:sp>
      <p:sp>
        <p:nvSpPr>
          <p:cNvPr id="100" name="Text 98"/>
          <p:cNvSpPr/>
          <p:nvPr/>
        </p:nvSpPr>
        <p:spPr>
          <a:xfrm>
            <a:off x="4434840" y="3538728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◐</a:t>
            </a:r>
            <a:endParaRPr lang="en-US" sz="1100" dirty="0"/>
          </a:p>
        </p:txBody>
      </p:sp>
      <p:sp>
        <p:nvSpPr>
          <p:cNvPr id="101" name="Shape 99"/>
          <p:cNvSpPr/>
          <p:nvPr/>
        </p:nvSpPr>
        <p:spPr>
          <a:xfrm>
            <a:off x="5166360" y="3538728"/>
            <a:ext cx="1280160" cy="384048"/>
          </a:xfrm>
          <a:prstGeom prst="rect">
            <a:avLst/>
          </a:prstGeom>
          <a:solidFill>
            <a:srgbClr val="F0FFF4"/>
          </a:solidFill>
          <a:ln/>
        </p:spPr>
        <p:txBody>
          <a:bodyPr/>
          <a:p/>
        </p:txBody>
      </p:sp>
      <p:sp>
        <p:nvSpPr>
          <p:cNvPr id="102" name="Text 100"/>
          <p:cNvSpPr/>
          <p:nvPr/>
        </p:nvSpPr>
        <p:spPr>
          <a:xfrm>
            <a:off x="5212080" y="3566160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NVL72配套快接头，Quanta代工部分</a:t>
            </a:r>
            <a:endParaRPr lang="en-US" sz="750" dirty="0"/>
          </a:p>
        </p:txBody>
      </p:sp>
      <p:sp>
        <p:nvSpPr>
          <p:cNvPr id="103" name="Shape 101"/>
          <p:cNvSpPr/>
          <p:nvPr/>
        </p:nvSpPr>
        <p:spPr>
          <a:xfrm>
            <a:off x="274320" y="3941064"/>
            <a:ext cx="1371600" cy="384048"/>
          </a:xfrm>
          <a:prstGeom prst="rect">
            <a:avLst/>
          </a:prstGeom>
          <a:solidFill>
            <a:srgbClr val="2F855A">
              <a:alpha val="15000"/>
            </a:srgbClr>
          </a:solidFill>
          <a:ln w="6350">
            <a:solidFill>
              <a:srgbClr val="2F855A"/>
            </a:solidFill>
            <a:prstDash val="solid"/>
          </a:ln>
        </p:spPr>
        <p:txBody>
          <a:bodyPr/>
          <a:p/>
        </p:txBody>
      </p:sp>
      <p:sp>
        <p:nvSpPr>
          <p:cNvPr id="104" name="Text 102"/>
          <p:cNvSpPr/>
          <p:nvPr/>
        </p:nvSpPr>
        <p:spPr>
          <a:xfrm>
            <a:off x="274320" y="3941064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Quanta（广达）</a:t>
            </a:r>
            <a:endParaRPr lang="en-US" sz="850" dirty="0"/>
          </a:p>
        </p:txBody>
      </p:sp>
      <p:sp>
        <p:nvSpPr>
          <p:cNvPr id="105" name="Shape 103"/>
          <p:cNvSpPr/>
          <p:nvPr/>
        </p:nvSpPr>
        <p:spPr>
          <a:xfrm>
            <a:off x="1645920" y="3941064"/>
            <a:ext cx="685800" cy="384048"/>
          </a:xfrm>
          <a:prstGeom prst="rect">
            <a:avLst/>
          </a:prstGeom>
          <a:solidFill>
            <a:srgbClr val="F7FAFC"/>
          </a:solidFill>
          <a:ln/>
        </p:spPr>
        <p:txBody>
          <a:bodyPr/>
          <a:p/>
        </p:txBody>
      </p:sp>
      <p:sp>
        <p:nvSpPr>
          <p:cNvPr id="106" name="Text 104"/>
          <p:cNvSpPr/>
          <p:nvPr/>
        </p:nvSpPr>
        <p:spPr>
          <a:xfrm>
            <a:off x="1645920" y="3941064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◐</a:t>
            </a:r>
            <a:endParaRPr lang="en-US" sz="1100" dirty="0"/>
          </a:p>
        </p:txBody>
      </p:sp>
      <p:sp>
        <p:nvSpPr>
          <p:cNvPr id="107" name="Shape 105"/>
          <p:cNvSpPr/>
          <p:nvPr/>
        </p:nvSpPr>
        <p:spPr>
          <a:xfrm>
            <a:off x="2331720" y="3941064"/>
            <a:ext cx="685800" cy="384048"/>
          </a:xfrm>
          <a:prstGeom prst="rect">
            <a:avLst/>
          </a:prstGeom>
          <a:solidFill>
            <a:srgbClr val="F7FAFC"/>
          </a:solidFill>
          <a:ln/>
        </p:spPr>
        <p:txBody>
          <a:bodyPr/>
          <a:p/>
        </p:txBody>
      </p:sp>
      <p:sp>
        <p:nvSpPr>
          <p:cNvPr id="108" name="Text 106"/>
          <p:cNvSpPr/>
          <p:nvPr/>
        </p:nvSpPr>
        <p:spPr>
          <a:xfrm>
            <a:off x="2331720" y="3941064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100" dirty="0"/>
          </a:p>
        </p:txBody>
      </p:sp>
      <p:sp>
        <p:nvSpPr>
          <p:cNvPr id="109" name="Shape 107"/>
          <p:cNvSpPr/>
          <p:nvPr/>
        </p:nvSpPr>
        <p:spPr>
          <a:xfrm>
            <a:off x="3017520" y="3941064"/>
            <a:ext cx="685800" cy="384048"/>
          </a:xfrm>
          <a:prstGeom prst="rect">
            <a:avLst/>
          </a:prstGeom>
          <a:solidFill>
            <a:srgbClr val="F7FAFC"/>
          </a:solidFill>
          <a:ln/>
        </p:spPr>
        <p:txBody>
          <a:bodyPr/>
          <a:p/>
        </p:txBody>
      </p:sp>
      <p:sp>
        <p:nvSpPr>
          <p:cNvPr id="110" name="Text 108"/>
          <p:cNvSpPr/>
          <p:nvPr/>
        </p:nvSpPr>
        <p:spPr>
          <a:xfrm>
            <a:off x="3017520" y="3941064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◐</a:t>
            </a:r>
            <a:endParaRPr lang="en-US" sz="1100" dirty="0"/>
          </a:p>
        </p:txBody>
      </p:sp>
      <p:sp>
        <p:nvSpPr>
          <p:cNvPr id="111" name="Shape 109"/>
          <p:cNvSpPr/>
          <p:nvPr/>
        </p:nvSpPr>
        <p:spPr>
          <a:xfrm>
            <a:off x="3703320" y="3941064"/>
            <a:ext cx="731520" cy="384048"/>
          </a:xfrm>
          <a:prstGeom prst="rect">
            <a:avLst/>
          </a:prstGeom>
          <a:solidFill>
            <a:srgbClr val="F7FAFC"/>
          </a:solidFill>
          <a:ln/>
        </p:spPr>
        <p:txBody>
          <a:bodyPr/>
          <a:p/>
        </p:txBody>
      </p:sp>
      <p:sp>
        <p:nvSpPr>
          <p:cNvPr id="112" name="Text 110"/>
          <p:cNvSpPr/>
          <p:nvPr/>
        </p:nvSpPr>
        <p:spPr>
          <a:xfrm>
            <a:off x="3703320" y="3941064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100" dirty="0"/>
          </a:p>
        </p:txBody>
      </p:sp>
      <p:sp>
        <p:nvSpPr>
          <p:cNvPr id="113" name="Shape 111"/>
          <p:cNvSpPr/>
          <p:nvPr/>
        </p:nvSpPr>
        <p:spPr>
          <a:xfrm>
            <a:off x="4434840" y="3941064"/>
            <a:ext cx="731520" cy="384048"/>
          </a:xfrm>
          <a:prstGeom prst="rect">
            <a:avLst/>
          </a:prstGeom>
          <a:solidFill>
            <a:srgbClr val="F7FAFC"/>
          </a:solidFill>
          <a:ln/>
        </p:spPr>
        <p:txBody>
          <a:bodyPr/>
          <a:p/>
        </p:txBody>
      </p:sp>
      <p:sp>
        <p:nvSpPr>
          <p:cNvPr id="114" name="Text 112"/>
          <p:cNvSpPr/>
          <p:nvPr/>
        </p:nvSpPr>
        <p:spPr>
          <a:xfrm>
            <a:off x="4434840" y="3941064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100" dirty="0"/>
          </a:p>
        </p:txBody>
      </p:sp>
      <p:sp>
        <p:nvSpPr>
          <p:cNvPr id="115" name="Shape 113"/>
          <p:cNvSpPr/>
          <p:nvPr/>
        </p:nvSpPr>
        <p:spPr>
          <a:xfrm>
            <a:off x="5166360" y="3941064"/>
            <a:ext cx="1280160" cy="384048"/>
          </a:xfrm>
          <a:prstGeom prst="rect">
            <a:avLst/>
          </a:prstGeom>
          <a:solidFill>
            <a:srgbClr val="F0FFF4"/>
          </a:solidFill>
          <a:ln/>
        </p:spPr>
        <p:txBody>
          <a:bodyPr/>
          <a:p/>
        </p:txBody>
      </p:sp>
      <p:sp>
        <p:nvSpPr>
          <p:cNvPr id="116" name="Text 114"/>
          <p:cNvSpPr/>
          <p:nvPr/>
        </p:nvSpPr>
        <p:spPr>
          <a:xfrm>
            <a:off x="5212080" y="3968496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DGX代工，快接头全外购</a:t>
            </a:r>
            <a:endParaRPr lang="en-US" sz="750" dirty="0"/>
          </a:p>
        </p:txBody>
      </p:sp>
      <p:sp>
        <p:nvSpPr>
          <p:cNvPr id="117" name="Shape 115"/>
          <p:cNvSpPr/>
          <p:nvPr/>
        </p:nvSpPr>
        <p:spPr>
          <a:xfrm>
            <a:off x="274320" y="4343400"/>
            <a:ext cx="1371600" cy="384048"/>
          </a:xfrm>
          <a:prstGeom prst="rect">
            <a:avLst/>
          </a:prstGeom>
          <a:solidFill>
            <a:srgbClr val="ED8936">
              <a:alpha val="15000"/>
            </a:srgbClr>
          </a:solidFill>
          <a:ln w="6350">
            <a:solidFill>
              <a:srgbClr val="ED8936"/>
            </a:solidFill>
            <a:prstDash val="solid"/>
          </a:ln>
        </p:spPr>
        <p:txBody>
          <a:bodyPr/>
          <a:p/>
        </p:txBody>
      </p:sp>
      <p:sp>
        <p:nvSpPr>
          <p:cNvPr id="118" name="Text 116"/>
          <p:cNvSpPr/>
          <p:nvPr/>
        </p:nvSpPr>
        <p:spPr>
          <a:xfrm>
            <a:off x="274320" y="434340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英维克</a:t>
            </a:r>
            <a:endParaRPr lang="en-US" sz="850" dirty="0"/>
          </a:p>
        </p:txBody>
      </p:sp>
      <p:sp>
        <p:nvSpPr>
          <p:cNvPr id="119" name="Shape 117"/>
          <p:cNvSpPr/>
          <p:nvPr/>
        </p:nvSpPr>
        <p:spPr>
          <a:xfrm>
            <a:off x="1645920" y="4343400"/>
            <a:ext cx="685800" cy="384048"/>
          </a:xfrm>
          <a:prstGeom prst="rect">
            <a:avLst/>
          </a:prstGeom>
          <a:solidFill>
            <a:srgbClr val="F7FAFC"/>
          </a:solidFill>
          <a:ln/>
        </p:spPr>
        <p:txBody>
          <a:bodyPr/>
          <a:p/>
        </p:txBody>
      </p:sp>
      <p:sp>
        <p:nvSpPr>
          <p:cNvPr id="120" name="Text 118"/>
          <p:cNvSpPr/>
          <p:nvPr/>
        </p:nvSpPr>
        <p:spPr>
          <a:xfrm>
            <a:off x="1645920" y="4343400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8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121" name="Shape 119"/>
          <p:cNvSpPr/>
          <p:nvPr/>
        </p:nvSpPr>
        <p:spPr>
          <a:xfrm>
            <a:off x="2331720" y="4343400"/>
            <a:ext cx="685800" cy="384048"/>
          </a:xfrm>
          <a:prstGeom prst="rect">
            <a:avLst/>
          </a:prstGeom>
          <a:solidFill>
            <a:srgbClr val="F7FAFC"/>
          </a:solidFill>
          <a:ln/>
        </p:spPr>
        <p:txBody>
          <a:bodyPr/>
          <a:p/>
        </p:txBody>
      </p:sp>
      <p:sp>
        <p:nvSpPr>
          <p:cNvPr id="122" name="Text 120"/>
          <p:cNvSpPr/>
          <p:nvPr/>
        </p:nvSpPr>
        <p:spPr>
          <a:xfrm>
            <a:off x="2331720" y="4343400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100" dirty="0"/>
          </a:p>
        </p:txBody>
      </p:sp>
      <p:sp>
        <p:nvSpPr>
          <p:cNvPr id="123" name="Shape 121"/>
          <p:cNvSpPr/>
          <p:nvPr/>
        </p:nvSpPr>
        <p:spPr>
          <a:xfrm>
            <a:off x="3017520" y="4343400"/>
            <a:ext cx="685800" cy="384048"/>
          </a:xfrm>
          <a:prstGeom prst="rect">
            <a:avLst/>
          </a:prstGeom>
          <a:solidFill>
            <a:srgbClr val="F7FAFC"/>
          </a:solidFill>
          <a:ln/>
        </p:spPr>
        <p:txBody>
          <a:bodyPr/>
          <a:p/>
        </p:txBody>
      </p:sp>
      <p:sp>
        <p:nvSpPr>
          <p:cNvPr id="124" name="Text 122"/>
          <p:cNvSpPr/>
          <p:nvPr/>
        </p:nvSpPr>
        <p:spPr>
          <a:xfrm>
            <a:off x="3017520" y="4343400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8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125" name="Shape 123"/>
          <p:cNvSpPr/>
          <p:nvPr/>
        </p:nvSpPr>
        <p:spPr>
          <a:xfrm>
            <a:off x="3703320" y="4343400"/>
            <a:ext cx="731520" cy="384048"/>
          </a:xfrm>
          <a:prstGeom prst="rect">
            <a:avLst/>
          </a:prstGeom>
          <a:solidFill>
            <a:srgbClr val="F7FAFC"/>
          </a:solidFill>
          <a:ln/>
        </p:spPr>
        <p:txBody>
          <a:bodyPr/>
          <a:p/>
        </p:txBody>
      </p:sp>
      <p:sp>
        <p:nvSpPr>
          <p:cNvPr id="126" name="Text 124"/>
          <p:cNvSpPr/>
          <p:nvPr/>
        </p:nvSpPr>
        <p:spPr>
          <a:xfrm>
            <a:off x="3703320" y="4343400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8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127" name="Shape 125"/>
          <p:cNvSpPr/>
          <p:nvPr/>
        </p:nvSpPr>
        <p:spPr>
          <a:xfrm>
            <a:off x="4434840" y="4343400"/>
            <a:ext cx="731520" cy="384048"/>
          </a:xfrm>
          <a:prstGeom prst="rect">
            <a:avLst/>
          </a:prstGeom>
          <a:solidFill>
            <a:srgbClr val="F7FAFC"/>
          </a:solidFill>
          <a:ln/>
        </p:spPr>
        <p:txBody>
          <a:bodyPr/>
          <a:p/>
        </p:txBody>
      </p:sp>
      <p:sp>
        <p:nvSpPr>
          <p:cNvPr id="128" name="Text 126"/>
          <p:cNvSpPr/>
          <p:nvPr/>
        </p:nvSpPr>
        <p:spPr>
          <a:xfrm>
            <a:off x="4434840" y="4343400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100" dirty="0"/>
          </a:p>
        </p:txBody>
      </p:sp>
      <p:sp>
        <p:nvSpPr>
          <p:cNvPr id="129" name="Shape 127"/>
          <p:cNvSpPr/>
          <p:nvPr/>
        </p:nvSpPr>
        <p:spPr>
          <a:xfrm>
            <a:off x="5166360" y="4343400"/>
            <a:ext cx="1280160" cy="384048"/>
          </a:xfrm>
          <a:prstGeom prst="rect">
            <a:avLst/>
          </a:prstGeom>
          <a:solidFill>
            <a:srgbClr val="F0FFF4"/>
          </a:solidFill>
          <a:ln/>
        </p:spPr>
        <p:txBody>
          <a:bodyPr/>
          <a:p/>
        </p:txBody>
      </p:sp>
      <p:sp>
        <p:nvSpPr>
          <p:cNvPr id="130" name="Text 128"/>
          <p:cNvSpPr/>
          <p:nvPr/>
        </p:nvSpPr>
        <p:spPr>
          <a:xfrm>
            <a:off x="5212080" y="4370832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CDU全套自产，快接头外购（合作非竞争）</a:t>
            </a:r>
            <a:endParaRPr lang="en-US" sz="750" dirty="0"/>
          </a:p>
        </p:txBody>
      </p:sp>
      <p:sp>
        <p:nvSpPr>
          <p:cNvPr id="131" name="Shape 129"/>
          <p:cNvSpPr/>
          <p:nvPr/>
        </p:nvSpPr>
        <p:spPr>
          <a:xfrm>
            <a:off x="274320" y="4745736"/>
            <a:ext cx="1371600" cy="384048"/>
          </a:xfrm>
          <a:prstGeom prst="rect">
            <a:avLst/>
          </a:prstGeom>
          <a:solidFill>
            <a:srgbClr val="ED8936">
              <a:alpha val="15000"/>
            </a:srgbClr>
          </a:solidFill>
          <a:ln w="6350">
            <a:solidFill>
              <a:srgbClr val="ED8936"/>
            </a:solidFill>
            <a:prstDash val="solid"/>
          </a:ln>
        </p:spPr>
        <p:txBody>
          <a:bodyPr/>
          <a:p/>
        </p:txBody>
      </p:sp>
      <p:sp>
        <p:nvSpPr>
          <p:cNvPr id="132" name="Text 130"/>
          <p:cNvSpPr/>
          <p:nvPr/>
        </p:nvSpPr>
        <p:spPr>
          <a:xfrm>
            <a:off x="274320" y="474573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申菱</a:t>
            </a:r>
            <a:endParaRPr lang="en-US" sz="850" dirty="0"/>
          </a:p>
        </p:txBody>
      </p:sp>
      <p:sp>
        <p:nvSpPr>
          <p:cNvPr id="133" name="Shape 131"/>
          <p:cNvSpPr/>
          <p:nvPr/>
        </p:nvSpPr>
        <p:spPr>
          <a:xfrm>
            <a:off x="1645920" y="4745736"/>
            <a:ext cx="685800" cy="384048"/>
          </a:xfrm>
          <a:prstGeom prst="rect">
            <a:avLst/>
          </a:prstGeom>
          <a:solidFill>
            <a:srgbClr val="F7FAFC"/>
          </a:solidFill>
          <a:ln/>
        </p:spPr>
        <p:txBody>
          <a:bodyPr/>
          <a:p/>
        </p:txBody>
      </p:sp>
      <p:sp>
        <p:nvSpPr>
          <p:cNvPr id="134" name="Text 132"/>
          <p:cNvSpPr/>
          <p:nvPr/>
        </p:nvSpPr>
        <p:spPr>
          <a:xfrm>
            <a:off x="1645920" y="4745736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8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135" name="Shape 133"/>
          <p:cNvSpPr/>
          <p:nvPr/>
        </p:nvSpPr>
        <p:spPr>
          <a:xfrm>
            <a:off x="2331720" y="4745736"/>
            <a:ext cx="685800" cy="384048"/>
          </a:xfrm>
          <a:prstGeom prst="rect">
            <a:avLst/>
          </a:prstGeom>
          <a:solidFill>
            <a:srgbClr val="F7FAFC"/>
          </a:solidFill>
          <a:ln/>
        </p:spPr>
        <p:txBody>
          <a:bodyPr/>
          <a:p/>
        </p:txBody>
      </p:sp>
      <p:sp>
        <p:nvSpPr>
          <p:cNvPr id="136" name="Text 134"/>
          <p:cNvSpPr/>
          <p:nvPr/>
        </p:nvSpPr>
        <p:spPr>
          <a:xfrm>
            <a:off x="2331720" y="4745736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100" dirty="0"/>
          </a:p>
        </p:txBody>
      </p:sp>
      <p:sp>
        <p:nvSpPr>
          <p:cNvPr id="137" name="Shape 135"/>
          <p:cNvSpPr/>
          <p:nvPr/>
        </p:nvSpPr>
        <p:spPr>
          <a:xfrm>
            <a:off x="3017520" y="4745736"/>
            <a:ext cx="685800" cy="384048"/>
          </a:xfrm>
          <a:prstGeom prst="rect">
            <a:avLst/>
          </a:prstGeom>
          <a:solidFill>
            <a:srgbClr val="F7FAFC"/>
          </a:solidFill>
          <a:ln/>
        </p:spPr>
        <p:txBody>
          <a:bodyPr/>
          <a:p/>
        </p:txBody>
      </p:sp>
      <p:sp>
        <p:nvSpPr>
          <p:cNvPr id="138" name="Text 136"/>
          <p:cNvSpPr/>
          <p:nvPr/>
        </p:nvSpPr>
        <p:spPr>
          <a:xfrm>
            <a:off x="3017520" y="4745736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8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139" name="Shape 137"/>
          <p:cNvSpPr/>
          <p:nvPr/>
        </p:nvSpPr>
        <p:spPr>
          <a:xfrm>
            <a:off x="3703320" y="4745736"/>
            <a:ext cx="731520" cy="384048"/>
          </a:xfrm>
          <a:prstGeom prst="rect">
            <a:avLst/>
          </a:prstGeom>
          <a:solidFill>
            <a:srgbClr val="F7FAFC"/>
          </a:solidFill>
          <a:ln/>
        </p:spPr>
        <p:txBody>
          <a:bodyPr/>
          <a:p/>
        </p:txBody>
      </p:sp>
      <p:sp>
        <p:nvSpPr>
          <p:cNvPr id="140" name="Text 138"/>
          <p:cNvSpPr/>
          <p:nvPr/>
        </p:nvSpPr>
        <p:spPr>
          <a:xfrm>
            <a:off x="3703320" y="4745736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◐</a:t>
            </a:r>
            <a:endParaRPr lang="en-US" sz="1100" dirty="0"/>
          </a:p>
        </p:txBody>
      </p:sp>
      <p:sp>
        <p:nvSpPr>
          <p:cNvPr id="141" name="Shape 139"/>
          <p:cNvSpPr/>
          <p:nvPr/>
        </p:nvSpPr>
        <p:spPr>
          <a:xfrm>
            <a:off x="4434840" y="4745736"/>
            <a:ext cx="731520" cy="384048"/>
          </a:xfrm>
          <a:prstGeom prst="rect">
            <a:avLst/>
          </a:prstGeom>
          <a:solidFill>
            <a:srgbClr val="F7FAFC"/>
          </a:solidFill>
          <a:ln/>
        </p:spPr>
        <p:txBody>
          <a:bodyPr/>
          <a:p/>
        </p:txBody>
      </p:sp>
      <p:sp>
        <p:nvSpPr>
          <p:cNvPr id="142" name="Text 140"/>
          <p:cNvSpPr/>
          <p:nvPr/>
        </p:nvSpPr>
        <p:spPr>
          <a:xfrm>
            <a:off x="4434840" y="4745736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100" dirty="0"/>
          </a:p>
        </p:txBody>
      </p:sp>
      <p:sp>
        <p:nvSpPr>
          <p:cNvPr id="143" name="Shape 141"/>
          <p:cNvSpPr/>
          <p:nvPr/>
        </p:nvSpPr>
        <p:spPr>
          <a:xfrm>
            <a:off x="5166360" y="4745736"/>
            <a:ext cx="1280160" cy="384048"/>
          </a:xfrm>
          <a:prstGeom prst="rect">
            <a:avLst/>
          </a:prstGeom>
          <a:solidFill>
            <a:srgbClr val="F0FFF4"/>
          </a:solidFill>
          <a:ln/>
        </p:spPr>
        <p:txBody>
          <a:bodyPr/>
          <a:p/>
        </p:txBody>
      </p:sp>
      <p:sp>
        <p:nvSpPr>
          <p:cNvPr id="144" name="Text 142"/>
          <p:cNvSpPr/>
          <p:nvPr/>
        </p:nvSpPr>
        <p:spPr>
          <a:xfrm>
            <a:off x="5212080" y="4773168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冷板/CDU自产，快接头外购</a:t>
            </a:r>
            <a:endParaRPr lang="en-US" sz="750" dirty="0"/>
          </a:p>
        </p:txBody>
      </p:sp>
      <p:sp>
        <p:nvSpPr>
          <p:cNvPr id="145" name="Shape 143"/>
          <p:cNvSpPr/>
          <p:nvPr/>
        </p:nvSpPr>
        <p:spPr>
          <a:xfrm>
            <a:off x="274320" y="4572000"/>
            <a:ext cx="320040" cy="228600"/>
          </a:xfrm>
          <a:prstGeom prst="rect">
            <a:avLst/>
          </a:prstGeom>
          <a:solidFill>
            <a:srgbClr val="F0FFF4"/>
          </a:solidFill>
          <a:ln/>
        </p:spPr>
        <p:txBody>
          <a:bodyPr/>
          <a:p/>
        </p:txBody>
      </p:sp>
      <p:sp>
        <p:nvSpPr>
          <p:cNvPr id="146" name="Text 144"/>
          <p:cNvSpPr/>
          <p:nvPr/>
        </p:nvSpPr>
        <p:spPr>
          <a:xfrm>
            <a:off x="640080" y="457200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蓝=国内OEM  绿=国际OEM  红=谨慎进入  ✓=自产  ✗=外购（机会）</a:t>
            </a:r>
            <a:endParaRPr lang="en-US" sz="800" dirty="0"/>
          </a:p>
        </p:txBody>
      </p:sp>
      <p:sp>
        <p:nvSpPr>
          <p:cNvPr id="147" name="Shape 145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148" name="Text 146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冷板技术路线与市场格局</a:t>
            </a:r>
            <a:endParaRPr lang="en-US" sz="22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14400"/>
          <a:ext cx="5303520" cy="1828800"/>
        </p:xfrm>
        <a:graphic>
          <a:graphicData uri="http://schemas.openxmlformats.org/drawingml/2006/table">
            <a:tbl>
              <a:tblPr/>
              <a:tblGrid>
                <a:gridCol w="1097280"/>
                <a:gridCol w="1280160"/>
                <a:gridCol w="548640"/>
                <a:gridCol w="1097280"/>
                <a:gridCol w="128016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类型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换热方式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流阻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代表厂商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适用场景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微通道冷板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内部微通道强化换热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Legacy/AVC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高功率芯片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环路歧管(Annular)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环绕芯片环形流道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英伟达GB200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集群GPU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射流冷板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喷射冷却强化换热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超聚变/浪潮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极端功率密度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平板式冷板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传统接触式换热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低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国内二三线厂商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通用服务器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760720" y="914400"/>
            <a:ext cx="3108960" cy="1828800"/>
          </a:xfrm>
          <a:prstGeom prst="rect">
            <a:avLst/>
          </a:prstGeom>
          <a:solidFill>
            <a:srgbClr val="F7FAFC"/>
          </a:solidFill>
          <a:ln w="12700">
            <a:solidFill>
              <a:srgbClr val="2C5282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5943600" y="10058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GPU厂家决定冷板标准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897880" y="1417320"/>
            <a:ext cx="73152" cy="228600"/>
          </a:xfrm>
          <a:prstGeom prst="rect">
            <a:avLst/>
          </a:prstGeom>
          <a:solidFill>
            <a:srgbClr val="C53030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6035040" y="141732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昇腾（华为）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7223760" y="141732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封闭标准 · 华为定制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5897880" y="1709928"/>
            <a:ext cx="73152" cy="228600"/>
          </a:xfrm>
          <a:prstGeom prst="rect">
            <a:avLst/>
          </a:prstGeom>
          <a:solidFill>
            <a:srgbClr val="2C5282"/>
          </a:solidFill>
          <a:ln/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6035040" y="1709928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寒武纪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7223760" y="1709928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开放标准 · OEM适配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5897880" y="2002536"/>
            <a:ext cx="73152" cy="228600"/>
          </a:xfrm>
          <a:prstGeom prst="rect">
            <a:avLst/>
          </a:prstGeom>
          <a:solidFill>
            <a:srgbClr val="2C5282"/>
          </a:solidFill>
          <a:ln/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6035040" y="2002536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海光DCU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7223760" y="2002536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开放标准 · 适配灵活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5897880" y="2295144"/>
            <a:ext cx="73152" cy="228600"/>
          </a:xfrm>
          <a:prstGeom prst="rect">
            <a:avLst/>
          </a:prstGeom>
          <a:solidFill>
            <a:srgbClr val="2C5282"/>
          </a:solidFill>
          <a:ln/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6035040" y="2295144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昆仑芯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7223760" y="2295144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开放标准 · 定制冷板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5897880" y="2587752"/>
            <a:ext cx="73152" cy="228600"/>
          </a:xfrm>
          <a:prstGeom prst="rect">
            <a:avLst/>
          </a:prstGeom>
          <a:solidFill>
            <a:srgbClr val="2F855A"/>
          </a:solidFill>
          <a:ln/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6035040" y="2587752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平头哥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7223760" y="2587752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开放标准 · 社区共建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274320" y="28803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国内冷板供应商格局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274320" y="3291840"/>
            <a:ext cx="1664208" cy="1188720"/>
          </a:xfrm>
          <a:prstGeom prst="rect">
            <a:avLst/>
          </a:prstGeom>
          <a:solidFill>
            <a:srgbClr val="F7FAFC"/>
          </a:solidFill>
          <a:ln w="19050">
            <a:solidFill>
              <a:srgbClr val="1A365D"/>
            </a:solidFill>
            <a:prstDash val="solid"/>
          </a:ln>
        </p:spPr>
        <p:txBody>
          <a:bodyPr/>
          <a:p/>
        </p:txBody>
      </p:sp>
      <p:sp>
        <p:nvSpPr>
          <p:cNvPr id="24" name="Shape 21"/>
          <p:cNvSpPr/>
          <p:nvPr/>
        </p:nvSpPr>
        <p:spPr>
          <a:xfrm>
            <a:off x="274320" y="3291840"/>
            <a:ext cx="1664208" cy="27432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25" name="Text 22"/>
          <p:cNvSpPr/>
          <p:nvPr/>
        </p:nvSpPr>
        <p:spPr>
          <a:xfrm>
            <a:off x="274320" y="3291840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第一梯队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347472" y="3611880"/>
            <a:ext cx="15179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英维克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347472" y="3931920"/>
            <a:ext cx="151790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规模最大，液冷全栈</a:t>
            </a:r>
            <a:endParaRPr lang="en-US" sz="750" dirty="0"/>
          </a:p>
        </p:txBody>
      </p:sp>
      <p:sp>
        <p:nvSpPr>
          <p:cNvPr id="28" name="Shape 25"/>
          <p:cNvSpPr/>
          <p:nvPr/>
        </p:nvSpPr>
        <p:spPr>
          <a:xfrm>
            <a:off x="2029968" y="3291840"/>
            <a:ext cx="1664208" cy="1188720"/>
          </a:xfrm>
          <a:prstGeom prst="rect">
            <a:avLst/>
          </a:prstGeom>
          <a:solidFill>
            <a:srgbClr val="F7FAFC"/>
          </a:solidFill>
          <a:ln w="19050">
            <a:solidFill>
              <a:srgbClr val="1A365D"/>
            </a:solidFill>
            <a:prstDash val="solid"/>
          </a:ln>
        </p:spPr>
        <p:txBody>
          <a:bodyPr/>
          <a:p/>
        </p:txBody>
      </p:sp>
      <p:sp>
        <p:nvSpPr>
          <p:cNvPr id="29" name="Shape 26"/>
          <p:cNvSpPr/>
          <p:nvPr/>
        </p:nvSpPr>
        <p:spPr>
          <a:xfrm>
            <a:off x="2029968" y="3291840"/>
            <a:ext cx="1664208" cy="27432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30" name="Text 27"/>
          <p:cNvSpPr/>
          <p:nvPr/>
        </p:nvSpPr>
        <p:spPr>
          <a:xfrm>
            <a:off x="2029968" y="3291840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第一梯队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2103120" y="3611880"/>
            <a:ext cx="15179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申菱环境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2103120" y="3931920"/>
            <a:ext cx="151790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工业空调背景，品质稳定</a:t>
            </a:r>
            <a:endParaRPr lang="en-US" sz="750" dirty="0"/>
          </a:p>
        </p:txBody>
      </p:sp>
      <p:sp>
        <p:nvSpPr>
          <p:cNvPr id="33" name="Shape 30"/>
          <p:cNvSpPr/>
          <p:nvPr/>
        </p:nvSpPr>
        <p:spPr>
          <a:xfrm>
            <a:off x="3785616" y="3291840"/>
            <a:ext cx="1664208" cy="1188720"/>
          </a:xfrm>
          <a:prstGeom prst="rect">
            <a:avLst/>
          </a:prstGeom>
          <a:solidFill>
            <a:srgbClr val="F7FAFC"/>
          </a:solidFill>
          <a:ln w="19050">
            <a:solidFill>
              <a:srgbClr val="2C5282"/>
            </a:solidFill>
            <a:prstDash val="solid"/>
          </a:ln>
        </p:spPr>
        <p:txBody>
          <a:bodyPr/>
          <a:p/>
        </p:txBody>
      </p:sp>
      <p:sp>
        <p:nvSpPr>
          <p:cNvPr id="34" name="Shape 31"/>
          <p:cNvSpPr/>
          <p:nvPr/>
        </p:nvSpPr>
        <p:spPr>
          <a:xfrm>
            <a:off x="3785616" y="3291840"/>
            <a:ext cx="1664208" cy="274320"/>
          </a:xfrm>
          <a:prstGeom prst="rect">
            <a:avLst/>
          </a:prstGeom>
          <a:solidFill>
            <a:srgbClr val="2C5282"/>
          </a:solidFill>
          <a:ln/>
        </p:spPr>
        <p:txBody>
          <a:bodyPr/>
          <a:p/>
        </p:txBody>
      </p:sp>
      <p:sp>
        <p:nvSpPr>
          <p:cNvPr id="35" name="Text 32"/>
          <p:cNvSpPr/>
          <p:nvPr/>
        </p:nvSpPr>
        <p:spPr>
          <a:xfrm>
            <a:off x="3785616" y="3291840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第二梯队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3858768" y="3611880"/>
            <a:ext cx="15179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高标（超聚变系）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3858768" y="3931920"/>
            <a:ext cx="151790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绑定超聚变，出货量可观</a:t>
            </a:r>
            <a:endParaRPr lang="en-US" sz="750" dirty="0"/>
          </a:p>
        </p:txBody>
      </p:sp>
      <p:sp>
        <p:nvSpPr>
          <p:cNvPr id="38" name="Shape 35"/>
          <p:cNvSpPr/>
          <p:nvPr/>
        </p:nvSpPr>
        <p:spPr>
          <a:xfrm>
            <a:off x="5541264" y="3291840"/>
            <a:ext cx="1664208" cy="1188720"/>
          </a:xfrm>
          <a:prstGeom prst="rect">
            <a:avLst/>
          </a:prstGeom>
          <a:solidFill>
            <a:srgbClr val="F7FAFC"/>
          </a:solidFill>
          <a:ln w="19050">
            <a:solidFill>
              <a:srgbClr val="2C5282"/>
            </a:solidFill>
            <a:prstDash val="solid"/>
          </a:ln>
        </p:spPr>
        <p:txBody>
          <a:bodyPr/>
          <a:p/>
        </p:txBody>
      </p:sp>
      <p:sp>
        <p:nvSpPr>
          <p:cNvPr id="39" name="Shape 36"/>
          <p:cNvSpPr/>
          <p:nvPr/>
        </p:nvSpPr>
        <p:spPr>
          <a:xfrm>
            <a:off x="5541264" y="3291840"/>
            <a:ext cx="1664208" cy="274320"/>
          </a:xfrm>
          <a:prstGeom prst="rect">
            <a:avLst/>
          </a:prstGeom>
          <a:solidFill>
            <a:srgbClr val="2C5282"/>
          </a:solidFill>
          <a:ln/>
        </p:spPr>
        <p:txBody>
          <a:bodyPr/>
          <a:p/>
        </p:txBody>
      </p:sp>
      <p:sp>
        <p:nvSpPr>
          <p:cNvPr id="40" name="Text 37"/>
          <p:cNvSpPr/>
          <p:nvPr/>
        </p:nvSpPr>
        <p:spPr>
          <a:xfrm>
            <a:off x="5541264" y="3291840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第二梯队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5614416" y="3611880"/>
            <a:ext cx="15179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朗之闻（宁畅系）</a:t>
            </a:r>
            <a:endParaRPr lang="en-US" sz="1000" dirty="0"/>
          </a:p>
        </p:txBody>
      </p:sp>
      <p:sp>
        <p:nvSpPr>
          <p:cNvPr id="42" name="Text 39"/>
          <p:cNvSpPr/>
          <p:nvPr/>
        </p:nvSpPr>
        <p:spPr>
          <a:xfrm>
            <a:off x="5614416" y="3931920"/>
            <a:ext cx="151790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绑定宁畅服务器</a:t>
            </a:r>
            <a:endParaRPr lang="en-US" sz="750" dirty="0"/>
          </a:p>
        </p:txBody>
      </p:sp>
      <p:sp>
        <p:nvSpPr>
          <p:cNvPr id="43" name="Shape 40"/>
          <p:cNvSpPr/>
          <p:nvPr/>
        </p:nvSpPr>
        <p:spPr>
          <a:xfrm>
            <a:off x="7296912" y="3291840"/>
            <a:ext cx="1664208" cy="1188720"/>
          </a:xfrm>
          <a:prstGeom prst="rect">
            <a:avLst/>
          </a:prstGeom>
          <a:solidFill>
            <a:srgbClr val="F7FAFC"/>
          </a:solidFill>
          <a:ln w="19050">
            <a:solidFill>
              <a:srgbClr val="999999"/>
            </a:solidFill>
            <a:prstDash val="solid"/>
          </a:ln>
        </p:spPr>
        <p:txBody>
          <a:bodyPr/>
          <a:p/>
        </p:txBody>
      </p:sp>
      <p:sp>
        <p:nvSpPr>
          <p:cNvPr id="44" name="Shape 41"/>
          <p:cNvSpPr/>
          <p:nvPr/>
        </p:nvSpPr>
        <p:spPr>
          <a:xfrm>
            <a:off x="7296912" y="3291840"/>
            <a:ext cx="1664208" cy="274320"/>
          </a:xfrm>
          <a:prstGeom prst="rect">
            <a:avLst/>
          </a:prstGeom>
          <a:solidFill>
            <a:srgbClr val="999999"/>
          </a:solidFill>
          <a:ln/>
        </p:spPr>
        <p:txBody>
          <a:bodyPr/>
          <a:p/>
        </p:txBody>
      </p:sp>
      <p:sp>
        <p:nvSpPr>
          <p:cNvPr id="45" name="Text 42"/>
          <p:cNvSpPr/>
          <p:nvPr/>
        </p:nvSpPr>
        <p:spPr>
          <a:xfrm>
            <a:off x="7296912" y="3291840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第三梯队</a:t>
            </a:r>
            <a:endParaRPr lang="en-US" sz="800" dirty="0"/>
          </a:p>
        </p:txBody>
      </p:sp>
      <p:sp>
        <p:nvSpPr>
          <p:cNvPr id="46" name="Text 43"/>
          <p:cNvSpPr/>
          <p:nvPr/>
        </p:nvSpPr>
        <p:spPr>
          <a:xfrm>
            <a:off x="7370064" y="3611880"/>
            <a:ext cx="15179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二三线国内厂商</a:t>
            </a:r>
            <a:endParaRPr lang="en-US" sz="1000" dirty="0"/>
          </a:p>
        </p:txBody>
      </p:sp>
      <p:sp>
        <p:nvSpPr>
          <p:cNvPr id="47" name="Text 44"/>
          <p:cNvSpPr/>
          <p:nvPr/>
        </p:nvSpPr>
        <p:spPr>
          <a:xfrm>
            <a:off x="7370064" y="3931920"/>
            <a:ext cx="151790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价格竞争，品质参差</a:t>
            </a:r>
            <a:endParaRPr lang="en-US" sz="750" dirty="0"/>
          </a:p>
        </p:txBody>
      </p:sp>
      <p:sp>
        <p:nvSpPr>
          <p:cNvPr id="48" name="Text 45"/>
          <p:cNvSpPr/>
          <p:nvPr/>
        </p:nvSpPr>
        <p:spPr>
          <a:xfrm>
            <a:off x="457200" y="4919472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来源：IDC 2025 | OCP官网 | 厂商资料 [已核实/估算]</a:t>
            </a:r>
            <a:endParaRPr lang="en-US" sz="700" dirty="0"/>
          </a:p>
        </p:txBody>
      </p:sp>
      <p:sp>
        <p:nvSpPr>
          <p:cNvPr id="49" name="Shape 46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50" name="Text 47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CDU：冷却液分配单元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2560320" cy="1280160"/>
          </a:xfrm>
          <a:prstGeom prst="rect">
            <a:avLst>
              <a:gd name="adj" fmla="val 5714"/>
            </a:avLst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365760" y="10058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全球CDU市场规模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128016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$3.2B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365760" y="17830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2025年 | CAGR 18%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971800" y="914400"/>
            <a:ext cx="2560320" cy="1280160"/>
          </a:xfrm>
          <a:prstGeom prst="rect">
            <a:avLst>
              <a:gd name="adj" fmla="val 5714"/>
            </a:avLst>
          </a:prstGeom>
          <a:solidFill>
            <a:srgbClr val="2C5282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063240" y="10058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2030年预测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063240" y="128016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$7.8B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3063240" y="17830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2.4倍增长空间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669280" y="9144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CDU类型对比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669280" y="1280160"/>
            <a:ext cx="3200400" cy="548640"/>
          </a:xfrm>
          <a:prstGeom prst="rect">
            <a:avLst/>
          </a:prstGeom>
          <a:solidFill>
            <a:srgbClr val="F7FAFC"/>
          </a:solidFill>
          <a:ln w="9525">
            <a:solidFill>
              <a:srgbClr val="2C5282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5760720" y="132588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背板 CDU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858000" y="13258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50-200kW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760720" y="1554480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贴附机柜背面，靠近热源，适合小规模部署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5669280" y="1901952"/>
            <a:ext cx="3200400" cy="548640"/>
          </a:xfrm>
          <a:prstGeom prst="rect">
            <a:avLst/>
          </a:prstGeom>
          <a:solidFill>
            <a:srgbClr val="F7FAFC"/>
          </a:solidFill>
          <a:ln w="9525">
            <a:solidFill>
              <a:srgbClr val="2C5282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5760720" y="1947672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机柜 CDU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858000" y="194767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200-1000kW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760720" y="2176272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独立机柜，容量大，适合中大型数据中心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5669280" y="2523744"/>
            <a:ext cx="3200400" cy="548640"/>
          </a:xfrm>
          <a:prstGeom prst="rect">
            <a:avLst/>
          </a:prstGeom>
          <a:solidFill>
            <a:srgbClr val="F7FAFC"/>
          </a:solidFill>
          <a:ln w="9525">
            <a:solidFill>
              <a:srgbClr val="2C5282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760720" y="2569464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分布式 CDU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858000" y="2569464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100-500kW/节点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760720" y="2798064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多节点共享，模块化，弹性扩展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274320" y="237744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国内外竞争格局</a:t>
            </a:r>
            <a:endParaRPr lang="en-US" sz="11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697480"/>
          <a:ext cx="5212080" cy="1783080"/>
        </p:xfrm>
        <a:graphic>
          <a:graphicData uri="http://schemas.openxmlformats.org/drawingml/2006/table">
            <a:tbl>
              <a:tblPr/>
              <a:tblGrid>
                <a:gridCol w="1280160"/>
                <a:gridCol w="548640"/>
                <a:gridCol w="3383280"/>
              </a:tblGrid>
              <a:tr h="356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厂商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区域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优势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Vertiv（维谛）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美国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全球CDU龙头，OCP认证完整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Schneider（施耐德）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法国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EcoStruxure平台，生态完整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Rittal（威图）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德国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标准化CDU，欧洲市场强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英维克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中国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国内CDU龙头，规模最大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申菱环境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中国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工业空调背景，品质稳定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7" name="Shape 24"/>
          <p:cNvSpPr/>
          <p:nvPr/>
        </p:nvSpPr>
        <p:spPr>
          <a:xfrm>
            <a:off x="274320" y="4526280"/>
            <a:ext cx="8595360" cy="502920"/>
          </a:xfrm>
          <a:prstGeom prst="rect">
            <a:avLst/>
          </a:prstGeom>
          <a:solidFill>
            <a:srgbClr val="FFF7ED"/>
          </a:solidFill>
          <a:ln w="12700">
            <a:solidFill>
              <a:srgbClr val="ED8936"/>
            </a:solidFill>
            <a:prstDash val="solid"/>
          </a:ln>
        </p:spPr>
        <p:txBody>
          <a:bodyPr/>
          <a:p/>
        </p:txBody>
      </p:sp>
      <p:sp>
        <p:nvSpPr>
          <p:cNvPr id="28" name="Text 25"/>
          <p:cNvSpPr/>
          <p:nvPr/>
        </p:nvSpPr>
        <p:spPr>
          <a:xfrm>
            <a:off x="457200" y="455371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海悟切入点：与系统集成商合作 CDU 捆绑销售，或专注液冷管路/快接头配套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457200" y="4919472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来源：MarketsandMarkets 2025 | 行业调研 2026.04 [已核实/估算]</a:t>
            </a:r>
            <a:endParaRPr lang="en-US" sz="700" dirty="0"/>
          </a:p>
        </p:txBody>
      </p:sp>
      <p:sp>
        <p:nvSpPr>
          <p:cNvPr id="30" name="Shape 27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31" name="Text 28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Manifold：分配歧管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在液冷系统中的位置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097280" cy="548640"/>
          </a:xfrm>
          <a:prstGeom prst="rect">
            <a:avLst>
              <a:gd name="adj" fmla="val 8333"/>
            </a:avLst>
          </a:prstGeom>
          <a:solidFill>
            <a:srgbClr val="2C5282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57200" y="137160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554480" y="137160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920240" y="1371600"/>
            <a:ext cx="1371600" cy="548640"/>
          </a:xfrm>
          <a:prstGeom prst="rect">
            <a:avLst>
              <a:gd name="adj" fmla="val 8333"/>
            </a:avLst>
          </a:prstGeom>
          <a:solidFill>
            <a:srgbClr val="ED8936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920240" y="137160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Manifold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91840" y="137160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657600" y="1371600"/>
            <a:ext cx="685800" cy="548640"/>
          </a:xfrm>
          <a:prstGeom prst="rect">
            <a:avLst/>
          </a:prstGeom>
          <a:solidFill>
            <a:srgbClr val="BEE3F8"/>
          </a:solidFill>
          <a:ln w="12700">
            <a:solidFill>
              <a:srgbClr val="2C5282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3657600" y="1371600"/>
            <a:ext cx="685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Server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4434840" y="1371600"/>
            <a:ext cx="685800" cy="548640"/>
          </a:xfrm>
          <a:prstGeom prst="rect">
            <a:avLst/>
          </a:prstGeom>
          <a:solidFill>
            <a:srgbClr val="BEE3F8"/>
          </a:solidFill>
          <a:ln w="12700">
            <a:solidFill>
              <a:srgbClr val="2C5282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4434840" y="1371600"/>
            <a:ext cx="685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Server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5212080" y="1371600"/>
            <a:ext cx="685800" cy="548640"/>
          </a:xfrm>
          <a:prstGeom prst="rect">
            <a:avLst/>
          </a:prstGeom>
          <a:solidFill>
            <a:srgbClr val="BEE3F8"/>
          </a:solidFill>
          <a:ln w="12700">
            <a:solidFill>
              <a:srgbClr val="2C5282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212080" y="1371600"/>
            <a:ext cx="685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Server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5989320" y="1371600"/>
            <a:ext cx="685800" cy="548640"/>
          </a:xfrm>
          <a:prstGeom prst="rect">
            <a:avLst/>
          </a:prstGeom>
          <a:solidFill>
            <a:srgbClr val="BEE3F8"/>
          </a:solidFill>
          <a:ln w="12700">
            <a:solidFill>
              <a:srgbClr val="2C5282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5989320" y="1371600"/>
            <a:ext cx="685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Server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274320" y="21488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技术壁垒（相对CDU/快接头较低）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74320" y="246888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密封性要求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1691640" y="2523744"/>
            <a:ext cx="1508760" cy="182880"/>
          </a:xfrm>
          <a:prstGeom prst="rect">
            <a:avLst/>
          </a:prstGeom>
          <a:solidFill>
            <a:srgbClr val="2C5282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3840480" y="246888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多路接口，漏液风险分散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274320" y="2816352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流量均衡设计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1691640" y="2871216"/>
            <a:ext cx="2011680" cy="18288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3840480" y="2816352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各支路流量需精确分配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274320" y="3163824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模块化插拔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1691640" y="3218688"/>
            <a:ext cx="1508760" cy="182880"/>
          </a:xfrm>
          <a:prstGeom prst="rect">
            <a:avLst/>
          </a:prstGeom>
          <a:solidFill>
            <a:srgbClr val="2C5282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3840480" y="3163824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热插拔支持是关键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274320" y="3511296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标准化接口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1691640" y="3566160"/>
            <a:ext cx="1005840" cy="182880"/>
          </a:xfrm>
          <a:prstGeom prst="rect">
            <a:avLst/>
          </a:prstGeom>
          <a:solidFill>
            <a:srgbClr val="ED8936"/>
          </a:solidFill>
          <a:ln/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3840480" y="3511296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OCP正在推动标准化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6217920" y="1280160"/>
            <a:ext cx="2651760" cy="2194560"/>
          </a:xfrm>
          <a:prstGeom prst="rect">
            <a:avLst/>
          </a:prstGeom>
          <a:solidFill>
            <a:srgbClr val="F7FAFC"/>
          </a:solidFill>
          <a:ln w="12700">
            <a:solidFill>
              <a:srgbClr val="2C5282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6355080" y="13716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市场特点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355080" y="1737360"/>
            <a:ext cx="23774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通常与CDU捆绑销售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独立供应商较少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多为系统厂商自产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OCP推动接口标准化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国产化率约70%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单价低但数量大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274320" y="3886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五区域Manifold应用差异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74320" y="4251960"/>
            <a:ext cx="1664208" cy="640080"/>
          </a:xfrm>
          <a:prstGeom prst="rect">
            <a:avLst>
              <a:gd name="adj" fmla="val 7143"/>
            </a:avLst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274320" y="4279392"/>
            <a:ext cx="16642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国内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20040" y="4526280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标准化优先，本土品牌机会大</a:t>
            </a:r>
            <a:endParaRPr lang="en-US" sz="650" dirty="0"/>
          </a:p>
        </p:txBody>
      </p:sp>
      <p:sp>
        <p:nvSpPr>
          <p:cNvPr id="39" name="Shape 37"/>
          <p:cNvSpPr/>
          <p:nvPr/>
        </p:nvSpPr>
        <p:spPr>
          <a:xfrm>
            <a:off x="2029968" y="4251960"/>
            <a:ext cx="1664208" cy="640080"/>
          </a:xfrm>
          <a:prstGeom prst="rect">
            <a:avLst>
              <a:gd name="adj" fmla="val 7143"/>
            </a:avLst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2029968" y="4279392"/>
            <a:ext cx="16642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东南亚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2075688" y="4526280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成本敏感，发展中市场</a:t>
            </a:r>
            <a:endParaRPr lang="en-US" sz="650" dirty="0"/>
          </a:p>
        </p:txBody>
      </p:sp>
      <p:sp>
        <p:nvSpPr>
          <p:cNvPr id="42" name="Shape 40"/>
          <p:cNvSpPr/>
          <p:nvPr/>
        </p:nvSpPr>
        <p:spPr>
          <a:xfrm>
            <a:off x="3785616" y="4251960"/>
            <a:ext cx="1664208" cy="640080"/>
          </a:xfrm>
          <a:prstGeom prst="rect">
            <a:avLst>
              <a:gd name="adj" fmla="val 7143"/>
            </a:avLst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3785616" y="4279392"/>
            <a:ext cx="16642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北美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3831336" y="4526280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高可靠性，OCP认证必需</a:t>
            </a:r>
            <a:endParaRPr lang="en-US" sz="650" dirty="0"/>
          </a:p>
        </p:txBody>
      </p:sp>
      <p:sp>
        <p:nvSpPr>
          <p:cNvPr id="45" name="Shape 43"/>
          <p:cNvSpPr/>
          <p:nvPr/>
        </p:nvSpPr>
        <p:spPr>
          <a:xfrm>
            <a:off x="5541264" y="4251960"/>
            <a:ext cx="1664208" cy="640080"/>
          </a:xfrm>
          <a:prstGeom prst="rect">
            <a:avLst>
              <a:gd name="adj" fmla="val 7143"/>
            </a:avLst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46" name="Text 44"/>
          <p:cNvSpPr/>
          <p:nvPr/>
        </p:nvSpPr>
        <p:spPr>
          <a:xfrm>
            <a:off x="5541264" y="4279392"/>
            <a:ext cx="16642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中东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5586984" y="4526280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耐高温设计，沙特标准</a:t>
            </a:r>
            <a:endParaRPr lang="en-US" sz="650" dirty="0"/>
          </a:p>
        </p:txBody>
      </p:sp>
      <p:sp>
        <p:nvSpPr>
          <p:cNvPr id="48" name="Shape 46"/>
          <p:cNvSpPr/>
          <p:nvPr/>
        </p:nvSpPr>
        <p:spPr>
          <a:xfrm>
            <a:off x="7296912" y="4251960"/>
            <a:ext cx="1664208" cy="640080"/>
          </a:xfrm>
          <a:prstGeom prst="rect">
            <a:avLst>
              <a:gd name="adj" fmla="val 7143"/>
            </a:avLst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49" name="Text 47"/>
          <p:cNvSpPr/>
          <p:nvPr/>
        </p:nvSpPr>
        <p:spPr>
          <a:xfrm>
            <a:off x="7296912" y="4279392"/>
            <a:ext cx="16642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欧洲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7342632" y="4526280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CE认证，环保RoHS</a:t>
            </a:r>
            <a:endParaRPr lang="en-US" sz="650" dirty="0"/>
          </a:p>
        </p:txBody>
      </p:sp>
      <p:sp>
        <p:nvSpPr>
          <p:cNvPr id="51" name="Shape 49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52" name="Text 50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快接头：液冷连接核心壁垒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868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技术壁垒（全球最高等级）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2011680" cy="1097280"/>
          </a:xfrm>
          <a:prstGeom prst="rect">
            <a:avLst>
              <a:gd name="adj" fmla="val 5000"/>
            </a:avLst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274320" y="12344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漏液率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15087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0.001%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74320" y="19202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军规级密封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423160" y="1188720"/>
            <a:ext cx="2011680" cy="1097280"/>
          </a:xfrm>
          <a:prstGeom prst="rect">
            <a:avLst>
              <a:gd name="adj" fmla="val 5000"/>
            </a:avLst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2423160" y="12344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插拔寿命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423160" y="15087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10,000次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423160" y="19202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数据中心级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572000" y="1188720"/>
            <a:ext cx="2011680" cy="1097280"/>
          </a:xfrm>
          <a:prstGeom prst="rect">
            <a:avLst>
              <a:gd name="adj" fmla="val 5000"/>
            </a:avLst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4572000" y="12344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工作压力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0" y="15087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0–20 bar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72000" y="19202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高压液冷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720840" y="1188720"/>
            <a:ext cx="2011680" cy="1097280"/>
          </a:xfrm>
          <a:prstGeom prst="rect">
            <a:avLst>
              <a:gd name="adj" fmla="val 5000"/>
            </a:avLst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720840" y="12344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OCP认证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720840" y="15087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必需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720840" y="19202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进入OEM门槛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74320" y="2468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全球竞争格局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2788920"/>
            <a:ext cx="5029200" cy="411480"/>
          </a:xfrm>
          <a:prstGeom prst="rect">
            <a:avLst/>
          </a:prstGeom>
          <a:solidFill>
            <a:srgbClr val="F7FAFC"/>
          </a:solidFill>
          <a:ln w="19050">
            <a:solidFill>
              <a:srgbClr val="1A365D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274320" y="2788920"/>
            <a:ext cx="54864" cy="41148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411480" y="278892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史陶比尔 STAUBLI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057400" y="278892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瑞士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2560320" y="278892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全球标准制定者，占据70%+市场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74320" y="3264408"/>
            <a:ext cx="5029200" cy="411480"/>
          </a:xfrm>
          <a:prstGeom prst="rect">
            <a:avLst/>
          </a:prstGeom>
          <a:solidFill>
            <a:srgbClr val="F7FAFC"/>
          </a:solidFill>
          <a:ln w="19050">
            <a:solidFill>
              <a:srgbClr val="2C5282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274320" y="3264408"/>
            <a:ext cx="54864" cy="411480"/>
          </a:xfrm>
          <a:prstGeom prst="rect">
            <a:avLst/>
          </a:prstGeom>
          <a:solidFill>
            <a:srgbClr val="2C5282"/>
          </a:solidFill>
          <a:ln/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411480" y="3264408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卡uthlink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057400" y="3264408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美国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2560320" y="3264408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OCP认证完整，北美OEM主力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274320" y="3739896"/>
            <a:ext cx="5029200" cy="411480"/>
          </a:xfrm>
          <a:prstGeom prst="rect">
            <a:avLst/>
          </a:prstGeom>
          <a:solidFill>
            <a:srgbClr val="F7FAFC"/>
          </a:solidFill>
          <a:ln w="19050">
            <a:solidFill>
              <a:srgbClr val="ED8936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274320" y="3739896"/>
            <a:ext cx="54864" cy="411480"/>
          </a:xfrm>
          <a:prstGeom prst="rect">
            <a:avLst/>
          </a:prstGeom>
          <a:solidFill>
            <a:srgbClr val="ED8936"/>
          </a:solidFill>
          <a:ln/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411480" y="3739896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国产（新进入者）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057400" y="3739896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2560320" y="3739896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东光子/中航光电，价格低30%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5486400" y="914400"/>
            <a:ext cx="3383280" cy="2377440"/>
          </a:xfrm>
          <a:prstGeom prst="rect">
            <a:avLst/>
          </a:prstGeom>
          <a:solidFill>
            <a:srgbClr val="ED8936">
              <a:alpha val="8000"/>
            </a:srgbClr>
          </a:solidFill>
          <a:ln w="19050">
            <a:solidFill>
              <a:srgbClr val="ED8936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5623560" y="10058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海悟机会窗口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623560" y="1417320"/>
            <a:ext cx="31089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目标定价：</a:t>
            </a:r>
            <a:pPr indent="0" marL="0">
              <a:buNone/>
            </a:pPr>
            <a:r>
              <a:rPr lang="en-US" sz="9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比史陶比尔低 30%</a:t>
            </a:r>
            <a:endParaRPr lang="en-US" sz="950" dirty="0"/>
          </a:p>
          <a:p>
            <a:pPr indent="0" marL="0">
              <a:buNone/>
            </a:pPr>
            <a:r>
              <a:rPr lang="en-US" sz="6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窗口期：</a:t>
            </a:r>
            <a:pPr indent="0" marL="0">
              <a:buNone/>
            </a:pPr>
            <a:r>
              <a:rPr lang="en-US" sz="9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1-2年国产替代黄金期</a:t>
            </a:r>
            <a:endParaRPr lang="en-US" sz="950" dirty="0"/>
          </a:p>
          <a:p>
            <a:pPr indent="0" marL="0">
              <a:buNone/>
            </a:pPr>
            <a:r>
              <a:rPr lang="en-US" sz="6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路径：</a:t>
            </a:r>
            <a:pPr indent="0" marL="0">
              <a:buNone/>
            </a:pPr>
            <a:r>
              <a:rPr lang="en-US" sz="9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OCP认证 → 进入头部OEM供应链</a:t>
            </a:r>
            <a:endParaRPr lang="en-US" sz="950" dirty="0"/>
          </a:p>
          <a:p>
            <a:pPr indent="0" marL="0">
              <a:buNone/>
            </a:pPr>
            <a:r>
              <a:rPr lang="en-US" sz="6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关键客户：</a:t>
            </a:r>
            <a:pPr indent="0" marL="0">
              <a:buNone/>
            </a:pPr>
            <a:r>
              <a:rPr lang="en-US" sz="9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浪潮、宁畅、超聚变</a:t>
            </a:r>
            <a:endParaRPr lang="en-US" sz="950" dirty="0"/>
          </a:p>
          <a:p>
            <a:pPr indent="0" marL="0">
              <a:buNone/>
            </a:pPr>
            <a:r>
              <a:rPr lang="en-US" sz="6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核心优势：</a:t>
            </a:r>
            <a:pPr indent="0" marL="0">
              <a:buNone/>
            </a:pPr>
            <a:r>
              <a:rPr lang="en-US" sz="9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国内服务响应快，成本可控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274320" y="4343400"/>
            <a:ext cx="8595360" cy="50292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D8936"/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457200" y="437083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⚡ 快接头是液冷价值链中技术壁垒最高、国产替代空间最大的环节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57200" y="4919472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来源：OCP Alliance | 行业调研 2026.04 [已核实]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OCP认证：进入全球供应链的门票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3200400" cy="1371600"/>
          </a:xfrm>
          <a:prstGeom prst="rect">
            <a:avLst/>
          </a:prstGeom>
          <a:solidFill>
            <a:srgbClr val="F7FAFC"/>
          </a:solidFill>
          <a:ln w="12700">
            <a:solidFill>
              <a:srgbClr val="2C5282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" y="10058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 Compute Project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132588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2011年由Facebook发起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成员：微软/谷歌/英特尔/浪潮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制定数据中心开放标准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液冷标准：Open液冷V1.0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已认证产品超2000+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657600" y="9144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液冷相关认证类型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1280160"/>
            <a:ext cx="2286000" cy="502920"/>
          </a:xfrm>
          <a:prstGeom prst="rect">
            <a:avLst>
              <a:gd name="adj" fmla="val 7273"/>
            </a:avLst>
          </a:prstGeom>
          <a:solidFill>
            <a:srgbClr val="2C5282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749040" y="132588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 Liquid Cooling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749040" y="1554480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液冷服务器认证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3657600" y="1847088"/>
            <a:ext cx="2286000" cy="502920"/>
          </a:xfrm>
          <a:prstGeom prst="rect">
            <a:avLst>
              <a:gd name="adj" fmla="val 7273"/>
            </a:avLst>
          </a:prstGeom>
          <a:solidFill>
            <a:srgbClr val="2C5282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3749040" y="1892808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ORV2 (Open Rack V2)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749040" y="2121408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机架/电源标准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3657600" y="2414016"/>
            <a:ext cx="2286000" cy="502920"/>
          </a:xfrm>
          <a:prstGeom prst="rect">
            <a:avLst>
              <a:gd name="adj" fmla="val 7273"/>
            </a:avLst>
          </a:prstGeom>
          <a:solidFill>
            <a:srgbClr val="2C5282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3749040" y="2459736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OCP Accepted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749040" y="2688336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已通过兼容性测试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3657600" y="2980944"/>
            <a:ext cx="2286000" cy="502920"/>
          </a:xfrm>
          <a:prstGeom prst="rect">
            <a:avLst>
              <a:gd name="adj" fmla="val 7273"/>
            </a:avLst>
          </a:prstGeom>
          <a:solidFill>
            <a:srgbClr val="2C5282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3749040" y="3026664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OCP Inspired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49040" y="3255264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符合OCP理念但未认证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6126480" y="914400"/>
            <a:ext cx="2743200" cy="2743200"/>
          </a:xfrm>
          <a:prstGeom prst="rect">
            <a:avLst/>
          </a:prstGeom>
          <a:solidFill>
            <a:srgbClr val="ED8936">
              <a:alpha val="8000"/>
            </a:srgbClr>
          </a:solidFill>
          <a:ln w="19050">
            <a:solidFill>
              <a:srgbClr val="ED8936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263640" y="10058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海悟认证路径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309360" y="1371600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629400" y="137160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加入OCP协会（年费$5k-$25k）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309360" y="1691640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629400" y="169164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获取液冷规范文档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309360" y="2011680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629400" y="201168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产品设计符合OCP标准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6309360" y="2331720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629400" y="233172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送检第三方实验室测试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309360" y="2651760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⑤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629400" y="265176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通过兼容性验证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6309360" y="2971800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⑥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629400" y="297180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获得OCP Accepted认证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274320" y="3749040"/>
            <a:ext cx="5669280" cy="548640"/>
          </a:xfrm>
          <a:prstGeom prst="rect">
            <a:avLst/>
          </a:prstGeom>
          <a:solidFill>
            <a:srgbClr val="F7FAFC"/>
          </a:solidFill>
          <a:ln w="12700">
            <a:solidFill>
              <a:srgbClr val="1A365D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411480" y="379476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认证周期：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463040" y="379476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通常 6-18 个月，取决于产品成熟度和实验室排队情况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11480" y="420624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关键认证实验室：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1737360" y="4160520"/>
            <a:ext cx="914400" cy="320040"/>
          </a:xfrm>
          <a:prstGeom prst="roundRect">
            <a:avLst>
              <a:gd name="adj" fmla="val 11429"/>
            </a:avLst>
          </a:prstGeom>
          <a:solidFill>
            <a:srgbClr val="BEE3F8"/>
          </a:solidFill>
          <a:ln/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1737360" y="41605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UL（美国）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2724912" y="4160520"/>
            <a:ext cx="914400" cy="320040"/>
          </a:xfrm>
          <a:prstGeom prst="roundRect">
            <a:avLst>
              <a:gd name="adj" fmla="val 11429"/>
            </a:avLst>
          </a:prstGeom>
          <a:solidFill>
            <a:srgbClr val="BEE3F8"/>
          </a:solidFill>
          <a:ln/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2724912" y="41605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TUV（德国）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3712464" y="4160520"/>
            <a:ext cx="914400" cy="320040"/>
          </a:xfrm>
          <a:prstGeom prst="roundRect">
            <a:avLst>
              <a:gd name="adj" fmla="val 11429"/>
            </a:avLst>
          </a:prstGeom>
          <a:solidFill>
            <a:srgbClr val="BEE3F8"/>
          </a:solidFill>
          <a:ln/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3712464" y="41605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SGS（瑞士）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4700016" y="4160520"/>
            <a:ext cx="914400" cy="320040"/>
          </a:xfrm>
          <a:prstGeom prst="roundRect">
            <a:avLst>
              <a:gd name="adj" fmla="val 11429"/>
            </a:avLst>
          </a:prstGeom>
          <a:solidFill>
            <a:srgbClr val="BEE3F8"/>
          </a:solidFill>
          <a:ln/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4700016" y="41605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国家电网实验室（中国）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液冷系统集成：设计要点与常见误区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系统设计5大要点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280160"/>
            <a:ext cx="457200" cy="457200"/>
          </a:xfrm>
          <a:prstGeom prst="rect">
            <a:avLst/>
          </a:prstGeom>
          <a:solidFill>
            <a:srgbClr val="ED8936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274320" y="1280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28016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冷却液配比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286000" y="12801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EG/PG比例决定冰点与防腐蚀性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74320" y="1810512"/>
            <a:ext cx="457200" cy="457200"/>
          </a:xfrm>
          <a:prstGeom prst="rect">
            <a:avLst/>
          </a:prstGeom>
          <a:solidFill>
            <a:srgbClr val="ED8936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274320" y="18105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1810512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流量均衡设计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286000" y="181051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各支路流量偏差需 &lt; 5%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74320" y="2340864"/>
            <a:ext cx="457200" cy="457200"/>
          </a:xfrm>
          <a:prstGeom prst="rect">
            <a:avLst/>
          </a:prstGeom>
          <a:solidFill>
            <a:srgbClr val="ED8936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274320" y="23408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2960" y="2340864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温度梯度控制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286000" y="2340864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冷板进液温度 18-22°C，出液 &lt; 45°C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74320" y="2871216"/>
            <a:ext cx="457200" cy="457200"/>
          </a:xfrm>
          <a:prstGeom prst="rect">
            <a:avLst/>
          </a:prstGeom>
          <a:solidFill>
            <a:srgbClr val="ED8936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274320" y="28712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" y="2871216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漏液检测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286000" y="2871216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双壁管+传感器双重保护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74320" y="3401568"/>
            <a:ext cx="457200" cy="457200"/>
          </a:xfrm>
          <a:prstGeom prst="rect">
            <a:avLst/>
          </a:prstGeom>
          <a:solidFill>
            <a:srgbClr val="ED8936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274320" y="34015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22960" y="3401568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维护便捷性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286000" y="340156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快接头数量决定维护时间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754880" y="9144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常见设计误区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54880" y="1280160"/>
            <a:ext cx="4114800" cy="777240"/>
          </a:xfrm>
          <a:prstGeom prst="rect">
            <a:avLst/>
          </a:prstGeom>
          <a:solidFill>
            <a:srgbClr val="FFF5F5"/>
          </a:solidFill>
          <a:ln w="9525">
            <a:solidFill>
              <a:srgbClr val="FC8181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4846320" y="135331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流量设计过大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846320" y="164592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按实际需求×1.2倍设计，过大增加泵耗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754880" y="2121408"/>
            <a:ext cx="4114800" cy="777240"/>
          </a:xfrm>
          <a:prstGeom prst="rect">
            <a:avLst/>
          </a:prstGeom>
          <a:solidFill>
            <a:srgbClr val="FFF5F5"/>
          </a:solidFill>
          <a:ln w="9525">
            <a:solidFill>
              <a:srgbClr val="FC8181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4846320" y="219456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忽视冷却液维护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846320" y="248716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每年检测pH值和腐蚀性，及时更换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754880" y="2962656"/>
            <a:ext cx="4114800" cy="777240"/>
          </a:xfrm>
          <a:prstGeom prst="rect">
            <a:avLst/>
          </a:prstGeom>
          <a:solidFill>
            <a:srgbClr val="FFF5F5"/>
          </a:solidFill>
          <a:ln w="9525">
            <a:solidFill>
              <a:srgbClr val="FC8181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4846320" y="303580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快接头数量不足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846320" y="3328416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预留20%备用接头，方便维护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754880" y="3803904"/>
            <a:ext cx="4114800" cy="777240"/>
          </a:xfrm>
          <a:prstGeom prst="rect">
            <a:avLst/>
          </a:prstGeom>
          <a:solidFill>
            <a:srgbClr val="FFF5F5"/>
          </a:solidFill>
          <a:ln w="9525">
            <a:solidFill>
              <a:srgbClr val="FC8181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4846320" y="3877056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忽视气候差异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846320" y="4169664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中东高温需更高CDU容量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全球液冷价值链热力图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8686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各环节壁垒 × 国产化率 × 市场集中度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1463040" cy="41148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274320" y="123444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组件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737360" y="1234440"/>
            <a:ext cx="1645920" cy="411480"/>
          </a:xfrm>
          <a:prstGeom prst="rect">
            <a:avLst/>
          </a:prstGeom>
          <a:solidFill>
            <a:srgbClr val="C53030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737360" y="123444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技术壁垒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383280" y="1234440"/>
            <a:ext cx="1645920" cy="411480"/>
          </a:xfrm>
          <a:prstGeom prst="rect">
            <a:avLst/>
          </a:prstGeom>
          <a:solidFill>
            <a:srgbClr val="2F855A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383280" y="123444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国产化率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029200" y="1234440"/>
            <a:ext cx="1645920" cy="411480"/>
          </a:xfrm>
          <a:prstGeom prst="rect">
            <a:avLst/>
          </a:prstGeom>
          <a:solidFill>
            <a:srgbClr val="2C5282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029200" y="123444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市场集中度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675120" y="1234440"/>
            <a:ext cx="2468880" cy="41148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675120" y="12344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备注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4320" y="1645920"/>
            <a:ext cx="146304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320040" y="1645920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737360" y="1645920"/>
            <a:ext cx="1645920" cy="475488"/>
          </a:xfrm>
          <a:prstGeom prst="rect">
            <a:avLst/>
          </a:prstGeom>
          <a:solidFill>
            <a:srgbClr val="DD6B20">
              <a:alpha val="30000"/>
            </a:srgbClr>
          </a:solidFill>
          <a:ln w="6350">
            <a:solidFill>
              <a:srgbClr val="DD6B20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737360" y="1645920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D6B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5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383280" y="1645920"/>
            <a:ext cx="1645920" cy="475488"/>
          </a:xfrm>
          <a:prstGeom prst="rect">
            <a:avLst/>
          </a:prstGeom>
          <a:solidFill>
            <a:srgbClr val="2F855A">
              <a:alpha val="30000"/>
            </a:srgbClr>
          </a:solidFill>
          <a:ln w="6350">
            <a:solidFill>
              <a:srgbClr val="2F855A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3383280" y="1645920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8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5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029200" y="1645920"/>
            <a:ext cx="1645920" cy="475488"/>
          </a:xfrm>
          <a:prstGeom prst="rect">
            <a:avLst/>
          </a:prstGeom>
          <a:solidFill>
            <a:srgbClr val="DD6B20">
              <a:alpha val="30000"/>
            </a:srgbClr>
          </a:solidFill>
          <a:ln w="6350">
            <a:solidFill>
              <a:srgbClr val="DD6B20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029200" y="1645920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D6B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5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675120" y="1645920"/>
            <a:ext cx="219456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720840" y="1645920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GPU绑定强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74320" y="2139696"/>
            <a:ext cx="146304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320040" y="2139696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737360" y="2139696"/>
            <a:ext cx="1645920" cy="475488"/>
          </a:xfrm>
          <a:prstGeom prst="rect">
            <a:avLst/>
          </a:prstGeom>
          <a:solidFill>
            <a:srgbClr val="C53030">
              <a:alpha val="30000"/>
            </a:srgbClr>
          </a:solidFill>
          <a:ln w="6350">
            <a:solidFill>
              <a:srgbClr val="C53030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1737360" y="2139696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5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383280" y="2139696"/>
            <a:ext cx="1645920" cy="475488"/>
          </a:xfrm>
          <a:prstGeom prst="rect">
            <a:avLst/>
          </a:prstGeom>
          <a:solidFill>
            <a:srgbClr val="DD6B20">
              <a:alpha val="30000"/>
            </a:srgbClr>
          </a:solidFill>
          <a:ln w="6350">
            <a:solidFill>
              <a:srgbClr val="DD6B20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3383280" y="2139696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D6B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5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029200" y="2139696"/>
            <a:ext cx="1645920" cy="475488"/>
          </a:xfrm>
          <a:prstGeom prst="rect">
            <a:avLst/>
          </a:prstGeom>
          <a:solidFill>
            <a:srgbClr val="C53030">
              <a:alpha val="30000"/>
            </a:srgbClr>
          </a:solidFill>
          <a:ln w="6350">
            <a:solidFill>
              <a:srgbClr val="C53030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5029200" y="2139696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5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675120" y="2139696"/>
            <a:ext cx="219456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6720840" y="2139696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史陶比尔垄断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74320" y="2633472"/>
            <a:ext cx="146304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320040" y="2633472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1737360" y="2633472"/>
            <a:ext cx="1645920" cy="475488"/>
          </a:xfrm>
          <a:prstGeom prst="rect">
            <a:avLst/>
          </a:prstGeom>
          <a:solidFill>
            <a:srgbClr val="DD6B20">
              <a:alpha val="30000"/>
            </a:srgbClr>
          </a:solidFill>
          <a:ln w="6350">
            <a:solidFill>
              <a:srgbClr val="DD6B20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1737360" y="2633472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D6B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5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3383280" y="2633472"/>
            <a:ext cx="1645920" cy="475488"/>
          </a:xfrm>
          <a:prstGeom prst="rect">
            <a:avLst/>
          </a:prstGeom>
          <a:solidFill>
            <a:srgbClr val="38A169">
              <a:alpha val="30000"/>
            </a:srgbClr>
          </a:solidFill>
          <a:ln w="6350">
            <a:solidFill>
              <a:srgbClr val="38A169"/>
            </a:solidFill>
            <a:prstDash val="solid"/>
          </a:ln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3383280" y="2633472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8A1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5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5029200" y="2633472"/>
            <a:ext cx="1645920" cy="475488"/>
          </a:xfrm>
          <a:prstGeom prst="rect">
            <a:avLst/>
          </a:prstGeom>
          <a:solidFill>
            <a:srgbClr val="D69E2E">
              <a:alpha val="30000"/>
            </a:srgbClr>
          </a:solidFill>
          <a:ln w="6350">
            <a:solidFill>
              <a:srgbClr val="D69E2E"/>
            </a:solidFill>
            <a:prstDash val="solid"/>
          </a:ln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5029200" y="2633472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69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5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6675120" y="2633472"/>
            <a:ext cx="219456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6720840" y="2633472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国内外竞争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274320" y="3127248"/>
            <a:ext cx="146304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6" name="Text 44"/>
          <p:cNvSpPr/>
          <p:nvPr/>
        </p:nvSpPr>
        <p:spPr>
          <a:xfrm>
            <a:off x="320040" y="3127248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Manifold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1737360" y="3127248"/>
            <a:ext cx="1645920" cy="475488"/>
          </a:xfrm>
          <a:prstGeom prst="rect">
            <a:avLst/>
          </a:prstGeom>
          <a:solidFill>
            <a:srgbClr val="38A169">
              <a:alpha val="30000"/>
            </a:srgbClr>
          </a:solidFill>
          <a:ln w="6350">
            <a:solidFill>
              <a:srgbClr val="38A169"/>
            </a:solidFill>
            <a:prstDash val="solid"/>
          </a:ln>
        </p:spPr>
        <p:txBody>
          <a:bodyPr/>
          <a:p/>
        </p:txBody>
      </p:sp>
      <p:sp>
        <p:nvSpPr>
          <p:cNvPr id="48" name="Text 46"/>
          <p:cNvSpPr/>
          <p:nvPr/>
        </p:nvSpPr>
        <p:spPr>
          <a:xfrm>
            <a:off x="1737360" y="3127248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8A1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5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3383280" y="3127248"/>
            <a:ext cx="1645920" cy="475488"/>
          </a:xfrm>
          <a:prstGeom prst="rect">
            <a:avLst/>
          </a:prstGeom>
          <a:solidFill>
            <a:srgbClr val="38A169">
              <a:alpha val="30000"/>
            </a:srgbClr>
          </a:solidFill>
          <a:ln w="6350">
            <a:solidFill>
              <a:srgbClr val="38A169"/>
            </a:solidFill>
            <a:prstDash val="solid"/>
          </a:ln>
        </p:spPr>
        <p:txBody>
          <a:bodyPr/>
          <a:p/>
        </p:txBody>
      </p:sp>
      <p:sp>
        <p:nvSpPr>
          <p:cNvPr id="50" name="Text 48"/>
          <p:cNvSpPr/>
          <p:nvPr/>
        </p:nvSpPr>
        <p:spPr>
          <a:xfrm>
            <a:off x="3383280" y="3127248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8A1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5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5029200" y="3127248"/>
            <a:ext cx="1645920" cy="475488"/>
          </a:xfrm>
          <a:prstGeom prst="rect">
            <a:avLst/>
          </a:prstGeom>
          <a:solidFill>
            <a:srgbClr val="38A169">
              <a:alpha val="30000"/>
            </a:srgbClr>
          </a:solidFill>
          <a:ln w="6350">
            <a:solidFill>
              <a:srgbClr val="38A169"/>
            </a:solidFill>
            <a:prstDash val="solid"/>
          </a:ln>
        </p:spPr>
        <p:txBody>
          <a:bodyPr/>
          <a:p/>
        </p:txBody>
      </p:sp>
      <p:sp>
        <p:nvSpPr>
          <p:cNvPr id="52" name="Text 50"/>
          <p:cNvSpPr/>
          <p:nvPr/>
        </p:nvSpPr>
        <p:spPr>
          <a:xfrm>
            <a:off x="5029200" y="3127248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8A1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5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6675120" y="3127248"/>
            <a:ext cx="219456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4" name="Text 52"/>
          <p:cNvSpPr/>
          <p:nvPr/>
        </p:nvSpPr>
        <p:spPr>
          <a:xfrm>
            <a:off x="6720840" y="3127248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门槛较低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274320" y="3621024"/>
            <a:ext cx="146304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6" name="Text 54"/>
          <p:cNvSpPr/>
          <p:nvPr/>
        </p:nvSpPr>
        <p:spPr>
          <a:xfrm>
            <a:off x="320040" y="3621024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冷却液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1737360" y="3621024"/>
            <a:ext cx="1645920" cy="475488"/>
          </a:xfrm>
          <a:prstGeom prst="rect">
            <a:avLst/>
          </a:prstGeom>
          <a:solidFill>
            <a:srgbClr val="D69E2E">
              <a:alpha val="30000"/>
            </a:srgbClr>
          </a:solidFill>
          <a:ln w="6350">
            <a:solidFill>
              <a:srgbClr val="D69E2E"/>
            </a:solidFill>
            <a:prstDash val="solid"/>
          </a:ln>
        </p:spPr>
        <p:txBody>
          <a:bodyPr/>
          <a:p/>
        </p:txBody>
      </p:sp>
      <p:sp>
        <p:nvSpPr>
          <p:cNvPr id="58" name="Text 56"/>
          <p:cNvSpPr/>
          <p:nvPr/>
        </p:nvSpPr>
        <p:spPr>
          <a:xfrm>
            <a:off x="1737360" y="3621024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69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5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3383280" y="3621024"/>
            <a:ext cx="1645920" cy="475488"/>
          </a:xfrm>
          <a:prstGeom prst="rect">
            <a:avLst/>
          </a:prstGeom>
          <a:solidFill>
            <a:srgbClr val="D69E2E">
              <a:alpha val="30000"/>
            </a:srgbClr>
          </a:solidFill>
          <a:ln w="6350">
            <a:solidFill>
              <a:srgbClr val="D69E2E"/>
            </a:solidFill>
            <a:prstDash val="solid"/>
          </a:ln>
        </p:spPr>
        <p:txBody>
          <a:bodyPr/>
          <a:p/>
        </p:txBody>
      </p:sp>
      <p:sp>
        <p:nvSpPr>
          <p:cNvPr id="60" name="Text 58"/>
          <p:cNvSpPr/>
          <p:nvPr/>
        </p:nvSpPr>
        <p:spPr>
          <a:xfrm>
            <a:off x="3383280" y="3621024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69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5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5029200" y="3621024"/>
            <a:ext cx="1645920" cy="475488"/>
          </a:xfrm>
          <a:prstGeom prst="rect">
            <a:avLst/>
          </a:prstGeom>
          <a:solidFill>
            <a:srgbClr val="D69E2E">
              <a:alpha val="30000"/>
            </a:srgbClr>
          </a:solidFill>
          <a:ln w="6350">
            <a:solidFill>
              <a:srgbClr val="D69E2E"/>
            </a:solidFill>
            <a:prstDash val="solid"/>
          </a:ln>
        </p:spPr>
        <p:txBody>
          <a:bodyPr/>
          <a:p/>
        </p:txBody>
      </p:sp>
      <p:sp>
        <p:nvSpPr>
          <p:cNvPr id="62" name="Text 60"/>
          <p:cNvSpPr/>
          <p:nvPr/>
        </p:nvSpPr>
        <p:spPr>
          <a:xfrm>
            <a:off x="5029200" y="3621024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69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5</a:t>
            </a:r>
            <a:endParaRPr lang="en-US" sz="1200" dirty="0"/>
          </a:p>
        </p:txBody>
      </p:sp>
      <p:sp>
        <p:nvSpPr>
          <p:cNvPr id="63" name="Shape 61"/>
          <p:cNvSpPr/>
          <p:nvPr/>
        </p:nvSpPr>
        <p:spPr>
          <a:xfrm>
            <a:off x="6675120" y="3621024"/>
            <a:ext cx="219456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64" name="Text 62"/>
          <p:cNvSpPr/>
          <p:nvPr/>
        </p:nvSpPr>
        <p:spPr>
          <a:xfrm>
            <a:off x="6720840" y="3621024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化工企业跨界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274320" y="4114800"/>
            <a:ext cx="146304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66" name="Text 64"/>
          <p:cNvSpPr/>
          <p:nvPr/>
        </p:nvSpPr>
        <p:spPr>
          <a:xfrm>
            <a:off x="320040" y="4114800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管路/阀门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1737360" y="4114800"/>
            <a:ext cx="1645920" cy="475488"/>
          </a:xfrm>
          <a:prstGeom prst="rect">
            <a:avLst/>
          </a:prstGeom>
          <a:solidFill>
            <a:srgbClr val="D69E2E">
              <a:alpha val="30000"/>
            </a:srgbClr>
          </a:solidFill>
          <a:ln w="6350">
            <a:solidFill>
              <a:srgbClr val="D69E2E"/>
            </a:solidFill>
            <a:prstDash val="solid"/>
          </a:ln>
        </p:spPr>
        <p:txBody>
          <a:bodyPr/>
          <a:p/>
        </p:txBody>
      </p:sp>
      <p:sp>
        <p:nvSpPr>
          <p:cNvPr id="68" name="Text 66"/>
          <p:cNvSpPr/>
          <p:nvPr/>
        </p:nvSpPr>
        <p:spPr>
          <a:xfrm>
            <a:off x="1737360" y="4114800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69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5</a:t>
            </a:r>
            <a:endParaRPr lang="en-US" sz="1200" dirty="0"/>
          </a:p>
        </p:txBody>
      </p:sp>
      <p:sp>
        <p:nvSpPr>
          <p:cNvPr id="69" name="Shape 67"/>
          <p:cNvSpPr/>
          <p:nvPr/>
        </p:nvSpPr>
        <p:spPr>
          <a:xfrm>
            <a:off x="3383280" y="4114800"/>
            <a:ext cx="1645920" cy="475488"/>
          </a:xfrm>
          <a:prstGeom prst="rect">
            <a:avLst/>
          </a:prstGeom>
          <a:solidFill>
            <a:srgbClr val="2F855A">
              <a:alpha val="30000"/>
            </a:srgbClr>
          </a:solidFill>
          <a:ln w="6350">
            <a:solidFill>
              <a:srgbClr val="2F855A"/>
            </a:solidFill>
            <a:prstDash val="solid"/>
          </a:ln>
        </p:spPr>
        <p:txBody>
          <a:bodyPr/>
          <a:p/>
        </p:txBody>
      </p:sp>
      <p:sp>
        <p:nvSpPr>
          <p:cNvPr id="70" name="Text 68"/>
          <p:cNvSpPr/>
          <p:nvPr/>
        </p:nvSpPr>
        <p:spPr>
          <a:xfrm>
            <a:off x="3383280" y="4114800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8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5</a:t>
            </a:r>
            <a:endParaRPr lang="en-US" sz="1200" dirty="0"/>
          </a:p>
        </p:txBody>
      </p:sp>
      <p:sp>
        <p:nvSpPr>
          <p:cNvPr id="71" name="Shape 69"/>
          <p:cNvSpPr/>
          <p:nvPr/>
        </p:nvSpPr>
        <p:spPr>
          <a:xfrm>
            <a:off x="5029200" y="4114800"/>
            <a:ext cx="1645920" cy="475488"/>
          </a:xfrm>
          <a:prstGeom prst="rect">
            <a:avLst/>
          </a:prstGeom>
          <a:solidFill>
            <a:srgbClr val="38A169">
              <a:alpha val="30000"/>
            </a:srgbClr>
          </a:solidFill>
          <a:ln w="6350">
            <a:solidFill>
              <a:srgbClr val="38A169"/>
            </a:solidFill>
            <a:prstDash val="solid"/>
          </a:ln>
        </p:spPr>
        <p:txBody>
          <a:bodyPr/>
          <a:p/>
        </p:txBody>
      </p:sp>
      <p:sp>
        <p:nvSpPr>
          <p:cNvPr id="72" name="Text 70"/>
          <p:cNvSpPr/>
          <p:nvPr/>
        </p:nvSpPr>
        <p:spPr>
          <a:xfrm>
            <a:off x="5029200" y="4114800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8A1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5</a:t>
            </a:r>
            <a:endParaRPr lang="en-US" sz="1200" dirty="0"/>
          </a:p>
        </p:txBody>
      </p:sp>
      <p:sp>
        <p:nvSpPr>
          <p:cNvPr id="73" name="Shape 71"/>
          <p:cNvSpPr/>
          <p:nvPr/>
        </p:nvSpPr>
        <p:spPr>
          <a:xfrm>
            <a:off x="6675120" y="4114800"/>
            <a:ext cx="219456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74" name="Text 72"/>
          <p:cNvSpPr/>
          <p:nvPr/>
        </p:nvSpPr>
        <p:spPr>
          <a:xfrm>
            <a:off x="6720840" y="4114800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国内供应链完整</a:t>
            </a:r>
            <a:endParaRPr lang="en-US" sz="850" dirty="0"/>
          </a:p>
        </p:txBody>
      </p:sp>
      <p:sp>
        <p:nvSpPr>
          <p:cNvPr id="75" name="Text 73"/>
          <p:cNvSpPr/>
          <p:nvPr/>
        </p:nvSpPr>
        <p:spPr>
          <a:xfrm>
            <a:off x="274320" y="470916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热力说明：深红色=最高/红色=较高/橙色=中等/绿色=较低/深绿=最低</a:t>
            </a:r>
            <a:endParaRPr lang="en-US" sz="700" dirty="0"/>
          </a:p>
        </p:txBody>
      </p:sp>
      <p:sp>
        <p:nvSpPr>
          <p:cNvPr id="76" name="Shape 74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77" name="Text 75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液冷产业链上游：冷却液与氟化液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三类冷却液对比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280160"/>
            <a:ext cx="5029200" cy="960120"/>
          </a:xfrm>
          <a:prstGeom prst="rect">
            <a:avLst/>
          </a:prstGeom>
          <a:solidFill>
            <a:srgbClr val="F7FAFC"/>
          </a:solidFill>
          <a:ln w="9525">
            <a:solidFill>
              <a:srgbClr val="2C5282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274320" y="1280160"/>
            <a:ext cx="1828800" cy="96012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20040" y="137160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乙二醇 EG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20040" y="173736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配比：15-30%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194560" y="138988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优势：成本低，来源广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2194560" y="164592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劣势：腐蚀性，需添加缓蚀剂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194560" y="1901952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用途：中低功率数据中心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74320" y="2304288"/>
            <a:ext cx="5029200" cy="960120"/>
          </a:xfrm>
          <a:prstGeom prst="rect">
            <a:avLst/>
          </a:prstGeom>
          <a:solidFill>
            <a:srgbClr val="F7FAFC"/>
          </a:solidFill>
          <a:ln w="9525">
            <a:solidFill>
              <a:srgbClr val="2C5282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274320" y="2304288"/>
            <a:ext cx="1828800" cy="96012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320040" y="239572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丙二醇 PG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20040" y="2761488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配比：20-40%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194560" y="2414016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优势：食品级安全，低毒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194560" y="2670048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劣势：黏度大，流动性差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2194560" y="292608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用途：温控要求高场景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274320" y="3328416"/>
            <a:ext cx="5029200" cy="960120"/>
          </a:xfrm>
          <a:prstGeom prst="rect">
            <a:avLst/>
          </a:prstGeom>
          <a:solidFill>
            <a:srgbClr val="F7FAFC"/>
          </a:solidFill>
          <a:ln w="9525">
            <a:solidFill>
              <a:srgbClr val="2C5282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274320" y="3328416"/>
            <a:ext cx="1828800" cy="96012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320040" y="3419856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氟化液（如3M Novec）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20040" y="3785616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配比：100%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194560" y="3438144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优势：绝缘性好，沸点适中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2194560" y="3694176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劣势：成本高，进口依赖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2194560" y="3950208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用途：高功率/高功率密度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486400" y="9144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主要供应商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86400" y="1280160"/>
            <a:ext cx="33832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5577840" y="13258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3M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492240" y="132588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Novec 7100/7200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7863840" y="132588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美国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5577840" y="1554480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氟化液全球垄断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5486400" y="1828800"/>
            <a:ext cx="3383280" cy="50292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5577840" y="18745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Solvay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492240" y="187452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Galden系列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7863840" y="187452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比利时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5577840" y="2103120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高沸点氟化液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5486400" y="2377440"/>
            <a:ext cx="33832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5577840" y="24231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Chemours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492240" y="242316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Opteon系列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7863840" y="242316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美国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5577840" y="2651760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低成本氟化液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5486400" y="2926080"/>
            <a:ext cx="33832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5577840" y="29718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陶氏化学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492240" y="29718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EG/PG溶液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7863840" y="29718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美国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5577840" y="3200400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传统冷却液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5486400" y="3474720"/>
            <a:ext cx="33832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8" name="Text 46"/>
          <p:cNvSpPr/>
          <p:nvPr/>
        </p:nvSpPr>
        <p:spPr>
          <a:xfrm>
            <a:off x="5577840" y="35204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浙江巨化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492240" y="352044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氟化液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7863840" y="35204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5577840" y="3749040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国产替代进行中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5486400" y="4023360"/>
            <a:ext cx="33832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3" name="Text 51"/>
          <p:cNvSpPr/>
          <p:nvPr/>
        </p:nvSpPr>
        <p:spPr>
          <a:xfrm>
            <a:off x="5577840" y="40690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山东东岳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6492240" y="406908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氟化液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7863840" y="406908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5577840" y="4297680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国产替代进行中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274320" y="4526280"/>
            <a:ext cx="8595360" cy="457200"/>
          </a:xfrm>
          <a:prstGeom prst="rect">
            <a:avLst/>
          </a:prstGeom>
          <a:solidFill>
            <a:srgbClr val="FFF7ED"/>
          </a:solidFill>
          <a:ln w="12700">
            <a:solidFill>
              <a:srgbClr val="ED8936"/>
            </a:solidFill>
            <a:prstDash val="solid"/>
          </a:ln>
        </p:spPr>
        <p:txBody>
          <a:bodyPr/>
          <a:p/>
        </p:txBody>
      </p:sp>
      <p:sp>
        <p:nvSpPr>
          <p:cNvPr id="58" name="Text 56"/>
          <p:cNvSpPr/>
          <p:nvPr/>
        </p:nvSpPr>
        <p:spPr>
          <a:xfrm>
            <a:off x="457200" y="455371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氟化液是下一个国产替代重点方向：3M减产导致供应紧张，国产厂商加速扩产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60" name="Text 58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竞争态势总结：海悟竞争优势矩阵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9144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SWOT 分析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2103120" cy="320040"/>
          </a:xfrm>
          <a:prstGeom prst="rect">
            <a:avLst/>
          </a:prstGeom>
          <a:solidFill>
            <a:srgbClr val="2F855A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274320" y="123444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S优势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1554480"/>
            <a:ext cx="2103120" cy="1417320"/>
          </a:xfrm>
          <a:prstGeom prst="rect">
            <a:avLst/>
          </a:prstGeom>
          <a:solidFill>
            <a:srgbClr val="F0FFF4"/>
          </a:solidFill>
          <a:ln w="12700">
            <a:solidFill>
              <a:srgbClr val="2F855A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65760" y="1627632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专注数据中心快接头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65760" y="1947672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本地化服务响应快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2267712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成本比史陶比尔低30%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65760" y="2587752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国内供应链完整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468880" y="1234440"/>
            <a:ext cx="2103120" cy="320040"/>
          </a:xfrm>
          <a:prstGeom prst="rect">
            <a:avLst/>
          </a:prstGeom>
          <a:solidFill>
            <a:srgbClr val="C53030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2468880" y="123444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W劣势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468880" y="1554480"/>
            <a:ext cx="2103120" cy="1417320"/>
          </a:xfrm>
          <a:prstGeom prst="rect">
            <a:avLst/>
          </a:prstGeom>
          <a:solidFill>
            <a:srgbClr val="FFF5F5"/>
          </a:solidFill>
          <a:ln w="12700">
            <a:solidFill>
              <a:srgbClr val="C53030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2560320" y="1627632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品牌知名度低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560320" y="1947672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OCP认证尚未完成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560320" y="2267712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量产经验有限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560320" y="2587752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无国际客户背书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663440" y="1234440"/>
            <a:ext cx="2103120" cy="320040"/>
          </a:xfrm>
          <a:prstGeom prst="rect">
            <a:avLst/>
          </a:prstGeom>
          <a:solidFill>
            <a:srgbClr val="2C5282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4663440" y="123444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O机会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63440" y="1554480"/>
            <a:ext cx="2103120" cy="1417320"/>
          </a:xfrm>
          <a:prstGeom prst="rect">
            <a:avLst/>
          </a:prstGeom>
          <a:solidFill>
            <a:srgbClr val="EBF8FF"/>
          </a:solidFill>
          <a:ln w="12700">
            <a:solidFill>
              <a:srgbClr val="2C5282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4754880" y="1627632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史陶比尔交货慢，缺口大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754880" y="1947672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国产替代政策支持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754880" y="2267712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AI服务器爆发，快接头需求激增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754880" y="2587752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东南亚/中东市场空白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6858000" y="1234440"/>
            <a:ext cx="2103120" cy="320040"/>
          </a:xfrm>
          <a:prstGeom prst="rect">
            <a:avLst/>
          </a:prstGeom>
          <a:solidFill>
            <a:srgbClr val="ED8936"/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6858000" y="123444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T威胁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858000" y="1554480"/>
            <a:ext cx="2103120" cy="1417320"/>
          </a:xfrm>
          <a:prstGeom prst="rect">
            <a:avLst/>
          </a:prstGeom>
          <a:solidFill>
            <a:srgbClr val="FFFAF0"/>
          </a:solidFill>
          <a:ln w="12700">
            <a:solidFill>
              <a:srgbClr val="ED8936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6949440" y="1627632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史陶比尔加速布局中国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949440" y="1947672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中航光电可能切入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949440" y="2267712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价格战风险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949440" y="2587752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技术标准被国外垄断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274320" y="3154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海悟竞争优势来源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74320" y="3474720"/>
            <a:ext cx="73152" cy="320040"/>
          </a:xfrm>
          <a:prstGeom prst="rect">
            <a:avLst/>
          </a:prstGeom>
          <a:solidFill>
            <a:srgbClr val="ED8936"/>
          </a:solidFill>
          <a:ln/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457200" y="34747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技术差异化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874520" y="34747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专攻数据中心场景快接头，不做通用连接器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274320" y="3840480"/>
            <a:ext cx="73152" cy="320040"/>
          </a:xfrm>
          <a:prstGeom prst="rect">
            <a:avLst/>
          </a:prstGeom>
          <a:solidFill>
            <a:srgbClr val="ED8936"/>
          </a:solidFill>
          <a:ln/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457200" y="38404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成本优势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874520" y="38404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国内制造成本+规模化后比史陶比尔低30%+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274320" y="4206240"/>
            <a:ext cx="73152" cy="320040"/>
          </a:xfrm>
          <a:prstGeom prst="rect">
            <a:avLst/>
          </a:prstGeom>
          <a:solidFill>
            <a:srgbClr val="ED8936"/>
          </a:solidFill>
          <a:ln/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457200" y="42062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服务差异化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874520" y="42062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国内24小时响应，定制化48小时出样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274320" y="4572000"/>
            <a:ext cx="73152" cy="320040"/>
          </a:xfrm>
          <a:prstGeom prst="rect">
            <a:avLst/>
          </a:prstGeom>
          <a:solidFill>
            <a:srgbClr val="ED8936"/>
          </a:solidFill>
          <a:ln/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457200" y="45720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战略聚焦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874520" y="45720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只做快接头一件事，做到极致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4846320" y="31546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优先目标客户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4846320" y="3474720"/>
            <a:ext cx="4023360" cy="320040"/>
          </a:xfrm>
          <a:prstGeom prst="rect">
            <a:avLst/>
          </a:prstGeom>
          <a:solidFill>
            <a:srgbClr val="EDF2F7"/>
          </a:solidFill>
          <a:ln w="6350">
            <a:solidFill>
              <a:srgbClr val="2C5282"/>
            </a:solidFill>
            <a:prstDash val="solid"/>
          </a:ln>
        </p:spPr>
        <p:txBody>
          <a:bodyPr/>
          <a:p/>
        </p:txBody>
      </p:sp>
      <p:sp>
        <p:nvSpPr>
          <p:cNvPr id="48" name="Text 46"/>
          <p:cNvSpPr/>
          <p:nvPr/>
        </p:nvSpPr>
        <p:spPr>
          <a:xfrm>
            <a:off x="4937760" y="352044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浪潮信息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989320" y="352044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★★★★★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6858000" y="352044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规模最大，快接头需求最大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4846320" y="3831336"/>
            <a:ext cx="4023360" cy="320040"/>
          </a:xfrm>
          <a:prstGeom prst="rect">
            <a:avLst/>
          </a:prstGeom>
          <a:solidFill>
            <a:srgbClr val="EDF2F7"/>
          </a:solidFill>
          <a:ln w="6350">
            <a:solidFill>
              <a:srgbClr val="2C5282"/>
            </a:solidFill>
            <a:prstDash val="solid"/>
          </a:ln>
        </p:spPr>
        <p:txBody>
          <a:bodyPr/>
          <a:p/>
        </p:txBody>
      </p:sp>
      <p:sp>
        <p:nvSpPr>
          <p:cNvPr id="52" name="Text 50"/>
          <p:cNvSpPr/>
          <p:nvPr/>
        </p:nvSpPr>
        <p:spPr>
          <a:xfrm>
            <a:off x="4937760" y="3877056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宁畅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5989320" y="3877056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★★★★☆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6858000" y="3877056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定制需求多，史陶比尔服务差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4846320" y="4187952"/>
            <a:ext cx="4023360" cy="320040"/>
          </a:xfrm>
          <a:prstGeom prst="rect">
            <a:avLst/>
          </a:prstGeom>
          <a:solidFill>
            <a:srgbClr val="EDF2F7"/>
          </a:solidFill>
          <a:ln w="6350">
            <a:solidFill>
              <a:srgbClr val="2C5282"/>
            </a:solidFill>
            <a:prstDash val="solid"/>
          </a:ln>
        </p:spPr>
        <p:txBody>
          <a:bodyPr/>
          <a:p/>
        </p:txBody>
      </p:sp>
      <p:sp>
        <p:nvSpPr>
          <p:cNvPr id="56" name="Text 54"/>
          <p:cNvSpPr/>
          <p:nvPr/>
        </p:nvSpPr>
        <p:spPr>
          <a:xfrm>
            <a:off x="4937760" y="4233672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超聚变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5989320" y="4233672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★★★★☆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6858000" y="4233672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昇腾生态，出货量大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4846320" y="4544568"/>
            <a:ext cx="4023360" cy="320040"/>
          </a:xfrm>
          <a:prstGeom prst="rect">
            <a:avLst/>
          </a:prstGeom>
          <a:solidFill>
            <a:srgbClr val="EDF2F7"/>
          </a:solidFill>
          <a:ln w="6350">
            <a:solidFill>
              <a:srgbClr val="2C5282"/>
            </a:solidFill>
            <a:prstDash val="solid"/>
          </a:ln>
        </p:spPr>
        <p:txBody>
          <a:bodyPr/>
          <a:p/>
        </p:txBody>
      </p:sp>
      <p:sp>
        <p:nvSpPr>
          <p:cNvPr id="60" name="Text 58"/>
          <p:cNvSpPr/>
          <p:nvPr/>
        </p:nvSpPr>
        <p:spPr>
          <a:xfrm>
            <a:off x="4937760" y="4590288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Vertiv中国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5989320" y="4590288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★★★☆☆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6858000" y="4590288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CDU配套快接头，间接供应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4846320" y="4901184"/>
            <a:ext cx="4023360" cy="320040"/>
          </a:xfrm>
          <a:prstGeom prst="rect">
            <a:avLst/>
          </a:prstGeom>
          <a:solidFill>
            <a:srgbClr val="EDF2F7"/>
          </a:solidFill>
          <a:ln w="6350">
            <a:solidFill>
              <a:srgbClr val="2C5282"/>
            </a:solidFill>
            <a:prstDash val="solid"/>
          </a:ln>
        </p:spPr>
        <p:txBody>
          <a:bodyPr/>
          <a:p/>
        </p:txBody>
      </p:sp>
      <p:sp>
        <p:nvSpPr>
          <p:cNvPr id="64" name="Text 62"/>
          <p:cNvSpPr/>
          <p:nvPr/>
        </p:nvSpPr>
        <p:spPr>
          <a:xfrm>
            <a:off x="4937760" y="4946904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英维克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5989320" y="4946904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★★★☆☆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6858000" y="4946904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配套合作，非竞争</a:t>
            </a:r>
            <a:endParaRPr lang="en-US" sz="750" dirty="0"/>
          </a:p>
        </p:txBody>
      </p:sp>
      <p:sp>
        <p:nvSpPr>
          <p:cNvPr id="67" name="Shape 65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68" name="Text 66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全球液冷组件市场份额拆解（2025年估算）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9144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快接头（全球市场约$2.5亿/年）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280160"/>
            <a:ext cx="2962656" cy="45720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274320" y="1783080"/>
            <a:ext cx="323697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史陶比尔 72%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328416" y="1280160"/>
            <a:ext cx="534924" cy="457200"/>
          </a:xfrm>
          <a:prstGeom prst="rect">
            <a:avLst/>
          </a:prstGeom>
          <a:solidFill>
            <a:srgbClr val="2C5282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328416" y="1783080"/>
            <a:ext cx="8092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卡锢（Kaichuang） 13%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954780" y="1280160"/>
            <a:ext cx="329184" cy="457200"/>
          </a:xfrm>
          <a:prstGeom prst="rect">
            <a:avLst/>
          </a:prstGeom>
          <a:solidFill>
            <a:srgbClr val="ED8936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954780" y="1783080"/>
            <a:ext cx="6035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国产其他 8%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375404" y="1280160"/>
            <a:ext cx="288036" cy="457200"/>
          </a:xfrm>
          <a:prstGeom prst="rect">
            <a:avLst/>
          </a:prstGeom>
          <a:solidFill>
            <a:srgbClr val="999999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375404" y="1783080"/>
            <a:ext cx="5623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其他国际 7%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74320" y="210312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海悟可触及空间（国产替代）：~15% = $3750万/年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754880" y="9144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冷板（全球市场约$18亿/年）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0" y="1280160"/>
            <a:ext cx="1152144" cy="45720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4754880" y="1783080"/>
            <a:ext cx="133502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AVC/Legacy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5998464" y="1280160"/>
            <a:ext cx="905256" cy="457200"/>
          </a:xfrm>
          <a:prstGeom prst="rect">
            <a:avLst/>
          </a:prstGeom>
          <a:solidFill>
            <a:srgbClr val="2C5282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5998464" y="1783080"/>
            <a:ext cx="1088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英维克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6995160" y="1280160"/>
            <a:ext cx="493776" cy="457200"/>
          </a:xfrm>
          <a:prstGeom prst="rect">
            <a:avLst/>
          </a:prstGeom>
          <a:solidFill>
            <a:srgbClr val="ED8936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995160" y="1783080"/>
            <a:ext cx="6766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申菱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7580376" y="1280160"/>
            <a:ext cx="946404" cy="457200"/>
          </a:xfrm>
          <a:prstGeom prst="rect">
            <a:avLst/>
          </a:prstGeom>
          <a:solidFill>
            <a:srgbClr val="2F855A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7580376" y="1783080"/>
            <a:ext cx="11292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高标/其他国内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8618220" y="1280160"/>
            <a:ext cx="617220" cy="457200"/>
          </a:xfrm>
          <a:prstGeom prst="rect">
            <a:avLst/>
          </a:prstGeom>
          <a:solidFill>
            <a:srgbClr val="999999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8618220" y="1783080"/>
            <a:ext cx="8001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其他国际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4754880" y="210312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海悟不建议切入冷板（壁垒高且格局分散）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74320" y="24688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CDU（全球市场约$32亿/年）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74320" y="2834640"/>
            <a:ext cx="1234440" cy="45720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274320" y="3337560"/>
            <a:ext cx="1417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Vertiv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1600200" y="2834640"/>
            <a:ext cx="1028700" cy="457200"/>
          </a:xfrm>
          <a:prstGeom prst="rect">
            <a:avLst/>
          </a:prstGeom>
          <a:solidFill>
            <a:srgbClr val="2C5282"/>
          </a:solidFill>
          <a:ln/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1600200" y="3337560"/>
            <a:ext cx="12115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英维克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2720340" y="2834640"/>
            <a:ext cx="617220" cy="457200"/>
          </a:xfrm>
          <a:prstGeom prst="rect">
            <a:avLst/>
          </a:prstGeom>
          <a:solidFill>
            <a:srgbClr val="ED8936"/>
          </a:solidFill>
          <a:ln/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2720340" y="3337560"/>
            <a:ext cx="8001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Schneider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3429000" y="2834640"/>
            <a:ext cx="740664" cy="457200"/>
          </a:xfrm>
          <a:prstGeom prst="rect">
            <a:avLst/>
          </a:prstGeom>
          <a:solidFill>
            <a:srgbClr val="2F855A"/>
          </a:solidFill>
          <a:ln/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3429000" y="3337560"/>
            <a:ext cx="9235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申菱/其他国内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261104" y="2834640"/>
            <a:ext cx="493776" cy="457200"/>
          </a:xfrm>
          <a:prstGeom prst="rect">
            <a:avLst/>
          </a:prstGeom>
          <a:solidFill>
            <a:srgbClr val="999999"/>
          </a:solidFill>
          <a:ln/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4261104" y="3337560"/>
            <a:ext cx="6766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其他国际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274320" y="361188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CDU格局分散，海悟可配套管路/阀门（非核心 CDU）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754880" y="2468880"/>
            <a:ext cx="4114800" cy="1371600"/>
          </a:xfrm>
          <a:prstGeom prst="rect">
            <a:avLst/>
          </a:prstGeom>
          <a:solidFill>
            <a:srgbClr val="ED8936">
              <a:alpha val="8000"/>
            </a:srgbClr>
          </a:solidFill>
          <a:ln w="19050">
            <a:solidFill>
              <a:srgbClr val="ED8936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4892040" y="25603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快接头国产替代空间（海悟主战场）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892040" y="288036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全球快接头年市场：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$2.5亿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史陶比尔垄断：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72% = $1.8亿（美元）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卡锢（美国）份额：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13% = $3250万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国产替代空间：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~15% = $3750万/年（美元）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海悟目标（5年）：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拿下国产空间30% = $1125万/年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57200" y="4919472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来源：行业调研 2026.04 | 估算仅供参考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</a:t>
            </a:r>
            <a:endParaRPr lang="en-US" sz="1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>
            <a:pPr>
              <a:defRPr sz="3600" b="1"/>
            </a:pPr>
            <a:r>
              <a:t>肆 · 看自己</a:t>
            </a:r>
          </a:p>
          <a:p>
            <a:pPr>
              <a:defRPr sz="1400"/>
            </a:pPr>
            <a:r>
              <a:t>海悟能力与定位</a:t>
            </a:r>
            <a:br/>
            <a:br/>
            <a:r>
              <a:t>四组件深度分析 · TAM/SAM/SOM · 战略核心</a:t>
            </a:r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液冷四组件：四个独立业务，能力匹配决定切入路径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8595360" cy="502920"/>
          </a:xfrm>
          <a:prstGeom prst="rect">
            <a:avLst/>
          </a:prstGeom>
          <a:solidFill>
            <a:srgbClr val="ED8936">
              <a:alpha val="8000"/>
            </a:srgbClr>
          </a:solidFill>
          <a:ln w="19050">
            <a:solidFill>
              <a:srgbClr val="ED8936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57200" y="88696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关键洞察：四个组件是四个独立业务，不是强耦合的——快接头≠唯一核心，冷板/CDU/Manifold各有独立商业逻辑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1463040"/>
            <a:ext cx="868680" cy="384048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74320" y="1463040"/>
            <a:ext cx="868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组件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143000" y="1463040"/>
            <a:ext cx="685800" cy="384048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143000" y="1463040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全球市场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828800" y="1463040"/>
            <a:ext cx="640080" cy="384048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828800" y="1463040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技术壁垒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468880" y="1463040"/>
            <a:ext cx="685800" cy="384048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2468880" y="1463040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国产化率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154680" y="1463040"/>
            <a:ext cx="1463040" cy="384048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3154680" y="1463040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核心能力要求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617720" y="1463040"/>
            <a:ext cx="914400" cy="384048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4617720" y="1463040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海悟能力匹配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532120" y="1463040"/>
            <a:ext cx="1920240" cy="384048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532120" y="146304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切入路径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74320" y="1847088"/>
            <a:ext cx="868680" cy="65836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310896" y="1883664"/>
            <a:ext cx="79552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143000" y="1847088"/>
            <a:ext cx="685800" cy="65836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1179576" y="1883664"/>
            <a:ext cx="61264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$2.5亿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1828800" y="1847088"/>
            <a:ext cx="640080" cy="65836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1865376" y="1883664"/>
            <a:ext cx="56692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5/5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2468880" y="1847088"/>
            <a:ext cx="685800" cy="65836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2505456" y="1883664"/>
            <a:ext cx="61264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&lt;10%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3154680" y="1847088"/>
            <a:ext cx="1463040" cy="65836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3191256" y="1883664"/>
            <a:ext cx="138988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精密制造+密封工艺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4617720" y="1847088"/>
            <a:ext cx="914400" cy="65836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4654296" y="1883664"/>
            <a:ext cx="84124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★★★★★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5532120" y="1847088"/>
            <a:ext cx="1920240" cy="65836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5568696" y="1883664"/>
            <a:ext cx="184708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OCP认证 → OEM测试 → 替代史陶比尔30%份额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274320" y="2505456"/>
            <a:ext cx="868680" cy="65836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310896" y="2542032"/>
            <a:ext cx="79552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1143000" y="2505456"/>
            <a:ext cx="685800" cy="65836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1179576" y="2542032"/>
            <a:ext cx="61264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$18亿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1828800" y="2505456"/>
            <a:ext cx="640080" cy="65836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1865376" y="2542032"/>
            <a:ext cx="56692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4/5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2468880" y="2505456"/>
            <a:ext cx="685800" cy="65836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2505456" y="2542032"/>
            <a:ext cx="61264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~30%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3154680" y="2505456"/>
            <a:ext cx="1463040" cy="65836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3191256" y="2542032"/>
            <a:ext cx="138988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GPU适配设计+流道精密加工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4617720" y="2505456"/>
            <a:ext cx="914400" cy="65836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4654296" y="2542032"/>
            <a:ext cx="84124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★★★☆☆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5532120" y="2505456"/>
            <a:ext cx="1920240" cy="65836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5568696" y="2542032"/>
            <a:ext cx="184708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通过宁畅/浪潮等OEM合作，冷板定制开发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274320" y="3163824"/>
            <a:ext cx="868680" cy="65836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9" name="Text 47"/>
          <p:cNvSpPr/>
          <p:nvPr/>
        </p:nvSpPr>
        <p:spPr>
          <a:xfrm>
            <a:off x="310896" y="3200400"/>
            <a:ext cx="79552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1143000" y="3163824"/>
            <a:ext cx="685800" cy="65836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1" name="Text 49"/>
          <p:cNvSpPr/>
          <p:nvPr/>
        </p:nvSpPr>
        <p:spPr>
          <a:xfrm>
            <a:off x="1179576" y="3200400"/>
            <a:ext cx="61264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$32亿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1828800" y="3163824"/>
            <a:ext cx="640080" cy="65836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3" name="Text 51"/>
          <p:cNvSpPr/>
          <p:nvPr/>
        </p:nvSpPr>
        <p:spPr>
          <a:xfrm>
            <a:off x="1865376" y="3200400"/>
            <a:ext cx="56692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3/5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2468880" y="3163824"/>
            <a:ext cx="685800" cy="65836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5" name="Text 53"/>
          <p:cNvSpPr/>
          <p:nvPr/>
        </p:nvSpPr>
        <p:spPr>
          <a:xfrm>
            <a:off x="2505456" y="3200400"/>
            <a:ext cx="61264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~50%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3154680" y="3163824"/>
            <a:ext cx="1463040" cy="65836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7" name="Text 55"/>
          <p:cNvSpPr/>
          <p:nvPr/>
        </p:nvSpPr>
        <p:spPr>
          <a:xfrm>
            <a:off x="3191256" y="3200400"/>
            <a:ext cx="138988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系统集成+规模制造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4617720" y="3163824"/>
            <a:ext cx="914400" cy="65836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9" name="Text 57"/>
          <p:cNvSpPr/>
          <p:nvPr/>
        </p:nvSpPr>
        <p:spPr>
          <a:xfrm>
            <a:off x="4654296" y="3200400"/>
            <a:ext cx="84124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★★☆☆☆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5532120" y="3163824"/>
            <a:ext cx="1920240" cy="65836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61" name="Text 59"/>
          <p:cNvSpPr/>
          <p:nvPr/>
        </p:nvSpPr>
        <p:spPr>
          <a:xfrm>
            <a:off x="5568696" y="3200400"/>
            <a:ext cx="184708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为英维克/申菱等提供阀门/管路配套，进入CDU供应链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274320" y="3822192"/>
            <a:ext cx="868680" cy="65836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63" name="Text 61"/>
          <p:cNvSpPr/>
          <p:nvPr/>
        </p:nvSpPr>
        <p:spPr>
          <a:xfrm>
            <a:off x="310896" y="3858768"/>
            <a:ext cx="79552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Manifold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1143000" y="3822192"/>
            <a:ext cx="685800" cy="65836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65" name="Text 63"/>
          <p:cNvSpPr/>
          <p:nvPr/>
        </p:nvSpPr>
        <p:spPr>
          <a:xfrm>
            <a:off x="1179576" y="3858768"/>
            <a:ext cx="61264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$8亿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1828800" y="3822192"/>
            <a:ext cx="640080" cy="65836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67" name="Text 65"/>
          <p:cNvSpPr/>
          <p:nvPr/>
        </p:nvSpPr>
        <p:spPr>
          <a:xfrm>
            <a:off x="1865376" y="3858768"/>
            <a:ext cx="56692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2/5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2468880" y="3822192"/>
            <a:ext cx="685800" cy="65836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69" name="Text 67"/>
          <p:cNvSpPr/>
          <p:nvPr/>
        </p:nvSpPr>
        <p:spPr>
          <a:xfrm>
            <a:off x="2505456" y="3858768"/>
            <a:ext cx="61264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&gt;60%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3154680" y="3822192"/>
            <a:ext cx="1463040" cy="65836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71" name="Text 69"/>
          <p:cNvSpPr/>
          <p:nvPr/>
        </p:nvSpPr>
        <p:spPr>
          <a:xfrm>
            <a:off x="3191256" y="3858768"/>
            <a:ext cx="138988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定制化快速响应</a:t>
            </a:r>
            <a:endParaRPr lang="en-US" sz="750" dirty="0"/>
          </a:p>
        </p:txBody>
      </p:sp>
      <p:sp>
        <p:nvSpPr>
          <p:cNvPr id="72" name="Shape 70"/>
          <p:cNvSpPr/>
          <p:nvPr/>
        </p:nvSpPr>
        <p:spPr>
          <a:xfrm>
            <a:off x="4617720" y="3822192"/>
            <a:ext cx="914400" cy="65836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73" name="Text 71"/>
          <p:cNvSpPr/>
          <p:nvPr/>
        </p:nvSpPr>
        <p:spPr>
          <a:xfrm>
            <a:off x="4654296" y="3858768"/>
            <a:ext cx="84124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★★☆☆☆</a:t>
            </a:r>
            <a:endParaRPr lang="en-US" sz="750" dirty="0"/>
          </a:p>
        </p:txBody>
      </p:sp>
      <p:sp>
        <p:nvSpPr>
          <p:cNvPr id="74" name="Shape 72"/>
          <p:cNvSpPr/>
          <p:nvPr/>
        </p:nvSpPr>
        <p:spPr>
          <a:xfrm>
            <a:off x="5532120" y="3822192"/>
            <a:ext cx="1920240" cy="65836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75" name="Text 73"/>
          <p:cNvSpPr/>
          <p:nvPr/>
        </p:nvSpPr>
        <p:spPr>
          <a:xfrm>
            <a:off x="5568696" y="3858768"/>
            <a:ext cx="184708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OTT超节点定制歧管（小批量，多批次，快速响应）</a:t>
            </a:r>
            <a:endParaRPr lang="en-US" sz="750" dirty="0"/>
          </a:p>
        </p:txBody>
      </p:sp>
      <p:sp>
        <p:nvSpPr>
          <p:cNvPr id="76" name="Shape 74"/>
          <p:cNvSpPr/>
          <p:nvPr/>
        </p:nvSpPr>
        <p:spPr>
          <a:xfrm>
            <a:off x="274320" y="3931920"/>
            <a:ext cx="8595360" cy="640080"/>
          </a:xfrm>
          <a:prstGeom prst="rect">
            <a:avLst/>
          </a:prstGeom>
          <a:solidFill>
            <a:srgbClr val="1A365D">
              <a:alpha val="8000"/>
            </a:srgbClr>
          </a:solidFill>
          <a:ln w="12700">
            <a:solidFill>
              <a:srgbClr val="1A365D"/>
            </a:solidFill>
            <a:prstDash val="solid"/>
          </a:ln>
        </p:spPr>
        <p:txBody>
          <a:bodyPr/>
          <a:p/>
        </p:txBody>
      </p:sp>
      <p:sp>
        <p:nvSpPr>
          <p:cNvPr id="77" name="Text 75"/>
          <p:cNvSpPr/>
          <p:nvPr/>
        </p:nvSpPr>
        <p:spPr>
          <a:xfrm>
            <a:off x="411480" y="400507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海悟能力定位与四组件的匹配逻辑</a:t>
            </a:r>
            <a:endParaRPr lang="en-US" sz="1000" dirty="0"/>
          </a:p>
        </p:txBody>
      </p:sp>
      <p:sp>
        <p:nvSpPr>
          <p:cNvPr id="78" name="Text 76"/>
          <p:cNvSpPr/>
          <p:nvPr/>
        </p:nvSpPr>
        <p:spPr>
          <a:xfrm>
            <a:off x="411480" y="425196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快接头（★★★★★）：</a:t>
            </a:r>
            <a:pPr indent="0" marL="0">
              <a:buNone/>
            </a:pPr>
            <a:r>
              <a:rPr lang="en-US" sz="8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精密制造是海悟核心能力，壁垒高=护城河深，适合作为品牌切入点</a:t>
            </a: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冷板（★★★☆☆）：</a:t>
            </a:r>
            <a:pPr indent="0" marL="0">
              <a:buNone/>
            </a:pPr>
            <a:r>
              <a:rPr lang="en-US" sz="8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定制化设计能力需建立，长期有空间，短期随OEM客户（宁畅/浪潮）渗透</a:t>
            </a: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CDU/Manifold（★★☆☆☆）：</a:t>
            </a:r>
            <a:pPr indent="0" marL="0">
              <a:buNone/>
            </a:pPr>
            <a:r>
              <a:rPr lang="en-US" sz="8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海悟不做整机，通过管路/阀门/定制歧管配套进入CDU厂商供应链</a:t>
            </a:r>
            <a:endParaRPr lang="en-US" sz="800" dirty="0"/>
          </a:p>
        </p:txBody>
      </p:sp>
      <p:sp>
        <p:nvSpPr>
          <p:cNvPr id="79" name="Text 77"/>
          <p:cNvSpPr/>
          <p:nvPr/>
        </p:nvSpPr>
        <p:spPr>
          <a:xfrm>
            <a:off x="274320" y="4709160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液冷组件决策链：GPU厂家定冷板标准 / 服务器OEM定快接头/CDU接口 / 数据中心定CDU选型+管路</a:t>
            </a:r>
            <a:endParaRPr lang="en-US" sz="800" dirty="0"/>
          </a:p>
        </p:txBody>
      </p:sp>
      <p:sp>
        <p:nvSpPr>
          <p:cNvPr id="80" name="Shape 78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81" name="Text 79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冷板深度分析：GPU适配标准与市场机会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91440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各GPU厂家的冷板标准决策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261872"/>
            <a:ext cx="1371600" cy="640080"/>
          </a:xfrm>
          <a:prstGeom prst="rect">
            <a:avLst/>
          </a:prstGeom>
          <a:solidFill>
            <a:srgbClr val="C53030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274320" y="1261872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昇腾（华为）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645920" y="1261872"/>
            <a:ext cx="822960" cy="640080"/>
          </a:xfrm>
          <a:prstGeom prst="rect">
            <a:avLst/>
          </a:prstGeom>
          <a:solidFill>
            <a:srgbClr val="FFF5F5"/>
          </a:solidFill>
          <a:ln w="6350">
            <a:solidFill>
              <a:srgbClr val="C53030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691640" y="1307592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封闭（华为自定）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2468880" y="1261872"/>
            <a:ext cx="1828800" cy="640080"/>
          </a:xfrm>
          <a:prstGeom prst="rect">
            <a:avLst/>
          </a:prstGeom>
          <a:solidFill>
            <a:srgbClr val="F7FAFC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2560320" y="1307592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华为定制冷板（铜基微通道/相变）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4297680" y="1261872"/>
            <a:ext cx="2011680" cy="640080"/>
          </a:xfrm>
          <a:prstGeom prst="rect">
            <a:avLst/>
          </a:prstGeom>
          <a:solidFill>
            <a:srgbClr val="EDF2F7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389120" y="1307592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昇腾950PR/DT：TDP≥800W，需相变冷板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6309360" y="1261872"/>
            <a:ext cx="1371600" cy="640080"/>
          </a:xfrm>
          <a:prstGeom prst="rect">
            <a:avLst/>
          </a:prstGeom>
          <a:solidFill>
            <a:srgbClr val="EDF2F7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355080" y="1307592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高澜股份（深度绑定）/ 飞荣达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7680960" y="1261872"/>
            <a:ext cx="1188720" cy="640080"/>
          </a:xfrm>
          <a:prstGeom prst="rect">
            <a:avLst/>
          </a:prstGeom>
          <a:solidFill>
            <a:srgbClr val="FFF5F5"/>
          </a:solidFill>
          <a:ln w="6350">
            <a:solidFill>
              <a:srgbClr val="C53030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726680" y="1307592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封闭体系，海悟无法直接进入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274320" y="1938528"/>
            <a:ext cx="1371600" cy="640080"/>
          </a:xfrm>
          <a:prstGeom prst="rect">
            <a:avLst/>
          </a:prstGeom>
          <a:solidFill>
            <a:srgbClr val="2C5282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274320" y="1938528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英伟达（NVIDIA）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645920" y="1938528"/>
            <a:ext cx="822960" cy="640080"/>
          </a:xfrm>
          <a:prstGeom prst="rect">
            <a:avLst/>
          </a:prstGeom>
          <a:solidFill>
            <a:srgbClr val="F0FFF4"/>
          </a:solidFill>
          <a:ln w="6350">
            <a:solidFill>
              <a:srgbClr val="2C5282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1691640" y="1984248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OCP标准（NVL72指定）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2468880" y="1938528"/>
            <a:ext cx="1828800" cy="640080"/>
          </a:xfrm>
          <a:prstGeom prst="rect">
            <a:avLst/>
          </a:prstGeom>
          <a:solidFill>
            <a:srgbClr val="F7FAFC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2560320" y="1984248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环路歧管冷板（英伟达指定）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4297680" y="1938528"/>
            <a:ext cx="2011680" cy="640080"/>
          </a:xfrm>
          <a:prstGeom prst="rect">
            <a:avLst/>
          </a:prstGeom>
          <a:solidFill>
            <a:srgbClr val="EDF2F7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4389120" y="1984248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GB200：TDP≥1200W，必须液冷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6309360" y="1938528"/>
            <a:ext cx="1371600" cy="640080"/>
          </a:xfrm>
          <a:prstGeom prst="rect">
            <a:avLst/>
          </a:prstGeom>
          <a:solidFill>
            <a:srgbClr val="EDF2F7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355080" y="1984248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AVC/Legacy（NVL72供应商）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7680960" y="1938528"/>
            <a:ext cx="1188720" cy="640080"/>
          </a:xfrm>
          <a:prstGeom prst="rect">
            <a:avLst/>
          </a:prstGeom>
          <a:solidFill>
            <a:srgbClr val="F0FFF4"/>
          </a:solidFill>
          <a:ln w="6350">
            <a:solidFill>
              <a:srgbClr val="2C5282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7726680" y="1984248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NVL72冷板由英伟达指定，史陶比尔快接头认证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274320" y="2615184"/>
            <a:ext cx="1371600" cy="640080"/>
          </a:xfrm>
          <a:prstGeom prst="rect">
            <a:avLst/>
          </a:prstGeom>
          <a:solidFill>
            <a:srgbClr val="2F855A"/>
          </a:solidFill>
          <a:ln/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274320" y="2615184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寒武纪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645920" y="2615184"/>
            <a:ext cx="822960" cy="640080"/>
          </a:xfrm>
          <a:prstGeom prst="rect">
            <a:avLst/>
          </a:prstGeom>
          <a:solidFill>
            <a:srgbClr val="F0FFF4"/>
          </a:solidFill>
          <a:ln w="6350">
            <a:solidFill>
              <a:srgbClr val="2F855A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1691640" y="2660904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开放（OEM自选）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2468880" y="2615184"/>
            <a:ext cx="1828800" cy="640080"/>
          </a:xfrm>
          <a:prstGeom prst="rect">
            <a:avLst/>
          </a:prstGeom>
          <a:solidFill>
            <a:srgbClr val="F7FAFC"/>
          </a:solidFill>
          <a:ln/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2560320" y="2660904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开放标准，OEM自行选择冷板供应商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4297680" y="2615184"/>
            <a:ext cx="2011680" cy="640080"/>
          </a:xfrm>
          <a:prstGeom prst="rect">
            <a:avLst/>
          </a:prstGeom>
          <a:solidFill>
            <a:srgbClr val="EDF2F7"/>
          </a:solidFill>
          <a:ln/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4389120" y="2660904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MLU590：TDP 350-450W，双腔冷板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6309360" y="2615184"/>
            <a:ext cx="1371600" cy="640080"/>
          </a:xfrm>
          <a:prstGeom prst="rect">
            <a:avLst/>
          </a:prstGeom>
          <a:solidFill>
            <a:srgbClr val="EDF2F7"/>
          </a:solidFill>
          <a:ln/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6355080" y="2660904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浪潮冷板（与高标合作）/ 第三方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7680960" y="2615184"/>
            <a:ext cx="1188720" cy="640080"/>
          </a:xfrm>
          <a:prstGeom prst="rect">
            <a:avLst/>
          </a:prstGeom>
          <a:solidFill>
            <a:srgbClr val="F0FFF4"/>
          </a:solidFill>
          <a:ln w="6350">
            <a:solidFill>
              <a:srgbClr val="2F855A"/>
            </a:solidFill>
            <a:prstDash val="solid"/>
          </a:ln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7726680" y="2660904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开放生态，OEM自选冷板，海悟可通过宁畅触达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274320" y="3291840"/>
            <a:ext cx="1371600" cy="640080"/>
          </a:xfrm>
          <a:prstGeom prst="rect">
            <a:avLst/>
          </a:prstGeom>
          <a:solidFill>
            <a:srgbClr val="2F855A"/>
          </a:solidFill>
          <a:ln/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274320" y="329184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海光DCU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1645920" y="3291840"/>
            <a:ext cx="822960" cy="640080"/>
          </a:xfrm>
          <a:prstGeom prst="rect">
            <a:avLst/>
          </a:prstGeom>
          <a:solidFill>
            <a:srgbClr val="F0FFF4"/>
          </a:solidFill>
          <a:ln w="6350">
            <a:solidFill>
              <a:srgbClr val="2F855A"/>
            </a:solidFill>
            <a:prstDash val="solid"/>
          </a:ln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1691640" y="333756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开放（CUDA兼容）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2468880" y="3291840"/>
            <a:ext cx="1828800" cy="640080"/>
          </a:xfrm>
          <a:prstGeom prst="rect">
            <a:avLst/>
          </a:prstGeom>
          <a:solidFill>
            <a:srgbClr val="F7FAFC"/>
          </a:solidFill>
          <a:ln/>
        </p:spPr>
        <p:txBody>
          <a:bodyPr/>
          <a:p/>
        </p:txBody>
      </p:sp>
      <p:sp>
        <p:nvSpPr>
          <p:cNvPr id="46" name="Text 44"/>
          <p:cNvSpPr/>
          <p:nvPr/>
        </p:nvSpPr>
        <p:spPr>
          <a:xfrm>
            <a:off x="2560320" y="333756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开放标准，OEM自选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4297680" y="3291840"/>
            <a:ext cx="2011680" cy="640080"/>
          </a:xfrm>
          <a:prstGeom prst="rect">
            <a:avLst/>
          </a:prstGeom>
          <a:solidFill>
            <a:srgbClr val="EDF2F7"/>
          </a:solidFill>
          <a:ln/>
        </p:spPr>
        <p:txBody>
          <a:bodyPr/>
          <a:p/>
        </p:txBody>
      </p:sp>
      <p:sp>
        <p:nvSpPr>
          <p:cNvPr id="48" name="Text 46"/>
          <p:cNvSpPr/>
          <p:nvPr/>
        </p:nvSpPr>
        <p:spPr>
          <a:xfrm>
            <a:off x="4389120" y="333756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Z200：TDP 400-500W，需高效冷板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6309360" y="3291840"/>
            <a:ext cx="1371600" cy="640080"/>
          </a:xfrm>
          <a:prstGeom prst="rect">
            <a:avLst/>
          </a:prstGeom>
          <a:solidFill>
            <a:srgbClr val="EDF2F7"/>
          </a:solidFill>
          <a:ln/>
        </p:spPr>
        <p:txBody>
          <a:bodyPr/>
          <a:p/>
        </p:txBody>
      </p:sp>
      <p:sp>
        <p:nvSpPr>
          <p:cNvPr id="50" name="Text 48"/>
          <p:cNvSpPr/>
          <p:nvPr/>
        </p:nvSpPr>
        <p:spPr>
          <a:xfrm>
            <a:off x="6355080" y="333756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浪潮自产/ 英维克/ 高标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7680960" y="3291840"/>
            <a:ext cx="1188720" cy="640080"/>
          </a:xfrm>
          <a:prstGeom prst="rect">
            <a:avLst/>
          </a:prstGeom>
          <a:solidFill>
            <a:srgbClr val="F0FFF4"/>
          </a:solidFill>
          <a:ln w="6350">
            <a:solidFill>
              <a:srgbClr val="2F855A"/>
            </a:solidFill>
            <a:prstDash val="solid"/>
          </a:ln>
        </p:spPr>
        <p:txBody>
          <a:bodyPr/>
          <a:p/>
        </p:txBody>
      </p:sp>
      <p:sp>
        <p:nvSpPr>
          <p:cNvPr id="52" name="Text 50"/>
          <p:cNvSpPr/>
          <p:nvPr/>
        </p:nvSpPr>
        <p:spPr>
          <a:xfrm>
            <a:off x="7726680" y="333756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海光是开放生态，浪潮是最大OEM，海悟可配套浪潮冷板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274320" y="914400"/>
            <a:ext cx="1371600" cy="347472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54" name="Text 52"/>
          <p:cNvSpPr/>
          <p:nvPr/>
        </p:nvSpPr>
        <p:spPr>
          <a:xfrm>
            <a:off x="274320" y="91440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1645920" y="914400"/>
            <a:ext cx="822960" cy="347472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56" name="Text 54"/>
          <p:cNvSpPr/>
          <p:nvPr/>
        </p:nvSpPr>
        <p:spPr>
          <a:xfrm>
            <a:off x="1645920" y="914400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标准类型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2468880" y="914400"/>
            <a:ext cx="1828800" cy="347472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58" name="Text 56"/>
          <p:cNvSpPr/>
          <p:nvPr/>
        </p:nvSpPr>
        <p:spPr>
          <a:xfrm>
            <a:off x="2468880" y="91440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冷板方案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4297680" y="914400"/>
            <a:ext cx="2011680" cy="347472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60" name="Text 58"/>
          <p:cNvSpPr/>
          <p:nvPr/>
        </p:nvSpPr>
        <p:spPr>
          <a:xfrm>
            <a:off x="4297680" y="91440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规格要求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6309360" y="914400"/>
            <a:ext cx="1371600" cy="347472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62" name="Text 60"/>
          <p:cNvSpPr/>
          <p:nvPr/>
        </p:nvSpPr>
        <p:spPr>
          <a:xfrm>
            <a:off x="6309360" y="91440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当前供应商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7680960" y="914400"/>
            <a:ext cx="1188720" cy="347472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64" name="Text 62"/>
          <p:cNvSpPr/>
          <p:nvPr/>
        </p:nvSpPr>
        <p:spPr>
          <a:xfrm>
            <a:off x="7680960" y="91440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海悟机会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274320" y="4206240"/>
            <a:ext cx="8595360" cy="868680"/>
          </a:xfrm>
          <a:prstGeom prst="rect">
            <a:avLst/>
          </a:prstGeom>
          <a:solidFill>
            <a:srgbClr val="ED8936">
              <a:alpha val="8000"/>
            </a:srgbClr>
          </a:solidFill>
          <a:ln w="19050">
            <a:solidFill>
              <a:srgbClr val="ED8936"/>
            </a:solidFill>
            <a:prstDash val="solid"/>
          </a:ln>
        </p:spPr>
        <p:txBody>
          <a:bodyPr/>
          <a:p/>
        </p:txBody>
      </p:sp>
      <p:sp>
        <p:nvSpPr>
          <p:cNvPr id="66" name="Text 64"/>
          <p:cNvSpPr/>
          <p:nvPr/>
        </p:nvSpPr>
        <p:spPr>
          <a:xfrm>
            <a:off x="411480" y="42793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海悟在冷板市场的机会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411480" y="45262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开放生态（寒武纪/海光）：</a:t>
            </a:r>
            <a:pPr indent="0" marL="0">
              <a:buNone/>
            </a:pPr>
            <a:r>
              <a:rPr lang="en-US" sz="8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通过宁畅/浪潮触达，海悟可配套冷板（非主要方向，浪潮已自产）</a:t>
            </a: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冷板壁垒高于快接头：</a:t>
            </a:r>
            <a:pPr indent="0" marL="0">
              <a:buNone/>
            </a:pPr>
            <a:r>
              <a:rPr lang="en-US" sz="8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精密流道设计+GPU封装适配，定制化程度高，海悟当前聚焦快接头</a:t>
            </a: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长期机会：</a:t>
            </a:r>
            <a:pPr indent="0" marL="0">
              <a:buNone/>
            </a:pPr>
            <a:r>
              <a:rPr lang="en-US" sz="8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冷板国产替代（目标客户：英维克/申菱等需要外购冷板的液冷系统集成商）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69" name="Text 67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</a:t>
            </a:r>
            <a:endParaRPr 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CDU深度分析：市场规模/竞争格局与海悟机会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2743200" cy="1371600"/>
          </a:xfrm>
          <a:prstGeom prst="rect">
            <a:avLst/>
          </a:prstGeom>
          <a:solidFill>
            <a:srgbClr val="1A365D">
              <a:alpha val="8000"/>
            </a:srgbClr>
          </a:solidFill>
          <a:ln w="19050">
            <a:solidFill>
              <a:srgbClr val="1A365D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" y="987552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CDU全球市场规模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11480" y="1261872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$32亿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11480" y="1783080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全球年市场 | 2025年估算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11480" y="2011680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中国市场：约¥80-120亿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200400" y="914400"/>
            <a:ext cx="5669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CDU全球竞争格局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0" y="1261872"/>
            <a:ext cx="5669280" cy="365760"/>
          </a:xfrm>
          <a:prstGeom prst="rect">
            <a:avLst/>
          </a:prstGeom>
          <a:solidFill>
            <a:srgbClr val="1A365D">
              <a:alpha val="12000"/>
            </a:srgbClr>
          </a:solidFill>
          <a:ln w="6350">
            <a:solidFill>
              <a:srgbClr val="1A365D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3337560" y="130759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Vertiv（维谛）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846320" y="1335024"/>
            <a:ext cx="1700784" cy="219456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638544" y="130759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852160" y="130759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全球CDU龙头，技术领先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200400" y="1664208"/>
            <a:ext cx="5669280" cy="365760"/>
          </a:xfrm>
          <a:prstGeom prst="rect">
            <a:avLst/>
          </a:prstGeom>
          <a:solidFill>
            <a:srgbClr val="0057E7">
              <a:alpha val="12000"/>
            </a:srgbClr>
          </a:solidFill>
          <a:ln w="6350">
            <a:solidFill>
              <a:srgbClr val="0057E7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3337560" y="170992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英维克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846320" y="1737360"/>
            <a:ext cx="1417320" cy="219456"/>
          </a:xfrm>
          <a:prstGeom prst="rect">
            <a:avLst/>
          </a:prstGeom>
          <a:solidFill>
            <a:srgbClr val="0057E7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355080" y="17099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57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852160" y="170992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国内CDU龙头，全栈液冷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200400" y="2066544"/>
            <a:ext cx="5669280" cy="365760"/>
          </a:xfrm>
          <a:prstGeom prst="rect">
            <a:avLst/>
          </a:prstGeom>
          <a:solidFill>
            <a:srgbClr val="2C5282">
              <a:alpha val="12000"/>
            </a:srgbClr>
          </a:solidFill>
          <a:ln w="6350">
            <a:solidFill>
              <a:srgbClr val="2C5282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3337560" y="2112264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施耐德电气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846320" y="2139696"/>
            <a:ext cx="850392" cy="219456"/>
          </a:xfrm>
          <a:prstGeom prst="rect">
            <a:avLst/>
          </a:prstGeom>
          <a:solidFill>
            <a:srgbClr val="2C5282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5788152" y="21122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5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852160" y="2112264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全球基础设施，CDU配套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3200400" y="2468880"/>
            <a:ext cx="5669280" cy="365760"/>
          </a:xfrm>
          <a:prstGeom prst="rect">
            <a:avLst/>
          </a:prstGeom>
          <a:solidFill>
            <a:srgbClr val="ED8936">
              <a:alpha val="12000"/>
            </a:srgbClr>
          </a:solidFill>
          <a:ln w="6350">
            <a:solidFill>
              <a:srgbClr val="ED8936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3337560" y="251460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申菱环境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846320" y="2542032"/>
            <a:ext cx="566928" cy="219456"/>
          </a:xfrm>
          <a:prstGeom prst="rect">
            <a:avLst/>
          </a:prstGeom>
          <a:solidFill>
            <a:srgbClr val="ED8936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5504688" y="2514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852160" y="25146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工业空调背景，华为战略合作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200400" y="2871216"/>
            <a:ext cx="5669280" cy="365760"/>
          </a:xfrm>
          <a:prstGeom prst="rect">
            <a:avLst/>
          </a:prstGeom>
          <a:solidFill>
            <a:srgbClr val="2F855A">
              <a:alpha val="12000"/>
            </a:srgbClr>
          </a:solidFill>
          <a:ln w="6350">
            <a:solidFill>
              <a:srgbClr val="2F855A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3337560" y="2916936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高澜股份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846320" y="2944368"/>
            <a:ext cx="453542" cy="219456"/>
          </a:xfrm>
          <a:prstGeom prst="rect">
            <a:avLst/>
          </a:prstGeom>
          <a:solidFill>
            <a:srgbClr val="2F855A"/>
          </a:solidFill>
          <a:ln/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5391302" y="291693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F8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852160" y="2916936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华为液冷核心供应商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3200400" y="3273552"/>
            <a:ext cx="5669280" cy="365760"/>
          </a:xfrm>
          <a:prstGeom prst="rect">
            <a:avLst/>
          </a:prstGeom>
          <a:solidFill>
            <a:srgbClr val="999999">
              <a:alpha val="12000"/>
            </a:srgbClr>
          </a:solidFill>
          <a:ln w="6350">
            <a:solidFill>
              <a:srgbClr val="999999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3337560" y="331927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其他国内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846320" y="3346704"/>
            <a:ext cx="680314" cy="219456"/>
          </a:xfrm>
          <a:prstGeom prst="rect">
            <a:avLst/>
          </a:prstGeom>
          <a:solidFill>
            <a:srgbClr val="999999"/>
          </a:solidFill>
          <a:ln/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5618074" y="33192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852160" y="331927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分散小厂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274320" y="333756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CDU核心厂商深度分析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274320" y="3657600"/>
            <a:ext cx="859536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2C5282"/>
            </a:solidFill>
            <a:prstDash val="solid"/>
          </a:ln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411480" y="370332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英维克CDU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645920" y="370332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优势：全栈自产（冷板+CDU+Manifold）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3520440" y="370332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短板：快接头外购（史陶比尔为主）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5394960" y="3703320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★★★★★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126480" y="370332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英维克CDU年出货约5000台，快接头年需求10-20万个，海悟可替代史陶比尔30%份额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274320" y="4133088"/>
            <a:ext cx="859536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2C5282"/>
            </a:solidFill>
            <a:prstDash val="solid"/>
          </a:ln>
        </p:spPr>
        <p:txBody>
          <a:bodyPr/>
          <a:p/>
        </p:txBody>
      </p:sp>
      <p:sp>
        <p:nvSpPr>
          <p:cNvPr id="48" name="Text 46"/>
          <p:cNvSpPr/>
          <p:nvPr/>
        </p:nvSpPr>
        <p:spPr>
          <a:xfrm>
            <a:off x="411480" y="4178808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Vertiv CDU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1645920" y="417880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优势：全球技术领先，OCP认证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3520440" y="417880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短板：价格高，供货周期长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5394960" y="4178808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★★★☆☆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6126480" y="417880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Vertiv中国快接头需求3-6万个/年，通过Vertiv中国进入全球供应链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274320" y="4608576"/>
            <a:ext cx="859536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2C5282"/>
            </a:solidFill>
            <a:prstDash val="solid"/>
          </a:ln>
        </p:spPr>
        <p:txBody>
          <a:bodyPr/>
          <a:p/>
        </p:txBody>
      </p:sp>
      <p:sp>
        <p:nvSpPr>
          <p:cNvPr id="54" name="Text 52"/>
          <p:cNvSpPr/>
          <p:nvPr/>
        </p:nvSpPr>
        <p:spPr>
          <a:xfrm>
            <a:off x="411480" y="4654296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申菱CDU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1645920" y="4654296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优势：华为战略合作，批量交付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3520440" y="4654296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短板：快接头无此业务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5394960" y="4654296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★★★☆☆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6126480" y="4654296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申菱CDU年出货约2000台，快接头需求约2-5万个/年，海琢可通过申菱触达华为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274320" y="5074920"/>
            <a:ext cx="8595360" cy="384048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60" name="Text 58"/>
          <p:cNvSpPr/>
          <p:nvPr/>
        </p:nvSpPr>
        <p:spPr>
          <a:xfrm>
            <a:off x="457200" y="507492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CDU战略定位：海悟不做CDU整机，通过管路/阀门配套进入CDU厂商供应链，快接头是核心切入点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62" name="Text 60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Manifold深度分析：技术壁垒与海悟机会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114800" cy="1371600"/>
          </a:xfrm>
          <a:prstGeom prst="rect">
            <a:avLst/>
          </a:prstGeom>
          <a:solidFill>
            <a:srgbClr val="F7FAFC"/>
          </a:solidFill>
          <a:ln w="19050">
            <a:solidFill>
              <a:srgbClr val="2C5282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" y="987552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Manifold是什么？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11480" y="1261872"/>
            <a:ext cx="3840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Manifold（歧管/环路分配器）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是液冷系统中连接冷板与CDU的关键组件，负责将冷却液分配到多个GPU冷板，并将热回液汇总返回CDU</a:t>
            </a:r>
            <a:endParaRPr lang="en-US" sz="850" dirty="0"/>
          </a:p>
          <a:p>
            <a:pPr indent="0" marL="0">
              <a:buNone/>
            </a:pPr>
            <a:r>
              <a:rPr lang="en-US" sz="5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位置：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 → Manifold → 冷板（每个GPU）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多路分配/汇流/流量控制/漏液检测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技术难度：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2/5（低于快接头/冷板，高于普通管件）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0" y="914400"/>
            <a:ext cx="4297680" cy="1371600"/>
          </a:xfrm>
          <a:prstGeom prst="rect">
            <a:avLst/>
          </a:prstGeom>
          <a:solidFill>
            <a:srgbClr val="ED8936">
              <a:alpha val="8000"/>
            </a:srgbClr>
          </a:solidFill>
          <a:ln w="19050">
            <a:solidFill>
              <a:srgbClr val="ED8936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709160" y="987552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Manifold市场规模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709160" y="126187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$8亿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6400800" y="12801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全球年市场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（中国约¥15-20亿）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709160" y="182880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NVL72超节点需求：</a:t>
            </a:r>
            <a:pPr indent="0" marL="0">
              <a:buNone/>
            </a:pPr>
            <a:r>
              <a:rPr lang="en-US" sz="8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NVL72必须环路歧管，需求爆发</a:t>
            </a: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国产GPU开放生态：</a:t>
            </a:r>
            <a:pPr indent="0" marL="0">
              <a:buNone/>
            </a:pPr>
            <a:r>
              <a:rPr lang="en-US" sz="8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寒武纪/海光拉动歧管需求</a:t>
            </a: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OTT定制：</a:t>
            </a:r>
            <a:pPr indent="0" marL="0">
              <a:buNone/>
            </a:pPr>
            <a:r>
              <a:rPr lang="en-US" sz="8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字节/腾讯/阿里超节点定制歧管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74320" y="242316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Manifold市场格局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2743200"/>
            <a:ext cx="4572000" cy="365760"/>
          </a:xfrm>
          <a:prstGeom prst="rect">
            <a:avLst/>
          </a:prstGeom>
          <a:solidFill>
            <a:srgbClr val="1A365D">
              <a:alpha val="12000"/>
            </a:srgbClr>
          </a:solidFill>
          <a:ln w="6350">
            <a:solidFill>
              <a:srgbClr val="1A365D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411480" y="278892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超聚变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737360" y="2816352"/>
            <a:ext cx="1143000" cy="219456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2971800" y="27889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423160" y="27889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自产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017520" y="27889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FusionPoD for AI歧管自产，昇腾体系内供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274320" y="3145536"/>
            <a:ext cx="4572000" cy="365760"/>
          </a:xfrm>
          <a:prstGeom prst="rect">
            <a:avLst/>
          </a:prstGeom>
          <a:solidFill>
            <a:srgbClr val="0057E7">
              <a:alpha val="12000"/>
            </a:srgbClr>
          </a:solidFill>
          <a:ln w="6350">
            <a:solidFill>
              <a:srgbClr val="0057E7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411480" y="3191256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737360" y="3218688"/>
            <a:ext cx="914400" cy="219456"/>
          </a:xfrm>
          <a:prstGeom prst="rect">
            <a:avLst/>
          </a:prstGeom>
          <a:solidFill>
            <a:srgbClr val="0057E7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2743200" y="319125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57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423160" y="3191256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自产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017520" y="319125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液冷服务器歧管自产，开放生态供货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274320" y="3547872"/>
            <a:ext cx="4572000" cy="365760"/>
          </a:xfrm>
          <a:prstGeom prst="rect">
            <a:avLst/>
          </a:prstGeom>
          <a:solidFill>
            <a:srgbClr val="ED8936">
              <a:alpha val="12000"/>
            </a:srgbClr>
          </a:solidFill>
          <a:ln w="6350">
            <a:solidFill>
              <a:srgbClr val="ED8936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411480" y="359359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高标/精一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1737360" y="3621024"/>
            <a:ext cx="822960" cy="219456"/>
          </a:xfrm>
          <a:prstGeom prst="rect">
            <a:avLst/>
          </a:prstGeom>
          <a:solidFill>
            <a:srgbClr val="ED8936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2651760" y="359359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18%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423160" y="359359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外供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3017520" y="359359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第三方歧管供应商，给OEM配套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274320" y="3950208"/>
            <a:ext cx="4572000" cy="365760"/>
          </a:xfrm>
          <a:prstGeom prst="rect">
            <a:avLst/>
          </a:prstGeom>
          <a:solidFill>
            <a:srgbClr val="2F855A">
              <a:alpha val="12000"/>
            </a:srgbClr>
          </a:solidFill>
          <a:ln w="6350">
            <a:solidFill>
              <a:srgbClr val="2F855A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411480" y="399592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宁波东光子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1737360" y="4023360"/>
            <a:ext cx="365760" cy="219456"/>
          </a:xfrm>
          <a:prstGeom prst="rect">
            <a:avLst/>
          </a:prstGeom>
          <a:solidFill>
            <a:srgbClr val="2F855A"/>
          </a:solidFill>
          <a:ln/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2194560" y="39959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F8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423160" y="39959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外供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3017520" y="39959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初创公司，快接头+歧管双线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274320" y="4352544"/>
            <a:ext cx="4572000" cy="365760"/>
          </a:xfrm>
          <a:prstGeom prst="rect">
            <a:avLst/>
          </a:prstGeom>
          <a:solidFill>
            <a:srgbClr val="999999">
              <a:alpha val="12000"/>
            </a:srgbClr>
          </a:solidFill>
          <a:ln w="6350">
            <a:solidFill>
              <a:srgbClr val="999999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411480" y="4398264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其他国内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1737360" y="4425696"/>
            <a:ext cx="1325880" cy="219456"/>
          </a:xfrm>
          <a:prstGeom prst="rect">
            <a:avLst/>
          </a:prstGeom>
          <a:solidFill>
            <a:srgbClr val="999999"/>
          </a:solidFill>
          <a:ln/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3154680" y="43982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29%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2423160" y="4398264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分散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3017520" y="439826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大量小工厂，无规模效应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5029200" y="2743200"/>
            <a:ext cx="3840480" cy="2103120"/>
          </a:xfrm>
          <a:prstGeom prst="rect">
            <a:avLst/>
          </a:prstGeom>
          <a:solidFill>
            <a:srgbClr val="1A365D">
              <a:alpha val="8000"/>
            </a:srgbClr>
          </a:solidFill>
          <a:ln w="19050">
            <a:solidFill>
              <a:srgbClr val="1A365D"/>
            </a:solidFill>
            <a:prstDash val="solid"/>
          </a:ln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5166360" y="281635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海悟在Manifold市场的定位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166360" y="3127248"/>
            <a:ext cx="35661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战略定位：</a:t>
            </a:r>
            <a:pPr indent="0" marL="0">
              <a:buNone/>
            </a:pPr>
            <a:r>
              <a:rPr lang="en-US" sz="8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配套供应，不做主攻</a:t>
            </a:r>
            <a:endParaRPr lang="en-US" sz="800" dirty="0"/>
          </a:p>
          <a:p>
            <a:pPr indent="0" marL="0">
              <a:buNone/>
            </a:pPr>
            <a:r>
              <a:rPr lang="en-US" sz="5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原因：</a:t>
            </a:r>
            <a:pPr indent="0" marL="0">
              <a:buNone/>
            </a:pPr>
            <a:r>
              <a:rPr lang="en-US" sz="8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超聚变/浪潮已自产Manifold，技术壁垒低（2/5），市场规模小（$8亿）</a:t>
            </a:r>
            <a:endParaRPr lang="en-US" sz="800" dirty="0"/>
          </a:p>
          <a:p>
            <a:pPr indent="0" marL="0">
              <a:buNone/>
            </a:pPr>
            <a:r>
              <a:rPr lang="en-US" sz="5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机会点：</a:t>
            </a:r>
            <a:pPr indent="0" marL="0">
              <a:buNone/>
            </a:pPr>
            <a:r>
              <a:rPr lang="en-US" sz="8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OTT超节点定制歧管（字节/腾讯/阿里定制需求），史陶比尔无法满足，海悟快速响应</a:t>
            </a:r>
            <a:endParaRPr lang="en-US" sz="800" dirty="0"/>
          </a:p>
          <a:p>
            <a:pPr indent="0" marL="0">
              <a:buNone/>
            </a:pPr>
            <a:r>
              <a:rPr lang="en-US" sz="5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目标客户：</a:t>
            </a:r>
            <a:pPr indent="0" marL="0">
              <a:buNone/>
            </a:pPr>
            <a:r>
              <a:rPr lang="en-US" sz="8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宁畅（寒武纪生态）/ 同方（摩尔线程）/ 神州数码</a:t>
            </a:r>
            <a:endParaRPr lang="en-US" sz="800" dirty="0"/>
          </a:p>
          <a:p>
            <a:pPr indent="0" marL="0">
              <a:buNone/>
            </a:pPr>
            <a:r>
              <a:rPr lang="en-US" sz="5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收入贡献预期：</a:t>
            </a:r>
            <a:pPr indent="0" marL="0">
              <a:buNone/>
            </a:pPr>
            <a:r>
              <a:rPr lang="en-US" sz="8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Manifold年收入约¥500-1000万（非核心业务）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274320" y="4937760"/>
            <a:ext cx="8595360" cy="41148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457200" y="4956048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液冷四组件战略：快接头（🔴P0）&gt; 冷板（🟠P1）&gt; CDU（🟡P2）&gt; Manifold（⚪P3）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49" name="Text 47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</a:t>
            </a:r>
            <a:endParaRPr lang="en-US" sz="1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快接头在液冷系统中的位置与供应价值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液冷系统组件关系图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1005840" cy="777240"/>
          </a:xfrm>
          <a:prstGeom prst="rect">
            <a:avLst>
              <a:gd name="adj" fmla="val 7059"/>
            </a:avLst>
          </a:prstGeom>
          <a:solidFill>
            <a:srgbClr val="2C5282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365760" y="128016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178308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芯片级换热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1371600" y="1280160"/>
            <a:ext cx="320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691640" y="1280160"/>
            <a:ext cx="1005840" cy="777240"/>
          </a:xfrm>
          <a:prstGeom prst="rect">
            <a:avLst>
              <a:gd name="adj" fmla="val 7059"/>
            </a:avLst>
          </a:prstGeom>
          <a:solidFill>
            <a:srgbClr val="ED8936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691640" y="128016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（海悟）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91640" y="178308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可拔插连接（关键！)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2697480" y="1280160"/>
            <a:ext cx="320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017520" y="1280160"/>
            <a:ext cx="1005840" cy="777240"/>
          </a:xfrm>
          <a:prstGeom prst="rect">
            <a:avLst>
              <a:gd name="adj" fmla="val 7059"/>
            </a:avLst>
          </a:prstGeom>
          <a:solidFill>
            <a:srgbClr val="2C5282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3017520" y="128016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017520" y="178308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冷却液分配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4023360" y="1280160"/>
            <a:ext cx="320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343400" y="1280160"/>
            <a:ext cx="1005840" cy="777240"/>
          </a:xfrm>
          <a:prstGeom prst="rect">
            <a:avLst>
              <a:gd name="adj" fmla="val 7059"/>
            </a:avLst>
          </a:prstGeom>
          <a:solidFill>
            <a:srgbClr val="999999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4343400" y="128016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Manifold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343400" y="178308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多路分配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5349240" y="1280160"/>
            <a:ext cx="320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669280" y="1280160"/>
            <a:ext cx="1005840" cy="777240"/>
          </a:xfrm>
          <a:prstGeom prst="rect">
            <a:avLst>
              <a:gd name="adj" fmla="val 7059"/>
            </a:avLst>
          </a:prstGeom>
          <a:solidFill>
            <a:srgbClr val="999999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669280" y="128016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换热器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669280" y="178308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二次换热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274320" y="2240280"/>
            <a:ext cx="4572000" cy="731520"/>
          </a:xfrm>
          <a:prstGeom prst="rect">
            <a:avLst/>
          </a:prstGeom>
          <a:solidFill>
            <a:srgbClr val="ED8936">
              <a:alpha val="8000"/>
            </a:srgbClr>
          </a:solidFill>
          <a:ln w="19050">
            <a:solidFill>
              <a:srgbClr val="ED8936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411480" y="2331720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为什么快接头是关键？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11480" y="2578608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漏液风险最高：</a:t>
            </a:r>
            <a:pPr indent="0" marL="0">
              <a:buNone/>
            </a:pPr>
            <a:r>
              <a:rPr lang="en-US" sz="8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每个快接头都是潜在的漏液点</a:t>
            </a: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维护核心：</a:t>
            </a:r>
            <a:pPr indent="0" marL="0">
              <a:buNone/>
            </a:pPr>
            <a:r>
              <a:rPr lang="en-US" sz="8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数据中心维护时先拔快接头</a:t>
            </a: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OEM必须外购：</a:t>
            </a:r>
            <a:pPr indent="0" marL="0">
              <a:buNone/>
            </a:pPr>
            <a:r>
              <a:rPr lang="en-US" sz="8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专业热管理公司均不自产快接头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029200" y="9144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专业热管理公司快接头年需求汇总（估算）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029200" y="1234440"/>
            <a:ext cx="3840480" cy="384048"/>
          </a:xfrm>
          <a:prstGeom prst="rect">
            <a:avLst/>
          </a:prstGeom>
          <a:solidFill>
            <a:srgbClr val="1A365D">
              <a:alpha val="12000"/>
            </a:srgbClr>
          </a:solidFill>
          <a:ln w="6350">
            <a:solidFill>
              <a:srgbClr val="1A365D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5166360" y="128016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英维克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858000" y="128016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10-20万个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955280" y="1280160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25%份额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5029200" y="1655064"/>
            <a:ext cx="3840480" cy="384048"/>
          </a:xfrm>
          <a:prstGeom prst="rect">
            <a:avLst/>
          </a:prstGeom>
          <a:solidFill>
            <a:srgbClr val="2C5282">
              <a:alpha val="12000"/>
            </a:srgbClr>
          </a:solidFill>
          <a:ln w="6350">
            <a:solidFill>
              <a:srgbClr val="2C5282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5166360" y="1700784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申菱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6858000" y="1700784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4-8万个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955280" y="170078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12%份额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5029200" y="2075688"/>
            <a:ext cx="3840480" cy="384048"/>
          </a:xfrm>
          <a:prstGeom prst="rect">
            <a:avLst/>
          </a:prstGeom>
          <a:solidFill>
            <a:srgbClr val="ED8936">
              <a:alpha val="12000"/>
            </a:srgbClr>
          </a:solidFill>
          <a:ln w="6350">
            <a:solidFill>
              <a:srgbClr val="ED8936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5166360" y="212140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Vertiv（中国）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6858000" y="2121408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3-6万个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7955280" y="2121408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10%份额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5029200" y="2496312"/>
            <a:ext cx="3840480" cy="384048"/>
          </a:xfrm>
          <a:prstGeom prst="rect">
            <a:avLst/>
          </a:prstGeom>
          <a:solidFill>
            <a:srgbClr val="2F855A">
              <a:alpha val="12000"/>
            </a:srgbClr>
          </a:solidFill>
          <a:ln w="6350">
            <a:solidFill>
              <a:srgbClr val="2F855A"/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5166360" y="2542032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高标（超聚变系）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6858000" y="2542032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2-5万个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7955280" y="2542032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8%份额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5029200" y="2916936"/>
            <a:ext cx="3840480" cy="384048"/>
          </a:xfrm>
          <a:prstGeom prst="rect">
            <a:avLst/>
          </a:prstGeom>
          <a:solidFill>
            <a:srgbClr val="805AD5">
              <a:alpha val="12000"/>
            </a:srgbClr>
          </a:solidFill>
          <a:ln w="6350">
            <a:solidFill>
              <a:srgbClr val="805AD5"/>
            </a:solidFill>
            <a:prstDash val="solid"/>
          </a:ln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5166360" y="2962656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朗之闻（宁畅系）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6858000" y="2962656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05A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1-3万个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7955280" y="2962656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5%份额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5029200" y="3337560"/>
            <a:ext cx="3840480" cy="384048"/>
          </a:xfrm>
          <a:prstGeom prst="rect">
            <a:avLst/>
          </a:prstGeom>
          <a:solidFill>
            <a:srgbClr val="999999">
              <a:alpha val="12000"/>
            </a:srgbClr>
          </a:solidFill>
          <a:ln w="6350">
            <a:solidFill>
              <a:srgbClr val="999999"/>
            </a:solidFill>
            <a:prstDash val="solid"/>
          </a:ln>
        </p:spPr>
        <p:txBody>
          <a:bodyPr/>
          <a:p/>
        </p:txBody>
      </p:sp>
      <p:sp>
        <p:nvSpPr>
          <p:cNvPr id="49" name="Text 47"/>
          <p:cNvSpPr/>
          <p:nvPr/>
        </p:nvSpPr>
        <p:spPr>
          <a:xfrm>
            <a:off x="5166360" y="338328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其他国内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6858000" y="338328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5-10万个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7955280" y="3383280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20%份额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5029200" y="3758184"/>
            <a:ext cx="3840480" cy="45720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53" name="Text 51"/>
          <p:cNvSpPr/>
          <p:nvPr/>
        </p:nvSpPr>
        <p:spPr>
          <a:xfrm>
            <a:off x="5029200" y="3758184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国内专业热管理公司快接头年总需求：25-55万个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457200" y="4919472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来源：行业调研 2026.04 | 估算仅供参考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56" name="Text 54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1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液冷专业公司合作策略矩阵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1371600" cy="804672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274320" y="9144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英维克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74320" y="13258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★★★★★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645920" y="914400"/>
            <a:ext cx="2011680" cy="804672"/>
          </a:xfrm>
          <a:prstGeom prst="rect">
            <a:avLst/>
          </a:prstGeom>
          <a:solidFill>
            <a:srgbClr val="F7FAFC"/>
          </a:solidFill>
          <a:ln w="9525">
            <a:solidFill>
              <a:srgbClr val="1A365D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737360" y="960120"/>
            <a:ext cx="1828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主攻客户，签订年度框架协议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657600" y="914400"/>
            <a:ext cx="3840480" cy="804672"/>
          </a:xfrm>
          <a:prstGeom prst="rect">
            <a:avLst/>
          </a:prstGeom>
          <a:solidFill>
            <a:srgbClr val="EDF2F7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749040" y="987552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快速通过OCP认证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3749040" y="1161288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提供免费样品测试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749040" y="1335024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建立联合实验室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3749040" y="1508760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年度供货协议锁定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7498080" y="914400"/>
            <a:ext cx="1371600" cy="804672"/>
          </a:xfrm>
          <a:prstGeom prst="rect">
            <a:avLst/>
          </a:prstGeom>
          <a:solidFill>
            <a:srgbClr val="1A365D">
              <a:alpha val="15000"/>
            </a:srgbClr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498080" y="96012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预估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7498080" y="11887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¥1500-2500万/年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74320" y="1755648"/>
            <a:ext cx="1371600" cy="804672"/>
          </a:xfrm>
          <a:prstGeom prst="rect">
            <a:avLst/>
          </a:prstGeom>
          <a:solidFill>
            <a:srgbClr val="2C5282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274320" y="1755648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申菱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74320" y="216712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★★★★☆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645920" y="1755648"/>
            <a:ext cx="2011680" cy="804672"/>
          </a:xfrm>
          <a:prstGeom prst="rect">
            <a:avLst/>
          </a:prstGeom>
          <a:solidFill>
            <a:srgbClr val="F7FAFC"/>
          </a:solidFill>
          <a:ln w="9525">
            <a:solidFill>
              <a:srgbClr val="2C5282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737360" y="1801368"/>
            <a:ext cx="1828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深度合作，联合开发定制快接头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657600" y="1755648"/>
            <a:ext cx="3840480" cy="804672"/>
          </a:xfrm>
          <a:prstGeom prst="rect">
            <a:avLst/>
          </a:prstGeom>
          <a:solidFill>
            <a:srgbClr val="EDF2F7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3749040" y="1828800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与申菱研发联合设计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3749040" y="2002536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匹配申菱冷板接口标准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3749040" y="2176272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在申菱顺德工厂附近设仓储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749040" y="2350008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定制化响应快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7498080" y="1755648"/>
            <a:ext cx="1371600" cy="804672"/>
          </a:xfrm>
          <a:prstGeom prst="rect">
            <a:avLst/>
          </a:prstGeom>
          <a:solidFill>
            <a:srgbClr val="2C5282">
              <a:alpha val="15000"/>
            </a:srgbClr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7498080" y="1801368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预估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7498080" y="2029968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¥500-1000万/年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74320" y="2596896"/>
            <a:ext cx="1371600" cy="804672"/>
          </a:xfrm>
          <a:prstGeom prst="rect">
            <a:avLst/>
          </a:prstGeom>
          <a:solidFill>
            <a:srgbClr val="ED8936"/>
          </a:solidFill>
          <a:ln/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274320" y="2596896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超聚变/高标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74320" y="3008376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★★★★☆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1645920" y="2596896"/>
            <a:ext cx="2011680" cy="804672"/>
          </a:xfrm>
          <a:prstGeom prst="rect">
            <a:avLst/>
          </a:prstGeom>
          <a:solidFill>
            <a:srgbClr val="F7FAFC"/>
          </a:solidFill>
          <a:ln w="9525">
            <a:solidFill>
              <a:srgbClr val="ED8936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1737360" y="2642616"/>
            <a:ext cx="1828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跟随超聚变进入昇腾生态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3657600" y="2596896"/>
            <a:ext cx="3840480" cy="804672"/>
          </a:xfrm>
          <a:prstGeom prst="rect">
            <a:avLst/>
          </a:prstGeom>
          <a:solidFill>
            <a:srgbClr val="EDF2F7"/>
          </a:solidFill>
          <a:ln/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3749040" y="2670048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通过超聚变验证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3749040" y="2843784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配套超聚变CDU出货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3749040" y="3017520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快速定制响应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3749040" y="3191256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绑定昇腾液冷标准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7498080" y="2596896"/>
            <a:ext cx="1371600" cy="804672"/>
          </a:xfrm>
          <a:prstGeom prst="rect">
            <a:avLst/>
          </a:prstGeom>
          <a:solidFill>
            <a:srgbClr val="ED8936">
              <a:alpha val="15000"/>
            </a:srgbClr>
          </a:solidFill>
          <a:ln/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7498080" y="2642616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预估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7498080" y="2871216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¥300-800万/年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274320" y="3438144"/>
            <a:ext cx="1371600" cy="804672"/>
          </a:xfrm>
          <a:prstGeom prst="rect">
            <a:avLst/>
          </a:prstGeom>
          <a:solidFill>
            <a:srgbClr val="2F855A"/>
          </a:solidFill>
          <a:ln/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274320" y="3438144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宁畅/朗之闻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274320" y="3849624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★★★☆☆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1645920" y="3438144"/>
            <a:ext cx="2011680" cy="804672"/>
          </a:xfrm>
          <a:prstGeom prst="rect">
            <a:avLst/>
          </a:prstGeom>
          <a:solidFill>
            <a:srgbClr val="F7FAFC"/>
          </a:solidFill>
          <a:ln w="9525">
            <a:solidFill>
              <a:srgbClr val="2F855A"/>
            </a:solidFill>
            <a:prstDash val="solid"/>
          </a:ln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1737360" y="3483864"/>
            <a:ext cx="1828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备选客户，定制化优先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3657600" y="3438144"/>
            <a:ext cx="3840480" cy="804672"/>
          </a:xfrm>
          <a:prstGeom prst="rect">
            <a:avLst/>
          </a:prstGeom>
          <a:solidFill>
            <a:srgbClr val="EDF2F7"/>
          </a:solidFill>
          <a:ln/>
        </p:spPr>
        <p:txBody>
          <a:bodyPr/>
          <a:p/>
        </p:txBody>
      </p:sp>
      <p:sp>
        <p:nvSpPr>
          <p:cNvPr id="49" name="Text 47"/>
          <p:cNvSpPr/>
          <p:nvPr/>
        </p:nvSpPr>
        <p:spPr>
          <a:xfrm>
            <a:off x="3749040" y="3511296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深度定制快接头（宁畅要求多）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3749040" y="3685032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响应速度快（比史陶比尔快）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3749040" y="3858768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建立样板案例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3749040" y="4032504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逐步扩大份额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7498080" y="3438144"/>
            <a:ext cx="1371600" cy="804672"/>
          </a:xfrm>
          <a:prstGeom prst="rect">
            <a:avLst/>
          </a:prstGeom>
          <a:solidFill>
            <a:srgbClr val="2F855A">
              <a:alpha val="15000"/>
            </a:srgbClr>
          </a:solidFill>
          <a:ln/>
        </p:spPr>
        <p:txBody>
          <a:bodyPr/>
          <a:p/>
        </p:txBody>
      </p:sp>
      <p:sp>
        <p:nvSpPr>
          <p:cNvPr id="54" name="Text 52"/>
          <p:cNvSpPr/>
          <p:nvPr/>
        </p:nvSpPr>
        <p:spPr>
          <a:xfrm>
            <a:off x="7498080" y="3483864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预估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7498080" y="3712464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¥200-500万/年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274320" y="4279392"/>
            <a:ext cx="1371600" cy="804672"/>
          </a:xfrm>
          <a:prstGeom prst="rect">
            <a:avLst/>
          </a:prstGeom>
          <a:solidFill>
            <a:srgbClr val="805AD5"/>
          </a:solidFill>
          <a:ln/>
        </p:spPr>
        <p:txBody>
          <a:bodyPr/>
          <a:p/>
        </p:txBody>
      </p:sp>
      <p:sp>
        <p:nvSpPr>
          <p:cNvPr id="57" name="Text 55"/>
          <p:cNvSpPr/>
          <p:nvPr/>
        </p:nvSpPr>
        <p:spPr>
          <a:xfrm>
            <a:off x="274320" y="427939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Vertiv中国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274320" y="469087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★★★☆☆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1645920" y="4279392"/>
            <a:ext cx="2011680" cy="804672"/>
          </a:xfrm>
          <a:prstGeom prst="rect">
            <a:avLst/>
          </a:prstGeom>
          <a:solidFill>
            <a:srgbClr val="F7FAFC"/>
          </a:solidFill>
          <a:ln w="9525">
            <a:solidFill>
              <a:srgbClr val="805AD5"/>
            </a:solidFill>
            <a:prstDash val="solid"/>
          </a:ln>
        </p:spPr>
        <p:txBody>
          <a:bodyPr/>
          <a:p/>
        </p:txBody>
      </p:sp>
      <p:sp>
        <p:nvSpPr>
          <p:cNvPr id="60" name="Text 58"/>
          <p:cNvSpPr/>
          <p:nvPr/>
        </p:nvSpPr>
        <p:spPr>
          <a:xfrm>
            <a:off x="1737360" y="4325112"/>
            <a:ext cx="1828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通过Vertiv进入全球液冷市场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3657600" y="4279392"/>
            <a:ext cx="3840480" cy="804672"/>
          </a:xfrm>
          <a:prstGeom prst="rect">
            <a:avLst/>
          </a:prstGeom>
          <a:solidFill>
            <a:srgbClr val="EDF2F7"/>
          </a:solidFill>
          <a:ln/>
        </p:spPr>
        <p:txBody>
          <a:bodyPr/>
          <a:p/>
        </p:txBody>
      </p:sp>
      <p:sp>
        <p:nvSpPr>
          <p:cNvPr id="62" name="Text 60"/>
          <p:cNvSpPr/>
          <p:nvPr/>
        </p:nvSpPr>
        <p:spPr>
          <a:xfrm>
            <a:off x="3749040" y="4352544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先通过Vertiv中国</a:t>
            </a:r>
            <a:endParaRPr lang="en-US" sz="750" dirty="0"/>
          </a:p>
        </p:txBody>
      </p:sp>
      <p:sp>
        <p:nvSpPr>
          <p:cNvPr id="63" name="Text 61"/>
          <p:cNvSpPr/>
          <p:nvPr/>
        </p:nvSpPr>
        <p:spPr>
          <a:xfrm>
            <a:off x="3749040" y="4526280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再进入Vertiv全球供应商</a:t>
            </a:r>
            <a:endParaRPr lang="en-US" sz="750" dirty="0"/>
          </a:p>
        </p:txBody>
      </p:sp>
      <p:sp>
        <p:nvSpPr>
          <p:cNvPr id="64" name="Text 62"/>
          <p:cNvSpPr/>
          <p:nvPr/>
        </p:nvSpPr>
        <p:spPr>
          <a:xfrm>
            <a:off x="3749040" y="4700016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符合Vertiv OCP要求</a:t>
            </a:r>
            <a:endParaRPr lang="en-US" sz="750" dirty="0"/>
          </a:p>
        </p:txBody>
      </p:sp>
      <p:sp>
        <p:nvSpPr>
          <p:cNvPr id="65" name="Text 63"/>
          <p:cNvSpPr/>
          <p:nvPr/>
        </p:nvSpPr>
        <p:spPr>
          <a:xfrm>
            <a:off x="3749040" y="4873752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欧洲/北美长期机会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7498080" y="4279392"/>
            <a:ext cx="1371600" cy="804672"/>
          </a:xfrm>
          <a:prstGeom prst="rect">
            <a:avLst/>
          </a:prstGeom>
          <a:solidFill>
            <a:srgbClr val="805AD5">
              <a:alpha val="15000"/>
            </a:srgbClr>
          </a:solidFill>
          <a:ln/>
        </p:spPr>
        <p:txBody>
          <a:bodyPr/>
          <a:p/>
        </p:txBody>
      </p:sp>
      <p:sp>
        <p:nvSpPr>
          <p:cNvPr id="67" name="Text 65"/>
          <p:cNvSpPr/>
          <p:nvPr/>
        </p:nvSpPr>
        <p:spPr>
          <a:xfrm>
            <a:off x="7498080" y="432511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05A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预估</a:t>
            </a:r>
            <a:endParaRPr lang="en-US" sz="750" dirty="0"/>
          </a:p>
        </p:txBody>
      </p:sp>
      <p:sp>
        <p:nvSpPr>
          <p:cNvPr id="68" name="Text 66"/>
          <p:cNvSpPr/>
          <p:nvPr/>
        </p:nvSpPr>
        <p:spPr>
          <a:xfrm>
            <a:off x="7498080" y="4553712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05A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¥200-400万/年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274320" y="5074920"/>
            <a:ext cx="8595360" cy="384048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70" name="Text 68"/>
          <p:cNvSpPr/>
          <p:nvPr/>
        </p:nvSpPr>
        <p:spPr>
          <a:xfrm>
            <a:off x="457200" y="507492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海悟5年累计收入目标（5大专业热管理公司客户）：¥2.5-5亿元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72" name="Text 70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1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A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ED8936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核心结论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822960"/>
          </a:xfrm>
          <a:prstGeom prst="rect">
            <a:avLst/>
          </a:prstGeom>
          <a:solidFill>
            <a:srgbClr val="2C5282">
              <a:alpha val="50000"/>
            </a:srgbClr>
          </a:solidFill>
          <a:ln w="9525">
            <a:solidFill>
              <a:srgbClr val="ED8936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457200" y="1005840"/>
            <a:ext cx="548640" cy="822960"/>
          </a:xfrm>
          <a:prstGeom prst="rect">
            <a:avLst/>
          </a:prstGeom>
          <a:solidFill>
            <a:srgbClr val="ED8936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57200" y="1005840"/>
            <a:ext cx="548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43000" y="10972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液冷是必然，非可选项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43000" y="144475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 TDP从700W到4000W+，风冷物理极限800W，液冷是唯一解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920240"/>
            <a:ext cx="8229600" cy="822960"/>
          </a:xfrm>
          <a:prstGeom prst="rect">
            <a:avLst/>
          </a:prstGeom>
          <a:solidFill>
            <a:srgbClr val="2C5282">
              <a:alpha val="50000"/>
            </a:srgbClr>
          </a:solidFill>
          <a:ln w="9525">
            <a:solidFill>
              <a:srgbClr val="ED8936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57200" y="1920240"/>
            <a:ext cx="548640" cy="822960"/>
          </a:xfrm>
          <a:prstGeom prst="rect">
            <a:avLst/>
          </a:prstGeom>
          <a:solidFill>
            <a:srgbClr val="ED8936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57200" y="1920240"/>
            <a:ext cx="548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43000" y="20116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快接头是最佳切入点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43000" y="235915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技术壁垒最高（5/5）、国产替代空间最大（&gt;90%进口）、海悟可建立差异化优势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834640"/>
            <a:ext cx="8229600" cy="822960"/>
          </a:xfrm>
          <a:prstGeom prst="rect">
            <a:avLst/>
          </a:prstGeom>
          <a:solidFill>
            <a:srgbClr val="2C5282">
              <a:alpha val="50000"/>
            </a:srgbClr>
          </a:solidFill>
          <a:ln w="9525">
            <a:solidFill>
              <a:srgbClr val="ED8936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457200" y="2834640"/>
            <a:ext cx="548640" cy="822960"/>
          </a:xfrm>
          <a:prstGeom prst="rect">
            <a:avLst/>
          </a:prstGeom>
          <a:solidFill>
            <a:srgbClr val="ED8936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457200" y="2834640"/>
            <a:ext cx="548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43000" y="2926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全球五区域差异化布局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43000" y="327355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国内（根基）→东南亚（规模）→中东/欧洲（利润）→北美（长期）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37947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关键数据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4114800"/>
            <a:ext cx="2011680" cy="685800"/>
          </a:xfrm>
          <a:prstGeom prst="rect">
            <a:avLst/>
          </a:prstGeom>
          <a:solidFill>
            <a:srgbClr val="ED8936">
              <a:alpha val="20000"/>
            </a:srgbClr>
          </a:solidFill>
          <a:ln w="12700">
            <a:solidFill>
              <a:srgbClr val="ED8936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457200" y="413308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$105B+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57200" y="449884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2026液冷市场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2606040" y="4114800"/>
            <a:ext cx="2011680" cy="685800"/>
          </a:xfrm>
          <a:prstGeom prst="rect">
            <a:avLst/>
          </a:prstGeom>
          <a:solidFill>
            <a:srgbClr val="ED8936">
              <a:alpha val="20000"/>
            </a:srgbClr>
          </a:solidFill>
          <a:ln w="12700">
            <a:solidFill>
              <a:srgbClr val="ED8936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2606040" y="413308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2606040" y="449884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快接头国产替代空间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754880" y="4114800"/>
            <a:ext cx="2011680" cy="685800"/>
          </a:xfrm>
          <a:prstGeom prst="rect">
            <a:avLst/>
          </a:prstGeom>
          <a:solidFill>
            <a:srgbClr val="ED8936">
              <a:alpha val="20000"/>
            </a:srgbClr>
          </a:solidFill>
          <a:ln w="12700">
            <a:solidFill>
              <a:srgbClr val="ED8936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4754880" y="413308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1-2年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4754880" y="449884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最佳窗口期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6903720" y="4114800"/>
            <a:ext cx="2011680" cy="685800"/>
          </a:xfrm>
          <a:prstGeom prst="rect">
            <a:avLst/>
          </a:prstGeom>
          <a:solidFill>
            <a:srgbClr val="ED8936">
              <a:alpha val="20000"/>
            </a:srgbClr>
          </a:solidFill>
          <a:ln w="12700">
            <a:solidFill>
              <a:srgbClr val="ED8936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6903720" y="413308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5.7x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6903720" y="449884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 TDP增长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0" y="4937760"/>
            <a:ext cx="9144000" cy="73152"/>
          </a:xfrm>
          <a:prstGeom prst="rect">
            <a:avLst/>
          </a:prstGeom>
          <a:solidFill>
            <a:srgbClr val="ED8936"/>
          </a:solidFill>
          <a:ln/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457200" y="5029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 |  机柜级液冷战略  |  2026年4月</a:t>
            </a:r>
            <a:endParaRPr lang="en-US" sz="10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>
            <a:pPr>
              <a:defRPr sz="3600" b="1"/>
            </a:pPr>
            <a:r>
              <a:t>伍 · 看机会</a:t>
            </a:r>
          </a:p>
          <a:p>
            <a:pPr>
              <a:defRPr sz="1400"/>
            </a:pPr>
            <a:r>
              <a:t>机会识别与优先级</a:t>
            </a:r>
            <a:br/>
            <a:br/>
            <a:r>
              <a:t>GPU机会矩阵 · OEM供应机会 · 区域策略</a:t>
            </a:r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国产GPU产品线全景与液冷需求对比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1188720" cy="384048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274320" y="914400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1463040" y="914400"/>
            <a:ext cx="640080" cy="384048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463040" y="914400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制程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103120" y="914400"/>
            <a:ext cx="594360" cy="384048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103120" y="914400"/>
            <a:ext cx="594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TDP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697480" y="914400"/>
            <a:ext cx="914400" cy="384048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2697480" y="914400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FP16算力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611880" y="914400"/>
            <a:ext cx="777240" cy="384048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3611880" y="914400"/>
            <a:ext cx="777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液冷需求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389120" y="914400"/>
            <a:ext cx="777240" cy="384048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4389120" y="914400"/>
            <a:ext cx="777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166360" y="914400"/>
            <a:ext cx="1371600" cy="384048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166360" y="91440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适配OEM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74320" y="1298448"/>
            <a:ext cx="118872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301752" y="1325880"/>
            <a:ext cx="1133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 910B/910C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昇腾910B / 910C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1463040" y="1298448"/>
            <a:ext cx="64008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490472" y="1325880"/>
            <a:ext cx="5852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7nm 华为自研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2103120" y="1298448"/>
            <a:ext cx="59436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2130552" y="1325880"/>
            <a:ext cx="5394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400W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2697480" y="1298448"/>
            <a:ext cx="91440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2724912" y="1325880"/>
            <a:ext cx="8595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800 TFLOPS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3611880" y="1298448"/>
            <a:ext cx="77724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3639312" y="1325880"/>
            <a:ext cx="722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冷板（华为封闭标准）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4389120" y="1298448"/>
            <a:ext cx="77724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4416552" y="1325880"/>
            <a:ext cx="722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封闭标准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5166360" y="1298448"/>
            <a:ext cx="137160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5193792" y="1325880"/>
            <a:ext cx="13167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超聚变（独供）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274320" y="1810512"/>
            <a:ext cx="118872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301752" y="1837944"/>
            <a:ext cx="1133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寒武纪 MLU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MLU370 / MLU590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1463040" y="1810512"/>
            <a:ext cx="64008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1490472" y="1837944"/>
            <a:ext cx="5852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7nm TSMC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2103120" y="1810512"/>
            <a:ext cx="59436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2130552" y="1837944"/>
            <a:ext cx="5394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350-450W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2697480" y="1810512"/>
            <a:ext cx="91440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2724912" y="1837944"/>
            <a:ext cx="8595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256 TFLOPS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3611880" y="1810512"/>
            <a:ext cx="77724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3639312" y="1837944"/>
            <a:ext cx="722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冷板（必须）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4389120" y="1810512"/>
            <a:ext cx="77724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4416552" y="1837944"/>
            <a:ext cx="722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开放标准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5166360" y="1810512"/>
            <a:ext cx="137160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5193792" y="1837944"/>
            <a:ext cx="13167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宁畅/华鲲/澎湃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274320" y="2322576"/>
            <a:ext cx="118872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301752" y="2350008"/>
            <a:ext cx="1133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海光 DCU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Z100 / Z200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1463040" y="2322576"/>
            <a:ext cx="64008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9" name="Text 47"/>
          <p:cNvSpPr/>
          <p:nvPr/>
        </p:nvSpPr>
        <p:spPr>
          <a:xfrm>
            <a:off x="1490472" y="2350008"/>
            <a:ext cx="5852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7nm DUV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2103120" y="2322576"/>
            <a:ext cx="59436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1" name="Text 49"/>
          <p:cNvSpPr/>
          <p:nvPr/>
        </p:nvSpPr>
        <p:spPr>
          <a:xfrm>
            <a:off x="2130552" y="2350008"/>
            <a:ext cx="5394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400-500W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2697480" y="2322576"/>
            <a:ext cx="91440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3" name="Text 51"/>
          <p:cNvSpPr/>
          <p:nvPr/>
        </p:nvSpPr>
        <p:spPr>
          <a:xfrm>
            <a:off x="2724912" y="2350008"/>
            <a:ext cx="8595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372 TFLOPS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3611880" y="2322576"/>
            <a:ext cx="77724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5" name="Text 53"/>
          <p:cNvSpPr/>
          <p:nvPr/>
        </p:nvSpPr>
        <p:spPr>
          <a:xfrm>
            <a:off x="3639312" y="2350008"/>
            <a:ext cx="722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冷板（必须）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4389120" y="2322576"/>
            <a:ext cx="77724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7" name="Text 55"/>
          <p:cNvSpPr/>
          <p:nvPr/>
        </p:nvSpPr>
        <p:spPr>
          <a:xfrm>
            <a:off x="4416552" y="2350008"/>
            <a:ext cx="722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开放标准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5166360" y="2322576"/>
            <a:ext cx="137160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9" name="Text 57"/>
          <p:cNvSpPr/>
          <p:nvPr/>
        </p:nvSpPr>
        <p:spPr>
          <a:xfrm>
            <a:off x="5193792" y="2350008"/>
            <a:ext cx="13167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浪潮/华鲲/联想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274320" y="2834640"/>
            <a:ext cx="118872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61" name="Text 59"/>
          <p:cNvSpPr/>
          <p:nvPr/>
        </p:nvSpPr>
        <p:spPr>
          <a:xfrm>
            <a:off x="301752" y="2862072"/>
            <a:ext cx="1133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摩尔线程 MTT X400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MTT X400 / X500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1463040" y="2834640"/>
            <a:ext cx="64008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63" name="Text 61"/>
          <p:cNvSpPr/>
          <p:nvPr/>
        </p:nvSpPr>
        <p:spPr>
          <a:xfrm>
            <a:off x="1490472" y="2862072"/>
            <a:ext cx="5852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12nm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2103120" y="2834640"/>
            <a:ext cx="59436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65" name="Text 63"/>
          <p:cNvSpPr/>
          <p:nvPr/>
        </p:nvSpPr>
        <p:spPr>
          <a:xfrm>
            <a:off x="2130552" y="2862072"/>
            <a:ext cx="5394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200-250W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2697480" y="2834640"/>
            <a:ext cx="91440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67" name="Text 65"/>
          <p:cNvSpPr/>
          <p:nvPr/>
        </p:nvSpPr>
        <p:spPr>
          <a:xfrm>
            <a:off x="2724912" y="2862072"/>
            <a:ext cx="8595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256 TFLOPS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3611880" y="2834640"/>
            <a:ext cx="77724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69" name="Text 67"/>
          <p:cNvSpPr/>
          <p:nvPr/>
        </p:nvSpPr>
        <p:spPr>
          <a:xfrm>
            <a:off x="3639312" y="2862072"/>
            <a:ext cx="722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冷板（高功率版）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4389120" y="2834640"/>
            <a:ext cx="77724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71" name="Text 69"/>
          <p:cNvSpPr/>
          <p:nvPr/>
        </p:nvSpPr>
        <p:spPr>
          <a:xfrm>
            <a:off x="4416552" y="2862072"/>
            <a:ext cx="722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开放标准</a:t>
            </a:r>
            <a:endParaRPr lang="en-US" sz="750" dirty="0"/>
          </a:p>
        </p:txBody>
      </p:sp>
      <p:sp>
        <p:nvSpPr>
          <p:cNvPr id="72" name="Shape 70"/>
          <p:cNvSpPr/>
          <p:nvPr/>
        </p:nvSpPr>
        <p:spPr>
          <a:xfrm>
            <a:off x="5166360" y="2834640"/>
            <a:ext cx="137160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73" name="Text 71"/>
          <p:cNvSpPr/>
          <p:nvPr/>
        </p:nvSpPr>
        <p:spPr>
          <a:xfrm>
            <a:off x="5193792" y="2862072"/>
            <a:ext cx="13167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浪潮/宁畅/同方</a:t>
            </a:r>
            <a:endParaRPr lang="en-US" sz="750" dirty="0"/>
          </a:p>
        </p:txBody>
      </p:sp>
      <p:sp>
        <p:nvSpPr>
          <p:cNvPr id="74" name="Shape 72"/>
          <p:cNvSpPr/>
          <p:nvPr/>
        </p:nvSpPr>
        <p:spPr>
          <a:xfrm>
            <a:off x="274320" y="3346704"/>
            <a:ext cx="118872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75" name="Text 73"/>
          <p:cNvSpPr/>
          <p:nvPr/>
        </p:nvSpPr>
        <p:spPr>
          <a:xfrm>
            <a:off x="301752" y="3374136"/>
            <a:ext cx="1133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昆仑芯 K230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K230 / K200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1463040" y="3346704"/>
            <a:ext cx="64008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77" name="Text 75"/>
          <p:cNvSpPr/>
          <p:nvPr/>
        </p:nvSpPr>
        <p:spPr>
          <a:xfrm>
            <a:off x="1490472" y="3374136"/>
            <a:ext cx="5852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12nm</a:t>
            </a:r>
            <a:endParaRPr lang="en-US" sz="750" dirty="0"/>
          </a:p>
        </p:txBody>
      </p:sp>
      <p:sp>
        <p:nvSpPr>
          <p:cNvPr id="78" name="Shape 76"/>
          <p:cNvSpPr/>
          <p:nvPr/>
        </p:nvSpPr>
        <p:spPr>
          <a:xfrm>
            <a:off x="2103120" y="3346704"/>
            <a:ext cx="59436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79" name="Text 77"/>
          <p:cNvSpPr/>
          <p:nvPr/>
        </p:nvSpPr>
        <p:spPr>
          <a:xfrm>
            <a:off x="2130552" y="3374136"/>
            <a:ext cx="5394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150-200W</a:t>
            </a:r>
            <a:endParaRPr lang="en-US" sz="750" dirty="0"/>
          </a:p>
        </p:txBody>
      </p:sp>
      <p:sp>
        <p:nvSpPr>
          <p:cNvPr id="80" name="Shape 78"/>
          <p:cNvSpPr/>
          <p:nvPr/>
        </p:nvSpPr>
        <p:spPr>
          <a:xfrm>
            <a:off x="2697480" y="3346704"/>
            <a:ext cx="91440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81" name="Text 79"/>
          <p:cNvSpPr/>
          <p:nvPr/>
        </p:nvSpPr>
        <p:spPr>
          <a:xfrm>
            <a:off x="2724912" y="3374136"/>
            <a:ext cx="8595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64 TFLOPS</a:t>
            </a:r>
            <a:endParaRPr lang="en-US" sz="750" dirty="0"/>
          </a:p>
        </p:txBody>
      </p:sp>
      <p:sp>
        <p:nvSpPr>
          <p:cNvPr id="82" name="Shape 80"/>
          <p:cNvSpPr/>
          <p:nvPr/>
        </p:nvSpPr>
        <p:spPr>
          <a:xfrm>
            <a:off x="3611880" y="3346704"/>
            <a:ext cx="77724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83" name="Text 81"/>
          <p:cNvSpPr/>
          <p:nvPr/>
        </p:nvSpPr>
        <p:spPr>
          <a:xfrm>
            <a:off x="3639312" y="3374136"/>
            <a:ext cx="722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冷板（高功率版）</a:t>
            </a:r>
            <a:endParaRPr lang="en-US" sz="750" dirty="0"/>
          </a:p>
        </p:txBody>
      </p:sp>
      <p:sp>
        <p:nvSpPr>
          <p:cNvPr id="84" name="Shape 82"/>
          <p:cNvSpPr/>
          <p:nvPr/>
        </p:nvSpPr>
        <p:spPr>
          <a:xfrm>
            <a:off x="4389120" y="3346704"/>
            <a:ext cx="77724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85" name="Text 83"/>
          <p:cNvSpPr/>
          <p:nvPr/>
        </p:nvSpPr>
        <p:spPr>
          <a:xfrm>
            <a:off x="4416552" y="3374136"/>
            <a:ext cx="722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开放标准</a:t>
            </a:r>
            <a:endParaRPr lang="en-US" sz="750" dirty="0"/>
          </a:p>
        </p:txBody>
      </p:sp>
      <p:sp>
        <p:nvSpPr>
          <p:cNvPr id="86" name="Shape 84"/>
          <p:cNvSpPr/>
          <p:nvPr/>
        </p:nvSpPr>
        <p:spPr>
          <a:xfrm>
            <a:off x="5166360" y="3346704"/>
            <a:ext cx="137160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87" name="Text 85"/>
          <p:cNvSpPr/>
          <p:nvPr/>
        </p:nvSpPr>
        <p:spPr>
          <a:xfrm>
            <a:off x="5193792" y="3374136"/>
            <a:ext cx="13167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浪潮/宁畅</a:t>
            </a:r>
            <a:endParaRPr lang="en-US" sz="750" dirty="0"/>
          </a:p>
        </p:txBody>
      </p:sp>
      <p:sp>
        <p:nvSpPr>
          <p:cNvPr id="88" name="Shape 86"/>
          <p:cNvSpPr/>
          <p:nvPr/>
        </p:nvSpPr>
        <p:spPr>
          <a:xfrm>
            <a:off x="274320" y="3858768"/>
            <a:ext cx="118872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89" name="Text 87"/>
          <p:cNvSpPr/>
          <p:nvPr/>
        </p:nvSpPr>
        <p:spPr>
          <a:xfrm>
            <a:off x="301752" y="3886200"/>
            <a:ext cx="1133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平头哥 Hanguang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Hanguang 800</a:t>
            </a:r>
            <a:endParaRPr lang="en-US" sz="800" dirty="0"/>
          </a:p>
        </p:txBody>
      </p:sp>
      <p:sp>
        <p:nvSpPr>
          <p:cNvPr id="90" name="Shape 88"/>
          <p:cNvSpPr/>
          <p:nvPr/>
        </p:nvSpPr>
        <p:spPr>
          <a:xfrm>
            <a:off x="1463040" y="3858768"/>
            <a:ext cx="64008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91" name="Text 89"/>
          <p:cNvSpPr/>
          <p:nvPr/>
        </p:nvSpPr>
        <p:spPr>
          <a:xfrm>
            <a:off x="1490472" y="3886200"/>
            <a:ext cx="5852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12nm</a:t>
            </a:r>
            <a:endParaRPr lang="en-US" sz="750" dirty="0"/>
          </a:p>
        </p:txBody>
      </p:sp>
      <p:sp>
        <p:nvSpPr>
          <p:cNvPr id="92" name="Shape 90"/>
          <p:cNvSpPr/>
          <p:nvPr/>
        </p:nvSpPr>
        <p:spPr>
          <a:xfrm>
            <a:off x="2103120" y="3858768"/>
            <a:ext cx="59436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93" name="Text 91"/>
          <p:cNvSpPr/>
          <p:nvPr/>
        </p:nvSpPr>
        <p:spPr>
          <a:xfrm>
            <a:off x="2130552" y="3886200"/>
            <a:ext cx="5394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100-150W</a:t>
            </a:r>
            <a:endParaRPr lang="en-US" sz="750" dirty="0"/>
          </a:p>
        </p:txBody>
      </p:sp>
      <p:sp>
        <p:nvSpPr>
          <p:cNvPr id="94" name="Shape 92"/>
          <p:cNvSpPr/>
          <p:nvPr/>
        </p:nvSpPr>
        <p:spPr>
          <a:xfrm>
            <a:off x="2697480" y="3858768"/>
            <a:ext cx="91440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95" name="Text 93"/>
          <p:cNvSpPr/>
          <p:nvPr/>
        </p:nvSpPr>
        <p:spPr>
          <a:xfrm>
            <a:off x="2724912" y="3886200"/>
            <a:ext cx="8595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256 TOPS</a:t>
            </a:r>
            <a:endParaRPr lang="en-US" sz="750" dirty="0"/>
          </a:p>
        </p:txBody>
      </p:sp>
      <p:sp>
        <p:nvSpPr>
          <p:cNvPr id="96" name="Shape 94"/>
          <p:cNvSpPr/>
          <p:nvPr/>
        </p:nvSpPr>
        <p:spPr>
          <a:xfrm>
            <a:off x="3611880" y="3858768"/>
            <a:ext cx="77724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97" name="Text 95"/>
          <p:cNvSpPr/>
          <p:nvPr/>
        </p:nvSpPr>
        <p:spPr>
          <a:xfrm>
            <a:off x="3639312" y="3886200"/>
            <a:ext cx="722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风冷/冷板</a:t>
            </a:r>
            <a:endParaRPr lang="en-US" sz="750" dirty="0"/>
          </a:p>
        </p:txBody>
      </p:sp>
      <p:sp>
        <p:nvSpPr>
          <p:cNvPr id="98" name="Shape 96"/>
          <p:cNvSpPr/>
          <p:nvPr/>
        </p:nvSpPr>
        <p:spPr>
          <a:xfrm>
            <a:off x="4389120" y="3858768"/>
            <a:ext cx="77724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99" name="Text 97"/>
          <p:cNvSpPr/>
          <p:nvPr/>
        </p:nvSpPr>
        <p:spPr>
          <a:xfrm>
            <a:off x="4416552" y="3886200"/>
            <a:ext cx="722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开放标准</a:t>
            </a:r>
            <a:endParaRPr lang="en-US" sz="750" dirty="0"/>
          </a:p>
        </p:txBody>
      </p:sp>
      <p:sp>
        <p:nvSpPr>
          <p:cNvPr id="100" name="Shape 98"/>
          <p:cNvSpPr/>
          <p:nvPr/>
        </p:nvSpPr>
        <p:spPr>
          <a:xfrm>
            <a:off x="5166360" y="3858768"/>
            <a:ext cx="137160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1" name="Text 99"/>
          <p:cNvSpPr/>
          <p:nvPr/>
        </p:nvSpPr>
        <p:spPr>
          <a:xfrm>
            <a:off x="5193792" y="3886200"/>
            <a:ext cx="13167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阿里云自用</a:t>
            </a:r>
            <a:endParaRPr lang="en-US" sz="750" dirty="0"/>
          </a:p>
        </p:txBody>
      </p:sp>
      <p:sp>
        <p:nvSpPr>
          <p:cNvPr id="102" name="Text 100"/>
          <p:cNvSpPr/>
          <p:nvPr/>
        </p:nvSpPr>
        <p:spPr>
          <a:xfrm>
            <a:off x="274320" y="47091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注：TDP和算力为估算值（部分数据未公开），仅供参考 | 来源：厂商官网 | IDC 2025.04 [已核实/估算]</a:t>
            </a:r>
            <a:endParaRPr lang="en-US" sz="700" dirty="0"/>
          </a:p>
        </p:txBody>
      </p:sp>
      <p:sp>
        <p:nvSpPr>
          <p:cNvPr id="103" name="Shape 101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104" name="Text 102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09728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国产GPU厂商对比更新（2026H1）</a:t>
            </a:r>
            <a:endParaRPr lang="en-US" sz="2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51560"/>
          <a:ext cx="859536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188720"/>
                <a:gridCol w="1097280"/>
                <a:gridCol w="1188720"/>
                <a:gridCol w="1280160"/>
                <a:gridCol w="118872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厂商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代表产品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TDP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液冷需求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2026E出货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市场份额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平头哥(阿里)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思元590/690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150-200W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32F2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冷板区间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国产GPU四小龙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推理性价比具竞争力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平头哥(阿里)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海光DCU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深算三号/四号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32F2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冷板区间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400-500W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国产GPU四小龙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昆仑芯(百度)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M100/M300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150-200W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D89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冷板区间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国产GPU四小龙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冷板(高功率)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平头哥(阿里)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真武810E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150-200W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D89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冷板区间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国产GPU四小龙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100-150W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摩尔线程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MTT X400/X500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150-200W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D89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冷板区间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国产GPU四小龙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200-250W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壁仞科技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壁仞系列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D89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国产GPU四小龙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国产GPU四小龙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国产GPU四小龙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274320" y="3886200"/>
            <a:ext cx="4114800" cy="594360"/>
          </a:xfrm>
          <a:prstGeom prst="roundRect">
            <a:avLst>
              <a:gd name="adj" fmla="val 9231"/>
            </a:avLst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457200" y="393192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🔴 英伟达中国份额&lt;50% | 昇腾20%领跑 | 平头哥25.6万颗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57200" y="4187952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950PR + 950DT 合计约120万片，TDP均&gt;1000W，必须液冷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663440" y="3886200"/>
            <a:ext cx="4206240" cy="594360"/>
          </a:xfrm>
          <a:prstGeom prst="roundRect">
            <a:avLst>
              <a:gd name="adj" fmla="val 9231"/>
            </a:avLst>
          </a:prstGeom>
          <a:solidFill>
            <a:srgbClr val="ED8936"/>
          </a:solidFill>
          <a:ln/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4846320" y="393192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📊 国产GPU市占率质变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846320" y="4187952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DeepSeek V4全面适配国产芯片 | Token调用量首超美国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57200" y="4709160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来源：中银证券 2026-04-08 | 国金证券 | 开源证券 [✔已核实] 英伟达&lt;50%</a:t>
            </a:r>
            <a:endParaRPr lang="en-US" sz="700" dirty="0"/>
          </a:p>
        </p:txBody>
      </p:sp>
      <p:sp>
        <p:nvSpPr>
          <p:cNvPr id="12" name="Shape 9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昇腾体系深度分析：封闭生态与液冷机会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9144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昇腾芯片产品路线图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457200" cy="384048"/>
          </a:xfrm>
          <a:prstGeom prst="rect">
            <a:avLst/>
          </a:prstGeom>
          <a:solidFill>
            <a:srgbClr val="2F855A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274320" y="1234440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2022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731520" y="1234440"/>
            <a:ext cx="146304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2F855A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22960" y="1252728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昇腾910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22960" y="1435608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F8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310W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2194560" y="1234440"/>
            <a:ext cx="2103120" cy="384048"/>
          </a:xfrm>
          <a:prstGeom prst="rect">
            <a:avLst/>
          </a:prstGeom>
          <a:solidFill>
            <a:srgbClr val="EDF2F7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2286000" y="123444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已量产，主流部署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274320" y="1664208"/>
            <a:ext cx="457200" cy="384048"/>
          </a:xfrm>
          <a:prstGeom prst="rect">
            <a:avLst/>
          </a:prstGeom>
          <a:solidFill>
            <a:srgbClr val="2C5282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274320" y="1664208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731520" y="1664208"/>
            <a:ext cx="146304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2C5282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22960" y="1682496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昇腾910B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22960" y="1865376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5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400W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2194560" y="1664208"/>
            <a:ext cx="2103120" cy="384048"/>
          </a:xfrm>
          <a:prstGeom prst="rect">
            <a:avLst/>
          </a:prstGeom>
          <a:solidFill>
            <a:srgbClr val="EDF2F7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2286000" y="1664208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替代910，性能提升40%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274320" y="2093976"/>
            <a:ext cx="457200" cy="384048"/>
          </a:xfrm>
          <a:prstGeom prst="rect">
            <a:avLst/>
          </a:prstGeom>
          <a:solidFill>
            <a:srgbClr val="ED8936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274320" y="2093976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731520" y="2093976"/>
            <a:ext cx="146304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D8936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822960" y="2112264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昇腾910C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22960" y="2295144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400W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2194560" y="2093976"/>
            <a:ext cx="2103120" cy="384048"/>
          </a:xfrm>
          <a:prstGeom prst="rect">
            <a:avLst/>
          </a:prstGeom>
          <a:solidFill>
            <a:srgbClr val="EDF2F7"/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2286000" y="2093976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800 TFLOPS (FP16)，双芯合封，HBM国产化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274320" y="2523744"/>
            <a:ext cx="457200" cy="384048"/>
          </a:xfrm>
          <a:prstGeom prst="rect">
            <a:avLst/>
          </a:prstGeom>
          <a:solidFill>
            <a:srgbClr val="C53030"/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274320" y="2523744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2026E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731520" y="2523744"/>
            <a:ext cx="1463040" cy="384048"/>
          </a:xfrm>
          <a:prstGeom prst="rect">
            <a:avLst/>
          </a:prstGeom>
          <a:solidFill>
            <a:srgbClr val="FFF5F5"/>
          </a:solidFill>
          <a:ln w="12700">
            <a:solidFill>
              <a:srgbClr val="C53030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822960" y="2542032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昇腾950DT/PR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22960" y="2724912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800W / 1 PFLOPS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2194560" y="2523744"/>
            <a:ext cx="2103120" cy="384048"/>
          </a:xfrm>
          <a:prstGeom prst="rect">
            <a:avLst/>
          </a:prstGeom>
          <a:solidFill>
            <a:srgbClr val="EDF2F7"/>
          </a:solidFill>
          <a:ln/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2286000" y="2523744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首次FP8低精度格式，SIMD+SIMT双模型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274320" y="2953512"/>
            <a:ext cx="457200" cy="384048"/>
          </a:xfrm>
          <a:prstGeom prst="rect">
            <a:avLst/>
          </a:prstGeom>
          <a:solidFill>
            <a:srgbClr val="C53030"/>
          </a:solidFill>
          <a:ln/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274320" y="2953512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2027E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731520" y="2953512"/>
            <a:ext cx="1463040" cy="384048"/>
          </a:xfrm>
          <a:prstGeom prst="rect">
            <a:avLst/>
          </a:prstGeom>
          <a:solidFill>
            <a:srgbClr val="FFF5F5"/>
          </a:solidFill>
          <a:ln w="12700">
            <a:solidFill>
              <a:srgbClr val="C53030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822960" y="2971800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昇腾960/970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22960" y="3154680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1-2kW / 8 PFLOPS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2194560" y="2953512"/>
            <a:ext cx="2103120" cy="384048"/>
          </a:xfrm>
          <a:prstGeom prst="rect">
            <a:avLst/>
          </a:prstGeom>
          <a:solidFill>
            <a:srgbClr val="EDF2F7"/>
          </a:solidFill>
          <a:ln/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2286000" y="2953512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FP4算力，能效+30%，自研HBM+灵渠互联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4572000" y="914400"/>
            <a:ext cx="4297680" cy="2194560"/>
          </a:xfrm>
          <a:prstGeom prst="rect">
            <a:avLst/>
          </a:prstGeom>
          <a:solidFill>
            <a:srgbClr val="FFF5F5"/>
          </a:solidFill>
          <a:ln w="19050">
            <a:solidFill>
              <a:srgbClr val="C53030"/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4709160" y="100584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昇腾封闭生态特征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709160" y="1325880"/>
            <a:ext cx="402336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🔒 冷板标准：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华为定制，外部厂商无法适配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🔒 快接头：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华为指定史陶比尔为主，但国产替代窗口已打开，华为明确欢迎国内产业伙伴基于灵衢2.0生态进入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🔒 CDU：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华为自产或超聚变体系内供应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🔒 Manifold：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昇腾体系封闭指定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 海悟在华为昇腾体系的机会路径：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浪潮/超聚变/宁畅均可触达昇腾液冷服务器，海悟不依赖单一OEM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主要渠道：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浪潮（海光+昇腾双线）/ 超聚变（昇腾为主）/ 宁畅（寒武纪为主，部分昇腾）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274320" y="3337560"/>
            <a:ext cx="8595360" cy="1417320"/>
          </a:xfrm>
          <a:prstGeom prst="rect">
            <a:avLst/>
          </a:prstGeom>
          <a:solidFill>
            <a:srgbClr val="ED8936">
              <a:alpha val="8000"/>
            </a:srgbClr>
          </a:solidFill>
          <a:ln w="19050">
            <a:solidFill>
              <a:srgbClr val="ED8936"/>
            </a:solidFill>
            <a:prstDash val="solid"/>
          </a:ln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457200" y="3429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华为昇腾液冷体系：多通道进入，非单一OEM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57200" y="37490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🔑 华为昇腾液冷供应链核心伙伴：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申菱环境（华为液冷唯一合作伙伴）/ 英维克（CDU+冷板+快接头全链）/ 恒为科技（唯一联合研发落地合作方）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🔑 华为快接头（UQD）供应：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可能仍以史陶比尔为主，但华为开放灵衢2.0生态，欢迎国内产业伙伴，快接头国产替代窗口已打开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🔑 海悟进入路径：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不依赖单一OEM，通过浪潮（液冷服务器）/ 超聚变（FusionPoD for AI）/ 宁畅均可触达昇腾液冷体系，快接头供应不限于超聚变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🔑 华为超聚变不是唯一通道：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浪潮也大量出货昇腾液冷服务器（年出货量不低），海悟可通过多个OEM触达昇腾生态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开放生态国产GPU：寒武纪 / 海光 / 摩尔线程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8595360" cy="1325880"/>
          </a:xfrm>
          <a:prstGeom prst="rect">
            <a:avLst/>
          </a:prstGeom>
          <a:solidFill>
            <a:srgbClr val="F7FAFC"/>
          </a:solidFill>
          <a:ln w="19050">
            <a:solidFill>
              <a:srgbClr val="0057E7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274320" y="914400"/>
            <a:ext cx="54864" cy="1325880"/>
          </a:xfrm>
          <a:prstGeom prst="rect">
            <a:avLst/>
          </a:prstGeom>
          <a:solidFill>
            <a:srgbClr val="0057E7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11480" y="10058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寒武纪 MLU370/590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280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MLU370（推理）/ MLU590（训练）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11480" y="1536192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57E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TDP: 350-450W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11480" y="1755648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开放标准 · OCP兼容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834640" y="100584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适配OEM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834640" y="123444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宁畅、华鲲、澎湃科技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480560" y="100584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液冷需求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480560" y="123444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冷板（必须）+ 快接头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943600" y="1005840"/>
            <a:ext cx="2834640" cy="1143000"/>
          </a:xfrm>
          <a:prstGeom prst="rect">
            <a:avLst/>
          </a:prstGeom>
          <a:solidFill>
            <a:srgbClr val="0057E7">
              <a:alpha val="8000"/>
            </a:srgbClr>
          </a:solidFill>
          <a:ln w="12700">
            <a:solidFill>
              <a:srgbClr val="0057E7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080760" y="10515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57E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海悟机会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080760" y="1298448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宁畅是寒武纪核心OEM → 快接头通过宁畅触达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080760" y="181051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宁畅年出货寒武纪服务器约5-10万台，快接头需求2-4个/台，年需求10-40万个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274320" y="2286000"/>
            <a:ext cx="8595360" cy="1325880"/>
          </a:xfrm>
          <a:prstGeom prst="rect">
            <a:avLst/>
          </a:prstGeom>
          <a:solidFill>
            <a:srgbClr val="F7FAFC"/>
          </a:solidFill>
          <a:ln w="19050">
            <a:solidFill>
              <a:srgbClr val="0057E7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274320" y="2286000"/>
            <a:ext cx="54864" cy="1325880"/>
          </a:xfrm>
          <a:prstGeom prst="rect">
            <a:avLst/>
          </a:prstGeom>
          <a:solidFill>
            <a:srgbClr val="0057E7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411480" y="23774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海光 DCU Z100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11480" y="26517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Z100（训练）/ Z200（推理）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11480" y="2907792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57E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TDP: 400-500W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11480" y="3127248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开放标准 · CUDA兼容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834640" y="237744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适配OEM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834640" y="260604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浪潮、华鲲、联想、同方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480560" y="237744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液冷需求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480560" y="260604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冷板（必须）+ 快接头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5943600" y="2377440"/>
            <a:ext cx="2834640" cy="1143000"/>
          </a:xfrm>
          <a:prstGeom prst="rect">
            <a:avLst/>
          </a:prstGeom>
          <a:solidFill>
            <a:srgbClr val="0057E7">
              <a:alpha val="8000"/>
            </a:srgbClr>
          </a:solidFill>
          <a:ln w="12700">
            <a:solidFill>
              <a:srgbClr val="0057E7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6080760" y="24231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57E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海悟机会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080760" y="2670048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浪潮是海光最大OEM → 浪潮年需求快接头&gt;10万个，海悟可替代史陶比尔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080760" y="318211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浪潮年出货海光服务器约15-30万台，快接头需求2-4个/台，年需求30-120万个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274320" y="3657600"/>
            <a:ext cx="8595360" cy="1325880"/>
          </a:xfrm>
          <a:prstGeom prst="rect">
            <a:avLst/>
          </a:prstGeom>
          <a:solidFill>
            <a:srgbClr val="F7FAFC"/>
          </a:solidFill>
          <a:ln w="19050">
            <a:solidFill>
              <a:srgbClr val="2F855A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274320" y="3657600"/>
            <a:ext cx="54864" cy="1325880"/>
          </a:xfrm>
          <a:prstGeom prst="rect">
            <a:avLst/>
          </a:prstGeom>
          <a:solidFill>
            <a:srgbClr val="2F855A"/>
          </a:solidFill>
          <a:ln/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411480" y="37490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摩尔线程 MTT X400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11480" y="40233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X400（训练/推理）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11480" y="4279392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TDP: 200-250W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11480" y="4498848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开放标准 · MUSA生态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2834640" y="374904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适配OEM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2834640" y="397764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浪潮、宁畅、同方、神州数码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4480560" y="374904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液冷需求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480560" y="397764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冷板（高功率版）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943600" y="3749040"/>
            <a:ext cx="2834640" cy="1143000"/>
          </a:xfrm>
          <a:prstGeom prst="rect">
            <a:avLst/>
          </a:prstGeom>
          <a:solidFill>
            <a:srgbClr val="2F855A">
              <a:alpha val="8000"/>
            </a:srgbClr>
          </a:solidFill>
          <a:ln w="12700">
            <a:solidFill>
              <a:srgbClr val="2F855A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6080760" y="37947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海悟机会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080760" y="4041648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摩尔线程新兴OEM体系，定制需求多，海悟可通过浪潮/宁畅触达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6080760" y="455371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摩尔线程年出货约8-15万台，快接头需求1-3个/台，年需求8-45万个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274320" y="4937760"/>
            <a:ext cx="8595360" cy="384048"/>
          </a:xfrm>
          <a:prstGeom prst="rect">
            <a:avLst/>
          </a:prstGeom>
          <a:solidFill>
            <a:srgbClr val="F0FFF4"/>
          </a:solidFill>
          <a:ln w="12700">
            <a:solidFill>
              <a:srgbClr val="2F855A"/>
            </a:solidFill>
            <a:prstDash val="solid"/>
          </a:ln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457200" y="495604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开放生态是海悟的主战场：浪潮（海光）/ 宁畅（寒武纪）/ 同方（摩尔线程）→ 快接头需求通过OEM配套触达，替代史陶比尔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49" name="Text 47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国产GPU战略总结：液冷快接头机会矩阵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114800" cy="1371600"/>
          </a:xfrm>
          <a:prstGeom prst="rect">
            <a:avLst/>
          </a:prstGeom>
          <a:solidFill>
            <a:srgbClr val="FFF5F5"/>
          </a:solidFill>
          <a:ln w="19050">
            <a:solidFill>
              <a:srgbClr val="C53030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" y="10058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封闭生态：昇腾（华为）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132588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冷板：华为指定标准（但外部厂商可适配）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快接头：华为外采史陶比尔/卡锢，但国产替代窗口已打开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CDU/Manifold：主要体系内，但外采比例在提升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进入路径：浪潮+超聚变+宁畅多通道触达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华为灵衢2.0生态开放，海悟必须进入！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0" y="914400"/>
            <a:ext cx="4297680" cy="1371600"/>
          </a:xfrm>
          <a:prstGeom prst="rect">
            <a:avLst/>
          </a:prstGeom>
          <a:solidFill>
            <a:srgbClr val="F0FFF4"/>
          </a:solidFill>
          <a:ln w="19050">
            <a:solidFill>
              <a:srgbClr val="2F855A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709160" y="100584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开放生态：寒武纪/海光/摩尔线程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09160" y="1325880"/>
            <a:ext cx="4023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冷板/快接头标准开放，OEM自行选择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海悟可通过OEM配套直接触达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主要OEM：浪潮（海光）/ 宁畅（寒武纪）/ 同方（摩尔线程）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快接头年需求：50-200万个（估算）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274320" y="2423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国产GPU液冷快接头机会矩阵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2743200"/>
            <a:ext cx="1188720" cy="36576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274320" y="274320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463040" y="2743200"/>
            <a:ext cx="548640" cy="36576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1463040" y="27432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011680" y="2743200"/>
            <a:ext cx="1371600" cy="36576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2011680" y="27432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接触方式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383280" y="2743200"/>
            <a:ext cx="640080" cy="36576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3383280" y="274320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难度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023360" y="2743200"/>
            <a:ext cx="731520" cy="36576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4023360" y="274320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优先级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754880" y="2743200"/>
            <a:ext cx="1371600" cy="36576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4754880" y="27432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海悟份额目标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74320" y="3108960"/>
            <a:ext cx="118872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320040" y="3127248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昇腾（华为）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1463040" y="3108960"/>
            <a:ext cx="54864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1508760" y="3127248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封闭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2011680" y="3108960"/>
            <a:ext cx="137160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2057400" y="3127248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多通道（浪潮+超聚变+宁畅）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383280" y="3108960"/>
            <a:ext cx="64008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3429000" y="3127248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4星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023360" y="3108960"/>
            <a:ext cx="73152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4069080" y="3127248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★★★★☆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754880" y="3108960"/>
            <a:ext cx="137160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4800600" y="3127248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20%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274320" y="3438144"/>
            <a:ext cx="118872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320040" y="3456432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寒武纪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1463040" y="3438144"/>
            <a:ext cx="54864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1508760" y="345643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2011680" y="3438144"/>
            <a:ext cx="137160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2057400" y="3456432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直接（宁畅）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3383280" y="3438144"/>
            <a:ext cx="64008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3429000" y="3456432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2星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4023360" y="3438144"/>
            <a:ext cx="73152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4069080" y="3456432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5星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4754880" y="3438144"/>
            <a:ext cx="137160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6" name="Text 44"/>
          <p:cNvSpPr/>
          <p:nvPr/>
        </p:nvSpPr>
        <p:spPr>
          <a:xfrm>
            <a:off x="4800600" y="3456432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20%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274320" y="3767328"/>
            <a:ext cx="118872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8" name="Text 46"/>
          <p:cNvSpPr/>
          <p:nvPr/>
        </p:nvSpPr>
        <p:spPr>
          <a:xfrm>
            <a:off x="320040" y="3785616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海光DCU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1463040" y="3767328"/>
            <a:ext cx="54864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0" name="Text 48"/>
          <p:cNvSpPr/>
          <p:nvPr/>
        </p:nvSpPr>
        <p:spPr>
          <a:xfrm>
            <a:off x="1508760" y="3785616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2011680" y="3767328"/>
            <a:ext cx="137160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2" name="Text 50"/>
          <p:cNvSpPr/>
          <p:nvPr/>
        </p:nvSpPr>
        <p:spPr>
          <a:xfrm>
            <a:off x="2057400" y="3785616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直接（浪潮）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3383280" y="3767328"/>
            <a:ext cx="64008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4" name="Text 52"/>
          <p:cNvSpPr/>
          <p:nvPr/>
        </p:nvSpPr>
        <p:spPr>
          <a:xfrm>
            <a:off x="3429000" y="3785616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2星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4023360" y="3767328"/>
            <a:ext cx="73152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6" name="Text 54"/>
          <p:cNvSpPr/>
          <p:nvPr/>
        </p:nvSpPr>
        <p:spPr>
          <a:xfrm>
            <a:off x="4069080" y="3785616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5星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4754880" y="3767328"/>
            <a:ext cx="137160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8" name="Text 56"/>
          <p:cNvSpPr/>
          <p:nvPr/>
        </p:nvSpPr>
        <p:spPr>
          <a:xfrm>
            <a:off x="4800600" y="3785616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30%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274320" y="4096512"/>
            <a:ext cx="118872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60" name="Text 58"/>
          <p:cNvSpPr/>
          <p:nvPr/>
        </p:nvSpPr>
        <p:spPr>
          <a:xfrm>
            <a:off x="320040" y="411480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摩尔线程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1463040" y="4096512"/>
            <a:ext cx="54864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62" name="Text 60"/>
          <p:cNvSpPr/>
          <p:nvPr/>
        </p:nvSpPr>
        <p:spPr>
          <a:xfrm>
            <a:off x="1508760" y="411480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2011680" y="4096512"/>
            <a:ext cx="137160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64" name="Text 62"/>
          <p:cNvSpPr/>
          <p:nvPr/>
        </p:nvSpPr>
        <p:spPr>
          <a:xfrm>
            <a:off x="2057400" y="4114800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直接（浪潮/宁畅）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3383280" y="4096512"/>
            <a:ext cx="64008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66" name="Text 64"/>
          <p:cNvSpPr/>
          <p:nvPr/>
        </p:nvSpPr>
        <p:spPr>
          <a:xfrm>
            <a:off x="3429000" y="4114800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3星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4023360" y="4096512"/>
            <a:ext cx="73152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68" name="Text 66"/>
          <p:cNvSpPr/>
          <p:nvPr/>
        </p:nvSpPr>
        <p:spPr>
          <a:xfrm>
            <a:off x="4069080" y="4114800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3星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4754880" y="4096512"/>
            <a:ext cx="137160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70" name="Text 68"/>
          <p:cNvSpPr/>
          <p:nvPr/>
        </p:nvSpPr>
        <p:spPr>
          <a:xfrm>
            <a:off x="4800600" y="4114800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15%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274320" y="4425696"/>
            <a:ext cx="118872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72" name="Text 70"/>
          <p:cNvSpPr/>
          <p:nvPr/>
        </p:nvSpPr>
        <p:spPr>
          <a:xfrm>
            <a:off x="320040" y="4443984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昆仑芯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1463040" y="4425696"/>
            <a:ext cx="54864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74" name="Text 72"/>
          <p:cNvSpPr/>
          <p:nvPr/>
        </p:nvSpPr>
        <p:spPr>
          <a:xfrm>
            <a:off x="1508760" y="4443984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2011680" y="4425696"/>
            <a:ext cx="137160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76" name="Text 74"/>
          <p:cNvSpPr/>
          <p:nvPr/>
        </p:nvSpPr>
        <p:spPr>
          <a:xfrm>
            <a:off x="2057400" y="4443984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直接（浪潮）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3383280" y="4425696"/>
            <a:ext cx="64008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78" name="Text 76"/>
          <p:cNvSpPr/>
          <p:nvPr/>
        </p:nvSpPr>
        <p:spPr>
          <a:xfrm>
            <a:off x="3429000" y="4443984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4星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4023360" y="4425696"/>
            <a:ext cx="73152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80" name="Text 78"/>
          <p:cNvSpPr/>
          <p:nvPr/>
        </p:nvSpPr>
        <p:spPr>
          <a:xfrm>
            <a:off x="4069080" y="4443984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2星</a:t>
            </a:r>
            <a:endParaRPr lang="en-US" sz="800" dirty="0"/>
          </a:p>
        </p:txBody>
      </p:sp>
      <p:sp>
        <p:nvSpPr>
          <p:cNvPr id="81" name="Shape 79"/>
          <p:cNvSpPr/>
          <p:nvPr/>
        </p:nvSpPr>
        <p:spPr>
          <a:xfrm>
            <a:off x="4754880" y="4425696"/>
            <a:ext cx="137160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82" name="Text 80"/>
          <p:cNvSpPr/>
          <p:nvPr/>
        </p:nvSpPr>
        <p:spPr>
          <a:xfrm>
            <a:off x="4800600" y="4443984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5%</a:t>
            </a:r>
            <a:endParaRPr lang="en-US" sz="800" dirty="0"/>
          </a:p>
        </p:txBody>
      </p:sp>
      <p:sp>
        <p:nvSpPr>
          <p:cNvPr id="83" name="Shape 81"/>
          <p:cNvSpPr/>
          <p:nvPr/>
        </p:nvSpPr>
        <p:spPr>
          <a:xfrm>
            <a:off x="274320" y="4754880"/>
            <a:ext cx="118872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84" name="Text 82"/>
          <p:cNvSpPr/>
          <p:nvPr/>
        </p:nvSpPr>
        <p:spPr>
          <a:xfrm>
            <a:off x="320040" y="4773168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平头哥</a:t>
            </a:r>
            <a:endParaRPr lang="en-US" sz="800" dirty="0"/>
          </a:p>
        </p:txBody>
      </p:sp>
      <p:sp>
        <p:nvSpPr>
          <p:cNvPr id="85" name="Shape 83"/>
          <p:cNvSpPr/>
          <p:nvPr/>
        </p:nvSpPr>
        <p:spPr>
          <a:xfrm>
            <a:off x="1463040" y="4754880"/>
            <a:ext cx="54864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86" name="Text 84"/>
          <p:cNvSpPr/>
          <p:nvPr/>
        </p:nvSpPr>
        <p:spPr>
          <a:xfrm>
            <a:off x="1508760" y="4773168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</a:t>
            </a:r>
            <a:endParaRPr lang="en-US" sz="800" dirty="0"/>
          </a:p>
        </p:txBody>
      </p:sp>
      <p:sp>
        <p:nvSpPr>
          <p:cNvPr id="87" name="Shape 85"/>
          <p:cNvSpPr/>
          <p:nvPr/>
        </p:nvSpPr>
        <p:spPr>
          <a:xfrm>
            <a:off x="2011680" y="4754880"/>
            <a:ext cx="137160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88" name="Text 86"/>
          <p:cNvSpPr/>
          <p:nvPr/>
        </p:nvSpPr>
        <p:spPr>
          <a:xfrm>
            <a:off x="2057400" y="4773168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直接（阿里自用）</a:t>
            </a:r>
            <a:endParaRPr lang="en-US" sz="800" dirty="0"/>
          </a:p>
        </p:txBody>
      </p:sp>
      <p:sp>
        <p:nvSpPr>
          <p:cNvPr id="89" name="Shape 87"/>
          <p:cNvSpPr/>
          <p:nvPr/>
        </p:nvSpPr>
        <p:spPr>
          <a:xfrm>
            <a:off x="3383280" y="4754880"/>
            <a:ext cx="64008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90" name="Text 88"/>
          <p:cNvSpPr/>
          <p:nvPr/>
        </p:nvSpPr>
        <p:spPr>
          <a:xfrm>
            <a:off x="3429000" y="4773168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5星</a:t>
            </a:r>
            <a:endParaRPr lang="en-US" sz="800" dirty="0"/>
          </a:p>
        </p:txBody>
      </p:sp>
      <p:sp>
        <p:nvSpPr>
          <p:cNvPr id="91" name="Shape 89"/>
          <p:cNvSpPr/>
          <p:nvPr/>
        </p:nvSpPr>
        <p:spPr>
          <a:xfrm>
            <a:off x="4023360" y="4754880"/>
            <a:ext cx="73152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92" name="Text 90"/>
          <p:cNvSpPr/>
          <p:nvPr/>
        </p:nvSpPr>
        <p:spPr>
          <a:xfrm>
            <a:off x="4069080" y="4773168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1星</a:t>
            </a:r>
            <a:endParaRPr lang="en-US" sz="800" dirty="0"/>
          </a:p>
        </p:txBody>
      </p:sp>
      <p:sp>
        <p:nvSpPr>
          <p:cNvPr id="93" name="Shape 91"/>
          <p:cNvSpPr/>
          <p:nvPr/>
        </p:nvSpPr>
        <p:spPr>
          <a:xfrm>
            <a:off x="4754880" y="4754880"/>
            <a:ext cx="137160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94" name="Text 92"/>
          <p:cNvSpPr/>
          <p:nvPr/>
        </p:nvSpPr>
        <p:spPr>
          <a:xfrm>
            <a:off x="4800600" y="4773168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0%</a:t>
            </a:r>
            <a:endParaRPr lang="en-US" sz="800" dirty="0"/>
          </a:p>
        </p:txBody>
      </p:sp>
      <p:sp>
        <p:nvSpPr>
          <p:cNvPr id="95" name="Shape 93"/>
          <p:cNvSpPr/>
          <p:nvPr/>
        </p:nvSpPr>
        <p:spPr>
          <a:xfrm>
            <a:off x="274320" y="5084064"/>
            <a:ext cx="8595360" cy="384048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96" name="Text 94"/>
          <p:cNvSpPr/>
          <p:nvPr/>
        </p:nvSpPr>
        <p:spPr>
          <a:xfrm>
            <a:off x="457200" y="5084064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海悟在国产GPU开放生态中的快接头目标份额：30-40%（浪潮+宁畅为主）→ 年收入贡献约5000万-1亿元（2030年）</a:t>
            </a:r>
            <a:endParaRPr lang="en-US" sz="950" dirty="0"/>
          </a:p>
        </p:txBody>
      </p:sp>
      <p:sp>
        <p:nvSpPr>
          <p:cNvPr id="97" name="Shape 95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98" name="Text 96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全球OEM液冷服务器制造商格局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86868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液冷服务器OEM分类：全球超节点服务器制造商液冷布局一览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1325880" cy="384048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274320" y="1188720"/>
            <a:ext cx="1325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OEM厂商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600200" y="1188720"/>
            <a:ext cx="502920" cy="384048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600200" y="1188720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总部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103120" y="1188720"/>
            <a:ext cx="1280160" cy="384048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2103120" y="1188720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液冷产品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383280" y="1188720"/>
            <a:ext cx="1005840" cy="384048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3383280" y="1188720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GPU适配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389120" y="1188720"/>
            <a:ext cx="822960" cy="384048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4389120" y="1188720"/>
            <a:ext cx="822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液冷组件自供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212080" y="1188720"/>
            <a:ext cx="777240" cy="384048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212080" y="1188720"/>
            <a:ext cx="777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快接头需求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989320" y="1188720"/>
            <a:ext cx="1280160" cy="384048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5989320" y="1188720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海悟机会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74320" y="1572768"/>
            <a:ext cx="132588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310896" y="1609344"/>
            <a:ext cx="12527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浪潮信息（Inspur）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1600200" y="1572768"/>
            <a:ext cx="50292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1636776" y="1609344"/>
            <a:ext cx="4297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2103120" y="1572768"/>
            <a:ext cx="128016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2139696" y="1609344"/>
            <a:ext cx="12070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NF5688G7（液冷）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3383280" y="1572768"/>
            <a:ext cx="100584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3419856" y="1609344"/>
            <a:ext cx="9326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海光/昇腾/英伟达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4389120" y="1572768"/>
            <a:ext cx="82296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4425696" y="1609344"/>
            <a:ext cx="7498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冷板+Manifold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5212080" y="1572768"/>
            <a:ext cx="77724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5248656" y="1609344"/>
            <a:ext cx="7040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外购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5989320" y="1572768"/>
            <a:ext cx="128016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6025896" y="1609344"/>
            <a:ext cx="12070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★★★★★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274320" y="1956816"/>
            <a:ext cx="132588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310896" y="1993392"/>
            <a:ext cx="12527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超聚变（xFusion）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1600200" y="1956816"/>
            <a:ext cx="50292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1636776" y="1993392"/>
            <a:ext cx="4297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2103120" y="1956816"/>
            <a:ext cx="128016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2139696" y="1993392"/>
            <a:ext cx="12070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NF5280P6（液冷）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3383280" y="1956816"/>
            <a:ext cx="100584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3419856" y="1993392"/>
            <a:ext cx="9326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昇腾独供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4389120" y="1956816"/>
            <a:ext cx="82296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4425696" y="1993392"/>
            <a:ext cx="7498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全栈自产（封闭）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5212080" y="1956816"/>
            <a:ext cx="77724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5248656" y="1993392"/>
            <a:ext cx="7040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外购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5989320" y="1956816"/>
            <a:ext cx="128016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6" name="Text 44"/>
          <p:cNvSpPr/>
          <p:nvPr/>
        </p:nvSpPr>
        <p:spPr>
          <a:xfrm>
            <a:off x="6025896" y="1993392"/>
            <a:ext cx="12070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★★★★☆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274320" y="2340864"/>
            <a:ext cx="132588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8" name="Text 46"/>
          <p:cNvSpPr/>
          <p:nvPr/>
        </p:nvSpPr>
        <p:spPr>
          <a:xfrm>
            <a:off x="310896" y="2377440"/>
            <a:ext cx="12527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宁畅信息（Nettrix）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1600200" y="2340864"/>
            <a:ext cx="50292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0" name="Text 48"/>
          <p:cNvSpPr/>
          <p:nvPr/>
        </p:nvSpPr>
        <p:spPr>
          <a:xfrm>
            <a:off x="1636776" y="2377440"/>
            <a:ext cx="4297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2103120" y="2340864"/>
            <a:ext cx="128016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2" name="Text 50"/>
          <p:cNvSpPr/>
          <p:nvPr/>
        </p:nvSpPr>
        <p:spPr>
          <a:xfrm>
            <a:off x="2139696" y="2377440"/>
            <a:ext cx="12070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RackScale G550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3383280" y="2340864"/>
            <a:ext cx="100584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4" name="Text 52"/>
          <p:cNvSpPr/>
          <p:nvPr/>
        </p:nvSpPr>
        <p:spPr>
          <a:xfrm>
            <a:off x="3419856" y="2377440"/>
            <a:ext cx="9326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寒武纪/海光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4389120" y="2340864"/>
            <a:ext cx="82296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6" name="Text 54"/>
          <p:cNvSpPr/>
          <p:nvPr/>
        </p:nvSpPr>
        <p:spPr>
          <a:xfrm>
            <a:off x="4425696" y="2377440"/>
            <a:ext cx="7498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冷板+CDU自产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5212080" y="2340864"/>
            <a:ext cx="77724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8" name="Text 56"/>
          <p:cNvSpPr/>
          <p:nvPr/>
        </p:nvSpPr>
        <p:spPr>
          <a:xfrm>
            <a:off x="5248656" y="2377440"/>
            <a:ext cx="7040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外购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5989320" y="2340864"/>
            <a:ext cx="128016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60" name="Text 58"/>
          <p:cNvSpPr/>
          <p:nvPr/>
        </p:nvSpPr>
        <p:spPr>
          <a:xfrm>
            <a:off x="6025896" y="2377440"/>
            <a:ext cx="12070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★★★★★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274320" y="2724912"/>
            <a:ext cx="132588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62" name="Text 60"/>
          <p:cNvSpPr/>
          <p:nvPr/>
        </p:nvSpPr>
        <p:spPr>
          <a:xfrm>
            <a:off x="310896" y="2761488"/>
            <a:ext cx="12527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联想（北京）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1600200" y="2724912"/>
            <a:ext cx="50292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64" name="Text 62"/>
          <p:cNvSpPr/>
          <p:nvPr/>
        </p:nvSpPr>
        <p:spPr>
          <a:xfrm>
            <a:off x="1636776" y="2761488"/>
            <a:ext cx="4297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2103120" y="2724912"/>
            <a:ext cx="128016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66" name="Text 64"/>
          <p:cNvSpPr/>
          <p:nvPr/>
        </p:nvSpPr>
        <p:spPr>
          <a:xfrm>
            <a:off x="2139696" y="2761488"/>
            <a:ext cx="12070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ThinkSystem SR670 V2</a:t>
            </a:r>
            <a:endParaRPr lang="en-US" sz="750" dirty="0"/>
          </a:p>
        </p:txBody>
      </p:sp>
      <p:sp>
        <p:nvSpPr>
          <p:cNvPr id="67" name="Shape 65"/>
          <p:cNvSpPr/>
          <p:nvPr/>
        </p:nvSpPr>
        <p:spPr>
          <a:xfrm>
            <a:off x="3383280" y="2724912"/>
            <a:ext cx="100584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68" name="Text 66"/>
          <p:cNvSpPr/>
          <p:nvPr/>
        </p:nvSpPr>
        <p:spPr>
          <a:xfrm>
            <a:off x="3419856" y="2761488"/>
            <a:ext cx="9326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海光/英伟达</a:t>
            </a:r>
            <a:endParaRPr lang="en-US" sz="750" dirty="0"/>
          </a:p>
        </p:txBody>
      </p:sp>
      <p:sp>
        <p:nvSpPr>
          <p:cNvPr id="69" name="Shape 67"/>
          <p:cNvSpPr/>
          <p:nvPr/>
        </p:nvSpPr>
        <p:spPr>
          <a:xfrm>
            <a:off x="4389120" y="2724912"/>
            <a:ext cx="82296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70" name="Text 68"/>
          <p:cNvSpPr/>
          <p:nvPr/>
        </p:nvSpPr>
        <p:spPr>
          <a:xfrm>
            <a:off x="4425696" y="2761488"/>
            <a:ext cx="7498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冷板+CDU</a:t>
            </a:r>
            <a:endParaRPr lang="en-US" sz="750" dirty="0"/>
          </a:p>
        </p:txBody>
      </p:sp>
      <p:sp>
        <p:nvSpPr>
          <p:cNvPr id="71" name="Shape 69"/>
          <p:cNvSpPr/>
          <p:nvPr/>
        </p:nvSpPr>
        <p:spPr>
          <a:xfrm>
            <a:off x="5212080" y="2724912"/>
            <a:ext cx="77724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72" name="Text 70"/>
          <p:cNvSpPr/>
          <p:nvPr/>
        </p:nvSpPr>
        <p:spPr>
          <a:xfrm>
            <a:off x="5248656" y="2761488"/>
            <a:ext cx="7040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外购</a:t>
            </a:r>
            <a:endParaRPr lang="en-US" sz="750" dirty="0"/>
          </a:p>
        </p:txBody>
      </p:sp>
      <p:sp>
        <p:nvSpPr>
          <p:cNvPr id="73" name="Shape 71"/>
          <p:cNvSpPr/>
          <p:nvPr/>
        </p:nvSpPr>
        <p:spPr>
          <a:xfrm>
            <a:off x="5989320" y="2724912"/>
            <a:ext cx="128016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74" name="Text 72"/>
          <p:cNvSpPr/>
          <p:nvPr/>
        </p:nvSpPr>
        <p:spPr>
          <a:xfrm>
            <a:off x="6025896" y="2761488"/>
            <a:ext cx="12070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★★★☆☆</a:t>
            </a:r>
            <a:endParaRPr lang="en-US" sz="750" dirty="0"/>
          </a:p>
        </p:txBody>
      </p:sp>
      <p:sp>
        <p:nvSpPr>
          <p:cNvPr id="75" name="Shape 73"/>
          <p:cNvSpPr/>
          <p:nvPr/>
        </p:nvSpPr>
        <p:spPr>
          <a:xfrm>
            <a:off x="274320" y="3108960"/>
            <a:ext cx="132588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76" name="Text 74"/>
          <p:cNvSpPr/>
          <p:nvPr/>
        </p:nvSpPr>
        <p:spPr>
          <a:xfrm>
            <a:off x="310896" y="3145536"/>
            <a:ext cx="12527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Dell Technologies</a:t>
            </a:r>
            <a:endParaRPr lang="en-US" sz="850" dirty="0"/>
          </a:p>
        </p:txBody>
      </p:sp>
      <p:sp>
        <p:nvSpPr>
          <p:cNvPr id="77" name="Shape 75"/>
          <p:cNvSpPr/>
          <p:nvPr/>
        </p:nvSpPr>
        <p:spPr>
          <a:xfrm>
            <a:off x="1600200" y="3108960"/>
            <a:ext cx="50292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78" name="Text 76"/>
          <p:cNvSpPr/>
          <p:nvPr/>
        </p:nvSpPr>
        <p:spPr>
          <a:xfrm>
            <a:off x="1636776" y="3145536"/>
            <a:ext cx="4297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美国</a:t>
            </a:r>
            <a:endParaRPr lang="en-US" sz="750" dirty="0"/>
          </a:p>
        </p:txBody>
      </p:sp>
      <p:sp>
        <p:nvSpPr>
          <p:cNvPr id="79" name="Shape 77"/>
          <p:cNvSpPr/>
          <p:nvPr/>
        </p:nvSpPr>
        <p:spPr>
          <a:xfrm>
            <a:off x="2103120" y="3108960"/>
            <a:ext cx="128016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80" name="Text 78"/>
          <p:cNvSpPr/>
          <p:nvPr/>
        </p:nvSpPr>
        <p:spPr>
          <a:xfrm>
            <a:off x="2139696" y="3145536"/>
            <a:ext cx="12070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PowerEdge XE9680</a:t>
            </a:r>
            <a:endParaRPr lang="en-US" sz="750" dirty="0"/>
          </a:p>
        </p:txBody>
      </p:sp>
      <p:sp>
        <p:nvSpPr>
          <p:cNvPr id="81" name="Shape 79"/>
          <p:cNvSpPr/>
          <p:nvPr/>
        </p:nvSpPr>
        <p:spPr>
          <a:xfrm>
            <a:off x="3383280" y="3108960"/>
            <a:ext cx="100584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82" name="Text 80"/>
          <p:cNvSpPr/>
          <p:nvPr/>
        </p:nvSpPr>
        <p:spPr>
          <a:xfrm>
            <a:off x="3419856" y="3145536"/>
            <a:ext cx="9326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英伟达H100/H200</a:t>
            </a:r>
            <a:endParaRPr lang="en-US" sz="750" dirty="0"/>
          </a:p>
        </p:txBody>
      </p:sp>
      <p:sp>
        <p:nvSpPr>
          <p:cNvPr id="83" name="Shape 81"/>
          <p:cNvSpPr/>
          <p:nvPr/>
        </p:nvSpPr>
        <p:spPr>
          <a:xfrm>
            <a:off x="4389120" y="3108960"/>
            <a:ext cx="82296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84" name="Text 82"/>
          <p:cNvSpPr/>
          <p:nvPr/>
        </p:nvSpPr>
        <p:spPr>
          <a:xfrm>
            <a:off x="4425696" y="3145536"/>
            <a:ext cx="7498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CDU自产</a:t>
            </a:r>
            <a:endParaRPr lang="en-US" sz="750" dirty="0"/>
          </a:p>
        </p:txBody>
      </p:sp>
      <p:sp>
        <p:nvSpPr>
          <p:cNvPr id="85" name="Shape 83"/>
          <p:cNvSpPr/>
          <p:nvPr/>
        </p:nvSpPr>
        <p:spPr>
          <a:xfrm>
            <a:off x="5212080" y="3108960"/>
            <a:ext cx="77724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86" name="Text 84"/>
          <p:cNvSpPr/>
          <p:nvPr/>
        </p:nvSpPr>
        <p:spPr>
          <a:xfrm>
            <a:off x="5248656" y="3145536"/>
            <a:ext cx="7040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外购（史陶比尔）</a:t>
            </a:r>
            <a:endParaRPr lang="en-US" sz="750" dirty="0"/>
          </a:p>
        </p:txBody>
      </p:sp>
      <p:sp>
        <p:nvSpPr>
          <p:cNvPr id="87" name="Shape 85"/>
          <p:cNvSpPr/>
          <p:nvPr/>
        </p:nvSpPr>
        <p:spPr>
          <a:xfrm>
            <a:off x="5989320" y="3108960"/>
            <a:ext cx="128016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88" name="Text 86"/>
          <p:cNvSpPr/>
          <p:nvPr/>
        </p:nvSpPr>
        <p:spPr>
          <a:xfrm>
            <a:off x="6025896" y="3145536"/>
            <a:ext cx="12070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★★★☆☆</a:t>
            </a:r>
            <a:endParaRPr lang="en-US" sz="750" dirty="0"/>
          </a:p>
        </p:txBody>
      </p:sp>
      <p:sp>
        <p:nvSpPr>
          <p:cNvPr id="89" name="Shape 87"/>
          <p:cNvSpPr/>
          <p:nvPr/>
        </p:nvSpPr>
        <p:spPr>
          <a:xfrm>
            <a:off x="274320" y="3493008"/>
            <a:ext cx="132588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90" name="Text 88"/>
          <p:cNvSpPr/>
          <p:nvPr/>
        </p:nvSpPr>
        <p:spPr>
          <a:xfrm>
            <a:off x="310896" y="3529584"/>
            <a:ext cx="12527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HPE（慧与）</a:t>
            </a:r>
            <a:endParaRPr lang="en-US" sz="850" dirty="0"/>
          </a:p>
        </p:txBody>
      </p:sp>
      <p:sp>
        <p:nvSpPr>
          <p:cNvPr id="91" name="Shape 89"/>
          <p:cNvSpPr/>
          <p:nvPr/>
        </p:nvSpPr>
        <p:spPr>
          <a:xfrm>
            <a:off x="1600200" y="3493008"/>
            <a:ext cx="50292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92" name="Text 90"/>
          <p:cNvSpPr/>
          <p:nvPr/>
        </p:nvSpPr>
        <p:spPr>
          <a:xfrm>
            <a:off x="1636776" y="3529584"/>
            <a:ext cx="4297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美国</a:t>
            </a:r>
            <a:endParaRPr lang="en-US" sz="750" dirty="0"/>
          </a:p>
        </p:txBody>
      </p:sp>
      <p:sp>
        <p:nvSpPr>
          <p:cNvPr id="93" name="Shape 91"/>
          <p:cNvSpPr/>
          <p:nvPr/>
        </p:nvSpPr>
        <p:spPr>
          <a:xfrm>
            <a:off x="2103120" y="3493008"/>
            <a:ext cx="128016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94" name="Text 92"/>
          <p:cNvSpPr/>
          <p:nvPr/>
        </p:nvSpPr>
        <p:spPr>
          <a:xfrm>
            <a:off x="2139696" y="3529584"/>
            <a:ext cx="12070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Apollo 6500 Gen11</a:t>
            </a:r>
            <a:endParaRPr lang="en-US" sz="750" dirty="0"/>
          </a:p>
        </p:txBody>
      </p:sp>
      <p:sp>
        <p:nvSpPr>
          <p:cNvPr id="95" name="Shape 93"/>
          <p:cNvSpPr/>
          <p:nvPr/>
        </p:nvSpPr>
        <p:spPr>
          <a:xfrm>
            <a:off x="3383280" y="3493008"/>
            <a:ext cx="100584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96" name="Text 94"/>
          <p:cNvSpPr/>
          <p:nvPr/>
        </p:nvSpPr>
        <p:spPr>
          <a:xfrm>
            <a:off x="3419856" y="3529584"/>
            <a:ext cx="9326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英伟达/AMD</a:t>
            </a:r>
            <a:endParaRPr lang="en-US" sz="750" dirty="0"/>
          </a:p>
        </p:txBody>
      </p:sp>
      <p:sp>
        <p:nvSpPr>
          <p:cNvPr id="97" name="Shape 95"/>
          <p:cNvSpPr/>
          <p:nvPr/>
        </p:nvSpPr>
        <p:spPr>
          <a:xfrm>
            <a:off x="4389120" y="3493008"/>
            <a:ext cx="82296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98" name="Text 96"/>
          <p:cNvSpPr/>
          <p:nvPr/>
        </p:nvSpPr>
        <p:spPr>
          <a:xfrm>
            <a:off x="4425696" y="3529584"/>
            <a:ext cx="7498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CDU自产</a:t>
            </a:r>
            <a:endParaRPr lang="en-US" sz="750" dirty="0"/>
          </a:p>
        </p:txBody>
      </p:sp>
      <p:sp>
        <p:nvSpPr>
          <p:cNvPr id="99" name="Shape 97"/>
          <p:cNvSpPr/>
          <p:nvPr/>
        </p:nvSpPr>
        <p:spPr>
          <a:xfrm>
            <a:off x="5212080" y="3493008"/>
            <a:ext cx="77724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0" name="Text 98"/>
          <p:cNvSpPr/>
          <p:nvPr/>
        </p:nvSpPr>
        <p:spPr>
          <a:xfrm>
            <a:off x="5248656" y="3529584"/>
            <a:ext cx="7040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外购</a:t>
            </a:r>
            <a:endParaRPr lang="en-US" sz="750" dirty="0"/>
          </a:p>
        </p:txBody>
      </p:sp>
      <p:sp>
        <p:nvSpPr>
          <p:cNvPr id="101" name="Shape 99"/>
          <p:cNvSpPr/>
          <p:nvPr/>
        </p:nvSpPr>
        <p:spPr>
          <a:xfrm>
            <a:off x="5989320" y="3493008"/>
            <a:ext cx="128016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2" name="Text 100"/>
          <p:cNvSpPr/>
          <p:nvPr/>
        </p:nvSpPr>
        <p:spPr>
          <a:xfrm>
            <a:off x="6025896" y="3529584"/>
            <a:ext cx="12070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★★☆☆☆</a:t>
            </a:r>
            <a:endParaRPr lang="en-US" sz="750" dirty="0"/>
          </a:p>
        </p:txBody>
      </p:sp>
      <p:sp>
        <p:nvSpPr>
          <p:cNvPr id="103" name="Shape 101"/>
          <p:cNvSpPr/>
          <p:nvPr/>
        </p:nvSpPr>
        <p:spPr>
          <a:xfrm>
            <a:off x="274320" y="3877056"/>
            <a:ext cx="132588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4" name="Text 102"/>
          <p:cNvSpPr/>
          <p:nvPr/>
        </p:nvSpPr>
        <p:spPr>
          <a:xfrm>
            <a:off x="310896" y="3913632"/>
            <a:ext cx="12527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Quanta（广达）</a:t>
            </a:r>
            <a:endParaRPr lang="en-US" sz="850" dirty="0"/>
          </a:p>
        </p:txBody>
      </p:sp>
      <p:sp>
        <p:nvSpPr>
          <p:cNvPr id="105" name="Shape 103"/>
          <p:cNvSpPr/>
          <p:nvPr/>
        </p:nvSpPr>
        <p:spPr>
          <a:xfrm>
            <a:off x="1600200" y="3877056"/>
            <a:ext cx="50292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6" name="Text 104"/>
          <p:cNvSpPr/>
          <p:nvPr/>
        </p:nvSpPr>
        <p:spPr>
          <a:xfrm>
            <a:off x="1636776" y="3913632"/>
            <a:ext cx="4297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台湾</a:t>
            </a:r>
            <a:endParaRPr lang="en-US" sz="750" dirty="0"/>
          </a:p>
        </p:txBody>
      </p:sp>
      <p:sp>
        <p:nvSpPr>
          <p:cNvPr id="107" name="Shape 105"/>
          <p:cNvSpPr/>
          <p:nvPr/>
        </p:nvSpPr>
        <p:spPr>
          <a:xfrm>
            <a:off x="2103120" y="3877056"/>
            <a:ext cx="128016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8" name="Text 106"/>
          <p:cNvSpPr/>
          <p:nvPr/>
        </p:nvSpPr>
        <p:spPr>
          <a:xfrm>
            <a:off x="2139696" y="3913632"/>
            <a:ext cx="12070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DGX A100/H100代工</a:t>
            </a:r>
            <a:endParaRPr lang="en-US" sz="750" dirty="0"/>
          </a:p>
        </p:txBody>
      </p:sp>
      <p:sp>
        <p:nvSpPr>
          <p:cNvPr id="109" name="Shape 107"/>
          <p:cNvSpPr/>
          <p:nvPr/>
        </p:nvSpPr>
        <p:spPr>
          <a:xfrm>
            <a:off x="3383280" y="3877056"/>
            <a:ext cx="100584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10" name="Text 108"/>
          <p:cNvSpPr/>
          <p:nvPr/>
        </p:nvSpPr>
        <p:spPr>
          <a:xfrm>
            <a:off x="3419856" y="3913632"/>
            <a:ext cx="9326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英伟达</a:t>
            </a:r>
            <a:endParaRPr lang="en-US" sz="750" dirty="0"/>
          </a:p>
        </p:txBody>
      </p:sp>
      <p:sp>
        <p:nvSpPr>
          <p:cNvPr id="111" name="Shape 109"/>
          <p:cNvSpPr/>
          <p:nvPr/>
        </p:nvSpPr>
        <p:spPr>
          <a:xfrm>
            <a:off x="4389120" y="3877056"/>
            <a:ext cx="82296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12" name="Text 110"/>
          <p:cNvSpPr/>
          <p:nvPr/>
        </p:nvSpPr>
        <p:spPr>
          <a:xfrm>
            <a:off x="4425696" y="3913632"/>
            <a:ext cx="7498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冷板外购</a:t>
            </a:r>
            <a:endParaRPr lang="en-US" sz="750" dirty="0"/>
          </a:p>
        </p:txBody>
      </p:sp>
      <p:sp>
        <p:nvSpPr>
          <p:cNvPr id="113" name="Shape 111"/>
          <p:cNvSpPr/>
          <p:nvPr/>
        </p:nvSpPr>
        <p:spPr>
          <a:xfrm>
            <a:off x="5212080" y="3877056"/>
            <a:ext cx="77724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14" name="Text 112"/>
          <p:cNvSpPr/>
          <p:nvPr/>
        </p:nvSpPr>
        <p:spPr>
          <a:xfrm>
            <a:off x="5248656" y="3913632"/>
            <a:ext cx="7040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全外购</a:t>
            </a:r>
            <a:endParaRPr lang="en-US" sz="750" dirty="0"/>
          </a:p>
        </p:txBody>
      </p:sp>
      <p:sp>
        <p:nvSpPr>
          <p:cNvPr id="115" name="Shape 113"/>
          <p:cNvSpPr/>
          <p:nvPr/>
        </p:nvSpPr>
        <p:spPr>
          <a:xfrm>
            <a:off x="5989320" y="3877056"/>
            <a:ext cx="128016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16" name="Text 114"/>
          <p:cNvSpPr/>
          <p:nvPr/>
        </p:nvSpPr>
        <p:spPr>
          <a:xfrm>
            <a:off x="6025896" y="3913632"/>
            <a:ext cx="12070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★★★★☆</a:t>
            </a:r>
            <a:endParaRPr lang="en-US" sz="750" dirty="0"/>
          </a:p>
        </p:txBody>
      </p:sp>
      <p:sp>
        <p:nvSpPr>
          <p:cNvPr id="117" name="Shape 115"/>
          <p:cNvSpPr/>
          <p:nvPr/>
        </p:nvSpPr>
        <p:spPr>
          <a:xfrm>
            <a:off x="274320" y="4261104"/>
            <a:ext cx="132588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18" name="Text 116"/>
          <p:cNvSpPr/>
          <p:nvPr/>
        </p:nvSpPr>
        <p:spPr>
          <a:xfrm>
            <a:off x="310896" y="4297680"/>
            <a:ext cx="12527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Foxconn（富士康）</a:t>
            </a:r>
            <a:endParaRPr lang="en-US" sz="850" dirty="0"/>
          </a:p>
        </p:txBody>
      </p:sp>
      <p:sp>
        <p:nvSpPr>
          <p:cNvPr id="119" name="Shape 117"/>
          <p:cNvSpPr/>
          <p:nvPr/>
        </p:nvSpPr>
        <p:spPr>
          <a:xfrm>
            <a:off x="1600200" y="4261104"/>
            <a:ext cx="50292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20" name="Text 118"/>
          <p:cNvSpPr/>
          <p:nvPr/>
        </p:nvSpPr>
        <p:spPr>
          <a:xfrm>
            <a:off x="1636776" y="4297680"/>
            <a:ext cx="4297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台湾</a:t>
            </a:r>
            <a:endParaRPr lang="en-US" sz="750" dirty="0"/>
          </a:p>
        </p:txBody>
      </p:sp>
      <p:sp>
        <p:nvSpPr>
          <p:cNvPr id="121" name="Shape 119"/>
          <p:cNvSpPr/>
          <p:nvPr/>
        </p:nvSpPr>
        <p:spPr>
          <a:xfrm>
            <a:off x="2103120" y="4261104"/>
            <a:ext cx="128016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22" name="Text 120"/>
          <p:cNvSpPr/>
          <p:nvPr/>
        </p:nvSpPr>
        <p:spPr>
          <a:xfrm>
            <a:off x="2139696" y="4297680"/>
            <a:ext cx="12070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GB200 NVL72代工</a:t>
            </a:r>
            <a:endParaRPr lang="en-US" sz="750" dirty="0"/>
          </a:p>
        </p:txBody>
      </p:sp>
      <p:sp>
        <p:nvSpPr>
          <p:cNvPr id="123" name="Shape 121"/>
          <p:cNvSpPr/>
          <p:nvPr/>
        </p:nvSpPr>
        <p:spPr>
          <a:xfrm>
            <a:off x="3383280" y="4261104"/>
            <a:ext cx="100584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24" name="Text 122"/>
          <p:cNvSpPr/>
          <p:nvPr/>
        </p:nvSpPr>
        <p:spPr>
          <a:xfrm>
            <a:off x="3419856" y="4297680"/>
            <a:ext cx="9326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英伟达</a:t>
            </a:r>
            <a:endParaRPr lang="en-US" sz="750" dirty="0"/>
          </a:p>
        </p:txBody>
      </p:sp>
      <p:sp>
        <p:nvSpPr>
          <p:cNvPr id="125" name="Shape 123"/>
          <p:cNvSpPr/>
          <p:nvPr/>
        </p:nvSpPr>
        <p:spPr>
          <a:xfrm>
            <a:off x="4389120" y="4261104"/>
            <a:ext cx="82296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26" name="Text 124"/>
          <p:cNvSpPr/>
          <p:nvPr/>
        </p:nvSpPr>
        <p:spPr>
          <a:xfrm>
            <a:off x="4425696" y="4297680"/>
            <a:ext cx="7498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CDU外购</a:t>
            </a:r>
            <a:endParaRPr lang="en-US" sz="750" dirty="0"/>
          </a:p>
        </p:txBody>
      </p:sp>
      <p:sp>
        <p:nvSpPr>
          <p:cNvPr id="127" name="Shape 125"/>
          <p:cNvSpPr/>
          <p:nvPr/>
        </p:nvSpPr>
        <p:spPr>
          <a:xfrm>
            <a:off x="5212080" y="4261104"/>
            <a:ext cx="77724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28" name="Text 126"/>
          <p:cNvSpPr/>
          <p:nvPr/>
        </p:nvSpPr>
        <p:spPr>
          <a:xfrm>
            <a:off x="5248656" y="4297680"/>
            <a:ext cx="7040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全外购</a:t>
            </a:r>
            <a:endParaRPr lang="en-US" sz="750" dirty="0"/>
          </a:p>
        </p:txBody>
      </p:sp>
      <p:sp>
        <p:nvSpPr>
          <p:cNvPr id="129" name="Shape 127"/>
          <p:cNvSpPr/>
          <p:nvPr/>
        </p:nvSpPr>
        <p:spPr>
          <a:xfrm>
            <a:off x="5989320" y="4261104"/>
            <a:ext cx="128016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30" name="Text 128"/>
          <p:cNvSpPr/>
          <p:nvPr/>
        </p:nvSpPr>
        <p:spPr>
          <a:xfrm>
            <a:off x="6025896" y="4297680"/>
            <a:ext cx="12070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★★★☆☆</a:t>
            </a:r>
            <a:endParaRPr lang="en-US" sz="750" dirty="0"/>
          </a:p>
        </p:txBody>
      </p:sp>
      <p:sp>
        <p:nvSpPr>
          <p:cNvPr id="131" name="Shape 129"/>
          <p:cNvSpPr/>
          <p:nvPr/>
        </p:nvSpPr>
        <p:spPr>
          <a:xfrm>
            <a:off x="274320" y="4645152"/>
            <a:ext cx="132588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32" name="Text 130"/>
          <p:cNvSpPr/>
          <p:nvPr/>
        </p:nvSpPr>
        <p:spPr>
          <a:xfrm>
            <a:off x="310896" y="4681728"/>
            <a:ext cx="12527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Huawei（华为）</a:t>
            </a:r>
            <a:endParaRPr lang="en-US" sz="850" dirty="0"/>
          </a:p>
        </p:txBody>
      </p:sp>
      <p:sp>
        <p:nvSpPr>
          <p:cNvPr id="133" name="Shape 131"/>
          <p:cNvSpPr/>
          <p:nvPr/>
        </p:nvSpPr>
        <p:spPr>
          <a:xfrm>
            <a:off x="1600200" y="4645152"/>
            <a:ext cx="50292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34" name="Text 132"/>
          <p:cNvSpPr/>
          <p:nvPr/>
        </p:nvSpPr>
        <p:spPr>
          <a:xfrm>
            <a:off x="1636776" y="4681728"/>
            <a:ext cx="4297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</a:t>
            </a:r>
            <a:endParaRPr lang="en-US" sz="750" dirty="0"/>
          </a:p>
        </p:txBody>
      </p:sp>
      <p:sp>
        <p:nvSpPr>
          <p:cNvPr id="135" name="Shape 133"/>
          <p:cNvSpPr/>
          <p:nvPr/>
        </p:nvSpPr>
        <p:spPr>
          <a:xfrm>
            <a:off x="2103120" y="4645152"/>
            <a:ext cx="128016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36" name="Text 134"/>
          <p:cNvSpPr/>
          <p:nvPr/>
        </p:nvSpPr>
        <p:spPr>
          <a:xfrm>
            <a:off x="2139696" y="4681728"/>
            <a:ext cx="12070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Atlas 900 PoD</a:t>
            </a:r>
            <a:endParaRPr lang="en-US" sz="750" dirty="0"/>
          </a:p>
        </p:txBody>
      </p:sp>
      <p:sp>
        <p:nvSpPr>
          <p:cNvPr id="137" name="Shape 135"/>
          <p:cNvSpPr/>
          <p:nvPr/>
        </p:nvSpPr>
        <p:spPr>
          <a:xfrm>
            <a:off x="3383280" y="4645152"/>
            <a:ext cx="100584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38" name="Text 136"/>
          <p:cNvSpPr/>
          <p:nvPr/>
        </p:nvSpPr>
        <p:spPr>
          <a:xfrm>
            <a:off x="3419856" y="4681728"/>
            <a:ext cx="9326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昇腾（封闭）</a:t>
            </a:r>
            <a:endParaRPr lang="en-US" sz="750" dirty="0"/>
          </a:p>
        </p:txBody>
      </p:sp>
      <p:sp>
        <p:nvSpPr>
          <p:cNvPr id="139" name="Shape 137"/>
          <p:cNvSpPr/>
          <p:nvPr/>
        </p:nvSpPr>
        <p:spPr>
          <a:xfrm>
            <a:off x="4389120" y="4645152"/>
            <a:ext cx="82296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40" name="Text 138"/>
          <p:cNvSpPr/>
          <p:nvPr/>
        </p:nvSpPr>
        <p:spPr>
          <a:xfrm>
            <a:off x="4425696" y="4681728"/>
            <a:ext cx="7498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全栈封闭</a:t>
            </a:r>
            <a:endParaRPr lang="en-US" sz="750" dirty="0"/>
          </a:p>
        </p:txBody>
      </p:sp>
      <p:sp>
        <p:nvSpPr>
          <p:cNvPr id="141" name="Shape 139"/>
          <p:cNvSpPr/>
          <p:nvPr/>
        </p:nvSpPr>
        <p:spPr>
          <a:xfrm>
            <a:off x="5212080" y="4645152"/>
            <a:ext cx="77724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42" name="Text 140"/>
          <p:cNvSpPr/>
          <p:nvPr/>
        </p:nvSpPr>
        <p:spPr>
          <a:xfrm>
            <a:off x="5248656" y="4681728"/>
            <a:ext cx="7040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封闭体系</a:t>
            </a:r>
            <a:endParaRPr lang="en-US" sz="750" dirty="0"/>
          </a:p>
        </p:txBody>
      </p:sp>
      <p:sp>
        <p:nvSpPr>
          <p:cNvPr id="143" name="Shape 141"/>
          <p:cNvSpPr/>
          <p:nvPr/>
        </p:nvSpPr>
        <p:spPr>
          <a:xfrm>
            <a:off x="5989320" y="4645152"/>
            <a:ext cx="128016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44" name="Text 142"/>
          <p:cNvSpPr/>
          <p:nvPr/>
        </p:nvSpPr>
        <p:spPr>
          <a:xfrm>
            <a:off x="6025896" y="4681728"/>
            <a:ext cx="12070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★☆☆☆☆</a:t>
            </a:r>
            <a:endParaRPr lang="en-US" sz="750" dirty="0"/>
          </a:p>
        </p:txBody>
      </p:sp>
      <p:sp>
        <p:nvSpPr>
          <p:cNvPr id="145" name="Shape 143"/>
          <p:cNvSpPr/>
          <p:nvPr/>
        </p:nvSpPr>
        <p:spPr>
          <a:xfrm>
            <a:off x="274320" y="5029200"/>
            <a:ext cx="8595360" cy="384048"/>
          </a:xfrm>
          <a:prstGeom prst="rect">
            <a:avLst/>
          </a:prstGeom>
          <a:solidFill>
            <a:srgbClr val="F0FFF4"/>
          </a:solidFill>
          <a:ln w="12700">
            <a:solidFill>
              <a:srgbClr val="2F855A"/>
            </a:solidFill>
            <a:prstDash val="solid"/>
          </a:ln>
        </p:spPr>
        <p:txBody>
          <a:bodyPr/>
          <a:p/>
        </p:txBody>
      </p:sp>
      <p:sp>
        <p:nvSpPr>
          <p:cNvPr id="146" name="Text 144"/>
          <p:cNvSpPr/>
          <p:nvPr/>
        </p:nvSpPr>
        <p:spPr>
          <a:xfrm>
            <a:off x="457200" y="502920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海悟定位：不做OEM的竞争对手，而是成为所有液冷OEM的专业快接头供应商</a:t>
            </a:r>
            <a:endParaRPr lang="en-US" sz="1000" dirty="0"/>
          </a:p>
        </p:txBody>
      </p:sp>
      <p:sp>
        <p:nvSpPr>
          <p:cNvPr id="147" name="Shape 145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148" name="Text 146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中国OEM液冷服务器深度分析：浪潮 / 超聚变 / 宁畅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8595360" cy="1280160"/>
          </a:xfrm>
          <a:prstGeom prst="rect">
            <a:avLst/>
          </a:prstGeom>
          <a:solidFill>
            <a:srgbClr val="F7FAFC"/>
          </a:solidFill>
          <a:ln w="19050">
            <a:solidFill>
              <a:srgbClr val="0057E7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274320" y="914400"/>
            <a:ext cx="54864" cy="1280160"/>
          </a:xfrm>
          <a:prstGeom prst="rect">
            <a:avLst/>
          </a:prstGeom>
          <a:solidFill>
            <a:srgbClr val="0057E7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57200" y="98755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浪潮信息（Inspur）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261872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57E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中国最大服务器OEM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57200" y="148132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年出货服务器约80-100万台 | 液冷服务器占比约15%（2025年） | 液冷快接头年需求约15-30万个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3749040" y="1005840"/>
            <a:ext cx="2286000" cy="1097280"/>
          </a:xfrm>
          <a:prstGeom prst="rect">
            <a:avLst/>
          </a:prstGeom>
          <a:solidFill>
            <a:srgbClr val="EDF2F7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840480" y="1051560"/>
            <a:ext cx="2103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GPU适配：</a:t>
            </a:r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海光DCU（主）/ 昇腾（辅）/ 英伟达H100</a:t>
            </a:r>
            <a:endParaRPr lang="en-US" sz="750" dirty="0"/>
          </a:p>
          <a:p>
            <a:pPr indent="0" marL="0">
              <a:buNone/>
            </a:pPr>
            <a:r>
              <a:rPr lang="en-US" sz="7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液冷自供：</a:t>
            </a:r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冷板自产（与高标合作）/ Manifold自产 / 快接头全外购</a:t>
            </a:r>
            <a:endParaRPr lang="en-US" sz="750" dirty="0"/>
          </a:p>
          <a:p>
            <a:pPr indent="0" marL="0">
              <a:buNone/>
            </a:pPr>
            <a:r>
              <a:rPr lang="en-US" sz="7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策略：</a:t>
            </a:r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浪潮液冷走开放路线，快接头外购是战略选择，不是能力缺失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6126480" y="1005840"/>
            <a:ext cx="2651760" cy="1097280"/>
          </a:xfrm>
          <a:prstGeom prst="rect">
            <a:avLst/>
          </a:prstGeom>
          <a:solidFill>
            <a:srgbClr val="0057E7">
              <a:alpha val="8000"/>
            </a:srgbClr>
          </a:solidFill>
          <a:ln w="12700">
            <a:solidFill>
              <a:srgbClr val="0057E7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263640" y="105156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57E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海悟机会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263640" y="128016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★★★★★ | 浪潮是海光最大OEM，海光走开放生态，快接头必须外购，海悟主攻客户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74320" y="2286000"/>
            <a:ext cx="8595360" cy="1280160"/>
          </a:xfrm>
          <a:prstGeom prst="rect">
            <a:avLst/>
          </a:prstGeom>
          <a:solidFill>
            <a:srgbClr val="F7FAFC"/>
          </a:solidFill>
          <a:ln w="19050">
            <a:solidFill>
              <a:srgbClr val="0057E7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274320" y="2286000"/>
            <a:ext cx="54864" cy="1280160"/>
          </a:xfrm>
          <a:prstGeom prst="rect">
            <a:avLst/>
          </a:prstGeom>
          <a:solidFill>
            <a:srgbClr val="0057E7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457200" y="235915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超聚变（xFusion）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2633472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57E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昇腾生态唯一独立服务器OEM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57200" y="285292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年出货昇腾服务器约30-50万台 | 液冷服务器占比约25% | 快接头年需求约60-200万个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3749040" y="2377440"/>
            <a:ext cx="2286000" cy="1097280"/>
          </a:xfrm>
          <a:prstGeom prst="rect">
            <a:avLst/>
          </a:prstGeom>
          <a:solidFill>
            <a:srgbClr val="EDF2F7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3840480" y="2423160"/>
            <a:ext cx="2103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GPU适配：</a:t>
            </a:r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昇腾（独供，封闭体系）</a:t>
            </a:r>
            <a:endParaRPr lang="en-US" sz="750" dirty="0"/>
          </a:p>
          <a:p>
            <a:pPr indent="0" marL="0">
              <a:buNone/>
            </a:pPr>
            <a:r>
              <a:rPr lang="en-US" sz="7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液冷自供：</a:t>
            </a:r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冷板/CDU/Manifold/快接头全栈自产（昇腾封闭生态），但实际通过体系内供应</a:t>
            </a:r>
            <a:endParaRPr lang="en-US" sz="750" dirty="0"/>
          </a:p>
          <a:p>
            <a:pPr indent="0" marL="0">
              <a:buNone/>
            </a:pPr>
            <a:r>
              <a:rPr lang="en-US" sz="7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策略：</a:t>
            </a:r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超聚变需要外购快接头：史陶比尔是主供，但交货周期6-12周，海悟可填补空白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6126480" y="2377440"/>
            <a:ext cx="2651760" cy="1097280"/>
          </a:xfrm>
          <a:prstGeom prst="rect">
            <a:avLst/>
          </a:prstGeom>
          <a:solidFill>
            <a:srgbClr val="0057E7">
              <a:alpha val="8000"/>
            </a:srgbClr>
          </a:solidFill>
          <a:ln w="12700">
            <a:solidFill>
              <a:srgbClr val="0057E7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263640" y="242316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57E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海悟机会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263640" y="265176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★★★★☆ | 超聚变是海悟进入昇腾生态的唯一合规通道，需求量大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74320" y="3657600"/>
            <a:ext cx="8595360" cy="1280160"/>
          </a:xfrm>
          <a:prstGeom prst="rect">
            <a:avLst/>
          </a:prstGeom>
          <a:solidFill>
            <a:srgbClr val="F7FAFC"/>
          </a:solidFill>
          <a:ln w="19050">
            <a:solidFill>
              <a:srgbClr val="0057E7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274320" y="3657600"/>
            <a:ext cx="54864" cy="1280160"/>
          </a:xfrm>
          <a:prstGeom prst="rect">
            <a:avLst/>
          </a:prstGeom>
          <a:solidFill>
            <a:srgbClr val="0057E7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457200" y="373075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宁畅信息（Nettrix）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4005072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57E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定制化液冷服务器专家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57200" y="422452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年出货约10-20万台 | 液冷服务器占比超30% | 快接头年需求约5-15万个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3749040" y="3749040"/>
            <a:ext cx="2286000" cy="1097280"/>
          </a:xfrm>
          <a:prstGeom prst="rect">
            <a:avLst/>
          </a:prstGeom>
          <a:solidFill>
            <a:srgbClr val="EDF2F7"/>
          </a:solidFill>
          <a:ln/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3840480" y="3794760"/>
            <a:ext cx="2103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GPU适配：</a:t>
            </a:r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寒武纪（主）/ 海光 / 摩尔线程</a:t>
            </a:r>
            <a:endParaRPr lang="en-US" sz="750" dirty="0"/>
          </a:p>
          <a:p>
            <a:pPr indent="0" marL="0">
              <a:buNone/>
            </a:pPr>
            <a:r>
              <a:rPr lang="en-US" sz="7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液冷自供：</a:t>
            </a:r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冷板自产 / CDU自产 / 快接头外购（史陶比尔为主）</a:t>
            </a:r>
            <a:endParaRPr lang="en-US" sz="750" dirty="0"/>
          </a:p>
          <a:p>
            <a:pPr indent="0" marL="0">
              <a:buNone/>
            </a:pPr>
            <a:r>
              <a:rPr lang="en-US" sz="7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策略：</a:t>
            </a:r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宁畅定制化程度高，史陶比尔标准化产品无法满足宁畅的定制需求，海悟可提供快速定制响应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6126480" y="3749040"/>
            <a:ext cx="2651760" cy="1097280"/>
          </a:xfrm>
          <a:prstGeom prst="rect">
            <a:avLst/>
          </a:prstGeom>
          <a:solidFill>
            <a:srgbClr val="0057E7">
              <a:alpha val="8000"/>
            </a:srgbClr>
          </a:solidFill>
          <a:ln w="12700">
            <a:solidFill>
              <a:srgbClr val="0057E7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6263640" y="379476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57E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海悟机会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263640" y="402336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★★★★★ | 宁畅是寒武纪核心OEM，寒武纪走开放生态，宁畅定制需求多，海悟定制响应优势明显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OEM液冷服务器战略总结：快接头机会矩阵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1143000" cy="384048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274320" y="914400"/>
            <a:ext cx="1143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OEM厂商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1417320" y="914400"/>
            <a:ext cx="457200" cy="384048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417320" y="914400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874520" y="914400"/>
            <a:ext cx="1143000" cy="384048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874520" y="914400"/>
            <a:ext cx="1143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GPU适配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017520" y="914400"/>
            <a:ext cx="1005840" cy="384048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3017520" y="914400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快接头年需求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023360" y="914400"/>
            <a:ext cx="548640" cy="384048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023360" y="914400"/>
            <a:ext cx="548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难度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572000" y="914400"/>
            <a:ext cx="685800" cy="384048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4572000" y="914400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优先级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5257800" y="914400"/>
            <a:ext cx="1143000" cy="384048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257800" y="914400"/>
            <a:ext cx="1143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海悟目标份额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74320" y="1298448"/>
            <a:ext cx="114300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310896" y="1335024"/>
            <a:ext cx="1069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浪潮信息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1417320" y="1298448"/>
            <a:ext cx="45720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453896" y="1335024"/>
            <a:ext cx="384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57E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1874520" y="1298448"/>
            <a:ext cx="114300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1911096" y="1335024"/>
            <a:ext cx="1069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海光/昇腾/英伟达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3017520" y="1298448"/>
            <a:ext cx="100584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3054096" y="1335024"/>
            <a:ext cx="9326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15-30万个/年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4023360" y="1298448"/>
            <a:ext cx="54864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4059936" y="1335024"/>
            <a:ext cx="4754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4572000" y="1298448"/>
            <a:ext cx="68580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4608576" y="1335024"/>
            <a:ext cx="612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★★★★★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5257800" y="1298448"/>
            <a:ext cx="114300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5294376" y="1335024"/>
            <a:ext cx="1069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30%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274320" y="1737360"/>
            <a:ext cx="114300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310896" y="1773936"/>
            <a:ext cx="1069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宁畅信息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1417320" y="1737360"/>
            <a:ext cx="45720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1453896" y="1773936"/>
            <a:ext cx="384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57E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1874520" y="1737360"/>
            <a:ext cx="114300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1911096" y="1773936"/>
            <a:ext cx="1069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寒武纪/海光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3017520" y="1737360"/>
            <a:ext cx="100584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3054096" y="1773936"/>
            <a:ext cx="9326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5-15万个/年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4023360" y="1737360"/>
            <a:ext cx="54864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4059936" y="1773936"/>
            <a:ext cx="4754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4572000" y="1737360"/>
            <a:ext cx="68580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4608576" y="1773936"/>
            <a:ext cx="612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★★★★★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5257800" y="1737360"/>
            <a:ext cx="114300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5294376" y="1773936"/>
            <a:ext cx="1069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25%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274320" y="2176272"/>
            <a:ext cx="114300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310896" y="2212848"/>
            <a:ext cx="1069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超聚变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1417320" y="2176272"/>
            <a:ext cx="45720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9" name="Text 47"/>
          <p:cNvSpPr/>
          <p:nvPr/>
        </p:nvSpPr>
        <p:spPr>
          <a:xfrm>
            <a:off x="1453896" y="2212848"/>
            <a:ext cx="384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57E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1874520" y="2176272"/>
            <a:ext cx="114300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1" name="Text 49"/>
          <p:cNvSpPr/>
          <p:nvPr/>
        </p:nvSpPr>
        <p:spPr>
          <a:xfrm>
            <a:off x="1911096" y="2212848"/>
            <a:ext cx="1069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昇腾（封闭）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3017520" y="2176272"/>
            <a:ext cx="100584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3" name="Text 51"/>
          <p:cNvSpPr/>
          <p:nvPr/>
        </p:nvSpPr>
        <p:spPr>
          <a:xfrm>
            <a:off x="3054096" y="2212848"/>
            <a:ext cx="9326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60-200万个/年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4023360" y="2176272"/>
            <a:ext cx="54864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5" name="Text 53"/>
          <p:cNvSpPr/>
          <p:nvPr/>
        </p:nvSpPr>
        <p:spPr>
          <a:xfrm>
            <a:off x="4059936" y="2212848"/>
            <a:ext cx="4754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4572000" y="2176272"/>
            <a:ext cx="68580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7" name="Text 55"/>
          <p:cNvSpPr/>
          <p:nvPr/>
        </p:nvSpPr>
        <p:spPr>
          <a:xfrm>
            <a:off x="4608576" y="2212848"/>
            <a:ext cx="612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★★★★☆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5257800" y="2176272"/>
            <a:ext cx="114300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9" name="Text 57"/>
          <p:cNvSpPr/>
          <p:nvPr/>
        </p:nvSpPr>
        <p:spPr>
          <a:xfrm>
            <a:off x="5294376" y="2212848"/>
            <a:ext cx="1069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10%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274320" y="2615184"/>
            <a:ext cx="114300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61" name="Text 59"/>
          <p:cNvSpPr/>
          <p:nvPr/>
        </p:nvSpPr>
        <p:spPr>
          <a:xfrm>
            <a:off x="310896" y="2651760"/>
            <a:ext cx="1069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Quanta（广达）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1417320" y="2615184"/>
            <a:ext cx="45720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63" name="Text 61"/>
          <p:cNvSpPr/>
          <p:nvPr/>
        </p:nvSpPr>
        <p:spPr>
          <a:xfrm>
            <a:off x="1453896" y="2651760"/>
            <a:ext cx="384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台湾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1874520" y="2615184"/>
            <a:ext cx="114300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65" name="Text 63"/>
          <p:cNvSpPr/>
          <p:nvPr/>
        </p:nvSpPr>
        <p:spPr>
          <a:xfrm>
            <a:off x="1911096" y="2651760"/>
            <a:ext cx="1069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英伟达DGX/NVL72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3017520" y="2615184"/>
            <a:ext cx="100584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67" name="Text 65"/>
          <p:cNvSpPr/>
          <p:nvPr/>
        </p:nvSpPr>
        <p:spPr>
          <a:xfrm>
            <a:off x="3054096" y="2651760"/>
            <a:ext cx="9326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20-50万个/年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4023360" y="2615184"/>
            <a:ext cx="54864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69" name="Text 67"/>
          <p:cNvSpPr/>
          <p:nvPr/>
        </p:nvSpPr>
        <p:spPr>
          <a:xfrm>
            <a:off x="4059936" y="2651760"/>
            <a:ext cx="4754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4572000" y="2615184"/>
            <a:ext cx="68580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71" name="Text 69"/>
          <p:cNvSpPr/>
          <p:nvPr/>
        </p:nvSpPr>
        <p:spPr>
          <a:xfrm>
            <a:off x="4608576" y="2651760"/>
            <a:ext cx="612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★★★☆☆</a:t>
            </a:r>
            <a:endParaRPr lang="en-US" sz="750" dirty="0"/>
          </a:p>
        </p:txBody>
      </p:sp>
      <p:sp>
        <p:nvSpPr>
          <p:cNvPr id="72" name="Shape 70"/>
          <p:cNvSpPr/>
          <p:nvPr/>
        </p:nvSpPr>
        <p:spPr>
          <a:xfrm>
            <a:off x="5257800" y="2615184"/>
            <a:ext cx="114300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73" name="Text 71"/>
          <p:cNvSpPr/>
          <p:nvPr/>
        </p:nvSpPr>
        <p:spPr>
          <a:xfrm>
            <a:off x="5294376" y="2651760"/>
            <a:ext cx="1069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15%</a:t>
            </a:r>
            <a:endParaRPr lang="en-US" sz="750" dirty="0"/>
          </a:p>
        </p:txBody>
      </p:sp>
      <p:sp>
        <p:nvSpPr>
          <p:cNvPr id="74" name="Shape 72"/>
          <p:cNvSpPr/>
          <p:nvPr/>
        </p:nvSpPr>
        <p:spPr>
          <a:xfrm>
            <a:off x="274320" y="3054096"/>
            <a:ext cx="114300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75" name="Text 73"/>
          <p:cNvSpPr/>
          <p:nvPr/>
        </p:nvSpPr>
        <p:spPr>
          <a:xfrm>
            <a:off x="310896" y="3090672"/>
            <a:ext cx="1069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Dell</a:t>
            </a: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1417320" y="3054096"/>
            <a:ext cx="45720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77" name="Text 75"/>
          <p:cNvSpPr/>
          <p:nvPr/>
        </p:nvSpPr>
        <p:spPr>
          <a:xfrm>
            <a:off x="1453896" y="3090672"/>
            <a:ext cx="384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美国</a:t>
            </a:r>
            <a:endParaRPr lang="en-US" sz="750" dirty="0"/>
          </a:p>
        </p:txBody>
      </p:sp>
      <p:sp>
        <p:nvSpPr>
          <p:cNvPr id="78" name="Shape 76"/>
          <p:cNvSpPr/>
          <p:nvPr/>
        </p:nvSpPr>
        <p:spPr>
          <a:xfrm>
            <a:off x="1874520" y="3054096"/>
            <a:ext cx="114300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79" name="Text 77"/>
          <p:cNvSpPr/>
          <p:nvPr/>
        </p:nvSpPr>
        <p:spPr>
          <a:xfrm>
            <a:off x="1911096" y="3090672"/>
            <a:ext cx="1069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英伟达H100/H200</a:t>
            </a:r>
            <a:endParaRPr lang="en-US" sz="750" dirty="0"/>
          </a:p>
        </p:txBody>
      </p:sp>
      <p:sp>
        <p:nvSpPr>
          <p:cNvPr id="80" name="Shape 78"/>
          <p:cNvSpPr/>
          <p:nvPr/>
        </p:nvSpPr>
        <p:spPr>
          <a:xfrm>
            <a:off x="3017520" y="3054096"/>
            <a:ext cx="100584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81" name="Text 79"/>
          <p:cNvSpPr/>
          <p:nvPr/>
        </p:nvSpPr>
        <p:spPr>
          <a:xfrm>
            <a:off x="3054096" y="3090672"/>
            <a:ext cx="9326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10-25万个/年</a:t>
            </a:r>
            <a:endParaRPr lang="en-US" sz="750" dirty="0"/>
          </a:p>
        </p:txBody>
      </p:sp>
      <p:sp>
        <p:nvSpPr>
          <p:cNvPr id="82" name="Shape 80"/>
          <p:cNvSpPr/>
          <p:nvPr/>
        </p:nvSpPr>
        <p:spPr>
          <a:xfrm>
            <a:off x="4023360" y="3054096"/>
            <a:ext cx="54864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83" name="Text 81"/>
          <p:cNvSpPr/>
          <p:nvPr/>
        </p:nvSpPr>
        <p:spPr>
          <a:xfrm>
            <a:off x="4059936" y="3090672"/>
            <a:ext cx="4754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</a:t>
            </a:r>
            <a:endParaRPr lang="en-US" sz="750" dirty="0"/>
          </a:p>
        </p:txBody>
      </p:sp>
      <p:sp>
        <p:nvSpPr>
          <p:cNvPr id="84" name="Shape 82"/>
          <p:cNvSpPr/>
          <p:nvPr/>
        </p:nvSpPr>
        <p:spPr>
          <a:xfrm>
            <a:off x="4572000" y="3054096"/>
            <a:ext cx="68580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85" name="Text 83"/>
          <p:cNvSpPr/>
          <p:nvPr/>
        </p:nvSpPr>
        <p:spPr>
          <a:xfrm>
            <a:off x="4608576" y="3090672"/>
            <a:ext cx="612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★★★☆☆</a:t>
            </a:r>
            <a:endParaRPr lang="en-US" sz="750" dirty="0"/>
          </a:p>
        </p:txBody>
      </p:sp>
      <p:sp>
        <p:nvSpPr>
          <p:cNvPr id="86" name="Shape 84"/>
          <p:cNvSpPr/>
          <p:nvPr/>
        </p:nvSpPr>
        <p:spPr>
          <a:xfrm>
            <a:off x="5257800" y="3054096"/>
            <a:ext cx="114300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87" name="Text 85"/>
          <p:cNvSpPr/>
          <p:nvPr/>
        </p:nvSpPr>
        <p:spPr>
          <a:xfrm>
            <a:off x="5294376" y="3090672"/>
            <a:ext cx="1069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10%</a:t>
            </a:r>
            <a:endParaRPr lang="en-US" sz="750" dirty="0"/>
          </a:p>
        </p:txBody>
      </p:sp>
      <p:sp>
        <p:nvSpPr>
          <p:cNvPr id="88" name="Shape 86"/>
          <p:cNvSpPr/>
          <p:nvPr/>
        </p:nvSpPr>
        <p:spPr>
          <a:xfrm>
            <a:off x="274320" y="3493008"/>
            <a:ext cx="114300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89" name="Text 87"/>
          <p:cNvSpPr/>
          <p:nvPr/>
        </p:nvSpPr>
        <p:spPr>
          <a:xfrm>
            <a:off x="310896" y="3529584"/>
            <a:ext cx="1069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Foxconn</a:t>
            </a:r>
            <a:endParaRPr lang="en-US" sz="850" dirty="0"/>
          </a:p>
        </p:txBody>
      </p:sp>
      <p:sp>
        <p:nvSpPr>
          <p:cNvPr id="90" name="Shape 88"/>
          <p:cNvSpPr/>
          <p:nvPr/>
        </p:nvSpPr>
        <p:spPr>
          <a:xfrm>
            <a:off x="1417320" y="3493008"/>
            <a:ext cx="45720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91" name="Text 89"/>
          <p:cNvSpPr/>
          <p:nvPr/>
        </p:nvSpPr>
        <p:spPr>
          <a:xfrm>
            <a:off x="1453896" y="3529584"/>
            <a:ext cx="384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台湾</a:t>
            </a:r>
            <a:endParaRPr lang="en-US" sz="750" dirty="0"/>
          </a:p>
        </p:txBody>
      </p:sp>
      <p:sp>
        <p:nvSpPr>
          <p:cNvPr id="92" name="Shape 90"/>
          <p:cNvSpPr/>
          <p:nvPr/>
        </p:nvSpPr>
        <p:spPr>
          <a:xfrm>
            <a:off x="1874520" y="3493008"/>
            <a:ext cx="114300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93" name="Text 91"/>
          <p:cNvSpPr/>
          <p:nvPr/>
        </p:nvSpPr>
        <p:spPr>
          <a:xfrm>
            <a:off x="1911096" y="3529584"/>
            <a:ext cx="1069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英伟达NVL72代工</a:t>
            </a:r>
            <a:endParaRPr lang="en-US" sz="750" dirty="0"/>
          </a:p>
        </p:txBody>
      </p:sp>
      <p:sp>
        <p:nvSpPr>
          <p:cNvPr id="94" name="Shape 92"/>
          <p:cNvSpPr/>
          <p:nvPr/>
        </p:nvSpPr>
        <p:spPr>
          <a:xfrm>
            <a:off x="3017520" y="3493008"/>
            <a:ext cx="100584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95" name="Text 93"/>
          <p:cNvSpPr/>
          <p:nvPr/>
        </p:nvSpPr>
        <p:spPr>
          <a:xfrm>
            <a:off x="3054096" y="3529584"/>
            <a:ext cx="9326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15-40万个/年</a:t>
            </a:r>
            <a:endParaRPr lang="en-US" sz="750" dirty="0"/>
          </a:p>
        </p:txBody>
      </p:sp>
      <p:sp>
        <p:nvSpPr>
          <p:cNvPr id="96" name="Shape 94"/>
          <p:cNvSpPr/>
          <p:nvPr/>
        </p:nvSpPr>
        <p:spPr>
          <a:xfrm>
            <a:off x="4023360" y="3493008"/>
            <a:ext cx="54864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97" name="Text 95"/>
          <p:cNvSpPr/>
          <p:nvPr/>
        </p:nvSpPr>
        <p:spPr>
          <a:xfrm>
            <a:off x="4059936" y="3529584"/>
            <a:ext cx="4754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</a:t>
            </a:r>
            <a:endParaRPr lang="en-US" sz="750" dirty="0"/>
          </a:p>
        </p:txBody>
      </p:sp>
      <p:sp>
        <p:nvSpPr>
          <p:cNvPr id="98" name="Shape 96"/>
          <p:cNvSpPr/>
          <p:nvPr/>
        </p:nvSpPr>
        <p:spPr>
          <a:xfrm>
            <a:off x="4572000" y="3493008"/>
            <a:ext cx="68580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99" name="Text 97"/>
          <p:cNvSpPr/>
          <p:nvPr/>
        </p:nvSpPr>
        <p:spPr>
          <a:xfrm>
            <a:off x="4608576" y="3529584"/>
            <a:ext cx="612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★★☆☆☆</a:t>
            </a:r>
            <a:endParaRPr lang="en-US" sz="750" dirty="0"/>
          </a:p>
        </p:txBody>
      </p:sp>
      <p:sp>
        <p:nvSpPr>
          <p:cNvPr id="100" name="Shape 98"/>
          <p:cNvSpPr/>
          <p:nvPr/>
        </p:nvSpPr>
        <p:spPr>
          <a:xfrm>
            <a:off x="5257800" y="3493008"/>
            <a:ext cx="114300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1" name="Text 99"/>
          <p:cNvSpPr/>
          <p:nvPr/>
        </p:nvSpPr>
        <p:spPr>
          <a:xfrm>
            <a:off x="5294376" y="3529584"/>
            <a:ext cx="1069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5%</a:t>
            </a:r>
            <a:endParaRPr lang="en-US" sz="750" dirty="0"/>
          </a:p>
        </p:txBody>
      </p:sp>
      <p:sp>
        <p:nvSpPr>
          <p:cNvPr id="102" name="Shape 100"/>
          <p:cNvSpPr/>
          <p:nvPr/>
        </p:nvSpPr>
        <p:spPr>
          <a:xfrm>
            <a:off x="274320" y="3931920"/>
            <a:ext cx="114300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3" name="Text 101"/>
          <p:cNvSpPr/>
          <p:nvPr/>
        </p:nvSpPr>
        <p:spPr>
          <a:xfrm>
            <a:off x="310896" y="3968496"/>
            <a:ext cx="1069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联想</a:t>
            </a:r>
            <a:endParaRPr lang="en-US" sz="850" dirty="0"/>
          </a:p>
        </p:txBody>
      </p:sp>
      <p:sp>
        <p:nvSpPr>
          <p:cNvPr id="104" name="Shape 102"/>
          <p:cNvSpPr/>
          <p:nvPr/>
        </p:nvSpPr>
        <p:spPr>
          <a:xfrm>
            <a:off x="1417320" y="3931920"/>
            <a:ext cx="45720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5" name="Text 103"/>
          <p:cNvSpPr/>
          <p:nvPr/>
        </p:nvSpPr>
        <p:spPr>
          <a:xfrm>
            <a:off x="1453896" y="3968496"/>
            <a:ext cx="384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57E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</a:t>
            </a:r>
            <a:endParaRPr lang="en-US" sz="750" dirty="0"/>
          </a:p>
        </p:txBody>
      </p:sp>
      <p:sp>
        <p:nvSpPr>
          <p:cNvPr id="106" name="Shape 104"/>
          <p:cNvSpPr/>
          <p:nvPr/>
        </p:nvSpPr>
        <p:spPr>
          <a:xfrm>
            <a:off x="1874520" y="3931920"/>
            <a:ext cx="114300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7" name="Text 105"/>
          <p:cNvSpPr/>
          <p:nvPr/>
        </p:nvSpPr>
        <p:spPr>
          <a:xfrm>
            <a:off x="1911096" y="3968496"/>
            <a:ext cx="1069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海光/英伟达</a:t>
            </a:r>
            <a:endParaRPr lang="en-US" sz="750" dirty="0"/>
          </a:p>
        </p:txBody>
      </p:sp>
      <p:sp>
        <p:nvSpPr>
          <p:cNvPr id="108" name="Shape 106"/>
          <p:cNvSpPr/>
          <p:nvPr/>
        </p:nvSpPr>
        <p:spPr>
          <a:xfrm>
            <a:off x="3017520" y="3931920"/>
            <a:ext cx="100584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9" name="Text 107"/>
          <p:cNvSpPr/>
          <p:nvPr/>
        </p:nvSpPr>
        <p:spPr>
          <a:xfrm>
            <a:off x="3054096" y="3968496"/>
            <a:ext cx="9326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5-12万个/年</a:t>
            </a:r>
            <a:endParaRPr lang="en-US" sz="750" dirty="0"/>
          </a:p>
        </p:txBody>
      </p:sp>
      <p:sp>
        <p:nvSpPr>
          <p:cNvPr id="110" name="Shape 108"/>
          <p:cNvSpPr/>
          <p:nvPr/>
        </p:nvSpPr>
        <p:spPr>
          <a:xfrm>
            <a:off x="4023360" y="3931920"/>
            <a:ext cx="54864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11" name="Text 109"/>
          <p:cNvSpPr/>
          <p:nvPr/>
        </p:nvSpPr>
        <p:spPr>
          <a:xfrm>
            <a:off x="4059936" y="3968496"/>
            <a:ext cx="4754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</a:t>
            </a:r>
            <a:endParaRPr lang="en-US" sz="750" dirty="0"/>
          </a:p>
        </p:txBody>
      </p:sp>
      <p:sp>
        <p:nvSpPr>
          <p:cNvPr id="112" name="Shape 110"/>
          <p:cNvSpPr/>
          <p:nvPr/>
        </p:nvSpPr>
        <p:spPr>
          <a:xfrm>
            <a:off x="4572000" y="3931920"/>
            <a:ext cx="68580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13" name="Text 111"/>
          <p:cNvSpPr/>
          <p:nvPr/>
        </p:nvSpPr>
        <p:spPr>
          <a:xfrm>
            <a:off x="4608576" y="3968496"/>
            <a:ext cx="612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★★★☆☆</a:t>
            </a:r>
            <a:endParaRPr lang="en-US" sz="750" dirty="0"/>
          </a:p>
        </p:txBody>
      </p:sp>
      <p:sp>
        <p:nvSpPr>
          <p:cNvPr id="114" name="Shape 112"/>
          <p:cNvSpPr/>
          <p:nvPr/>
        </p:nvSpPr>
        <p:spPr>
          <a:xfrm>
            <a:off x="5257800" y="3931920"/>
            <a:ext cx="114300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15" name="Text 113"/>
          <p:cNvSpPr/>
          <p:nvPr/>
        </p:nvSpPr>
        <p:spPr>
          <a:xfrm>
            <a:off x="5294376" y="3968496"/>
            <a:ext cx="1069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15%</a:t>
            </a:r>
            <a:endParaRPr lang="en-US" sz="750" dirty="0"/>
          </a:p>
        </p:txBody>
      </p:sp>
      <p:sp>
        <p:nvSpPr>
          <p:cNvPr id="116" name="Text 114"/>
          <p:cNvSpPr/>
          <p:nvPr/>
        </p:nvSpPr>
        <p:spPr>
          <a:xfrm>
            <a:off x="274320" y="441655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备注：难度高=需要OCP认证或长认证周期 | 优先级★越多=收入贡献越大</a:t>
            </a:r>
            <a:endParaRPr lang="en-US" sz="750" dirty="0"/>
          </a:p>
        </p:txBody>
      </p:sp>
      <p:sp>
        <p:nvSpPr>
          <p:cNvPr id="117" name="Shape 115"/>
          <p:cNvSpPr/>
          <p:nvPr/>
        </p:nvSpPr>
        <p:spPr>
          <a:xfrm>
            <a:off x="274320" y="4526280"/>
            <a:ext cx="8595360" cy="475488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118" name="Text 116"/>
          <p:cNvSpPr/>
          <p:nvPr/>
        </p:nvSpPr>
        <p:spPr>
          <a:xfrm>
            <a:off x="457200" y="4544568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海悟OEM液冷快接头目标：2030年国内+东南亚快接头市场份额30%+ → 年收入约2亿元</a:t>
            </a:r>
            <a:endParaRPr lang="en-US" sz="1100" dirty="0"/>
          </a:p>
        </p:txBody>
      </p:sp>
      <p:sp>
        <p:nvSpPr>
          <p:cNvPr id="119" name="Shape 117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120" name="Text 118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09728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国内超节点方案对比与市场需求</a:t>
            </a:r>
            <a:endParaRPr lang="en-US" sz="24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914400"/>
                <a:gridCol w="1645920"/>
                <a:gridCol w="1097280"/>
                <a:gridCol w="1188720"/>
                <a:gridCol w="13716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方案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厂商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单柜价值量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GPU配置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单柜功率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液冷BOM/柜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磐久128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阿里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~2000万元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128卡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~200kW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D89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80-100万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72卡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字节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~1500万元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72卡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~150kW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D89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60-75万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ETH-64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腾讯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~1000-1200万元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64卡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~100kW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D89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48-60万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2926080"/>
            <a:ext cx="2560320" cy="1371600"/>
          </a:xfrm>
          <a:prstGeom prst="rect">
            <a:avLst>
              <a:gd name="adj" fmla="val 5333"/>
            </a:avLst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548640" y="30175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📦 超节点需求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2026.3 - 2027.3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8640" y="35204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~7,000 柜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548640" y="39319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三大巨头超节点部署规模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3291840" y="2926080"/>
            <a:ext cx="2560320" cy="1371600"/>
          </a:xfrm>
          <a:prstGeom prst="rect">
            <a:avLst>
              <a:gd name="adj" fmla="val 5333"/>
            </a:avLst>
          </a:prstGeom>
          <a:solidFill>
            <a:srgbClr val="2C5282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3383280" y="30175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💰 液冷市场规模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（仅三大巨头）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3383280" y="35204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~45-56 亿元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3383280" y="39319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超节点液冷BOM市场总量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6126480" y="2926080"/>
            <a:ext cx="2560320" cy="1371600"/>
          </a:xfrm>
          <a:prstGeom prst="rect">
            <a:avLst>
              <a:gd name="adj" fmla="val 5333"/>
            </a:avLst>
          </a:prstGeom>
          <a:solidFill>
            <a:srgbClr val="ED8936"/>
          </a:solidFill>
          <a:ln/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6217920" y="30175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📈 液冷BOM占比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217920" y="33832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 2% → 超节点 4-5%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217920" y="3840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翻倍！价值量大幅跃升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57200" y="45720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来源：WeChat文章3（超节点专家调研）| 三大巨头资本开支公告 [已核实]</a:t>
            </a:r>
            <a:endParaRPr lang="en-US" sz="700" dirty="0"/>
          </a:p>
        </p:txBody>
      </p:sp>
      <p:sp>
        <p:nvSpPr>
          <p:cNvPr id="18" name="Shape 15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CDU供应链重大变局：从独供到开放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2560320" cy="1280160"/>
          </a:xfrm>
          <a:prstGeom prst="rect">
            <a:avLst>
              <a:gd name="adj" fmla="val 5714"/>
            </a:avLst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365760" y="10058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泵：CDU“心脏”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128016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开源2MW CDU规范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365760" y="17830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国产链进入路径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971800" y="914400"/>
            <a:ext cx="2560320" cy="1280160"/>
          </a:xfrm>
          <a:prstGeom prst="rect">
            <a:avLst>
              <a:gd name="adj" fmla="val 5714"/>
            </a:avLst>
          </a:prstGeom>
          <a:solidFill>
            <a:srgbClr val="2C5282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063240" y="10058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谷歌直采模式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063240" y="128016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降低行业进入门槛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3063240" y="17830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英伟达放权+谷歌直采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669280" y="9144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供应模式演进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669280" y="1280160"/>
            <a:ext cx="3200400" cy="548640"/>
          </a:xfrm>
          <a:prstGeom prst="rect">
            <a:avLst/>
          </a:prstGeom>
          <a:solidFill>
            <a:srgbClr val="F7FAFC"/>
          </a:solidFill>
          <a:ln w="9525">
            <a:solidFill>
              <a:srgbClr val="2C5282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5760720" y="132588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GB200时代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858000" y="13258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维谛独供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760720" y="1554480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英伟达“卖卡+指定独供”模式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5669280" y="1901952"/>
            <a:ext cx="3200400" cy="548640"/>
          </a:xfrm>
          <a:prstGeom prst="rect">
            <a:avLst/>
          </a:prstGeom>
          <a:solidFill>
            <a:srgbClr val="F7FAFC"/>
          </a:solidFill>
          <a:ln w="9525">
            <a:solidFill>
              <a:srgbClr val="2C5282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5760720" y="1947672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GB300/Rubin时代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858000" y="194767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🔴多供方可集成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760720" y="2176272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英伟达放权开放供应商名录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5669280" y="2523744"/>
            <a:ext cx="3200400" cy="548640"/>
          </a:xfrm>
          <a:prstGeom prst="rect">
            <a:avLst/>
          </a:prstGeom>
          <a:solidFill>
            <a:srgbClr val="F7FAFC"/>
          </a:solidFill>
          <a:ln w="9525">
            <a:solidFill>
              <a:srgbClr val="2C5282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760720" y="2569464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ODM自主选型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858000" y="2569464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🔴产业最大变局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760720" y="2798064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国产链：二供→一供路径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274320" y="237744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关键变量</a:t>
            </a:r>
            <a:endParaRPr lang="en-US" sz="11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697480"/>
          <a:ext cx="5212080" cy="1783080"/>
        </p:xfrm>
        <a:graphic>
          <a:graphicData uri="http://schemas.openxmlformats.org/drawingml/2006/table">
            <a:tbl>
              <a:tblPr/>
              <a:tblGrid>
                <a:gridCol w="1280160"/>
                <a:gridCol w="548640"/>
                <a:gridCol w="3383280"/>
              </a:tblGrid>
              <a:tr h="356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厂商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区域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优势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✔ CDU供应链变局(GB200→GB300)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全链条自研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英伟达新进温控供应商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维谛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GB200独供→GB300多供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Q3 26.76亿美元(+29%YoY) | 积压95亿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高澜股份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国产AI算力液冷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曙光数创(浸没液冷领先)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✔ CDU供应链变局(GB200→GB300)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华为唯一液冷合作伙伴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来源：东吴证券[43] | 开源证券[10]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✔ CDU供应链变局(GB200→GB300)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华为唯一液冷合作伙伴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/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7" name="Shape 24"/>
          <p:cNvSpPr/>
          <p:nvPr/>
        </p:nvSpPr>
        <p:spPr>
          <a:xfrm>
            <a:off x="274320" y="4526280"/>
            <a:ext cx="8595360" cy="502920"/>
          </a:xfrm>
          <a:prstGeom prst="rect">
            <a:avLst/>
          </a:prstGeom>
          <a:solidFill>
            <a:srgbClr val="FFF7ED"/>
          </a:solidFill>
          <a:ln w="12700">
            <a:solidFill>
              <a:srgbClr val="ED8936"/>
            </a:solidFill>
            <a:prstDash val="solid"/>
          </a:ln>
        </p:spPr>
        <p:txBody>
          <a:bodyPr/>
          <a:p/>
        </p:txBody>
      </p:sp>
      <p:sp>
        <p:nvSpPr>
          <p:cNvPr id="28" name="Text 25"/>
          <p:cNvSpPr/>
          <p:nvPr/>
        </p:nvSpPr>
        <p:spPr>
          <a:xfrm>
            <a:off x="457200" y="455371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海悟切入点：与系统集成商合作 CDU 捆绑销售，或专注液冷管路/快接头配套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457200" y="4919472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来源：MarketsandMarkets 2025 | 行业调研 2026.04 [已核实/估算]</a:t>
            </a:r>
            <a:endParaRPr lang="en-US" sz="700" dirty="0"/>
          </a:p>
        </p:txBody>
      </p:sp>
      <p:sp>
        <p:nvSpPr>
          <p:cNvPr id="30" name="Shape 27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31" name="Text 28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案例① 英维克（YingweiKATE）：快接头外购需求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2743200" cy="2011680"/>
          </a:xfrm>
          <a:prstGeom prst="rect">
            <a:avLst/>
          </a:prstGeom>
          <a:solidFill>
            <a:srgbClr val="F7FAFC"/>
          </a:solidFill>
          <a:ln w="19050">
            <a:solidFill>
              <a:srgbClr val="1A365D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" y="10058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公司档案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1371600"/>
            <a:ext cx="2514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总部：</a:t>
            </a:r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深圳（A股002837）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成立：</a:t>
            </a:r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2001年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营收：</a:t>
            </a:r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约¥50亿（2024年）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液冷营收：</a:t>
            </a:r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约¥15亿（占比30%）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液冷定位：</a:t>
            </a:r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国内液冷龙头，全栈布局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快接头：</a:t>
            </a:r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外购（史陶比尔为主）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00400" y="9144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液冷组件能力矩阵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0" y="1280160"/>
            <a:ext cx="2743200" cy="365760"/>
          </a:xfrm>
          <a:prstGeom prst="rect">
            <a:avLst/>
          </a:prstGeom>
          <a:solidFill>
            <a:srgbClr val="F0FFF4"/>
          </a:solidFill>
          <a:ln w="9525">
            <a:solidFill>
              <a:srgbClr val="2F855A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337560" y="1325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480560" y="13258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自产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00400" y="1691640"/>
            <a:ext cx="2743200" cy="365760"/>
          </a:xfrm>
          <a:prstGeom prst="rect">
            <a:avLst/>
          </a:prstGeom>
          <a:solidFill>
            <a:srgbClr val="F0FFF4"/>
          </a:solidFill>
          <a:ln w="9525">
            <a:solidFill>
              <a:srgbClr val="2F855A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3337560" y="17373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480560" y="17373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自产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00400" y="2103120"/>
            <a:ext cx="2743200" cy="365760"/>
          </a:xfrm>
          <a:prstGeom prst="rect">
            <a:avLst/>
          </a:prstGeom>
          <a:solidFill>
            <a:srgbClr val="F0FFF4"/>
          </a:solidFill>
          <a:ln w="9525">
            <a:solidFill>
              <a:srgbClr val="2F855A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3337560" y="21488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Manifold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480560" y="21488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自产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00400" y="2514600"/>
            <a:ext cx="2743200" cy="365760"/>
          </a:xfrm>
          <a:prstGeom prst="rect">
            <a:avLst/>
          </a:prstGeom>
          <a:solidFill>
            <a:srgbClr val="FFF5F5"/>
          </a:solidFill>
          <a:ln w="9525">
            <a:solidFill>
              <a:srgbClr val="C53030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3337560" y="25603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480560" y="25603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外购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00400" y="2926080"/>
            <a:ext cx="2743200" cy="365760"/>
          </a:xfrm>
          <a:prstGeom prst="rect">
            <a:avLst/>
          </a:prstGeom>
          <a:solidFill>
            <a:srgbClr val="FFF5F5"/>
          </a:solidFill>
          <a:ln w="9525">
            <a:solidFill>
              <a:srgbClr val="C53030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3337560" y="2971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冷却液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480560" y="2971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外购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126480" y="914400"/>
            <a:ext cx="2743200" cy="2011680"/>
          </a:xfrm>
          <a:prstGeom prst="rect">
            <a:avLst/>
          </a:prstGeom>
          <a:solidFill>
            <a:srgbClr val="ED8936">
              <a:alpha val="8000"/>
            </a:srgbClr>
          </a:solidFill>
          <a:ln w="19050">
            <a:solidFill>
              <a:srgbClr val="ED8936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263640" y="10058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快接头年需求量（估算）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263640" y="1325880"/>
            <a:ext cx="246888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英维克CDU年出货：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~5000台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每台CDU快接头需求：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约20-40个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快接头年需求总量：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10-20万个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当前采购来源：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80%史陶比尔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海悟可触及空间：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3-5万个/年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（替代30%史陶比尔份额）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预估年营收贡献：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¥1500-2500万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274320" y="3108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海悟供应切入点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74320" y="3429000"/>
            <a:ext cx="320040" cy="320040"/>
          </a:xfrm>
          <a:prstGeom prst="rect">
            <a:avLst/>
          </a:prstGeom>
          <a:solidFill>
            <a:srgbClr val="ED8936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274320" y="34290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85800" y="34290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通过OCP认证（英维克要求供应商OCP认证）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74320" y="3794760"/>
            <a:ext cx="320040" cy="320040"/>
          </a:xfrm>
          <a:prstGeom prst="rect">
            <a:avLst/>
          </a:prstGeom>
          <a:solidFill>
            <a:srgbClr val="ED8936"/>
          </a:solidFill>
          <a:ln/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274320" y="37947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85800" y="37947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提供样品（20-50个快接头样品，免费试用）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74320" y="4160520"/>
            <a:ext cx="320040" cy="320040"/>
          </a:xfrm>
          <a:prstGeom prst="rect">
            <a:avLst/>
          </a:prstGeom>
          <a:solidFill>
            <a:srgbClr val="ED8936"/>
          </a:solidFill>
          <a:ln/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274320" y="41605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85800" y="41605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通过英维克内部测试（漏液率/插拔寿命验证）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74320" y="4526280"/>
            <a:ext cx="320040" cy="320040"/>
          </a:xfrm>
          <a:prstGeom prst="rect">
            <a:avLst/>
          </a:prstGeom>
          <a:solidFill>
            <a:srgbClr val="ED8936"/>
          </a:solidFill>
          <a:ln/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274320" y="45262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85800" y="45262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进入英维克合格供应商名单（AVL）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74320" y="4892040"/>
            <a:ext cx="320040" cy="320040"/>
          </a:xfrm>
          <a:prstGeom prst="rect">
            <a:avLst/>
          </a:prstGeom>
          <a:solidFill>
            <a:srgbClr val="ED8936"/>
          </a:solidFill>
          <a:ln/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274320" y="48920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⑤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85800" y="48920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小批量供货 → 大批量替代（目标30%份额）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10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>
            <a:pPr>
              <a:defRPr sz="3600" b="1"/>
            </a:pPr>
            <a:r>
              <a:t>三定</a:t>
            </a:r>
          </a:p>
          <a:p>
            <a:pPr>
              <a:defRPr sz="1400"/>
            </a:pPr>
            <a:r>
              <a:t>战略控制点 · 目标 · 策略</a:t>
            </a:r>
            <a:br/>
            <a:br/>
            <a:r>
              <a:t>非芯片冷板全栈 · 营收路线图 · 行动路径</a:t>
            </a:r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海悟液冷战略：2026-2027行动路线图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2148840"/>
            <a:ext cx="8229600" cy="36576"/>
          </a:xfrm>
          <a:prstGeom prst="rect">
            <a:avLst/>
          </a:prstGeom>
          <a:solidFill>
            <a:srgbClr val="BEE3F8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325880" y="2029968"/>
            <a:ext cx="274320" cy="274320"/>
          </a:xfrm>
          <a:prstGeom prst="ellipse">
            <a:avLst/>
          </a:prstGeom>
          <a:solidFill>
            <a:srgbClr val="ED8936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65760" y="2423160"/>
            <a:ext cx="1965960" cy="2468880"/>
          </a:xfrm>
          <a:prstGeom prst="rect">
            <a:avLst/>
          </a:prstGeom>
          <a:solidFill>
            <a:srgbClr val="F7FAFC"/>
          </a:solidFill>
          <a:ln w="19050">
            <a:solidFill>
              <a:srgbClr val="ED8936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365760" y="2423160"/>
            <a:ext cx="1965960" cy="502920"/>
          </a:xfrm>
          <a:prstGeom prst="rect">
            <a:avLst/>
          </a:prstGeom>
          <a:solidFill>
            <a:srgbClr val="ED8936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65760" y="2450592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1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Q2-Q3 2026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65760" y="2697480"/>
            <a:ext cx="1965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认证与产品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301752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加入OCP协会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57200" y="329184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快接头OCP认证启动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57200" y="356616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与浪潮/宁畅接洽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57200" y="384048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CDU国产件样品测试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57200" y="4160520"/>
            <a:ext cx="1783080" cy="640080"/>
          </a:xfrm>
          <a:prstGeom prst="rect">
            <a:avLst/>
          </a:prstGeom>
          <a:solidFill>
            <a:srgbClr val="ED8936">
              <a:alpha val="15000"/>
            </a:srgbClr>
          </a:solidFill>
          <a:ln w="9525">
            <a:solidFill>
              <a:srgbClr val="ED8936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457200" y="4187952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KPI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502920" y="4407408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获得1个OEM合作意向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29000" y="2029968"/>
            <a:ext cx="274320" cy="274320"/>
          </a:xfrm>
          <a:prstGeom prst="ellipse">
            <a:avLst/>
          </a:prstGeom>
          <a:solidFill>
            <a:srgbClr val="2C5282"/>
          </a:solidFill>
          <a:ln/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2468880" y="2423160"/>
            <a:ext cx="1965960" cy="2468880"/>
          </a:xfrm>
          <a:prstGeom prst="rect">
            <a:avLst/>
          </a:prstGeom>
          <a:solidFill>
            <a:srgbClr val="F7FAFC"/>
          </a:solidFill>
          <a:ln w="19050">
            <a:solidFill>
              <a:srgbClr val="2C5282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2468880" y="2423160"/>
            <a:ext cx="1965960" cy="502920"/>
          </a:xfrm>
          <a:prstGeom prst="rect">
            <a:avLst/>
          </a:prstGeom>
          <a:solidFill>
            <a:srgbClr val="2C5282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2468880" y="2450592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2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Q4 2026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468880" y="2697480"/>
            <a:ext cx="1965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小批量验证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560320" y="301752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快接头小批量生产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560320" y="329184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CDU管路配套交付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560320" y="356616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配合OEM完成测试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2560320" y="384048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获取1-2个项目案例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2560320" y="4160520"/>
            <a:ext cx="1783080" cy="640080"/>
          </a:xfrm>
          <a:prstGeom prst="rect">
            <a:avLst/>
          </a:prstGeom>
          <a:solidFill>
            <a:srgbClr val="2C5282">
              <a:alpha val="15000"/>
            </a:srgbClr>
          </a:solidFill>
          <a:ln w="9525">
            <a:solidFill>
              <a:srgbClr val="2C5282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2560320" y="4187952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KPI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2606040" y="4407408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通过3个客户验证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532120" y="2029968"/>
            <a:ext cx="274320" cy="274320"/>
          </a:xfrm>
          <a:prstGeom prst="ellipse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4572000" y="2423160"/>
            <a:ext cx="1965960" cy="2468880"/>
          </a:xfrm>
          <a:prstGeom prst="rect">
            <a:avLst/>
          </a:prstGeom>
          <a:solidFill>
            <a:srgbClr val="F7FAFC"/>
          </a:solidFill>
          <a:ln w="19050">
            <a:solidFill>
              <a:srgbClr val="1A365D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4572000" y="2423160"/>
            <a:ext cx="1965960" cy="50292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4572000" y="2450592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3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Q1-Q2 2027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572000" y="2697480"/>
            <a:ext cx="1965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规模化扩展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663440" y="301752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扩大快接头产能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663440" y="329184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进入超聚变供应链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663440" y="356616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东南亚市场试点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663440" y="384048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建立本地服务网络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4663440" y="4160520"/>
            <a:ext cx="1783080" cy="640080"/>
          </a:xfrm>
          <a:prstGeom prst="rect">
            <a:avLst/>
          </a:prstGeom>
          <a:solidFill>
            <a:srgbClr val="1A365D">
              <a:alpha val="15000"/>
            </a:srgbClr>
          </a:solidFill>
          <a:ln w="9525">
            <a:solidFill>
              <a:srgbClr val="1A365D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4663440" y="4187952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KPI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4709160" y="4407408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年收入目标≥5000万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7635240" y="2029968"/>
            <a:ext cx="274320" cy="274320"/>
          </a:xfrm>
          <a:prstGeom prst="ellipse">
            <a:avLst/>
          </a:prstGeom>
          <a:solidFill>
            <a:srgbClr val="805AD5"/>
          </a:solidFill>
          <a:ln/>
        </p:spPr>
        <p:txBody>
          <a:bodyPr/>
          <a:p/>
        </p:txBody>
      </p:sp>
      <p:sp>
        <p:nvSpPr>
          <p:cNvPr id="42" name="Shape 40"/>
          <p:cNvSpPr/>
          <p:nvPr/>
        </p:nvSpPr>
        <p:spPr>
          <a:xfrm>
            <a:off x="6675120" y="2423160"/>
            <a:ext cx="1965960" cy="2468880"/>
          </a:xfrm>
          <a:prstGeom prst="rect">
            <a:avLst/>
          </a:prstGeom>
          <a:solidFill>
            <a:srgbClr val="F7FAFC"/>
          </a:solidFill>
          <a:ln w="19050">
            <a:solidFill>
              <a:srgbClr val="805AD5"/>
            </a:solidFill>
            <a:prstDash val="solid"/>
          </a:ln>
        </p:spPr>
        <p:txBody>
          <a:bodyPr/>
          <a:p/>
        </p:txBody>
      </p:sp>
      <p:sp>
        <p:nvSpPr>
          <p:cNvPr id="43" name="Shape 41"/>
          <p:cNvSpPr/>
          <p:nvPr/>
        </p:nvSpPr>
        <p:spPr>
          <a:xfrm>
            <a:off x="6675120" y="2423160"/>
            <a:ext cx="1965960" cy="502920"/>
          </a:xfrm>
          <a:prstGeom prst="rect">
            <a:avLst/>
          </a:prstGeom>
          <a:solidFill>
            <a:srgbClr val="805AD5"/>
          </a:solidFill>
          <a:ln/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6675120" y="2450592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4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Q3-Q4 2027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6675120" y="2697480"/>
            <a:ext cx="1965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全球布局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766560" y="301752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中东/欧洲认证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6766560" y="329184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建立海外分销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6766560" y="356616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液冷全栈产品线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6766560" y="384048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探索并购机会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6766560" y="4160520"/>
            <a:ext cx="1783080" cy="640080"/>
          </a:xfrm>
          <a:prstGeom prst="rect">
            <a:avLst/>
          </a:prstGeom>
          <a:solidFill>
            <a:srgbClr val="805AD5">
              <a:alpha val="15000"/>
            </a:srgbClr>
          </a:solidFill>
          <a:ln w="9525">
            <a:solidFill>
              <a:srgbClr val="805AD5"/>
            </a:solidFill>
            <a:prstDash val="solid"/>
          </a:ln>
        </p:spPr>
        <p:txBody>
          <a:bodyPr/>
          <a:p/>
        </p:txBody>
      </p:sp>
      <p:sp>
        <p:nvSpPr>
          <p:cNvPr id="51" name="Text 49"/>
          <p:cNvSpPr/>
          <p:nvPr/>
        </p:nvSpPr>
        <p:spPr>
          <a:xfrm>
            <a:off x="6766560" y="4187952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05A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KPI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6812280" y="4407408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海外收入占比≥15%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54" name="Text 52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10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海悟可触及市场规模：快接头 TAM / SAM / SOM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9144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市场规模三层模型（快接头）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280160"/>
            <a:ext cx="2743200" cy="1188720"/>
          </a:xfrm>
          <a:prstGeom prst="rect">
            <a:avLst>
              <a:gd name="adj" fmla="val 6154"/>
            </a:avLst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274320" y="135331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74320" y="169164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$2.5亿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65760" y="212140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全球数据中心快接头总市场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3154680" y="1280160"/>
            <a:ext cx="2286000" cy="1188720"/>
          </a:xfrm>
          <a:prstGeom prst="rect">
            <a:avLst>
              <a:gd name="adj" fmla="val 6154"/>
            </a:avLst>
          </a:prstGeom>
          <a:solidFill>
            <a:srgbClr val="2C5282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154680" y="135331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154680" y="16916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$0.65亿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246120" y="2121408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海悟可触达市场（中国+东南亚）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5577840" y="1280160"/>
            <a:ext cx="1828800" cy="1188720"/>
          </a:xfrm>
          <a:prstGeom prst="rect">
            <a:avLst>
              <a:gd name="adj" fmla="val 6154"/>
            </a:avLst>
          </a:prstGeom>
          <a:solidFill>
            <a:srgbClr val="ED8936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5577840" y="135331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577840" y="16916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$0.11亿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669280" y="2121408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海悟5年实际可获得（保守）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274320" y="26517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5年收入预测（保守/基准/乐观）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2971800"/>
            <a:ext cx="5029200" cy="36576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274320" y="297180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年份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05840" y="297180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保守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011680" y="297180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基准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017520" y="297180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乐观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74320" y="3337560"/>
            <a:ext cx="502920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274320" y="3337560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05840" y="333756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$0.01亿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011680" y="333756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C5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$0.02亿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017520" y="333756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F8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$0.03亿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74320" y="3703320"/>
            <a:ext cx="502920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274320" y="3703320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2027E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05840" y="370332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$0.03亿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011680" y="370332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C5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$0.05亿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017520" y="370332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F8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$0.08亿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74320" y="4069080"/>
            <a:ext cx="502920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274320" y="4069080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2028E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05840" y="406908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$0.06亿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2011680" y="406908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C5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$0.11亿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017520" y="406908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F8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$0.18亿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74320" y="4434840"/>
            <a:ext cx="502920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274320" y="4434840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2029E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05840" y="443484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$0.10亿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2011680" y="443484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C5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$0.18亿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017520" y="443484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F8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$0.30亿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274320" y="4800600"/>
            <a:ext cx="502920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274320" y="4800600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2030E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005840" y="480060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$0.15亿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2011680" y="480060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C5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$0.28亿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3017520" y="480060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F8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$0.50亿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5486400" y="914400"/>
            <a:ext cx="3383280" cy="3108960"/>
          </a:xfrm>
          <a:prstGeom prst="rect">
            <a:avLst/>
          </a:prstGeom>
          <a:solidFill>
            <a:srgbClr val="ED8936">
              <a:alpha val="8000"/>
            </a:srgbClr>
          </a:solidFill>
          <a:ln w="19050">
            <a:solidFill>
              <a:srgbClr val="ED8936"/>
            </a:solidFill>
            <a:prstDash val="solid"/>
          </a:ln>
        </p:spPr>
        <p:txBody>
          <a:bodyPr/>
          <a:p/>
        </p:txBody>
      </p:sp>
      <p:sp>
        <p:nvSpPr>
          <p:cNvPr id="49" name="Text 47"/>
          <p:cNvSpPr/>
          <p:nvPr/>
        </p:nvSpPr>
        <p:spPr>
          <a:xfrm>
            <a:off x="5623560" y="10058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关键假设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5623560" y="1325880"/>
            <a:ext cx="310896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快接头单价：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$80-120/个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（史陶比尔定价，海悟低30%）</a:t>
            </a:r>
            <a:endParaRPr lang="en-US" sz="850" dirty="0"/>
          </a:p>
          <a:p>
            <a:pPr indent="0" marL="0">
              <a:buNone/>
            </a:pPr>
            <a:r>
              <a:rPr lang="en-US" sz="5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需求增量：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AI服务器年增30%</a:t>
            </a:r>
            <a:endParaRPr lang="en-US" sz="850" dirty="0"/>
          </a:p>
          <a:p>
            <a:pPr indent="0" marL="0">
              <a:buNone/>
            </a:pPr>
            <a:r>
              <a:rPr lang="en-US" sz="5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渗透率：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2030年海悟占SAM 17%</a:t>
            </a:r>
            <a:endParaRPr lang="en-US" sz="850" dirty="0"/>
          </a:p>
          <a:p>
            <a:pPr indent="0" marL="0">
              <a:buNone/>
            </a:pPr>
            <a:r>
              <a:rPr lang="en-US" sz="5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海悟快接头量产时间：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Q4 2027</a:t>
            </a:r>
            <a:endParaRPr lang="en-US" sz="850" dirty="0"/>
          </a:p>
          <a:p>
            <a:pPr indent="0" marL="0">
              <a:buNone/>
            </a:pPr>
            <a:r>
              <a:rPr lang="en-US" sz="5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OCP认证完成：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Q3 2027</a:t>
            </a:r>
            <a:endParaRPr lang="en-US" sz="850" dirty="0"/>
          </a:p>
          <a:p>
            <a:pPr indent="0" marL="0">
              <a:buNone/>
            </a:pPr>
            <a:r>
              <a:rPr lang="en-US" sz="5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 主要客户：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浪潮+宁畅+超聚变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274320" y="4617720"/>
            <a:ext cx="8595360" cy="411480"/>
          </a:xfrm>
          <a:prstGeom prst="rect">
            <a:avLst/>
          </a:prstGeom>
          <a:solidFill>
            <a:srgbClr val="FFF7ED"/>
          </a:solidFill>
          <a:ln w="12700">
            <a:solidFill>
              <a:srgbClr val="ED8936"/>
            </a:solidFill>
            <a:prstDash val="solid"/>
          </a:ln>
        </p:spPr>
        <p:txBody>
          <a:bodyPr/>
          <a:p/>
        </p:txBody>
      </p:sp>
      <p:sp>
        <p:nvSpPr>
          <p:cNvPr id="52" name="Text 50"/>
          <p:cNvSpPr/>
          <p:nvPr/>
        </p:nvSpPr>
        <p:spPr>
          <a:xfrm>
            <a:off x="457200" y="464515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结论：2030年海悟快接头基准收入预测 $2800万/年（约¥2亿元）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54" name="Text 52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</a:t>
            </a:r>
            <a:endParaRPr lang="en-US" sz="10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1A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ED8936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战略总结与行动建议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8595360" cy="1280160"/>
          </a:xfrm>
          <a:prstGeom prst="rect">
            <a:avLst/>
          </a:prstGeom>
          <a:solidFill>
            <a:srgbClr val="2C5282">
              <a:alpha val="60000"/>
            </a:srgbClr>
          </a:solidFill>
          <a:ln w="9525">
            <a:solidFill>
              <a:srgbClr val="ED8936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274320" y="868680"/>
            <a:ext cx="502920" cy="1280160"/>
          </a:xfrm>
          <a:prstGeom prst="rect">
            <a:avLst/>
          </a:prstGeom>
          <a:solidFill>
            <a:srgbClr val="ED8936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274320" y="868680"/>
            <a:ext cx="502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9601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聚焦快接头，差异化切入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1325880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快接头是液冷价值链中技术壁垒最高（5/5）且国产化率最低（&lt;10%）的环节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914400" y="1545336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海悟目标：比史陶比尔低30%定价，快速响应定制需求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914400" y="1764792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优先OEM：浪潮（最大）&gt; 宁畅（定制多）&gt; 超聚变（昇腾生态）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914400" y="1984248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同步推进OCP认证，目标2027年Q3完成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217920" y="100584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2028年：$1100万收入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占SAM 17%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74320" y="2240280"/>
            <a:ext cx="8595360" cy="1280160"/>
          </a:xfrm>
          <a:prstGeom prst="rect">
            <a:avLst/>
          </a:prstGeom>
          <a:solidFill>
            <a:srgbClr val="2C5282">
              <a:alpha val="60000"/>
            </a:srgbClr>
          </a:solidFill>
          <a:ln w="9525">
            <a:solidFill>
              <a:srgbClr val="ED8936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274320" y="2240280"/>
            <a:ext cx="502920" cy="1280160"/>
          </a:xfrm>
          <a:prstGeom prst="rect">
            <a:avLst/>
          </a:prstGeom>
          <a:solidFill>
            <a:srgbClr val="ED8936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274320" y="2240280"/>
            <a:ext cx="502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14400" y="23317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借力OTT爆发，绑定超节点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14400" y="2697480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NVL72超节点（100kW/机架）必须液冷，快接头需求爆发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4400" y="2916936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字节/腾讯/阿里三大OTT 2026-2028年是集中建设期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914400" y="3136392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NVL72供应链：史陶比尔垄断，海悟目标替代30%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914400" y="3355848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新进入者优势：史陶比尔交货周期6-12周，海悟可做到4-6周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217920" y="237744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OTT客户占比 &gt; 60%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平均交货周期 ≤ 6周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74320" y="3611880"/>
            <a:ext cx="8595360" cy="1280160"/>
          </a:xfrm>
          <a:prstGeom prst="rect">
            <a:avLst/>
          </a:prstGeom>
          <a:solidFill>
            <a:srgbClr val="2C5282">
              <a:alpha val="60000"/>
            </a:srgbClr>
          </a:solidFill>
          <a:ln w="9525">
            <a:solidFill>
              <a:srgbClr val="ED8936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274320" y="3611880"/>
            <a:ext cx="502920" cy="1280160"/>
          </a:xfrm>
          <a:prstGeom prst="rect">
            <a:avLst/>
          </a:prstGeom>
          <a:solidFill>
            <a:srgbClr val="ED8936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274320" y="3611880"/>
            <a:ext cx="502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14400" y="37033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全球五区域，差异化布局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14400" y="4069080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国内（根基）：浪潮/宁畅/超聚变全渗透，建立样板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914400" y="4288536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东南亚（规模）：跟随中资数据中心出海，成本竞争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914400" y="4507992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中东/欧洲（利润）：OCP认证 + CE认证，高毛利产品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914400" y="4727448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北美（长期）：找Vertiv/Dell作为配套供应商间接进入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217920" y="374904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2030年：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国内60% / 海外40%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74320" y="4983480"/>
            <a:ext cx="8595360" cy="502920"/>
          </a:xfrm>
          <a:prstGeom prst="rect">
            <a:avLst/>
          </a:prstGeom>
          <a:solidFill>
            <a:srgbClr val="C53030">
              <a:alpha val="50000"/>
            </a:srgbClr>
          </a:solidFill>
          <a:ln w="12700">
            <a:solidFill>
              <a:srgbClr val="FC8181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457200" y="501091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 风险提示：史陶比尔加速中国本地化建厂（苏州工厂已投产）/ OCP认证周期超预期 / GPU出口管制加剧导致OTT采购受阻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ED8936"/>
          </a:solidFill>
          <a:ln/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</a:t>
            </a:r>
            <a:endParaRPr lang="en-US" sz="10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金刚石散热：AI散热新方向</a:t>
            </a:r>
            <a:endParaRPr lang="en-US" sz="22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14400"/>
          <a:ext cx="5303520" cy="1828800"/>
        </p:xfrm>
        <a:graphic>
          <a:graphicData uri="http://schemas.openxmlformats.org/drawingml/2006/table">
            <a:tbl>
              <a:tblPr/>
              <a:tblGrid>
                <a:gridCol w="1097280"/>
                <a:gridCol w="1280160"/>
                <a:gridCol w="548640"/>
                <a:gridCol w="1097280"/>
                <a:gridCol w="128016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特性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金刚石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铜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SiC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优势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热导率(W/mK)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&gt;2000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~400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~490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5倍于铜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已交付产品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Akash Systems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首批搭载Diamond Cooling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NVIDIA H200服务器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已交付(2025)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技术路线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芯片级金刚石散热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~400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TIM材料替代方案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No TIM演进路径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前景与壁垒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✔下一代AI散热材料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成本高(当前CVD工艺限制)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规模化后→成本下降→普及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来源：华源证券[11] 2026-04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760720" y="914400"/>
            <a:ext cx="3108960" cy="1828800"/>
          </a:xfrm>
          <a:prstGeom prst="rect">
            <a:avLst/>
          </a:prstGeom>
          <a:solidFill>
            <a:srgbClr val="F7FAFC"/>
          </a:solidFill>
          <a:ln w="12700">
            <a:solidFill>
              <a:srgbClr val="2C5282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5943600" y="10058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核心洞察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897880" y="1417320"/>
            <a:ext cx="73152" cy="228600"/>
          </a:xfrm>
          <a:prstGeom prst="rect">
            <a:avLst/>
          </a:prstGeom>
          <a:solidFill>
            <a:srgbClr val="C53030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6035040" y="141732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半导体热导率天花板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7223760" y="141732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金刚石≫铜≫SiC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5897880" y="1709928"/>
            <a:ext cx="73152" cy="228600"/>
          </a:xfrm>
          <a:prstGeom prst="rect">
            <a:avLst/>
          </a:prstGeom>
          <a:solidFill>
            <a:srgbClr val="2C5282"/>
          </a:solidFill>
          <a:ln/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6035040" y="1709928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TIM2向金刚石过渡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7223760" y="1709928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Rubin Ultra需相变+金刚石组合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5897880" y="2002536"/>
            <a:ext cx="73152" cy="228600"/>
          </a:xfrm>
          <a:prstGeom prst="rect">
            <a:avLst/>
          </a:prstGeom>
          <a:solidFill>
            <a:srgbClr val="2C5282"/>
          </a:solidFill>
          <a:ln/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6035040" y="2002536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2027+高功率GPU必选项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7223760" y="2002536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✔ 金刚石散热数据完整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5897880" y="2295144"/>
            <a:ext cx="73152" cy="228600"/>
          </a:xfrm>
          <a:prstGeom prst="rect">
            <a:avLst/>
          </a:prstGeom>
          <a:solidFill>
            <a:srgbClr val="2C5282"/>
          </a:solidFill>
          <a:ln/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6035040" y="2295144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/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7223760" y="2295144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/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5897880" y="2587752"/>
            <a:ext cx="73152" cy="228600"/>
          </a:xfrm>
          <a:prstGeom prst="rect">
            <a:avLst/>
          </a:prstGeom>
          <a:solidFill>
            <a:srgbClr val="2F855A"/>
          </a:solidFill>
          <a:ln/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6035040" y="2587752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/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7223760" y="2587752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/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274320" y="28803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/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274320" y="3291840"/>
            <a:ext cx="1664208" cy="1188720"/>
          </a:xfrm>
          <a:prstGeom prst="rect">
            <a:avLst/>
          </a:prstGeom>
          <a:solidFill>
            <a:srgbClr val="F7FAFC"/>
          </a:solidFill>
          <a:ln w="19050">
            <a:solidFill>
              <a:srgbClr val="1A365D"/>
            </a:solidFill>
            <a:prstDash val="solid"/>
          </a:ln>
        </p:spPr>
        <p:txBody>
          <a:bodyPr/>
          <a:p/>
        </p:txBody>
      </p:sp>
      <p:sp>
        <p:nvSpPr>
          <p:cNvPr id="24" name="Shape 21"/>
          <p:cNvSpPr/>
          <p:nvPr/>
        </p:nvSpPr>
        <p:spPr>
          <a:xfrm>
            <a:off x="274320" y="3291840"/>
            <a:ext cx="1664208" cy="27432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25" name="Text 22"/>
          <p:cNvSpPr/>
          <p:nvPr/>
        </p:nvSpPr>
        <p:spPr>
          <a:xfrm>
            <a:off x="274320" y="3291840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/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347472" y="3611880"/>
            <a:ext cx="15179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/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347472" y="3931920"/>
            <a:ext cx="151790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/>
            </a:r>
            <a:endParaRPr lang="en-US" sz="750" dirty="0"/>
          </a:p>
        </p:txBody>
      </p:sp>
      <p:sp>
        <p:nvSpPr>
          <p:cNvPr id="28" name="Shape 25"/>
          <p:cNvSpPr/>
          <p:nvPr/>
        </p:nvSpPr>
        <p:spPr>
          <a:xfrm>
            <a:off x="2029968" y="3291840"/>
            <a:ext cx="1664208" cy="1188720"/>
          </a:xfrm>
          <a:prstGeom prst="rect">
            <a:avLst/>
          </a:prstGeom>
          <a:solidFill>
            <a:srgbClr val="F7FAFC"/>
          </a:solidFill>
          <a:ln w="19050">
            <a:solidFill>
              <a:srgbClr val="1A365D"/>
            </a:solidFill>
            <a:prstDash val="solid"/>
          </a:ln>
        </p:spPr>
        <p:txBody>
          <a:bodyPr/>
          <a:p/>
        </p:txBody>
      </p:sp>
      <p:sp>
        <p:nvSpPr>
          <p:cNvPr id="29" name="Shape 26"/>
          <p:cNvSpPr/>
          <p:nvPr/>
        </p:nvSpPr>
        <p:spPr>
          <a:xfrm>
            <a:off x="2029968" y="3291840"/>
            <a:ext cx="1664208" cy="27432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30" name="Text 27"/>
          <p:cNvSpPr/>
          <p:nvPr/>
        </p:nvSpPr>
        <p:spPr>
          <a:xfrm>
            <a:off x="2029968" y="3291840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/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2103120" y="3611880"/>
            <a:ext cx="15179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/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2103120" y="3931920"/>
            <a:ext cx="151790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/>
            </a:r>
            <a:endParaRPr lang="en-US" sz="750" dirty="0"/>
          </a:p>
        </p:txBody>
      </p:sp>
      <p:sp>
        <p:nvSpPr>
          <p:cNvPr id="33" name="Shape 30"/>
          <p:cNvSpPr/>
          <p:nvPr/>
        </p:nvSpPr>
        <p:spPr>
          <a:xfrm>
            <a:off x="3785616" y="3291840"/>
            <a:ext cx="1664208" cy="1188720"/>
          </a:xfrm>
          <a:prstGeom prst="rect">
            <a:avLst/>
          </a:prstGeom>
          <a:solidFill>
            <a:srgbClr val="F7FAFC"/>
          </a:solidFill>
          <a:ln w="19050">
            <a:solidFill>
              <a:srgbClr val="2C5282"/>
            </a:solidFill>
            <a:prstDash val="solid"/>
          </a:ln>
        </p:spPr>
        <p:txBody>
          <a:bodyPr/>
          <a:p/>
        </p:txBody>
      </p:sp>
      <p:sp>
        <p:nvSpPr>
          <p:cNvPr id="34" name="Shape 31"/>
          <p:cNvSpPr/>
          <p:nvPr/>
        </p:nvSpPr>
        <p:spPr>
          <a:xfrm>
            <a:off x="3785616" y="3291840"/>
            <a:ext cx="1664208" cy="274320"/>
          </a:xfrm>
          <a:prstGeom prst="rect">
            <a:avLst/>
          </a:prstGeom>
          <a:solidFill>
            <a:srgbClr val="2C5282"/>
          </a:solidFill>
          <a:ln/>
        </p:spPr>
        <p:txBody>
          <a:bodyPr/>
          <a:p/>
        </p:txBody>
      </p:sp>
      <p:sp>
        <p:nvSpPr>
          <p:cNvPr id="35" name="Text 32"/>
          <p:cNvSpPr/>
          <p:nvPr/>
        </p:nvSpPr>
        <p:spPr>
          <a:xfrm>
            <a:off x="3785616" y="3291840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/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3858768" y="3611880"/>
            <a:ext cx="15179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/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3858768" y="3931920"/>
            <a:ext cx="151790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/>
            </a:r>
            <a:endParaRPr lang="en-US" sz="750" dirty="0"/>
          </a:p>
        </p:txBody>
      </p:sp>
      <p:sp>
        <p:nvSpPr>
          <p:cNvPr id="38" name="Shape 35"/>
          <p:cNvSpPr/>
          <p:nvPr/>
        </p:nvSpPr>
        <p:spPr>
          <a:xfrm>
            <a:off x="5541264" y="3291840"/>
            <a:ext cx="1664208" cy="1188720"/>
          </a:xfrm>
          <a:prstGeom prst="rect">
            <a:avLst/>
          </a:prstGeom>
          <a:solidFill>
            <a:srgbClr val="F7FAFC"/>
          </a:solidFill>
          <a:ln w="19050">
            <a:solidFill>
              <a:srgbClr val="2C5282"/>
            </a:solidFill>
            <a:prstDash val="solid"/>
          </a:ln>
        </p:spPr>
        <p:txBody>
          <a:bodyPr/>
          <a:p/>
        </p:txBody>
      </p:sp>
      <p:sp>
        <p:nvSpPr>
          <p:cNvPr id="39" name="Shape 36"/>
          <p:cNvSpPr/>
          <p:nvPr/>
        </p:nvSpPr>
        <p:spPr>
          <a:xfrm>
            <a:off x="5541264" y="3291840"/>
            <a:ext cx="1664208" cy="274320"/>
          </a:xfrm>
          <a:prstGeom prst="rect">
            <a:avLst/>
          </a:prstGeom>
          <a:solidFill>
            <a:srgbClr val="2C5282"/>
          </a:solidFill>
          <a:ln/>
        </p:spPr>
        <p:txBody>
          <a:bodyPr/>
          <a:p/>
        </p:txBody>
      </p:sp>
      <p:sp>
        <p:nvSpPr>
          <p:cNvPr id="40" name="Text 37"/>
          <p:cNvSpPr/>
          <p:nvPr/>
        </p:nvSpPr>
        <p:spPr>
          <a:xfrm>
            <a:off x="5541264" y="3291840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/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5614416" y="3611880"/>
            <a:ext cx="15179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/>
            </a:r>
            <a:endParaRPr lang="en-US" sz="1000" dirty="0"/>
          </a:p>
        </p:txBody>
      </p:sp>
      <p:sp>
        <p:nvSpPr>
          <p:cNvPr id="42" name="Text 39"/>
          <p:cNvSpPr/>
          <p:nvPr/>
        </p:nvSpPr>
        <p:spPr>
          <a:xfrm>
            <a:off x="5614416" y="3931920"/>
            <a:ext cx="151790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/>
            </a:r>
            <a:endParaRPr lang="en-US" sz="750" dirty="0"/>
          </a:p>
        </p:txBody>
      </p:sp>
      <p:sp>
        <p:nvSpPr>
          <p:cNvPr id="43" name="Shape 40"/>
          <p:cNvSpPr/>
          <p:nvPr/>
        </p:nvSpPr>
        <p:spPr>
          <a:xfrm>
            <a:off x="7296912" y="3291840"/>
            <a:ext cx="1664208" cy="1188720"/>
          </a:xfrm>
          <a:prstGeom prst="rect">
            <a:avLst/>
          </a:prstGeom>
          <a:solidFill>
            <a:srgbClr val="F7FAFC"/>
          </a:solidFill>
          <a:ln w="19050">
            <a:solidFill>
              <a:srgbClr val="999999"/>
            </a:solidFill>
            <a:prstDash val="solid"/>
          </a:ln>
        </p:spPr>
        <p:txBody>
          <a:bodyPr/>
          <a:p/>
        </p:txBody>
      </p:sp>
      <p:sp>
        <p:nvSpPr>
          <p:cNvPr id="44" name="Shape 41"/>
          <p:cNvSpPr/>
          <p:nvPr/>
        </p:nvSpPr>
        <p:spPr>
          <a:xfrm>
            <a:off x="7296912" y="3291840"/>
            <a:ext cx="1664208" cy="274320"/>
          </a:xfrm>
          <a:prstGeom prst="rect">
            <a:avLst/>
          </a:prstGeom>
          <a:solidFill>
            <a:srgbClr val="999999"/>
          </a:solidFill>
          <a:ln/>
        </p:spPr>
        <p:txBody>
          <a:bodyPr/>
          <a:p/>
        </p:txBody>
      </p:sp>
      <p:sp>
        <p:nvSpPr>
          <p:cNvPr id="45" name="Text 42"/>
          <p:cNvSpPr/>
          <p:nvPr/>
        </p:nvSpPr>
        <p:spPr>
          <a:xfrm>
            <a:off x="7296912" y="3291840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第三梯队</a:t>
            </a:r>
            <a:endParaRPr lang="en-US" sz="800" dirty="0"/>
          </a:p>
        </p:txBody>
      </p:sp>
      <p:sp>
        <p:nvSpPr>
          <p:cNvPr id="46" name="Text 43"/>
          <p:cNvSpPr/>
          <p:nvPr/>
        </p:nvSpPr>
        <p:spPr>
          <a:xfrm>
            <a:off x="7370064" y="3611880"/>
            <a:ext cx="15179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/>
            </a:r>
            <a:endParaRPr lang="en-US" sz="1000" dirty="0"/>
          </a:p>
        </p:txBody>
      </p:sp>
      <p:sp>
        <p:nvSpPr>
          <p:cNvPr id="47" name="Text 44"/>
          <p:cNvSpPr/>
          <p:nvPr/>
        </p:nvSpPr>
        <p:spPr>
          <a:xfrm>
            <a:off x="7370064" y="3931920"/>
            <a:ext cx="151790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/>
            </a:r>
            <a:endParaRPr lang="en-US" sz="750" dirty="0"/>
          </a:p>
        </p:txBody>
      </p:sp>
      <p:sp>
        <p:nvSpPr>
          <p:cNvPr id="48" name="Text 45"/>
          <p:cNvSpPr/>
          <p:nvPr/>
        </p:nvSpPr>
        <p:spPr>
          <a:xfrm>
            <a:off x="457200" y="4919472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来源：IDC 2025 | OCP官网 | 厂商资料 [已核实/估算]</a:t>
            </a:r>
            <a:endParaRPr lang="en-US" sz="700" dirty="0"/>
          </a:p>
        </p:txBody>
      </p:sp>
      <p:sp>
        <p:nvSpPr>
          <p:cNvPr id="49" name="Shape 46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50" name="Text 47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竞争对手⑥ 浪潮（Inspur）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2926080" cy="2011680"/>
          </a:xfrm>
          <a:prstGeom prst="rect">
            <a:avLst/>
          </a:prstGeom>
          <a:solidFill>
            <a:srgbClr val="F7FAFC"/>
          </a:solidFill>
          <a:ln w="19050">
            <a:solidFill>
              <a:srgbClr val="1A365D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" y="10058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公司档案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137160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总部：</a:t>
            </a:r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济南（深交所上市，000977）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成立：</a:t>
            </a:r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1949年（国营背景）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营收：</a:t>
            </a:r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约¥800亿（2024年）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服务器份额：</a:t>
            </a:r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中国第一，全球第三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液冷定位：</a:t>
            </a:r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AI服务器+液冷同步推进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383280" y="9144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浪潮液冷布局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83280" y="1280160"/>
            <a:ext cx="5486400" cy="457200"/>
          </a:xfrm>
          <a:prstGeom prst="rect">
            <a:avLst/>
          </a:prstGeom>
          <a:solidFill>
            <a:srgbClr val="EDF2F7"/>
          </a:solidFill>
          <a:ln w="12700">
            <a:solidFill>
              <a:srgbClr val="2F855A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1353312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AI服务器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754880" y="1353312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NF5680G7等，适配英伟达H100/昇腾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520440" y="1536192"/>
            <a:ext cx="1188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自产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383280" y="1792224"/>
            <a:ext cx="5486400" cy="457200"/>
          </a:xfrm>
          <a:prstGeom prst="rect">
            <a:avLst/>
          </a:prstGeom>
          <a:solidFill>
            <a:srgbClr val="EDF2F7"/>
          </a:solidFill>
          <a:ln w="12700">
            <a:solidFill>
              <a:srgbClr val="ED8936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3520440" y="1865376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液冷CDU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754880" y="1865376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自产+外购英维克/申菱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520440" y="2048256"/>
            <a:ext cx="1188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部分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383280" y="2304288"/>
            <a:ext cx="5486400" cy="457200"/>
          </a:xfrm>
          <a:prstGeom prst="rect">
            <a:avLst/>
          </a:prstGeom>
          <a:solidFill>
            <a:srgbClr val="EDF2F7"/>
          </a:solidFill>
          <a:ln w="12700">
            <a:solidFill>
              <a:srgbClr val="ED8936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520440" y="2377440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754880" y="237744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外购高标/英维克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520440" y="2560320"/>
            <a:ext cx="1188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部分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383280" y="2816352"/>
            <a:ext cx="5486400" cy="457200"/>
          </a:xfrm>
          <a:prstGeom prst="rect">
            <a:avLst/>
          </a:prstGeom>
          <a:solidFill>
            <a:srgbClr val="EDF2F7"/>
          </a:solidFill>
          <a:ln w="12700">
            <a:solidFill>
              <a:srgbClr val="999999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3520440" y="2889504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754880" y="2889504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外购史陶比尔（主供）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520440" y="3072384"/>
            <a:ext cx="1188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外购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74320" y="3108960"/>
            <a:ext cx="8595360" cy="1463040"/>
          </a:xfrm>
          <a:prstGeom prst="rect">
            <a:avLst/>
          </a:prstGeom>
          <a:solidFill>
            <a:srgbClr val="ED8936">
              <a:alpha val="8000"/>
            </a:srgbClr>
          </a:solidFill>
          <a:ln w="19050">
            <a:solidFill>
              <a:srgbClr val="ED8936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457200" y="3200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海悟在浪潮液冷体系中的切入点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3611880"/>
            <a:ext cx="73152" cy="320040"/>
          </a:xfrm>
          <a:prstGeom prst="rect">
            <a:avLst/>
          </a:prstGeom>
          <a:solidFill>
            <a:srgbClr val="ED8936"/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640080" y="36118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快接头替代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377440" y="361188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浪潮服务器出货量大，快接头年需求&gt;10万对，史陶比尔供货不足，海悟可填补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57200" y="3977640"/>
            <a:ext cx="73152" cy="320040"/>
          </a:xfrm>
          <a:prstGeom prst="rect">
            <a:avLst/>
          </a:prstGeom>
          <a:solidFill>
            <a:srgbClr val="ED8936"/>
          </a:solidFill>
          <a:ln/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640080" y="39776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冷板配套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377440" y="397764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浪潮AI服务器出货量大，冷板外购给国内厂商，海悟可通过高标体系切入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57200" y="4343400"/>
            <a:ext cx="73152" cy="320040"/>
          </a:xfrm>
          <a:prstGeom prst="rect">
            <a:avLst/>
          </a:prstGeom>
          <a:solidFill>
            <a:srgbClr val="ED8936"/>
          </a:solidFill>
          <a:ln/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640080" y="43434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CDU管路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377440" y="434340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CDU管路/阀门/连接件，量大且定制化多，海悟有管路优势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</a:t>
            </a:r>
            <a:endParaRPr lang="en-US" sz="10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竞争对手⑦ 宁畅（Nettrix）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2926080" cy="2103120"/>
          </a:xfrm>
          <a:prstGeom prst="rect">
            <a:avLst/>
          </a:prstGeom>
          <a:solidFill>
            <a:srgbClr val="F7FAFC"/>
          </a:solidFill>
          <a:ln w="19050">
            <a:solidFill>
              <a:srgbClr val="1A365D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" y="10058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公司档案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1371600"/>
            <a:ext cx="2743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总部：</a:t>
            </a:r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北京（中科院计算所背景）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成立：</a:t>
            </a:r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2017年（年轻但技术强）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融资：</a:t>
            </a:r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VC融资（规模约¥20亿+）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营收：</a:t>
            </a:r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约¥50亿+（2024年）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定位：</a:t>
            </a:r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AI服务器+液冷定制专家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液冷特点：</a:t>
            </a:r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深度定制化，朗之闻为关联公司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383280" y="9144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液冷产品线覆盖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83280" y="1280160"/>
            <a:ext cx="5486400" cy="384048"/>
          </a:xfrm>
          <a:prstGeom prst="rect">
            <a:avLst/>
          </a:prstGeom>
          <a:solidFill>
            <a:srgbClr val="EDF2F7"/>
          </a:solidFill>
          <a:ln w="9525">
            <a:solidFill>
              <a:srgbClr val="2F855A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132588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AI服务器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663440" y="132588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全自研，寒武纪/海光适配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383280" y="1709928"/>
            <a:ext cx="5486400" cy="384048"/>
          </a:xfrm>
          <a:prstGeom prst="rect">
            <a:avLst/>
          </a:prstGeom>
          <a:solidFill>
            <a:srgbClr val="EDF2F7"/>
          </a:solidFill>
          <a:ln w="9525">
            <a:solidFill>
              <a:srgbClr val="2F855A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3520440" y="1755648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663440" y="1755648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自产（朗之闻）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383280" y="2139696"/>
            <a:ext cx="5486400" cy="384048"/>
          </a:xfrm>
          <a:prstGeom prst="rect">
            <a:avLst/>
          </a:prstGeom>
          <a:solidFill>
            <a:srgbClr val="EDF2F7"/>
          </a:solidFill>
          <a:ln w="9525">
            <a:solidFill>
              <a:srgbClr val="2F855A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3520440" y="2185416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663440" y="2185416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自产（朗之闻）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383280" y="2569464"/>
            <a:ext cx="5486400" cy="384048"/>
          </a:xfrm>
          <a:prstGeom prst="rect">
            <a:avLst/>
          </a:prstGeom>
          <a:solidFill>
            <a:srgbClr val="EDF2F7"/>
          </a:solidFill>
          <a:ln w="9525">
            <a:solidFill>
              <a:srgbClr val="C53030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3520440" y="2615184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663440" y="2615184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外购（史陶比尔）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383280" y="2999232"/>
            <a:ext cx="5486400" cy="384048"/>
          </a:xfrm>
          <a:prstGeom prst="rect">
            <a:avLst/>
          </a:prstGeom>
          <a:solidFill>
            <a:srgbClr val="EDF2F7"/>
          </a:solidFill>
          <a:ln w="9525">
            <a:solidFill>
              <a:srgbClr val="ED8936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3520440" y="3044952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Manifold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663440" y="3044952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自产+外购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74320" y="3200400"/>
            <a:ext cx="8595360" cy="1417320"/>
          </a:xfrm>
          <a:prstGeom prst="rect">
            <a:avLst/>
          </a:prstGeom>
          <a:solidFill>
            <a:srgbClr val="ED8936">
              <a:alpha val="8000"/>
            </a:srgbClr>
          </a:solidFill>
          <a:ln w="19050">
            <a:solidFill>
              <a:srgbClr val="ED8936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457200" y="3291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海悟在宁畅体系中的机会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36118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🔑 核心机会：</a:t>
            </a:r>
            <a:pPr indent="0" marL="0">
              <a:buNone/>
            </a:pPr>
            <a:r>
              <a:rPr lang="en-US" sz="9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宁畅快接头100%外购史陶比尔，且朗之闻无快接头业务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切入点：</a:t>
            </a:r>
            <a:pPr indent="0" marL="0">
              <a:buNone/>
            </a:pPr>
            <a:r>
              <a:rPr lang="en-US" sz="9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宁畅定制化需求多，史陶比尔响应慢，海悟可提供快速定制服务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绑定方式：</a:t>
            </a:r>
            <a:pPr indent="0" marL="0">
              <a:buNone/>
            </a:pPr>
            <a:r>
              <a:rPr lang="en-US" sz="9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与朗之闻错位竞争（海悟专攻快接头，朗之闻专注冷板/CDU）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目标：</a:t>
            </a:r>
            <a:pPr indent="0" marL="0">
              <a:buNone/>
            </a:pPr>
            <a:r>
              <a:rPr lang="en-US" sz="9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成为宁畅第二快接头供应商（替代30%史陶比尔）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</a:t>
            </a:r>
            <a:endParaRPr lang="en-US" sz="10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OTT厂家超级节点：OEM制造商对应关系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全球OTT超级节点 GPU集群规模（2026年估算）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280160"/>
            <a:ext cx="914400" cy="384048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274320" y="1280160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OTT厂家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188720" y="1280160"/>
            <a:ext cx="1280160" cy="384048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188720" y="1280160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GPU集群规模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468880" y="1280160"/>
            <a:ext cx="1463040" cy="384048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2468880" y="1280160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超节点名称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931920" y="1280160"/>
            <a:ext cx="1828800" cy="384048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3931920" y="128016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服务器OEM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760720" y="1280160"/>
            <a:ext cx="731520" cy="384048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5760720" y="1280160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区域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4320" y="1664208"/>
            <a:ext cx="914400" cy="475488"/>
          </a:xfrm>
          <a:prstGeom prst="rect">
            <a:avLst/>
          </a:prstGeom>
          <a:solidFill>
            <a:srgbClr val="0057E7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274320" y="1664208"/>
            <a:ext cx="914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Meta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188720" y="1664208"/>
            <a:ext cx="128016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234440" y="1709928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~500k H100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468880" y="1664208"/>
            <a:ext cx="146304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2514600" y="170992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Large Language Model Cluster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931920" y="1664208"/>
            <a:ext cx="182880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3977640" y="1709928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Quanta / NVIDIA DGX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5760720" y="1664208"/>
            <a:ext cx="73152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5806440" y="1709928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美国/欧洲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74320" y="2157984"/>
            <a:ext cx="914400" cy="475488"/>
          </a:xfrm>
          <a:prstGeom prst="rect">
            <a:avLst/>
          </a:prstGeom>
          <a:solidFill>
            <a:srgbClr val="EA4335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274320" y="2157984"/>
            <a:ext cx="914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Google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188720" y="2157984"/>
            <a:ext cx="128016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1234440" y="2203704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~800k TPUv5+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468880" y="2157984"/>
            <a:ext cx="146304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2514600" y="2203704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TPU Pod（自有设计）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931920" y="2157984"/>
            <a:ext cx="182880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3977640" y="2203704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Google自研（非标准OEM）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5760720" y="2157984"/>
            <a:ext cx="73152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5806440" y="2203704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美国/欧洲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74320" y="2651760"/>
            <a:ext cx="914400" cy="475488"/>
          </a:xfrm>
          <a:prstGeom prst="rect">
            <a:avLst/>
          </a:prstGeom>
          <a:solidFill>
            <a:srgbClr val="00A4EF"/>
          </a:solidFill>
          <a:ln/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274320" y="2651760"/>
            <a:ext cx="914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1188720" y="2651760"/>
            <a:ext cx="128016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1234440" y="2697480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~400k GB200 NVL72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2468880" y="2651760"/>
            <a:ext cx="146304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2514600" y="269748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Azure AI Supercomputer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3931920" y="2651760"/>
            <a:ext cx="182880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3977640" y="269748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Quanta / Dell / HP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5760720" y="2651760"/>
            <a:ext cx="73152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5806440" y="2697480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美国/欧洲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274320" y="3145536"/>
            <a:ext cx="914400" cy="475488"/>
          </a:xfrm>
          <a:prstGeom prst="rect">
            <a:avLst/>
          </a:prstGeom>
          <a:solidFill>
            <a:srgbClr val="FE4D4D"/>
          </a:solidFill>
          <a:ln/>
        </p:spPr>
        <p:txBody>
          <a:bodyPr/>
          <a:p/>
        </p:txBody>
      </p:sp>
      <p:sp>
        <p:nvSpPr>
          <p:cNvPr id="46" name="Text 44"/>
          <p:cNvSpPr/>
          <p:nvPr/>
        </p:nvSpPr>
        <p:spPr>
          <a:xfrm>
            <a:off x="274320" y="3145536"/>
            <a:ext cx="914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字节跳动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1188720" y="3145536"/>
            <a:ext cx="128016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8" name="Text 46"/>
          <p:cNvSpPr/>
          <p:nvPr/>
        </p:nvSpPr>
        <p:spPr>
          <a:xfrm>
            <a:off x="1234440" y="3191256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~300k H100/H800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2468880" y="3145536"/>
            <a:ext cx="146304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0" name="Text 48"/>
          <p:cNvSpPr/>
          <p:nvPr/>
        </p:nvSpPr>
        <p:spPr>
          <a:xfrm>
            <a:off x="2514600" y="319125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ByteDance AI Cloud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3931920" y="3145536"/>
            <a:ext cx="182880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2" name="Text 50"/>
          <p:cNvSpPr/>
          <p:nvPr/>
        </p:nvSpPr>
        <p:spPr>
          <a:xfrm>
            <a:off x="3977640" y="3191256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Inspur / 华为 / 宁畅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5760720" y="3145536"/>
            <a:ext cx="73152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4" name="Text 52"/>
          <p:cNvSpPr/>
          <p:nvPr/>
        </p:nvSpPr>
        <p:spPr>
          <a:xfrm>
            <a:off x="5806440" y="3191256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中国/东南亚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274320" y="3639312"/>
            <a:ext cx="914400" cy="475488"/>
          </a:xfrm>
          <a:prstGeom prst="rect">
            <a:avLst/>
          </a:prstGeom>
          <a:solidFill>
            <a:srgbClr val="12B7F5"/>
          </a:solidFill>
          <a:ln/>
        </p:spPr>
        <p:txBody>
          <a:bodyPr/>
          <a:p/>
        </p:txBody>
      </p:sp>
      <p:sp>
        <p:nvSpPr>
          <p:cNvPr id="56" name="Text 54"/>
          <p:cNvSpPr/>
          <p:nvPr/>
        </p:nvSpPr>
        <p:spPr>
          <a:xfrm>
            <a:off x="274320" y="3639312"/>
            <a:ext cx="914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腾讯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1188720" y="3639312"/>
            <a:ext cx="128016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8" name="Text 56"/>
          <p:cNvSpPr/>
          <p:nvPr/>
        </p:nvSpPr>
        <p:spPr>
          <a:xfrm>
            <a:off x="1234440" y="3685032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~200k H100/昇腾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2468880" y="3639312"/>
            <a:ext cx="146304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60" name="Text 58"/>
          <p:cNvSpPr/>
          <p:nvPr/>
        </p:nvSpPr>
        <p:spPr>
          <a:xfrm>
            <a:off x="2514600" y="3685032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腾讯云AI集群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3931920" y="3639312"/>
            <a:ext cx="182880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62" name="Text 60"/>
          <p:cNvSpPr/>
          <p:nvPr/>
        </p:nvSpPr>
        <p:spPr>
          <a:xfrm>
            <a:off x="3977640" y="3685032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Inspur / 华为 / 富士康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5760720" y="3639312"/>
            <a:ext cx="73152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64" name="Text 62"/>
          <p:cNvSpPr/>
          <p:nvPr/>
        </p:nvSpPr>
        <p:spPr>
          <a:xfrm>
            <a:off x="5806440" y="3685032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274320" y="4133088"/>
            <a:ext cx="914400" cy="475488"/>
          </a:xfrm>
          <a:prstGeom prst="rect">
            <a:avLst/>
          </a:prstGeom>
          <a:solidFill>
            <a:srgbClr val="FF6A00"/>
          </a:solidFill>
          <a:ln/>
        </p:spPr>
        <p:txBody>
          <a:bodyPr/>
          <a:p/>
        </p:txBody>
      </p:sp>
      <p:sp>
        <p:nvSpPr>
          <p:cNvPr id="66" name="Text 64"/>
          <p:cNvSpPr/>
          <p:nvPr/>
        </p:nvSpPr>
        <p:spPr>
          <a:xfrm>
            <a:off x="274320" y="4133088"/>
            <a:ext cx="914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阿里巴巴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1188720" y="4133088"/>
            <a:ext cx="128016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68" name="Text 66"/>
          <p:cNvSpPr/>
          <p:nvPr/>
        </p:nvSpPr>
        <p:spPr>
          <a:xfrm>
            <a:off x="1234440" y="4178808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~250k H100/昇腾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2468880" y="4133088"/>
            <a:ext cx="146304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70" name="Text 68"/>
          <p:cNvSpPr/>
          <p:nvPr/>
        </p:nvSpPr>
        <p:spPr>
          <a:xfrm>
            <a:off x="2514600" y="417880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阿里云PAI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3931920" y="4133088"/>
            <a:ext cx="182880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72" name="Text 70"/>
          <p:cNvSpPr/>
          <p:nvPr/>
        </p:nvSpPr>
        <p:spPr>
          <a:xfrm>
            <a:off x="3977640" y="4178808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 / 华为 / 中科曙光</a:t>
            </a:r>
            <a:endParaRPr lang="en-US" sz="750" dirty="0"/>
          </a:p>
        </p:txBody>
      </p:sp>
      <p:sp>
        <p:nvSpPr>
          <p:cNvPr id="73" name="Shape 71"/>
          <p:cNvSpPr/>
          <p:nvPr/>
        </p:nvSpPr>
        <p:spPr>
          <a:xfrm>
            <a:off x="5760720" y="4133088"/>
            <a:ext cx="73152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74" name="Text 72"/>
          <p:cNvSpPr/>
          <p:nvPr/>
        </p:nvSpPr>
        <p:spPr>
          <a:xfrm>
            <a:off x="5806440" y="4178808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中国/东南亚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6035040" y="914400"/>
            <a:ext cx="2834640" cy="3017520"/>
          </a:xfrm>
          <a:prstGeom prst="rect">
            <a:avLst/>
          </a:prstGeom>
          <a:solidFill>
            <a:srgbClr val="ED8936">
              <a:alpha val="8000"/>
            </a:srgbClr>
          </a:solidFill>
          <a:ln w="19050">
            <a:solidFill>
              <a:srgbClr val="ED8936"/>
            </a:solidFill>
            <a:prstDash val="solid"/>
          </a:ln>
        </p:spPr>
        <p:txBody>
          <a:bodyPr/>
          <a:p/>
        </p:txBody>
      </p:sp>
      <p:sp>
        <p:nvSpPr>
          <p:cNvPr id="76" name="Text 74"/>
          <p:cNvSpPr/>
          <p:nvPr/>
        </p:nvSpPr>
        <p:spPr>
          <a:xfrm>
            <a:off x="6172200" y="10058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关键洞察</a:t>
            </a:r>
            <a:endParaRPr lang="en-US" sz="1100" dirty="0"/>
          </a:p>
        </p:txBody>
      </p:sp>
      <p:sp>
        <p:nvSpPr>
          <p:cNvPr id="77" name="Text 75"/>
          <p:cNvSpPr/>
          <p:nvPr/>
        </p:nvSpPr>
        <p:spPr>
          <a:xfrm>
            <a:off x="6172200" y="1325880"/>
            <a:ext cx="2560320" cy="2514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全球OTT超节点规模：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Meta/Google/Microsoft三家占全球AI训练算力&gt;60%</a:t>
            </a:r>
            <a:endParaRPr lang="en-US" sz="850" dirty="0"/>
          </a:p>
          <a:p>
            <a:pPr indent="0" marL="0">
              <a:buNone/>
            </a:pPr>
            <a:r>
              <a:rPr lang="en-US" sz="5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中国OTT（字节/腾讯/阿里）：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总规模约750k+ GPU，多用国产AI服务器</a:t>
            </a:r>
            <a:endParaRPr lang="en-US" sz="850" dirty="0"/>
          </a:p>
          <a:p>
            <a:pPr indent="0" marL="0">
              <a:buNone/>
            </a:pPr>
            <a:r>
              <a:rPr lang="en-US" sz="5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服务器OEM格局：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全球：Quanta/Dell/HP主导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中国：浪潮/华为/宁畅/超聚变</a:t>
            </a:r>
            <a:endParaRPr lang="en-US" sz="850" dirty="0"/>
          </a:p>
          <a:p>
            <a:pPr indent="0" marL="0">
              <a:buNone/>
            </a:pPr>
            <a:r>
              <a:rPr lang="en-US" sz="5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GB200 NVL72超节点：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NVIDIA直供Quanta/Dell/Microsoft自建</a:t>
            </a:r>
            <a:endParaRPr lang="en-US" sz="850" dirty="0"/>
          </a:p>
        </p:txBody>
      </p:sp>
      <p:sp>
        <p:nvSpPr>
          <p:cNvPr id="78" name="Text 76"/>
          <p:cNvSpPr/>
          <p:nvPr/>
        </p:nvSpPr>
        <p:spPr>
          <a:xfrm>
            <a:off x="457200" y="4919472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来源：Counterpoint 2025 | TrendForce 2026.01 | 厂商公告 [已核实/估算]</a:t>
            </a:r>
            <a:endParaRPr lang="en-US" sz="700" dirty="0"/>
          </a:p>
        </p:txBody>
      </p:sp>
      <p:sp>
        <p:nvSpPr>
          <p:cNvPr id="79" name="Shape 77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80" name="Text 78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10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中国OTT超级节点深度分析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2743200" cy="2377440"/>
          </a:xfrm>
          <a:prstGeom prst="rect">
            <a:avLst/>
          </a:prstGeom>
          <a:solidFill>
            <a:srgbClr val="F7FAFC"/>
          </a:solidFill>
          <a:ln w="25400">
            <a:solidFill>
              <a:srgbClr val="FE4D4D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274320" y="914400"/>
            <a:ext cx="2743200" cy="411480"/>
          </a:xfrm>
          <a:prstGeom prst="rect">
            <a:avLst/>
          </a:prstGeom>
          <a:solidFill>
            <a:srgbClr val="FE4D4D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274320" y="9144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字节跳动（ByteDance）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11480" y="1417320"/>
            <a:ext cx="251460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GPU规模：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~300k H100/H800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集群类型：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豆包大模型训练集群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服务器OEM：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Inspur（主供）/ 华为 / 宁畅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液冷需求：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高（AI推理+训练双需求）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液冷方案：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冷板+CDU为主，定制化多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关键决策人：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火山引擎团队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进入难度：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★★★★☆（供应商准入严格）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200400" y="914400"/>
            <a:ext cx="2743200" cy="2377440"/>
          </a:xfrm>
          <a:prstGeom prst="rect">
            <a:avLst/>
          </a:prstGeom>
          <a:solidFill>
            <a:srgbClr val="F7FAFC"/>
          </a:solidFill>
          <a:ln w="25400">
            <a:solidFill>
              <a:srgbClr val="12B7F5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3200400" y="914400"/>
            <a:ext cx="2743200" cy="411480"/>
          </a:xfrm>
          <a:prstGeom prst="rect">
            <a:avLst/>
          </a:prstGeom>
          <a:solidFill>
            <a:srgbClr val="12B7F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200400" y="9144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腾讯（Tencent）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337560" y="1417320"/>
            <a:ext cx="251460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GPU规模：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~200k H100/昇腾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集群类型：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混元大模型/腾讯云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服务器OEM：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Inspur（主供）/ 华为 / 富士康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液冷需求：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高（自有云+AI双驱动）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液冷方案：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冷板为主，新建数据中心液冷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关键决策人：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腾讯云团队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进入难度：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★★★☆☆（供应商体系成熟）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126480" y="914400"/>
            <a:ext cx="2743200" cy="2377440"/>
          </a:xfrm>
          <a:prstGeom prst="rect">
            <a:avLst/>
          </a:prstGeom>
          <a:solidFill>
            <a:srgbClr val="F7FAFC"/>
          </a:solidFill>
          <a:ln w="25400">
            <a:solidFill>
              <a:srgbClr val="FF6A00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126480" y="914400"/>
            <a:ext cx="2743200" cy="411480"/>
          </a:xfrm>
          <a:prstGeom prst="rect">
            <a:avLst/>
          </a:prstGeom>
          <a:solidFill>
            <a:srgbClr val="FF6A00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26480" y="9144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阿里巴巴（Alibaba）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263640" y="1417320"/>
            <a:ext cx="251460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GPU规模：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~250k H100/昇腾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集群类型：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通义千问/阿里云PAI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服务器OEM：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浪潮（主供）/ 华为 / 中科曙光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液冷需求：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中高（大规模部署进行中）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液冷方案：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冷板+CDU，新建+改造并行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关键决策人：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阿里云基础设施团队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进入难度：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★★★★★（供应商体系最封闭）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274320" y="34290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中国OTT的共同特征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3749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大规模使用英伟达H100/H800（出口管制后转向昇腾）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57200" y="400507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服务器来源以浪潮/华为为主，定制化程度高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57200" y="4261104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液冷需求增速快，2026-2027年是集中部署期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57200" y="4517136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供应商准入严格，需通过长周期验证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快接头基本依赖史陶比尔，国产替代空间大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endParaRPr lang="en-US" sz="10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OEM服务器制造商液冷布局与OTT供应关系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9144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全球OEM（国际）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4114800" cy="475488"/>
          </a:xfrm>
          <a:prstGeom prst="rect">
            <a:avLst/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365760" y="128016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Quanta（广达）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783080" y="128016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冷板+CDU（自研）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0" y="1280160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Meta/Microsoft/Google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274320" y="1746504"/>
            <a:ext cx="4114800" cy="475488"/>
          </a:xfrm>
          <a:prstGeom prst="rect">
            <a:avLst/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65760" y="1792224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Dell（戴尔）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783080" y="1792224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液冷全栈（自研）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200400" y="1792224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Microsoft/Google/Meta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274320" y="2258568"/>
            <a:ext cx="4114800" cy="475488"/>
          </a:xfrm>
          <a:prstGeom prst="rect">
            <a:avLst/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365760" y="230428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HP Enterprise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783080" y="230428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液冷CDU（收购）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200400" y="2304288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微软/亚马逊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274320" y="2770632"/>
            <a:ext cx="4114800" cy="475488"/>
          </a:xfrm>
          <a:prstGeom prst="rect">
            <a:avLst/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365760" y="2816352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SuperMicro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783080" y="2816352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液冷全栈（自研）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200400" y="2816352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大型CSP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274320" y="3282696"/>
            <a:ext cx="4114800" cy="475488"/>
          </a:xfrm>
          <a:prstGeom prst="rect">
            <a:avLst/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365760" y="332841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Evoca（长凳）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783080" y="332841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定制液冷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200400" y="3328416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欧洲CSP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4572000" y="9144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中国OEM（国内）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0" y="1234440"/>
            <a:ext cx="4297680" cy="475488"/>
          </a:xfrm>
          <a:prstGeom prst="rect">
            <a:avLst/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4663440" y="128016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浪潮（Inspur）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080760" y="128016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液冷全栈（自研）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7498080" y="1280160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字节/腾讯/阿里/百度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4572000" y="1746504"/>
            <a:ext cx="4297680" cy="475488"/>
          </a:xfrm>
          <a:prstGeom prst="rect">
            <a:avLst/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4663440" y="1792224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华为（Huawei）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080760" y="1792224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液冷全栈（自研）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7498080" y="1792224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自有云+运营商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4572000" y="2258568"/>
            <a:ext cx="4297680" cy="475488"/>
          </a:xfrm>
          <a:prstGeom prst="rect">
            <a:avLst/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4663440" y="230428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超聚变（xFusion）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080760" y="230428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液冷全栈（自研）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7498080" y="2304288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昇腾体系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4572000" y="2770632"/>
            <a:ext cx="4297680" cy="475488"/>
          </a:xfrm>
          <a:prstGeom prst="rect">
            <a:avLst/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4663440" y="2816352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宁畅（Nettrix）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080760" y="2816352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液冷（朗之闻）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7498080" y="2816352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字节/腾讯/小米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4572000" y="3282696"/>
            <a:ext cx="4297680" cy="475488"/>
          </a:xfrm>
          <a:prstGeom prst="rect">
            <a:avLst/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4663440" y="332841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中科曙光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080760" y="332841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液冷（自研）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7498080" y="3328416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政府/科研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4572000" y="3794760"/>
            <a:ext cx="4297680" cy="475488"/>
          </a:xfrm>
          <a:prstGeom prst="rect">
            <a:avLst/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4663440" y="384048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新华三（H3C）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080760" y="384048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液冷CDU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7498080" y="3840480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阿里/腾讯/政企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274320" y="4160520"/>
            <a:ext cx="8595360" cy="548640"/>
          </a:xfrm>
          <a:prstGeom prst="rect">
            <a:avLst/>
          </a:prstGeom>
          <a:solidFill>
            <a:srgbClr val="FFF7ED"/>
          </a:solidFill>
          <a:ln w="19050">
            <a:solidFill>
              <a:srgbClr val="ED8936"/>
            </a:solidFill>
            <a:prstDash val="solid"/>
          </a:ln>
        </p:spPr>
        <p:txBody>
          <a:bodyPr/>
          <a:p/>
        </p:txBody>
      </p:sp>
      <p:sp>
        <p:nvSpPr>
          <p:cNvPr id="51" name="Text 49"/>
          <p:cNvSpPr/>
          <p:nvPr/>
        </p:nvSpPr>
        <p:spPr>
          <a:xfrm>
            <a:off x="457200" y="418795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⚡ 液冷快接头机会窗口：全球OEM的快接头均依赖史陶比尔/卡锢，国产替代空间最大 | 国内OEM的液冷团队均有快接头外购需求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53" name="Text 51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</a:t>
            </a:r>
            <a:endParaRPr lang="en-US" sz="10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GB200 NVL72超节点：供应链与液冷需求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3200400" cy="2194560"/>
          </a:xfrm>
          <a:prstGeom prst="rect">
            <a:avLst>
              <a:gd name="adj" fmla="val 3333"/>
            </a:avLst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" y="10058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GB200 NVL72 核心规格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1371600"/>
            <a:ext cx="29260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GPU：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72× Blackwell GPU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TDP：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 100kW/机架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NVLink：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72 GPU全互联（1.8TB/s）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散热方式：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必须液冷（风冷无法）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液冷方案：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环路歧管冷板（英伟达指定）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快接头：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必须OCP认证（史陶比尔）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单价：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~$10M+/集群（估算）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0" y="9144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供应链结构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1280160"/>
            <a:ext cx="73152" cy="347472"/>
          </a:xfrm>
          <a:prstGeom prst="rect">
            <a:avLst/>
          </a:prstGeom>
          <a:solidFill>
            <a:srgbClr val="68B030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840480" y="128016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NVIDIA（英伟达）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897880" y="1280160"/>
            <a:ext cx="2971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GPU芯片 + DGX设计标准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657600" y="1673352"/>
            <a:ext cx="73152" cy="347472"/>
          </a:xfrm>
          <a:prstGeom prst="rect">
            <a:avLst/>
          </a:prstGeom>
          <a:solidFill>
            <a:srgbClr val="2C5282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3840480" y="167335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Quanta（广达）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897880" y="1673352"/>
            <a:ext cx="2971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DGX服务器代工（主供）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657600" y="2066544"/>
            <a:ext cx="73152" cy="347472"/>
          </a:xfrm>
          <a:prstGeom prst="rect">
            <a:avLst/>
          </a:prstGeom>
          <a:solidFill>
            <a:srgbClr val="2C5282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3840480" y="2066544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Dell/HP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897880" y="2066544"/>
            <a:ext cx="2971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DGX服务器（部分份额）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657600" y="2459736"/>
            <a:ext cx="73152" cy="347472"/>
          </a:xfrm>
          <a:prstGeom prst="rect">
            <a:avLst/>
          </a:prstGeom>
          <a:solidFill>
            <a:srgbClr val="68B030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3840480" y="2459736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NVIDIA直供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897880" y="2459736"/>
            <a:ext cx="2971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NVLink交换器/光模块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657600" y="2852928"/>
            <a:ext cx="73152" cy="347472"/>
          </a:xfrm>
          <a:prstGeom prst="rect">
            <a:avLst/>
          </a:prstGeom>
          <a:solidFill>
            <a:srgbClr val="ED8936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3840480" y="285292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史陶比尔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897880" y="2852928"/>
            <a:ext cx="2971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快接头（OCP认证必需）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657600" y="3246120"/>
            <a:ext cx="73152" cy="347472"/>
          </a:xfrm>
          <a:prstGeom prst="rect">
            <a:avLst/>
          </a:prstGeom>
          <a:solidFill>
            <a:srgbClr val="999999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3840480" y="324612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液冷厂商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897880" y="3246120"/>
            <a:ext cx="2971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英维克/Dell自产/CDU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274320" y="32461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液冷需求深度分析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74320" y="3566160"/>
            <a:ext cx="4114800" cy="1097280"/>
          </a:xfrm>
          <a:prstGeom prst="rect">
            <a:avLst/>
          </a:prstGeom>
          <a:solidFill>
            <a:srgbClr val="EDF2F7"/>
          </a:solidFill>
          <a:ln w="12700">
            <a:solidFill>
              <a:srgbClr val="2C5282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411480" y="3639312"/>
            <a:ext cx="3840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100kW/机架 = 必须液冷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环路歧管冷板（英伟达指定标准）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快接头必须OCP认证（史陶比尔为主）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CDU容量需求：单台&gt;30kW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2026年NVL72交付量预计&gt;10万GPU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572000" y="3246120"/>
            <a:ext cx="4297680" cy="1417320"/>
          </a:xfrm>
          <a:prstGeom prst="rect">
            <a:avLst/>
          </a:prstGeom>
          <a:solidFill>
            <a:srgbClr val="ED8936">
              <a:alpha val="8000"/>
            </a:srgbClr>
          </a:solidFill>
          <a:ln w="19050">
            <a:solidFill>
              <a:srgbClr val="ED8936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4709160" y="333756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海悟在NVL72供应链中的机会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709160" y="3657600"/>
            <a:ext cx="4023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⚡ 核心机会：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NVL72快接头被史陶比尔垄断，海悟目标是替代30%份额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路径：OCP认证 → 进入Quanta/Dell供应链 → NVL72配套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时间窗口：2026-2027年NVL72大规模交付期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</a:t>
            </a:r>
            <a:endParaRPr lang="en-US" sz="10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国产GPU产品线全景与液冷需求对比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118872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914400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1463040" y="914400"/>
            <a:ext cx="64008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7" name="Text 5"/>
          <p:cNvSpPr/>
          <p:nvPr/>
        </p:nvSpPr>
        <p:spPr>
          <a:xfrm>
            <a:off x="1463040" y="914400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制程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103120" y="914400"/>
            <a:ext cx="59436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9" name="Text 7"/>
          <p:cNvSpPr/>
          <p:nvPr/>
        </p:nvSpPr>
        <p:spPr>
          <a:xfrm>
            <a:off x="2103120" y="914400"/>
            <a:ext cx="594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TDP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697480" y="914400"/>
            <a:ext cx="91440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1" name="Text 9"/>
          <p:cNvSpPr/>
          <p:nvPr/>
        </p:nvSpPr>
        <p:spPr>
          <a:xfrm>
            <a:off x="2697480" y="914400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FP16算力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611880" y="914400"/>
            <a:ext cx="77724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3" name="Text 11"/>
          <p:cNvSpPr/>
          <p:nvPr/>
        </p:nvSpPr>
        <p:spPr>
          <a:xfrm>
            <a:off x="3611880" y="914400"/>
            <a:ext cx="777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液冷需求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389120" y="914400"/>
            <a:ext cx="77724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5" name="Text 13"/>
          <p:cNvSpPr/>
          <p:nvPr/>
        </p:nvSpPr>
        <p:spPr>
          <a:xfrm>
            <a:off x="4389120" y="914400"/>
            <a:ext cx="777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166360" y="914400"/>
            <a:ext cx="137160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7" name="Text 15"/>
          <p:cNvSpPr/>
          <p:nvPr/>
        </p:nvSpPr>
        <p:spPr>
          <a:xfrm>
            <a:off x="5166360" y="91440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适配OEM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74320" y="1298448"/>
            <a:ext cx="118872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01752" y="1325880"/>
            <a:ext cx="1133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寒武纪 MLU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MLU370 / MLU590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1463040" y="1298448"/>
            <a:ext cx="64008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490472" y="1325880"/>
            <a:ext cx="5852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7nm TSMC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2103120" y="1298448"/>
            <a:ext cx="59436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130552" y="1325880"/>
            <a:ext cx="5394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350-450W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2697480" y="1298448"/>
            <a:ext cx="91440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24912" y="1325880"/>
            <a:ext cx="8595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256 TFLOPS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3611880" y="1298448"/>
            <a:ext cx="77724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39312" y="1325880"/>
            <a:ext cx="722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冷板（必须）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4389120" y="1298448"/>
            <a:ext cx="77724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416552" y="1325880"/>
            <a:ext cx="722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开放标准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5166360" y="1298448"/>
            <a:ext cx="137160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93792" y="1325880"/>
            <a:ext cx="13167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宁畅/华鲲/澎湃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274320" y="1810512"/>
            <a:ext cx="118872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01752" y="1837944"/>
            <a:ext cx="1133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海光 DCU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Z100 / Z200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1463040" y="1810512"/>
            <a:ext cx="64008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1837944"/>
            <a:ext cx="5852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7nm DUV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2103120" y="1810512"/>
            <a:ext cx="59436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130552" y="1837944"/>
            <a:ext cx="5394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400-500W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2697480" y="1810512"/>
            <a:ext cx="91440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724912" y="1837944"/>
            <a:ext cx="8595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372 TFLOPS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3611880" y="1810512"/>
            <a:ext cx="77724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39312" y="1837944"/>
            <a:ext cx="722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冷板（必须）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4389120" y="1810512"/>
            <a:ext cx="77724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416552" y="1837944"/>
            <a:ext cx="722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开放标准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5166360" y="1810512"/>
            <a:ext cx="137160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193792" y="1837944"/>
            <a:ext cx="13167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浪潮/华鲲/联想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274320" y="2322576"/>
            <a:ext cx="118872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01752" y="2350008"/>
            <a:ext cx="1133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 910B/910C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昇腾910B / 910C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1463040" y="2322576"/>
            <a:ext cx="64008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490472" y="2350008"/>
            <a:ext cx="5852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7nm 华为自研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2103120" y="2322576"/>
            <a:ext cx="59436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130552" y="2350008"/>
            <a:ext cx="5394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400W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2697480" y="2322576"/>
            <a:ext cx="91440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724912" y="2350008"/>
            <a:ext cx="8595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800 TFLOPS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3611880" y="2322576"/>
            <a:ext cx="77724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639312" y="2350008"/>
            <a:ext cx="722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冷板（华为封闭标准）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4389120" y="2322576"/>
            <a:ext cx="77724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416552" y="2350008"/>
            <a:ext cx="722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封闭标准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5166360" y="2322576"/>
            <a:ext cx="137160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193792" y="2350008"/>
            <a:ext cx="13167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超聚变（独供）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274320" y="2834640"/>
            <a:ext cx="118872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01752" y="2862072"/>
            <a:ext cx="1133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昆仑芯 K230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K230 / K200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1463040" y="2834640"/>
            <a:ext cx="64008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490472" y="2862072"/>
            <a:ext cx="5852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12nm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2103120" y="2834640"/>
            <a:ext cx="59436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130552" y="2862072"/>
            <a:ext cx="5394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150-200W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2697480" y="2834640"/>
            <a:ext cx="91440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724912" y="2862072"/>
            <a:ext cx="8595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64 TFLOPS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3611880" y="2834640"/>
            <a:ext cx="77724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639312" y="2862072"/>
            <a:ext cx="722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冷板（高功率版）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4389120" y="2834640"/>
            <a:ext cx="77724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416552" y="2862072"/>
            <a:ext cx="722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开放标准</a:t>
            </a:r>
            <a:endParaRPr lang="en-US" sz="750" dirty="0"/>
          </a:p>
        </p:txBody>
      </p:sp>
      <p:sp>
        <p:nvSpPr>
          <p:cNvPr id="72" name="Shape 70"/>
          <p:cNvSpPr/>
          <p:nvPr/>
        </p:nvSpPr>
        <p:spPr>
          <a:xfrm>
            <a:off x="5166360" y="2834640"/>
            <a:ext cx="137160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193792" y="2862072"/>
            <a:ext cx="13167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浪潮/宁畅</a:t>
            </a:r>
            <a:endParaRPr lang="en-US" sz="750" dirty="0"/>
          </a:p>
        </p:txBody>
      </p:sp>
      <p:sp>
        <p:nvSpPr>
          <p:cNvPr id="74" name="Shape 72"/>
          <p:cNvSpPr/>
          <p:nvPr/>
        </p:nvSpPr>
        <p:spPr>
          <a:xfrm>
            <a:off x="274320" y="3346704"/>
            <a:ext cx="118872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301752" y="3374136"/>
            <a:ext cx="1133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平头哥 Hanguang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Hanguang 800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1463040" y="3346704"/>
            <a:ext cx="64008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490472" y="3374136"/>
            <a:ext cx="5852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12nm</a:t>
            </a:r>
            <a:endParaRPr lang="en-US" sz="750" dirty="0"/>
          </a:p>
        </p:txBody>
      </p:sp>
      <p:sp>
        <p:nvSpPr>
          <p:cNvPr id="78" name="Shape 76"/>
          <p:cNvSpPr/>
          <p:nvPr/>
        </p:nvSpPr>
        <p:spPr>
          <a:xfrm>
            <a:off x="2103120" y="3346704"/>
            <a:ext cx="59436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2130552" y="3374136"/>
            <a:ext cx="5394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100-150W</a:t>
            </a:r>
            <a:endParaRPr lang="en-US" sz="750" dirty="0"/>
          </a:p>
        </p:txBody>
      </p:sp>
      <p:sp>
        <p:nvSpPr>
          <p:cNvPr id="80" name="Shape 78"/>
          <p:cNvSpPr/>
          <p:nvPr/>
        </p:nvSpPr>
        <p:spPr>
          <a:xfrm>
            <a:off x="2697480" y="3346704"/>
            <a:ext cx="91440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2724912" y="3374136"/>
            <a:ext cx="8595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256 TOPS</a:t>
            </a:r>
            <a:endParaRPr lang="en-US" sz="750" dirty="0"/>
          </a:p>
        </p:txBody>
      </p:sp>
      <p:sp>
        <p:nvSpPr>
          <p:cNvPr id="82" name="Shape 80"/>
          <p:cNvSpPr/>
          <p:nvPr/>
        </p:nvSpPr>
        <p:spPr>
          <a:xfrm>
            <a:off x="3611880" y="3346704"/>
            <a:ext cx="77724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3639312" y="3374136"/>
            <a:ext cx="722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风冷/冷板</a:t>
            </a:r>
            <a:endParaRPr lang="en-US" sz="750" dirty="0"/>
          </a:p>
        </p:txBody>
      </p:sp>
      <p:sp>
        <p:nvSpPr>
          <p:cNvPr id="84" name="Shape 82"/>
          <p:cNvSpPr/>
          <p:nvPr/>
        </p:nvSpPr>
        <p:spPr>
          <a:xfrm>
            <a:off x="4389120" y="3346704"/>
            <a:ext cx="77724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4416552" y="3374136"/>
            <a:ext cx="722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开放标准</a:t>
            </a:r>
            <a:endParaRPr lang="en-US" sz="750" dirty="0"/>
          </a:p>
        </p:txBody>
      </p:sp>
      <p:sp>
        <p:nvSpPr>
          <p:cNvPr id="86" name="Shape 84"/>
          <p:cNvSpPr/>
          <p:nvPr/>
        </p:nvSpPr>
        <p:spPr>
          <a:xfrm>
            <a:off x="5166360" y="3346704"/>
            <a:ext cx="137160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5193792" y="3374136"/>
            <a:ext cx="13167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阿里云自用</a:t>
            </a:r>
            <a:endParaRPr lang="en-US" sz="750" dirty="0"/>
          </a:p>
        </p:txBody>
      </p:sp>
      <p:sp>
        <p:nvSpPr>
          <p:cNvPr id="88" name="Shape 86"/>
          <p:cNvSpPr/>
          <p:nvPr/>
        </p:nvSpPr>
        <p:spPr>
          <a:xfrm>
            <a:off x="274320" y="3858768"/>
            <a:ext cx="118872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301752" y="3886200"/>
            <a:ext cx="1133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摩尔线程 MTT X400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MTT X400 / X500</a:t>
            </a:r>
            <a:endParaRPr lang="en-US" sz="800" dirty="0"/>
          </a:p>
        </p:txBody>
      </p:sp>
      <p:sp>
        <p:nvSpPr>
          <p:cNvPr id="90" name="Shape 88"/>
          <p:cNvSpPr/>
          <p:nvPr/>
        </p:nvSpPr>
        <p:spPr>
          <a:xfrm>
            <a:off x="1463040" y="3858768"/>
            <a:ext cx="64008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1490472" y="3886200"/>
            <a:ext cx="5852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12nm</a:t>
            </a:r>
            <a:endParaRPr lang="en-US" sz="750" dirty="0"/>
          </a:p>
        </p:txBody>
      </p:sp>
      <p:sp>
        <p:nvSpPr>
          <p:cNvPr id="92" name="Shape 90"/>
          <p:cNvSpPr/>
          <p:nvPr/>
        </p:nvSpPr>
        <p:spPr>
          <a:xfrm>
            <a:off x="2103120" y="3858768"/>
            <a:ext cx="59436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2130552" y="3886200"/>
            <a:ext cx="5394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200-250W</a:t>
            </a:r>
            <a:endParaRPr lang="en-US" sz="750" dirty="0"/>
          </a:p>
        </p:txBody>
      </p:sp>
      <p:sp>
        <p:nvSpPr>
          <p:cNvPr id="94" name="Shape 92"/>
          <p:cNvSpPr/>
          <p:nvPr/>
        </p:nvSpPr>
        <p:spPr>
          <a:xfrm>
            <a:off x="2697480" y="3858768"/>
            <a:ext cx="91440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2724912" y="3886200"/>
            <a:ext cx="8595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256 TFLOPS</a:t>
            </a:r>
            <a:endParaRPr lang="en-US" sz="750" dirty="0"/>
          </a:p>
        </p:txBody>
      </p:sp>
      <p:sp>
        <p:nvSpPr>
          <p:cNvPr id="96" name="Shape 94"/>
          <p:cNvSpPr/>
          <p:nvPr/>
        </p:nvSpPr>
        <p:spPr>
          <a:xfrm>
            <a:off x="3611880" y="3858768"/>
            <a:ext cx="77724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3639312" y="3886200"/>
            <a:ext cx="722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冷板（高功率版）</a:t>
            </a:r>
            <a:endParaRPr lang="en-US" sz="750" dirty="0"/>
          </a:p>
        </p:txBody>
      </p:sp>
      <p:sp>
        <p:nvSpPr>
          <p:cNvPr id="98" name="Shape 96"/>
          <p:cNvSpPr/>
          <p:nvPr/>
        </p:nvSpPr>
        <p:spPr>
          <a:xfrm>
            <a:off x="4389120" y="3858768"/>
            <a:ext cx="77724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4416552" y="3886200"/>
            <a:ext cx="722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开放标准</a:t>
            </a:r>
            <a:endParaRPr lang="en-US" sz="750" dirty="0"/>
          </a:p>
        </p:txBody>
      </p:sp>
      <p:sp>
        <p:nvSpPr>
          <p:cNvPr id="100" name="Shape 98"/>
          <p:cNvSpPr/>
          <p:nvPr/>
        </p:nvSpPr>
        <p:spPr>
          <a:xfrm>
            <a:off x="5166360" y="3858768"/>
            <a:ext cx="137160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5193792" y="3886200"/>
            <a:ext cx="13167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浪潮/宁畅/同方</a:t>
            </a:r>
            <a:endParaRPr lang="en-US" sz="750" dirty="0"/>
          </a:p>
        </p:txBody>
      </p:sp>
      <p:sp>
        <p:nvSpPr>
          <p:cNvPr id="102" name="Text 100"/>
          <p:cNvSpPr/>
          <p:nvPr/>
        </p:nvSpPr>
        <p:spPr>
          <a:xfrm>
            <a:off x="274320" y="47091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注：TDP和算力为估算值（部分数据未公开），仅供参考 | 来源：厂商官网 | IDC 2025.04 [已核实/估算]</a:t>
            </a:r>
            <a:endParaRPr lang="en-US" sz="700" dirty="0"/>
          </a:p>
        </p:txBody>
      </p:sp>
      <p:sp>
        <p:nvSpPr>
          <p:cNvPr id="103" name="Shape 101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104" name="Text 102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</a:t>
            </a:r>
            <a:endParaRPr lang="en-US" sz="10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国产GPU 2026-2030年出货量预测与液冷需求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9144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年出货量预测（万片）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128016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234440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GPU厂商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554480" y="1234440"/>
            <a:ext cx="64008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8" name="Text 6"/>
          <p:cNvSpPr/>
          <p:nvPr/>
        </p:nvSpPr>
        <p:spPr>
          <a:xfrm>
            <a:off x="1554480" y="1234440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2026E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194560" y="1234440"/>
            <a:ext cx="64008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0" name="Text 8"/>
          <p:cNvSpPr/>
          <p:nvPr/>
        </p:nvSpPr>
        <p:spPr>
          <a:xfrm>
            <a:off x="2194560" y="1234440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2027E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834640" y="1234440"/>
            <a:ext cx="64008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2" name="Text 10"/>
          <p:cNvSpPr/>
          <p:nvPr/>
        </p:nvSpPr>
        <p:spPr>
          <a:xfrm>
            <a:off x="2834640" y="1234440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2028E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74720" y="1234440"/>
            <a:ext cx="64008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4" name="Text 12"/>
          <p:cNvSpPr/>
          <p:nvPr/>
        </p:nvSpPr>
        <p:spPr>
          <a:xfrm>
            <a:off x="3474720" y="1234440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2029E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114800" y="1234440"/>
            <a:ext cx="64008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6" name="Text 14"/>
          <p:cNvSpPr/>
          <p:nvPr/>
        </p:nvSpPr>
        <p:spPr>
          <a:xfrm>
            <a:off x="4114800" y="1234440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2030E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754880" y="1234440"/>
            <a:ext cx="59436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8" name="Text 16"/>
          <p:cNvSpPr/>
          <p:nvPr/>
        </p:nvSpPr>
        <p:spPr>
          <a:xfrm>
            <a:off x="4754880" y="1234440"/>
            <a:ext cx="594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CAGR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74320" y="1618488"/>
            <a:ext cx="1280160" cy="402336"/>
          </a:xfrm>
          <a:prstGeom prst="rect">
            <a:avLst/>
          </a:prstGeom>
          <a:solidFill>
            <a:srgbClr val="C53030">
              <a:alpha val="15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1618488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昇腾（华为）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554480" y="1618488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54480" y="1618488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194560" y="1618488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194560" y="1618488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834640" y="1618488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834640" y="1618488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180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474720" y="1618488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0" y="1618488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250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114800" y="1618488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14800" y="1618488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320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754880" y="1618488"/>
            <a:ext cx="594360" cy="402336"/>
          </a:xfrm>
          <a:prstGeom prst="rect">
            <a:avLst/>
          </a:prstGeom>
          <a:solidFill>
            <a:srgbClr val="ED8936">
              <a:alpha val="15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4754880" y="1618488"/>
            <a:ext cx="594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41%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74320" y="2020824"/>
            <a:ext cx="1280160" cy="402336"/>
          </a:xfrm>
          <a:prstGeom prst="rect">
            <a:avLst/>
          </a:prstGeom>
          <a:solidFill>
            <a:srgbClr val="0057E7">
              <a:alpha val="15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274320" y="2020824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寒武纪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1554480" y="2020824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554480" y="2020824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194560" y="2020824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194560" y="2020824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834640" y="2020824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834640" y="2020824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474720" y="2020824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474720" y="2020824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110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114800" y="2020824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114800" y="2020824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160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754880" y="2020824"/>
            <a:ext cx="594360" cy="402336"/>
          </a:xfrm>
          <a:prstGeom prst="rect">
            <a:avLst/>
          </a:prstGeom>
          <a:solidFill>
            <a:srgbClr val="ED8936">
              <a:alpha val="15000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4754880" y="2020824"/>
            <a:ext cx="594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68%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274320" y="2423160"/>
            <a:ext cx="1280160" cy="402336"/>
          </a:xfrm>
          <a:prstGeom prst="rect">
            <a:avLst/>
          </a:prstGeom>
          <a:solidFill>
            <a:srgbClr val="0057E7">
              <a:alpha val="15000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274320" y="2423160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海光DCU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1554480" y="2423160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554480" y="2423160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2194560" y="2423160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194560" y="2423160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2834640" y="2423160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834640" y="2423160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3474720" y="2423160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474720" y="2423160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4114800" y="2423160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114800" y="2423160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130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4754880" y="2423160"/>
            <a:ext cx="594360" cy="402336"/>
          </a:xfrm>
          <a:prstGeom prst="rect">
            <a:avLst/>
          </a:prstGeom>
          <a:solidFill>
            <a:srgbClr val="ED8936">
              <a:alpha val="15000"/>
            </a:srgbClr>
          </a:solidFill>
          <a:ln/>
        </p:spPr>
      </p:sp>
      <p:sp>
        <p:nvSpPr>
          <p:cNvPr id="60" name="Text 58"/>
          <p:cNvSpPr/>
          <p:nvPr/>
        </p:nvSpPr>
        <p:spPr>
          <a:xfrm>
            <a:off x="4754880" y="2423160"/>
            <a:ext cx="594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54%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274320" y="2825496"/>
            <a:ext cx="1280160" cy="402336"/>
          </a:xfrm>
          <a:prstGeom prst="rect">
            <a:avLst/>
          </a:prstGeom>
          <a:solidFill>
            <a:srgbClr val="ED8936">
              <a:alpha val="15000"/>
            </a:srgbClr>
          </a:solidFill>
          <a:ln/>
        </p:spPr>
      </p:sp>
      <p:sp>
        <p:nvSpPr>
          <p:cNvPr id="62" name="Text 60"/>
          <p:cNvSpPr/>
          <p:nvPr/>
        </p:nvSpPr>
        <p:spPr>
          <a:xfrm>
            <a:off x="274320" y="2825496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昆仑芯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1554480" y="2825496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554480" y="2825496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2194560" y="2825496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2194560" y="2825496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2834640" y="2825496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2834640" y="2825496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3474720" y="2825496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474720" y="2825496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4114800" y="2825496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114800" y="2825496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4754880" y="2825496"/>
            <a:ext cx="594360" cy="402336"/>
          </a:xfrm>
          <a:prstGeom prst="rect">
            <a:avLst/>
          </a:prstGeom>
          <a:solidFill>
            <a:srgbClr val="ED8936">
              <a:alpha val="15000"/>
            </a:srgbClr>
          </a:solidFill>
          <a:ln/>
        </p:spPr>
      </p:sp>
      <p:sp>
        <p:nvSpPr>
          <p:cNvPr id="74" name="Text 72"/>
          <p:cNvSpPr/>
          <p:nvPr/>
        </p:nvSpPr>
        <p:spPr>
          <a:xfrm>
            <a:off x="4754880" y="2825496"/>
            <a:ext cx="594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73%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274320" y="3227832"/>
            <a:ext cx="1280160" cy="402336"/>
          </a:xfrm>
          <a:prstGeom prst="rect">
            <a:avLst/>
          </a:prstGeom>
          <a:solidFill>
            <a:srgbClr val="FF6A00">
              <a:alpha val="15000"/>
            </a:srgbClr>
          </a:solidFill>
          <a:ln/>
        </p:spPr>
      </p:sp>
      <p:sp>
        <p:nvSpPr>
          <p:cNvPr id="76" name="Text 74"/>
          <p:cNvSpPr/>
          <p:nvPr/>
        </p:nvSpPr>
        <p:spPr>
          <a:xfrm>
            <a:off x="274320" y="3227832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平头哥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1554480" y="3227832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1554480" y="3227832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2194560" y="3227832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2194560" y="3227832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>
            <a:off x="2834640" y="3227832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2834640" y="3227832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3474720" y="3227832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3474720" y="3227832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 dirty="0"/>
          </a:p>
        </p:txBody>
      </p:sp>
      <p:sp>
        <p:nvSpPr>
          <p:cNvPr id="85" name="Shape 83"/>
          <p:cNvSpPr/>
          <p:nvPr/>
        </p:nvSpPr>
        <p:spPr>
          <a:xfrm>
            <a:off x="4114800" y="3227832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4114800" y="3227832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900" dirty="0"/>
          </a:p>
        </p:txBody>
      </p:sp>
      <p:sp>
        <p:nvSpPr>
          <p:cNvPr id="87" name="Shape 85"/>
          <p:cNvSpPr/>
          <p:nvPr/>
        </p:nvSpPr>
        <p:spPr>
          <a:xfrm>
            <a:off x="4754880" y="3227832"/>
            <a:ext cx="594360" cy="402336"/>
          </a:xfrm>
          <a:prstGeom prst="rect">
            <a:avLst/>
          </a:prstGeom>
          <a:solidFill>
            <a:srgbClr val="ED8936">
              <a:alpha val="15000"/>
            </a:srgbClr>
          </a:solidFill>
          <a:ln/>
        </p:spPr>
      </p:sp>
      <p:sp>
        <p:nvSpPr>
          <p:cNvPr id="88" name="Text 86"/>
          <p:cNvSpPr/>
          <p:nvPr/>
        </p:nvSpPr>
        <p:spPr>
          <a:xfrm>
            <a:off x="4754880" y="3227832"/>
            <a:ext cx="594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78%</a:t>
            </a:r>
            <a:endParaRPr lang="en-US" sz="900" dirty="0"/>
          </a:p>
        </p:txBody>
      </p:sp>
      <p:sp>
        <p:nvSpPr>
          <p:cNvPr id="89" name="Shape 87"/>
          <p:cNvSpPr/>
          <p:nvPr/>
        </p:nvSpPr>
        <p:spPr>
          <a:xfrm>
            <a:off x="274320" y="3630168"/>
            <a:ext cx="1280160" cy="402336"/>
          </a:xfrm>
          <a:prstGeom prst="rect">
            <a:avLst/>
          </a:prstGeom>
          <a:solidFill>
            <a:srgbClr val="2F855A">
              <a:alpha val="15000"/>
            </a:srgbClr>
          </a:solidFill>
          <a:ln/>
        </p:spPr>
      </p:sp>
      <p:sp>
        <p:nvSpPr>
          <p:cNvPr id="90" name="Text 88"/>
          <p:cNvSpPr/>
          <p:nvPr/>
        </p:nvSpPr>
        <p:spPr>
          <a:xfrm>
            <a:off x="274320" y="3630168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摩尔线程</a:t>
            </a:r>
            <a:endParaRPr lang="en-US" sz="900" dirty="0"/>
          </a:p>
        </p:txBody>
      </p:sp>
      <p:sp>
        <p:nvSpPr>
          <p:cNvPr id="91" name="Shape 89"/>
          <p:cNvSpPr/>
          <p:nvPr/>
        </p:nvSpPr>
        <p:spPr>
          <a:xfrm>
            <a:off x="1554480" y="3630168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1554480" y="3630168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  <p:sp>
        <p:nvSpPr>
          <p:cNvPr id="93" name="Shape 91"/>
          <p:cNvSpPr/>
          <p:nvPr/>
        </p:nvSpPr>
        <p:spPr>
          <a:xfrm>
            <a:off x="2194560" y="3630168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2194560" y="3630168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95" name="Shape 93"/>
          <p:cNvSpPr/>
          <p:nvPr/>
        </p:nvSpPr>
        <p:spPr>
          <a:xfrm>
            <a:off x="2834640" y="3630168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2834640" y="3630168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900" dirty="0"/>
          </a:p>
        </p:txBody>
      </p:sp>
      <p:sp>
        <p:nvSpPr>
          <p:cNvPr id="97" name="Shape 95"/>
          <p:cNvSpPr/>
          <p:nvPr/>
        </p:nvSpPr>
        <p:spPr>
          <a:xfrm>
            <a:off x="3474720" y="3630168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3474720" y="3630168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</a:t>
            </a:r>
            <a:endParaRPr lang="en-US" sz="900" dirty="0"/>
          </a:p>
        </p:txBody>
      </p:sp>
      <p:sp>
        <p:nvSpPr>
          <p:cNvPr id="99" name="Shape 97"/>
          <p:cNvSpPr/>
          <p:nvPr/>
        </p:nvSpPr>
        <p:spPr>
          <a:xfrm>
            <a:off x="4114800" y="3630168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4114800" y="3630168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</a:t>
            </a:r>
            <a:endParaRPr lang="en-US" sz="900" dirty="0"/>
          </a:p>
        </p:txBody>
      </p:sp>
      <p:sp>
        <p:nvSpPr>
          <p:cNvPr id="101" name="Shape 99"/>
          <p:cNvSpPr/>
          <p:nvPr/>
        </p:nvSpPr>
        <p:spPr>
          <a:xfrm>
            <a:off x="4754880" y="3630168"/>
            <a:ext cx="594360" cy="402336"/>
          </a:xfrm>
          <a:prstGeom prst="rect">
            <a:avLst/>
          </a:prstGeom>
          <a:solidFill>
            <a:srgbClr val="ED8936">
              <a:alpha val="15000"/>
            </a:srgbClr>
          </a:solidFill>
          <a:ln/>
        </p:spPr>
      </p:sp>
      <p:sp>
        <p:nvSpPr>
          <p:cNvPr id="102" name="Text 100"/>
          <p:cNvSpPr/>
          <p:nvPr/>
        </p:nvSpPr>
        <p:spPr>
          <a:xfrm>
            <a:off x="4754880" y="3630168"/>
            <a:ext cx="594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72%</a:t>
            </a:r>
            <a:endParaRPr lang="en-US" sz="900" dirty="0"/>
          </a:p>
        </p:txBody>
      </p:sp>
      <p:sp>
        <p:nvSpPr>
          <p:cNvPr id="103" name="Shape 101"/>
          <p:cNvSpPr/>
          <p:nvPr/>
        </p:nvSpPr>
        <p:spPr>
          <a:xfrm>
            <a:off x="274320" y="4032504"/>
            <a:ext cx="1280160" cy="402336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04" name="Text 102"/>
          <p:cNvSpPr/>
          <p:nvPr/>
        </p:nvSpPr>
        <p:spPr>
          <a:xfrm>
            <a:off x="274320" y="4032504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合计</a:t>
            </a:r>
            <a:endParaRPr lang="en-US" sz="900" dirty="0"/>
          </a:p>
        </p:txBody>
      </p:sp>
      <p:sp>
        <p:nvSpPr>
          <p:cNvPr id="105" name="Shape 103"/>
          <p:cNvSpPr/>
          <p:nvPr/>
        </p:nvSpPr>
        <p:spPr>
          <a:xfrm>
            <a:off x="1554480" y="4032504"/>
            <a:ext cx="640080" cy="402336"/>
          </a:xfrm>
          <a:prstGeom prst="rect">
            <a:avLst/>
          </a:prstGeom>
          <a:solidFill>
            <a:srgbClr val="1A365D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1554480" y="4032504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131</a:t>
            </a:r>
            <a:endParaRPr lang="en-US" sz="900" dirty="0"/>
          </a:p>
        </p:txBody>
      </p:sp>
      <p:sp>
        <p:nvSpPr>
          <p:cNvPr id="107" name="Shape 105"/>
          <p:cNvSpPr/>
          <p:nvPr/>
        </p:nvSpPr>
        <p:spPr>
          <a:xfrm>
            <a:off x="2194560" y="4032504"/>
            <a:ext cx="640080" cy="402336"/>
          </a:xfrm>
          <a:prstGeom prst="rect">
            <a:avLst/>
          </a:prstGeom>
          <a:solidFill>
            <a:srgbClr val="1A365D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2194560" y="4032504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221</a:t>
            </a:r>
            <a:endParaRPr lang="en-US" sz="900" dirty="0"/>
          </a:p>
        </p:txBody>
      </p:sp>
      <p:sp>
        <p:nvSpPr>
          <p:cNvPr id="109" name="Shape 107"/>
          <p:cNvSpPr/>
          <p:nvPr/>
        </p:nvSpPr>
        <p:spPr>
          <a:xfrm>
            <a:off x="2834640" y="4032504"/>
            <a:ext cx="640080" cy="402336"/>
          </a:xfrm>
          <a:prstGeom prst="rect">
            <a:avLst/>
          </a:prstGeom>
          <a:solidFill>
            <a:srgbClr val="1A365D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2834640" y="4032504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363</a:t>
            </a:r>
            <a:endParaRPr lang="en-US" sz="900" dirty="0"/>
          </a:p>
        </p:txBody>
      </p:sp>
      <p:sp>
        <p:nvSpPr>
          <p:cNvPr id="111" name="Shape 109"/>
          <p:cNvSpPr/>
          <p:nvPr/>
        </p:nvSpPr>
        <p:spPr>
          <a:xfrm>
            <a:off x="3474720" y="4032504"/>
            <a:ext cx="640080" cy="402336"/>
          </a:xfrm>
          <a:prstGeom prst="rect">
            <a:avLst/>
          </a:prstGeom>
          <a:solidFill>
            <a:srgbClr val="1A365D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3474720" y="4032504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545</a:t>
            </a:r>
            <a:endParaRPr lang="en-US" sz="900" dirty="0"/>
          </a:p>
        </p:txBody>
      </p:sp>
      <p:sp>
        <p:nvSpPr>
          <p:cNvPr id="113" name="Shape 111"/>
          <p:cNvSpPr/>
          <p:nvPr/>
        </p:nvSpPr>
        <p:spPr>
          <a:xfrm>
            <a:off x="4114800" y="4032504"/>
            <a:ext cx="640080" cy="402336"/>
          </a:xfrm>
          <a:prstGeom prst="rect">
            <a:avLst/>
          </a:prstGeom>
          <a:solidFill>
            <a:srgbClr val="1A365D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4114800" y="4032504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755</a:t>
            </a:r>
            <a:endParaRPr lang="en-US" sz="900" dirty="0"/>
          </a:p>
        </p:txBody>
      </p:sp>
      <p:sp>
        <p:nvSpPr>
          <p:cNvPr id="115" name="Shape 113"/>
          <p:cNvSpPr/>
          <p:nvPr/>
        </p:nvSpPr>
        <p:spPr>
          <a:xfrm>
            <a:off x="4754880" y="4032504"/>
            <a:ext cx="594360" cy="402336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16" name="Text 114"/>
          <p:cNvSpPr/>
          <p:nvPr/>
        </p:nvSpPr>
        <p:spPr>
          <a:xfrm>
            <a:off x="4754880" y="4032504"/>
            <a:ext cx="594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55%</a:t>
            </a:r>
            <a:endParaRPr lang="en-US" sz="900" dirty="0"/>
          </a:p>
        </p:txBody>
      </p:sp>
      <p:sp>
        <p:nvSpPr>
          <p:cNvPr id="117" name="Shape 115"/>
          <p:cNvSpPr/>
          <p:nvPr/>
        </p:nvSpPr>
        <p:spPr>
          <a:xfrm>
            <a:off x="5486400" y="914400"/>
            <a:ext cx="3383280" cy="2926080"/>
          </a:xfrm>
          <a:prstGeom prst="rect">
            <a:avLst/>
          </a:prstGeom>
          <a:solidFill>
            <a:srgbClr val="ED8936">
              <a:alpha val="8000"/>
            </a:srgbClr>
          </a:solidFill>
          <a:ln w="19050">
            <a:solidFill>
              <a:srgbClr val="ED8936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5623560" y="10058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液冷需求增量估算</a:t>
            </a:r>
            <a:endParaRPr lang="en-US" sz="1100" dirty="0"/>
          </a:p>
        </p:txBody>
      </p:sp>
      <p:sp>
        <p:nvSpPr>
          <p:cNvPr id="119" name="Text 117"/>
          <p:cNvSpPr/>
          <p:nvPr/>
        </p:nvSpPr>
        <p:spPr>
          <a:xfrm>
            <a:off x="5623560" y="1325880"/>
            <a:ext cx="3108960" cy="2423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2026年液冷需求：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~8000台CDU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（按每台CDU服务20个GPU）</a:t>
            </a:r>
            <a:endParaRPr lang="en-US" sz="850" dirty="0"/>
          </a:p>
          <a:p>
            <a:pPr indent="0" marL="0">
              <a:buNone/>
            </a:pPr>
            <a:r>
              <a:rPr lang="en-US" sz="6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2030年液冷需求：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~35000台CDU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（按每台CDU服务22个GPU）</a:t>
            </a:r>
            <a:endParaRPr lang="en-US" sz="850" dirty="0"/>
          </a:p>
          <a:p>
            <a:pPr indent="0" marL="0">
              <a:buNone/>
            </a:pPr>
            <a:r>
              <a:rPr lang="en-US" sz="6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快接头增量：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2026-2030年累计新增需求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约50-80万个/年</a:t>
            </a:r>
            <a:endParaRPr lang="en-US" sz="850" dirty="0"/>
          </a:p>
          <a:p>
            <a:pPr indent="0" marL="0">
              <a:buNone/>
            </a:pPr>
            <a:r>
              <a:rPr lang="en-US" sz="6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其中：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昇腾封闭体系：海悟无法直接进入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寒武纪/海光/摩尔线程开放：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海悟可通过OEM配套触达</a:t>
            </a:r>
            <a:endParaRPr lang="en-US" sz="850" dirty="0"/>
          </a:p>
        </p:txBody>
      </p:sp>
      <p:sp>
        <p:nvSpPr>
          <p:cNvPr id="120" name="Shape 118"/>
          <p:cNvSpPr/>
          <p:nvPr/>
        </p:nvSpPr>
        <p:spPr>
          <a:xfrm>
            <a:off x="274320" y="4709160"/>
            <a:ext cx="8595360" cy="411480"/>
          </a:xfrm>
          <a:prstGeom prst="rect">
            <a:avLst/>
          </a:prstGeom>
          <a:solidFill>
            <a:srgbClr val="FFF7ED"/>
          </a:solidFill>
          <a:ln w="12700">
            <a:solidFill>
              <a:srgbClr val="ED8936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457200" y="473659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⚡ 关键结论：昇腾（封闭）≠ 海悟机会，寒武纪/海光/摩尔线程（开放）= 海悟可通过OEM配套触达</a:t>
            </a:r>
            <a:endParaRPr lang="en-US" sz="1000" dirty="0"/>
          </a:p>
        </p:txBody>
      </p:sp>
      <p:sp>
        <p:nvSpPr>
          <p:cNvPr id="122" name="Shape 120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123" name="Text 121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</a:t>
            </a:r>
            <a:endParaRPr lang="en-US" sz="10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昇腾体系深度分析：封闭生态与液冷机会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9144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昇腾芯片产品路线图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457200" cy="384048"/>
          </a:xfrm>
          <a:prstGeom prst="rect">
            <a:avLst/>
          </a:prstGeom>
          <a:solidFill>
            <a:srgbClr val="2F855A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234440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2022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731520" y="1234440"/>
            <a:ext cx="146304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2F85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昇腾910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22960" y="1435608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F8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310W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2194560" y="1234440"/>
            <a:ext cx="2103120" cy="384048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11" name="Text 9"/>
          <p:cNvSpPr/>
          <p:nvPr/>
        </p:nvSpPr>
        <p:spPr>
          <a:xfrm>
            <a:off x="2286000" y="123444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已量产，主流部署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274320" y="1664208"/>
            <a:ext cx="457200" cy="384048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13" name="Text 11"/>
          <p:cNvSpPr/>
          <p:nvPr/>
        </p:nvSpPr>
        <p:spPr>
          <a:xfrm>
            <a:off x="274320" y="1664208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731520" y="1664208"/>
            <a:ext cx="146304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2C528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1682496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昇腾910B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22960" y="1865376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5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400W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2194560" y="1664208"/>
            <a:ext cx="2103120" cy="384048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18" name="Text 16"/>
          <p:cNvSpPr/>
          <p:nvPr/>
        </p:nvSpPr>
        <p:spPr>
          <a:xfrm>
            <a:off x="2286000" y="1664208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替代910，性能提升40%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274320" y="2093976"/>
            <a:ext cx="457200" cy="384048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2093976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731520" y="2093976"/>
            <a:ext cx="146304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D893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2112264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昇腾910C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22960" y="2295144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400W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2194560" y="2093976"/>
            <a:ext cx="2103120" cy="384048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25" name="Text 23"/>
          <p:cNvSpPr/>
          <p:nvPr/>
        </p:nvSpPr>
        <p:spPr>
          <a:xfrm>
            <a:off x="2286000" y="2093976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800 TFLOPS (FP16)，双芯合封，HBM国产化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274320" y="2523744"/>
            <a:ext cx="457200" cy="384048"/>
          </a:xfrm>
          <a:prstGeom prst="rect">
            <a:avLst/>
          </a:prstGeom>
          <a:solidFill>
            <a:srgbClr val="C53030"/>
          </a:solidFill>
          <a:ln/>
        </p:spPr>
      </p:sp>
      <p:sp>
        <p:nvSpPr>
          <p:cNvPr id="27" name="Text 25"/>
          <p:cNvSpPr/>
          <p:nvPr/>
        </p:nvSpPr>
        <p:spPr>
          <a:xfrm>
            <a:off x="274320" y="2523744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2026E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731520" y="2523744"/>
            <a:ext cx="1463040" cy="384048"/>
          </a:xfrm>
          <a:prstGeom prst="rect">
            <a:avLst/>
          </a:prstGeom>
          <a:solidFill>
            <a:srgbClr val="FFF5F5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960" y="2542032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昇腾950DT/PR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22960" y="2724912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800W / 1 PFLOPS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2194560" y="2523744"/>
            <a:ext cx="2103120" cy="384048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32" name="Text 30"/>
          <p:cNvSpPr/>
          <p:nvPr/>
        </p:nvSpPr>
        <p:spPr>
          <a:xfrm>
            <a:off x="2286000" y="2523744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首次FP8低精度格式，SIMD+SIMT双模型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274320" y="2953512"/>
            <a:ext cx="457200" cy="384048"/>
          </a:xfrm>
          <a:prstGeom prst="rect">
            <a:avLst/>
          </a:prstGeom>
          <a:solidFill>
            <a:srgbClr val="C53030"/>
          </a:solidFill>
          <a:ln/>
        </p:spPr>
      </p:sp>
      <p:sp>
        <p:nvSpPr>
          <p:cNvPr id="34" name="Text 32"/>
          <p:cNvSpPr/>
          <p:nvPr/>
        </p:nvSpPr>
        <p:spPr>
          <a:xfrm>
            <a:off x="274320" y="2953512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2027E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731520" y="2953512"/>
            <a:ext cx="1463040" cy="384048"/>
          </a:xfrm>
          <a:prstGeom prst="rect">
            <a:avLst/>
          </a:prstGeom>
          <a:solidFill>
            <a:srgbClr val="FFF5F5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22960" y="2971800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昇腾960/970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22960" y="3154680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1-2kW / 8 PFLOPS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2194560" y="2953512"/>
            <a:ext cx="2103120" cy="384048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39" name="Text 37"/>
          <p:cNvSpPr/>
          <p:nvPr/>
        </p:nvSpPr>
        <p:spPr>
          <a:xfrm>
            <a:off x="2286000" y="2953512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FP4算力，能效+30%，自研HBM+灵渠互联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4572000" y="914400"/>
            <a:ext cx="4297680" cy="2194560"/>
          </a:xfrm>
          <a:prstGeom prst="rect">
            <a:avLst/>
          </a:prstGeom>
          <a:solidFill>
            <a:srgbClr val="FFF5F5"/>
          </a:solidFill>
          <a:ln w="19050">
            <a:solidFill>
              <a:srgbClr val="C5303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09160" y="100584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昇腾封闭生态特征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709160" y="1325880"/>
            <a:ext cx="402336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🔒 冷板标准：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华为定制，外部厂商无法适配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🔒 快接头：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华为指定史陶比尔/卡锢，海悟无法进入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🔒 CDU：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华为自产或超聚变体系内供应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🔒 Manifold：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昇腾体系封闭指定</a:t>
            </a:r>
            <a:endParaRPr lang="en-US" sz="850" dirty="0"/>
          </a:p>
          <a:p>
            <a:pPr indent="0" marL="0">
              <a:buNone/>
            </a:pPr>
            <a:r>
              <a:rPr lang="en-US" sz="6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 海悟机会：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昇腾体系直接机会几乎为零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唯一路径：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超聚变作为昇腾OEM，海悟通过超聚变间接触达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274320" y="3337560"/>
            <a:ext cx="8595360" cy="1417320"/>
          </a:xfrm>
          <a:prstGeom prst="rect">
            <a:avLst/>
          </a:prstGeom>
          <a:solidFill>
            <a:srgbClr val="ED8936">
              <a:alpha val="8000"/>
            </a:srgbClr>
          </a:solidFill>
          <a:ln w="19050">
            <a:solidFill>
              <a:srgbClr val="ED893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" y="3429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超聚变：昇腾生态的唯一窗口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57200" y="37490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🔑 超聚变是昇腾体系唯一独立服务器OEM：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华为将x86服务器业务分拆给超聚变，超聚变独立运营昇腾服务器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🔑 海悟在超聚变生态中的机会：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超聚变需要外购快接头（史陶比尔为主），史陶比尔供货慢+价格高，海悟可通过超聚变进入昇腾液冷体系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🔑 超聚变快接头年需求估算：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超聚变年出货昇腾服务器约30-50万台，每台需快接头2-4个，年需求约60-200万个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🔑 战略意义：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超聚变是海悟进入昇腾生态的唯一合规通道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47" name="Text 45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</a:t>
            </a:r>
            <a:endParaRPr lang="en-US" sz="10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开放生态国产GPU：寒武纪 / 海光 / 摩尔线程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8595360" cy="1325880"/>
          </a:xfrm>
          <a:prstGeom prst="rect">
            <a:avLst/>
          </a:prstGeom>
          <a:solidFill>
            <a:srgbClr val="F7FAFC"/>
          </a:solidFill>
          <a:ln w="19050">
            <a:solidFill>
              <a:srgbClr val="0057E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14400"/>
            <a:ext cx="54864" cy="1325880"/>
          </a:xfrm>
          <a:prstGeom prst="rect">
            <a:avLst/>
          </a:prstGeom>
          <a:solidFill>
            <a:srgbClr val="0057E7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0058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寒武纪 MLU370/590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280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MLU370（推理）/ MLU590（训练）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11480" y="1536192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57E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TDP: 350-450W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11480" y="1755648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开放标准 · OCP兼容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834640" y="100584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适配OEM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834640" y="123444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宁畅、华鲲、澎湃科技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480560" y="100584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液冷需求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480560" y="123444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冷板（必须）+ 快接头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943600" y="1005840"/>
            <a:ext cx="2834640" cy="1143000"/>
          </a:xfrm>
          <a:prstGeom prst="rect">
            <a:avLst/>
          </a:prstGeom>
          <a:solidFill>
            <a:srgbClr val="0057E7">
              <a:alpha val="8000"/>
            </a:srgbClr>
          </a:solidFill>
          <a:ln w="12700">
            <a:solidFill>
              <a:srgbClr val="0057E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80760" y="10515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57E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海悟机会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080760" y="1298448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宁畅是寒武纪核心OEM → 快接头通过宁畅触达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080760" y="181051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宁畅年出货寒武纪服务器约5-10万台，快接头需求2-4个/台，年需求10-40万个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274320" y="2286000"/>
            <a:ext cx="8595360" cy="1325880"/>
          </a:xfrm>
          <a:prstGeom prst="rect">
            <a:avLst/>
          </a:prstGeom>
          <a:solidFill>
            <a:srgbClr val="F7FAFC"/>
          </a:solidFill>
          <a:ln w="19050">
            <a:solidFill>
              <a:srgbClr val="0057E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2286000"/>
            <a:ext cx="54864" cy="1325880"/>
          </a:xfrm>
          <a:prstGeom prst="rect">
            <a:avLst/>
          </a:prstGeom>
          <a:solidFill>
            <a:srgbClr val="0057E7"/>
          </a:solidFill>
          <a:ln/>
        </p:spPr>
      </p:sp>
      <p:sp>
        <p:nvSpPr>
          <p:cNvPr id="20" name="Text 18"/>
          <p:cNvSpPr/>
          <p:nvPr/>
        </p:nvSpPr>
        <p:spPr>
          <a:xfrm>
            <a:off x="411480" y="23774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海光 DCU Z100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11480" y="26517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Z100（训练）/ Z200（推理）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11480" y="2907792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57E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TDP: 400-500W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11480" y="3127248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开放标准 · CUDA兼容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834640" y="237744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适配OEM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834640" y="260604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浪潮、华鲲、联想、同方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480560" y="237744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液冷需求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480560" y="260604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冷板（必须）+ 快接头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5943600" y="2377440"/>
            <a:ext cx="2834640" cy="1143000"/>
          </a:xfrm>
          <a:prstGeom prst="rect">
            <a:avLst/>
          </a:prstGeom>
          <a:solidFill>
            <a:srgbClr val="0057E7">
              <a:alpha val="8000"/>
            </a:srgbClr>
          </a:solidFill>
          <a:ln w="12700">
            <a:solidFill>
              <a:srgbClr val="0057E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080760" y="24231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57E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海悟机会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080760" y="2670048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浪潮是海光最大OEM → 浪潮年需求快接头&gt;10万个，海悟可替代史陶比尔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080760" y="318211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浪潮年出货海光服务器约15-30万台，快接头需求2-4个/台，年需求30-120万个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274320" y="3657600"/>
            <a:ext cx="8595360" cy="1325880"/>
          </a:xfrm>
          <a:prstGeom prst="rect">
            <a:avLst/>
          </a:prstGeom>
          <a:solidFill>
            <a:srgbClr val="F7FAFC"/>
          </a:solidFill>
          <a:ln w="19050">
            <a:solidFill>
              <a:srgbClr val="2F855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74320" y="3657600"/>
            <a:ext cx="54864" cy="1325880"/>
          </a:xfrm>
          <a:prstGeom prst="rect">
            <a:avLst/>
          </a:prstGeom>
          <a:solidFill>
            <a:srgbClr val="2F855A"/>
          </a:solidFill>
          <a:ln/>
        </p:spPr>
      </p:sp>
      <p:sp>
        <p:nvSpPr>
          <p:cNvPr id="34" name="Text 32"/>
          <p:cNvSpPr/>
          <p:nvPr/>
        </p:nvSpPr>
        <p:spPr>
          <a:xfrm>
            <a:off x="411480" y="37490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摩尔线程 MTT X400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11480" y="40233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X400（训练/推理）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11480" y="4279392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TDP: 200-250W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11480" y="4498848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开放标准 · MUSA生态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2834640" y="374904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适配OEM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2834640" y="397764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浪潮、宁畅、同方、神州数码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4480560" y="374904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液冷需求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480560" y="397764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冷板（高功率版）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943600" y="3749040"/>
            <a:ext cx="2834640" cy="1143000"/>
          </a:xfrm>
          <a:prstGeom prst="rect">
            <a:avLst/>
          </a:prstGeom>
          <a:solidFill>
            <a:srgbClr val="2F855A">
              <a:alpha val="8000"/>
            </a:srgbClr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080760" y="37947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海悟机会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080760" y="4041648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摩尔线程新兴OEM体系，定制需求多，海悟可通过浪潮/宁畅触达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6080760" y="455371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摩尔线程年出货约8-15万台，快接头需求1-3个/台，年需求8-45万个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274320" y="4937760"/>
            <a:ext cx="8595360" cy="384048"/>
          </a:xfrm>
          <a:prstGeom prst="rect">
            <a:avLst/>
          </a:prstGeom>
          <a:solidFill>
            <a:srgbClr val="F0FFF4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7200" y="495604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开放生态是海悟的主战场：浪潮（海光）/ 宁畅（寒武纪）/ 摩尔线程 → 快接头需求通过OEM配套触达，替代史陶比尔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49" name="Text 47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10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国产GPU战略总结：液冷快接头机会矩阵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114800" cy="1371600"/>
          </a:xfrm>
          <a:prstGeom prst="rect">
            <a:avLst/>
          </a:prstGeom>
          <a:solidFill>
            <a:srgbClr val="FFF5F5"/>
          </a:solidFill>
          <a:ln w="19050">
            <a:solidFill>
              <a:srgbClr val="C5303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0058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🔒 封闭生态：昇腾（华为）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132588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冷板/快接头/CDU/Manifold全部华为指定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海悟无法直接进入昇腾体系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唯一窗口：超聚变（昇腾OEM）间接触达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超聚变快接头年需求：60-200万个（估算）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0" y="914400"/>
            <a:ext cx="4297680" cy="1371600"/>
          </a:xfrm>
          <a:prstGeom prst="rect">
            <a:avLst/>
          </a:prstGeom>
          <a:solidFill>
            <a:srgbClr val="F0FFF4"/>
          </a:solidFill>
          <a:ln w="19050">
            <a:solidFill>
              <a:srgbClr val="2F85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09160" y="100584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🔓 开放生态：寒武纪/海光/摩尔线程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09160" y="1325880"/>
            <a:ext cx="4023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冷板/快接头标准开放，OEM自行选择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海悟可通过OEM配套直接触达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主要OEM：浪潮（海光）/ 宁畅（寒武纪）/ 同方（摩尔线程）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快接头年需求：50-200万个（估算）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274320" y="2423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国产GPU液冷快接头机会矩阵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2743200"/>
            <a:ext cx="1188720" cy="3657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2" name="Text 10"/>
          <p:cNvSpPr/>
          <p:nvPr/>
        </p:nvSpPr>
        <p:spPr>
          <a:xfrm>
            <a:off x="274320" y="274320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463040" y="2743200"/>
            <a:ext cx="548640" cy="3657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4" name="Text 12"/>
          <p:cNvSpPr/>
          <p:nvPr/>
        </p:nvSpPr>
        <p:spPr>
          <a:xfrm>
            <a:off x="1463040" y="27432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011680" y="2743200"/>
            <a:ext cx="1371600" cy="3657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6" name="Text 14"/>
          <p:cNvSpPr/>
          <p:nvPr/>
        </p:nvSpPr>
        <p:spPr>
          <a:xfrm>
            <a:off x="2011680" y="27432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接触方式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383280" y="2743200"/>
            <a:ext cx="640080" cy="3657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8" name="Text 16"/>
          <p:cNvSpPr/>
          <p:nvPr/>
        </p:nvSpPr>
        <p:spPr>
          <a:xfrm>
            <a:off x="3383280" y="274320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难度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023360" y="2743200"/>
            <a:ext cx="731520" cy="3657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20" name="Text 18"/>
          <p:cNvSpPr/>
          <p:nvPr/>
        </p:nvSpPr>
        <p:spPr>
          <a:xfrm>
            <a:off x="4023360" y="274320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优先级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754880" y="2743200"/>
            <a:ext cx="1371600" cy="3657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22" name="Text 20"/>
          <p:cNvSpPr/>
          <p:nvPr/>
        </p:nvSpPr>
        <p:spPr>
          <a:xfrm>
            <a:off x="4754880" y="27432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海悟份额目标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74320" y="3108960"/>
            <a:ext cx="118872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3127248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昇腾（华为）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1463040" y="3108960"/>
            <a:ext cx="54864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508760" y="3127248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封闭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2011680" y="3108960"/>
            <a:ext cx="137160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057400" y="3127248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间接（超聚变）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383280" y="3108960"/>
            <a:ext cx="64008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29000" y="3127248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★★★★★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023360" y="3108960"/>
            <a:ext cx="73152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069080" y="3127248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★★★☆☆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754880" y="3108960"/>
            <a:ext cx="137160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00600" y="3127248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5%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274320" y="3438144"/>
            <a:ext cx="118872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0040" y="3456432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寒武纪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1463040" y="3438144"/>
            <a:ext cx="54864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508760" y="345643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2011680" y="3438144"/>
            <a:ext cx="137160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057400" y="3456432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直接（宁畅）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3383280" y="3438144"/>
            <a:ext cx="64008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429000" y="3456432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★★☆☆☆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4023360" y="3438144"/>
            <a:ext cx="73152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069080" y="3456432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★★★★★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4754880" y="3438144"/>
            <a:ext cx="137160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00600" y="3456432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20%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274320" y="3767328"/>
            <a:ext cx="118872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20040" y="3785616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海光DCU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1463040" y="3767328"/>
            <a:ext cx="54864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508760" y="3785616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2011680" y="3767328"/>
            <a:ext cx="137160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057400" y="3785616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直接（浪潮）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3383280" y="3767328"/>
            <a:ext cx="64008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429000" y="3785616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★★☆☆☆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4023360" y="3767328"/>
            <a:ext cx="73152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069080" y="3785616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★★★★★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4754880" y="3767328"/>
            <a:ext cx="137160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800600" y="3785616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30%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274320" y="4096512"/>
            <a:ext cx="118872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20040" y="411480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摩尔线程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1463040" y="4096512"/>
            <a:ext cx="54864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508760" y="411480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2011680" y="4096512"/>
            <a:ext cx="137160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2057400" y="4114800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直接（浪潮/宁畅）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3383280" y="4096512"/>
            <a:ext cx="64008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429000" y="4114800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★★★☆☆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4023360" y="4096512"/>
            <a:ext cx="73152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069080" y="4114800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★★★☆☆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4754880" y="4096512"/>
            <a:ext cx="137160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800600" y="4114800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15%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274320" y="4425696"/>
            <a:ext cx="118872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320040" y="4443984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昆仑芯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1463040" y="4425696"/>
            <a:ext cx="54864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1508760" y="4443984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2011680" y="4425696"/>
            <a:ext cx="137160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2057400" y="4443984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直接（浪潮）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3383280" y="4425696"/>
            <a:ext cx="64008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3429000" y="4443984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★★★★☆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4023360" y="4425696"/>
            <a:ext cx="73152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4069080" y="4443984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★★☆☆☆</a:t>
            </a:r>
            <a:endParaRPr lang="en-US" sz="800" dirty="0"/>
          </a:p>
        </p:txBody>
      </p:sp>
      <p:sp>
        <p:nvSpPr>
          <p:cNvPr id="81" name="Shape 79"/>
          <p:cNvSpPr/>
          <p:nvPr/>
        </p:nvSpPr>
        <p:spPr>
          <a:xfrm>
            <a:off x="4754880" y="4425696"/>
            <a:ext cx="137160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4800600" y="4443984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5%</a:t>
            </a:r>
            <a:endParaRPr lang="en-US" sz="800" dirty="0"/>
          </a:p>
        </p:txBody>
      </p:sp>
      <p:sp>
        <p:nvSpPr>
          <p:cNvPr id="83" name="Shape 81"/>
          <p:cNvSpPr/>
          <p:nvPr/>
        </p:nvSpPr>
        <p:spPr>
          <a:xfrm>
            <a:off x="274320" y="4754880"/>
            <a:ext cx="118872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320040" y="4773168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平头哥</a:t>
            </a:r>
            <a:endParaRPr lang="en-US" sz="800" dirty="0"/>
          </a:p>
        </p:txBody>
      </p:sp>
      <p:sp>
        <p:nvSpPr>
          <p:cNvPr id="85" name="Shape 83"/>
          <p:cNvSpPr/>
          <p:nvPr/>
        </p:nvSpPr>
        <p:spPr>
          <a:xfrm>
            <a:off x="1463040" y="4754880"/>
            <a:ext cx="54864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1508760" y="4773168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</a:t>
            </a:r>
            <a:endParaRPr lang="en-US" sz="800" dirty="0"/>
          </a:p>
        </p:txBody>
      </p:sp>
      <p:sp>
        <p:nvSpPr>
          <p:cNvPr id="87" name="Shape 85"/>
          <p:cNvSpPr/>
          <p:nvPr/>
        </p:nvSpPr>
        <p:spPr>
          <a:xfrm>
            <a:off x="2011680" y="4754880"/>
            <a:ext cx="137160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2057400" y="4773168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直接（阿里自用）</a:t>
            </a:r>
            <a:endParaRPr lang="en-US" sz="800" dirty="0"/>
          </a:p>
        </p:txBody>
      </p:sp>
      <p:sp>
        <p:nvSpPr>
          <p:cNvPr id="89" name="Shape 87"/>
          <p:cNvSpPr/>
          <p:nvPr/>
        </p:nvSpPr>
        <p:spPr>
          <a:xfrm>
            <a:off x="3383280" y="4754880"/>
            <a:ext cx="64008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3429000" y="4773168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★★★★★</a:t>
            </a:r>
            <a:endParaRPr lang="en-US" sz="800" dirty="0"/>
          </a:p>
        </p:txBody>
      </p:sp>
      <p:sp>
        <p:nvSpPr>
          <p:cNvPr id="91" name="Shape 89"/>
          <p:cNvSpPr/>
          <p:nvPr/>
        </p:nvSpPr>
        <p:spPr>
          <a:xfrm>
            <a:off x="4023360" y="4754880"/>
            <a:ext cx="73152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4069080" y="4773168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★☆☆☆☆</a:t>
            </a:r>
            <a:endParaRPr lang="en-US" sz="800" dirty="0"/>
          </a:p>
        </p:txBody>
      </p:sp>
      <p:sp>
        <p:nvSpPr>
          <p:cNvPr id="93" name="Shape 91"/>
          <p:cNvSpPr/>
          <p:nvPr/>
        </p:nvSpPr>
        <p:spPr>
          <a:xfrm>
            <a:off x="4754880" y="4754880"/>
            <a:ext cx="137160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4800600" y="4773168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0%</a:t>
            </a:r>
            <a:endParaRPr lang="en-US" sz="800" dirty="0"/>
          </a:p>
        </p:txBody>
      </p:sp>
      <p:sp>
        <p:nvSpPr>
          <p:cNvPr id="95" name="Shape 93"/>
          <p:cNvSpPr/>
          <p:nvPr/>
        </p:nvSpPr>
        <p:spPr>
          <a:xfrm>
            <a:off x="274320" y="5084064"/>
            <a:ext cx="859536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96" name="Text 94"/>
          <p:cNvSpPr/>
          <p:nvPr/>
        </p:nvSpPr>
        <p:spPr>
          <a:xfrm>
            <a:off x="457200" y="5084064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海悟在国产GPU开放生态中的快接头目标份额：30-40%（浪潮+宁畅为主）→ 年收入贡献约¥5000万-1亿（2030年）</a:t>
            </a:r>
            <a:endParaRPr lang="en-US" sz="950" dirty="0"/>
          </a:p>
        </p:txBody>
      </p:sp>
      <p:sp>
        <p:nvSpPr>
          <p:cNvPr id="97" name="Shape 95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98" name="Text 96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65</Slides>
  <Notes>65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65</vt:i4>
      </vt:variant>
    </vt:vector>
  </HeadingPairs>
  <TitlesOfParts>
    <vt:vector size="6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机柜级液冷行业深度洞察</dc:title>
  <dc:subject>2026-2030年战略机遇与市场空间</dc:subject>
  <dc:creator>海悟科技</dc:creator>
  <cp:lastModifiedBy>海悟科技</cp:lastModifiedBy>
  <cp:revision>1</cp:revision>
  <dcterms:created xsi:type="dcterms:W3CDTF">2026-04-27T05:09:01Z</dcterms:created>
  <dcterms:modified xsi:type="dcterms:W3CDTF">2026-04-27T05:09:01Z</dcterms:modified>
</cp:coreProperties>
</file>