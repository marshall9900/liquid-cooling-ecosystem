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</p:sldIdLst>
  <p:notesMasterIdLst>
    <p:notesMasterId r:id="rId5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notesMaster" Target="notesMasters/notesMaster1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04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机柜级液冷战略洞察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五看三定 · 深度洞察版 v10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411480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2976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数据中心热管理 | 2026年5月 | 机密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304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1005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看宏观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1280160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全球AI算力趋势 / 中国AIDC建设 / 政策与PUE铁拳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7830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二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71600" y="1783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看市场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2057400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OTT需求全景 × GPU生态 × OEM竞争 × IDC运营方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" y="25603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71600" y="2560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看竞争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2834640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液冷厂商全景扫描 / 产业链图谱 / 竞争格局矩阵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33375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371600" y="33375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看机会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3611880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机柜级液冷组件深度拆解 / 市场切入窗口评估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31520" y="41148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371600" y="4114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三定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4389120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定战略 → 定目标 → 定策略 / 海悟路径规划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31520" y="48920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六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371600" y="4892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71600" y="5166360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研究方法论 / 核心数据来源 / 术语表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304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1005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看宏观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1280160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GPU功耗翻倍 · AI Capex暴涨 · PUE≤1.15 · 中国AIDC 320万架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7830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二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71600" y="1783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看市场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2057400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字节/阿里/腾讯/华为 · 快手/拼多多/百度 · GPU OEM · IDC运营方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" y="25603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71600" y="2560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看竞争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2834640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CoolIT / Boyd / 英维克 / 曙光数创 / 高澜 / 海悟定位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33375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371600" y="33375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看机会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3611880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 · Manifold · 冷板 · 快接头 · 认证路径 · 客户切入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31520" y="41148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371600" y="4114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三定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4389120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产品战略 · OEM认证目标 · 市场策略 · 窗口期1-2年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31520" y="48920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六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371600" y="4892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71600" y="5166360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桌面研究 + 专家深访 + 公开财报 / SEC Filing / 微信情报源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304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看宏观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全球AI算力趋势 / 中国AIDC建设 / 政策与PUE铁拳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3891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 | 2026-05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一看小结：液冷不可逆 + 市场空间基调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594360"/>
            <a:ext cx="54864" cy="594360"/>
          </a:xfrm>
          <a:prstGeom prst="rect">
            <a:avLst/>
          </a:prstGeom>
          <a:solidFill>
            <a:srgbClr val="03045E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59436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GPU功耗翻倍不可逆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850392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H100 700W → B200 1000W → GB200 1200W → Rubin 1500W+，风冷物理极限600W已全面突破，液冷为唯一解。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07592"/>
            <a:ext cx="54864" cy="59436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30759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Capex持续暴涨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1563624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全球OTT AI Capex 2026E $362B（+23% YoY），中国合计¥650B+，液冷采购$29-36B/年。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020824"/>
            <a:ext cx="54864" cy="5943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020824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PUE政策铁拳收紧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2276856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新建DC PUE要求 ≤1.25(2024) → ≤1.20(2028) → ≤1.15(2030)，风冷无力达标，液冷刚性不可逆。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734056"/>
            <a:ext cx="54864" cy="59436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734056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中国AIDC加速建设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2990088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2026E液冷机柜26.5万架（&gt;50%渗透率），2030E 320万+架，TAM ¥39B→¥250B确定性极强。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3447288"/>
            <a:ext cx="54864" cy="59436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44728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6F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结论：液冷不是趋势问题，是速度问题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3703320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谁能率先完成OEM认证+头部客户PoC+规模量产，谁就能卡住赛道位。窗口期仅1-2年，错过即错失一代理财。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4160520"/>
            <a:ext cx="8229600" cy="594360"/>
          </a:xfrm>
          <a:prstGeom prst="roundRect">
            <a:avLst>
              <a:gd name="adj" fmla="val 9231"/>
            </a:avLst>
          </a:prstGeom>
          <a:solidFill>
            <a:srgbClr val="CAF0F8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2062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⭐ 一看核心意义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441655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GPU功耗代际跃升 + AI Capex全球井喷 + PUE铁拳三力叠加，液冷从"选配"变为"标配"。中国市场确定性极高：2030E液冷机柜320万+架，TAM ¥250B。海悟需在窗口期内锁定OEM认证与头部客户。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0" y="5138928"/>
            <a:ext cx="9144000" cy="914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7731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 |  机柜级液冷战略  |  2026-05  |  机密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25" name="Text 2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304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二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看市场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OTT需求全景 / GPU生态 / OEM竞争 / IDC运营方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3891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 | 2026-05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OTT 深度：字节跳动 + 阿里巴巴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字节跳动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45720" cy="320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9144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火山引擎：AI算力平台，全球建设中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298448"/>
            <a:ext cx="45720" cy="320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29844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AI Capex 2026E：¥200-250B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682496"/>
            <a:ext cx="45720" cy="320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68249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液冷方案：冷板为主，自研团队组建中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066544"/>
            <a:ext cx="45720" cy="320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06654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DC集群：张家口 / 乌兰察布 / 芜湖 / 贵安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450592"/>
            <a:ext cx="45720" cy="320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45059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技术栈：Kubernetes自研调度 + 含光/真武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834640"/>
            <a:ext cx="45720" cy="320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8346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特征：自研液冷，外采CPU冷板/CDU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54880" y="5943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阿里巴巴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914400"/>
            <a:ext cx="45720" cy="320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9144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通义千问3.0：中国第一大模型家族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54880" y="1298448"/>
            <a:ext cx="45720" cy="320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129844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AI Capex 2026E：¥180-220B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54880" y="1682496"/>
            <a:ext cx="45720" cy="320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3" name="Text 21"/>
          <p:cNvSpPr/>
          <p:nvPr/>
        </p:nvSpPr>
        <p:spPr>
          <a:xfrm>
            <a:off x="4937760" y="168249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液冷方案：浸没+冷板双路（方升架构）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54880" y="2066544"/>
            <a:ext cx="45720" cy="320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5" name="Text 23"/>
          <p:cNvSpPr/>
          <p:nvPr/>
        </p:nvSpPr>
        <p:spPr>
          <a:xfrm>
            <a:off x="4937760" y="206654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DC集群：张北 / 河源 / 乌兰察布 / 南通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54880" y="2450592"/>
            <a:ext cx="45720" cy="320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245059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技术栈：阿里云液冷 + 磐久超节点128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54880" y="2834640"/>
            <a:ext cx="45720" cy="320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9" name="Text 27"/>
          <p:cNvSpPr/>
          <p:nvPr/>
        </p:nvSpPr>
        <p:spPr>
          <a:xfrm>
            <a:off x="4937760" y="28346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特征：自研+外采并行，CDU/Manifold招标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288036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CAF0F8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292608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海悟机会评估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8640" y="313639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节：冷板/CDU外采需求明确，通过火山引擎DC供应商（秦淮/数据港）进入，⚠️自研团队抬高直接合作门槛。阿里：CDU/Manifold招标制（技术+价格），需通过H3C间接进入，认证要求阿里云液冷认证(2027目标)。策略：先攻阿里（H3C路径成熟），再拓字节（供应商渠道）。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57200" y="37947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💬 微信源: 2026-05-07-ott-csp-gpu-capex + supernode-insight | 🌐 SEC 10-Q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0" y="5138928"/>
            <a:ext cx="9144000" cy="914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47731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 |  机柜级液冷战略  |  2026-05  |  机密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37" name="Text 3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OTT 深度：腾讯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腾讯AI基础设施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45720" cy="320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9144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混元大模型：自研算力集群，快速迭代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298448"/>
            <a:ext cx="45720" cy="320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29844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AI Capex 2026E：¥120-150B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682496"/>
            <a:ext cx="45720" cy="320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68249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液冷方案：冷板为主，大规模部署中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066544"/>
            <a:ext cx="45720" cy="320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06654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DC集群：天津 / 贵安 / 清远 / 仪征 / 怀来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450592"/>
            <a:ext cx="45720" cy="320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45059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模式：自建DC为主，2026E新增2-3万架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834640"/>
            <a:ext cx="45720" cy="320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8346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技术栈：ETH-64/128 超节点标准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54880" y="5943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液冷采购特征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914400"/>
            <a:ext cx="45720" cy="320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9144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CDU/Manifold：供应商招标制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54880" y="1298448"/>
            <a:ext cx="45720" cy="320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129844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冷板供应当前：CoolIT / 英维克主导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54880" y="1682496"/>
            <a:ext cx="45720" cy="320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3" name="Text 21"/>
          <p:cNvSpPr/>
          <p:nvPr/>
        </p:nvSpPr>
        <p:spPr>
          <a:xfrm>
            <a:off x="4937760" y="168249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认证壁垒：中等（OCP衍生标准）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54880" y="2066544"/>
            <a:ext cx="45720" cy="320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5" name="Text 23"/>
          <p:cNvSpPr/>
          <p:nvPr/>
        </p:nvSpPr>
        <p:spPr>
          <a:xfrm>
            <a:off x="4937760" y="206654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Manifold送样窗口：2026H2开放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54880" y="2450592"/>
            <a:ext cx="45720" cy="320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245059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OEM伙伴：浪潮（腾讯核心OEM）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54880" y="2834640"/>
            <a:ext cx="45720" cy="320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9" name="Text 27"/>
          <p:cNvSpPr/>
          <p:nvPr/>
        </p:nvSpPr>
        <p:spPr>
          <a:xfrm>
            <a:off x="4937760" y="28346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进入路径：通过浪潮间接供货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288036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CAF0F8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292608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海悟机会评估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8640" y="313639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CDU/Manifold招标制（价格+技术竞争，海悟有价格优势）；冷板当前被CoolIT/英维克锁定，需认证突破；进入路径清晰：通过浪潮（腾讯核心OEM伙伴）间接供货；认证：腾讯液冷认证(OCP衍生)。Manifold送样窗口2026H2 → 应优先准备。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57200" y="37947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🌐 SEC 10-Q: Tencent(HK) | 💬 微信源: ott-csp-gpu-capex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0" y="5138928"/>
            <a:ext cx="9144000" cy="914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47731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 |  机柜级液冷战略  |  2026-05  |  机密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37" name="Text 3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OTT 深度：华为昇腾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594360"/>
            <a:ext cx="54864" cy="594360"/>
          </a:xfrm>
          <a:prstGeom prst="rect">
            <a:avLst/>
          </a:prstGeom>
          <a:solidFill>
            <a:srgbClr val="03045E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59436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AI战略：昇腾全栈自主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850392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昇腾910C国产最强AI芯片，AI Capex 2026E ¥80-120B；Atlas 900超节点（64p/128p）对标NVIDIA DGX；DC集群：东莞 / 深圳 / 乌兰察布三大算力中心。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07592"/>
            <a:ext cx="54864" cy="59436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30759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液冷方案：全栈自研封闭生态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1563624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全栈液冷：从芯片→节点→机柜→DC完全自研；机柜功率密度60kW+/柜，行业领先；自研CDU/Manifold/冷板全栈方案，非标接口&amp;私有协议。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020824"/>
            <a:ext cx="54864" cy="5943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020824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采购特征：极其封闭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2276856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华为液冷组件100%自研，不对外采购CDU/Manifold/冷板；超节点整机柜出货，组件级供应商准入极难；国内华鲲/超聚变/宝德等OEM受华为强管控。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734056"/>
            <a:ext cx="54864" cy="59436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734056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6F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海悟策略：间接渗透 + 长期跟踪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2990088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华为液冷供应链自闭环 → 短期无直接切入窗口；间接路径：通过华鲲/超聚变等华为OEM商供应通用组件(管路/接头)；长期：跟踪华为开放生态节奏(信创政策催化)。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3493008"/>
            <a:ext cx="8229600" cy="594360"/>
          </a:xfrm>
          <a:prstGeom prst="roundRect">
            <a:avLst>
              <a:gd name="adj" fmla="val 9231"/>
            </a:avLst>
          </a:prstGeom>
          <a:solidFill>
            <a:srgbClr val="CAF0F8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53872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海悟机会评估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37490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华为液冷生态极其封闭，短期无直接供货机会。机会点：① 华为OEM商（华鲲/超聚变）可能在通用组件存在外采需求；② GPU禁令下信创加速可能倒逼华为开放生态；③ 非核心管路/接头仍有渗透空间。评级：P2（长期跟踪，暂不优先投入）。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57200" y="42062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💬 微信源: huawei-ascend | 🌐 Huawei Annual Report 2025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0" y="5138928"/>
            <a:ext cx="9144000" cy="914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7731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 |  机柜级液冷战略  |  2026-05  |  机密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23" name="Text 2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OTT 深度：快手 / 拼多多 / 百度</a:t>
            </a:r>
            <a:endParaRPr lang="en-US" sz="1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371600"/>
                <a:gridCol w="1463040"/>
                <a:gridCol w="1188720"/>
                <a:gridCol w="1463040"/>
                <a:gridCol w="1737360"/>
              </a:tblGrid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公司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Capex 2026E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超节点标准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液冷方案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DC规模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采购特征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快手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¥60-80B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可灵架构(自研)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冷板起步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乌兰察布/张家口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招标制，价格敏感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拼多多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¥30-50B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—（采购为主）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风冷为主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液冷需求小(P0不是)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百度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¥80-100B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昆仑芯R300集群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冷板+风冷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阳泉/保定/徐水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昆仑芯国产，CDU外购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2240280"/>
            <a:ext cx="8229600" cy="685800"/>
          </a:xfrm>
          <a:prstGeom prst="roundRect">
            <a:avLst>
              <a:gd name="adj" fmla="val 8000"/>
            </a:avLst>
          </a:prstGeom>
          <a:solidFill>
            <a:srgbClr val="CAF0F8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228600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海悟机会评估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2496312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手(P1)：CDU/Manifold招标制，价格敏感型客户，2026H2跟踪窗口。百度(P2)：昆仑芯R300集群CDU外购，但需百度认证壁垒。拼多多(P3)：短期液冷需求极小，非优先客户。核心策略：先攻头部(阿里/字节)，稳扎腾讯，再拓快手/百度。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57200" y="3063240"/>
            <a:ext cx="8229600" cy="365760"/>
          </a:xfrm>
          <a:prstGeom prst="rect">
            <a:avLst/>
          </a:prstGeom>
          <a:solidFill>
            <a:srgbClr val="CAF0F8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31089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关键策略：OTT客户按P0→P3分级管理。P0=阿里/字节(CDU+Manifold+冷板直接供给)，P1=腾讯/快手(通过OEM间接进入)，P2=华为/百度(长期跟踪)，P3=拼多多(暂不投入)。核心破局点：CDU+快接头组合通过H3C/浪潮等OEM认证。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0" y="5138928"/>
            <a:ext cx="9144000" cy="914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47731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 |  机柜级液冷战略  |  2026-05  |  机密</a:t>
            </a:r>
            <a:endParaRPr lang="en-US" sz="700" dirty="0"/>
          </a:p>
        </p:txBody>
      </p:sp>
      <p:sp>
        <p:nvSpPr>
          <p:cNvPr id="12" name="Shape 9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13" name="Text 1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OTT 液冷采购决策链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594360"/>
            <a:ext cx="54864" cy="594360"/>
          </a:xfrm>
          <a:prstGeom prst="rect">
            <a:avLst/>
          </a:prstGeom>
          <a:solidFill>
            <a:srgbClr val="03045E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59436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GPU选择 → 定冷板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850392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NVIDIA GPU → CoolIT/AVC冷板  |  昇腾 → 超聚变/浪潮冷板  |  自研GPU → 开放招标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海悟路径：通过OEM认证（NVIDIA/Intel）→ 进入供应商名录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07592"/>
            <a:ext cx="54864" cy="59436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30759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OEM采购 → 选组件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1563624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阿里/字节/腾讯通过OEM（H3C/浪潮/宁畅）采购服务器 → OEM决定液冷组件品牌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海悟路径：先打入OEM体系 → H3C/浪潮是首选入口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020824"/>
            <a:ext cx="54864" cy="5943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020824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OTT自主 → 定CDU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2276856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CDU/Manifold由OTT自主招标  |  冷板由GPU+OEM推荐  |  快接头兼容性优先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海悟路径：Manifold先行切入 → CDU远期搭售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88036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CAF0F8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92608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核心洞察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313639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海悟最佳切入点在CDU招标 + Manifold送样环节。GPU冷板绑定（NVIDIA/昇腾选OEM）→ 需先过OEM认证；Manifold/CDU由OTT/OEM自主招标，无强制认证壁垒，是海悟最短平快的进入路径。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57200" y="3794760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CAF0F8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84048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战略优先级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4050792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P0: Manifold直接送样 → H3C/浪潮/宁畅  |  P1: CDU参与OTT招标  |  P2: 冷板通过OEM认证  |  P3: 快接头国产替代窗口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0" y="5138928"/>
            <a:ext cx="9144000" cy="914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7731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 |  机柜级液冷战略  |  2026-05  |  机密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22" name="Text 2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OTT 液冷对比矩阵</a:t>
            </a:r>
            <a:endParaRPr lang="en-US" sz="1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48640"/>
          <a:ext cx="82296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280160"/>
                <a:gridCol w="1188720"/>
                <a:gridCol w="1097280"/>
                <a:gridCol w="1097280"/>
                <a:gridCol w="1554480"/>
                <a:gridCol w="1280160"/>
              </a:tblGrid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OTT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冷板规格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CDU要求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Manifold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快接头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认证门槛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采购模式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阿里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磐久128定制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100-150kW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自研+外采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UQD/Staubli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阿里云液冷认证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招标+POC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字节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自研超节点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80-120kW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外采为主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通用快接头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字节自研标准(在编)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招标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腾讯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ETH-64/128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100-150kW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外采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OCP兼容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腾讯液冷认证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招标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快手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可灵架构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60-100kW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外采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通用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无(供应商审核)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招标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百度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昆仑芯R300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60-100kW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外采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通用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百度认证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招标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solidFill>
            <a:srgbClr val="CAF0F8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42062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CDU/Manifold由OTT自主招标（非GPU绑定）→ 海悟可直接参与  |  冷板强绑定GPU → 需先过OEM认证  |  阿里/腾讯各有认证体系  |  OCP兼容认证可降低多客户进入成本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0" y="5138928"/>
            <a:ext cx="9144000" cy="914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7731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 |  机柜级液冷战略  |  2026-05  |  机密</a:t>
            </a:r>
            <a:endParaRPr lang="en-US" sz="700" dirty="0"/>
          </a:p>
        </p:txBody>
      </p:sp>
      <p:sp>
        <p:nvSpPr>
          <p:cNvPr id="9" name="Shape 6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10" name="Text 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304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二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看市场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GPU与OEM生态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3891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 | 2026-05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GPU深度：华为昇腾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594360"/>
            <a:ext cx="1975104" cy="640080"/>
          </a:xfrm>
          <a:prstGeom prst="roundRect">
            <a:avLst>
              <a:gd name="adj" fmla="val 8571"/>
            </a:avLst>
          </a:prstGeom>
          <a:solidFill>
            <a:srgbClr val="0077B6"/>
          </a:solidFill>
          <a:ln/>
        </p:spPr>
      </p:sp>
      <p:sp>
        <p:nvSpPr>
          <p:cNvPr id="5" name="Text 3"/>
          <p:cNvSpPr/>
          <p:nvPr/>
        </p:nvSpPr>
        <p:spPr>
          <a:xfrm>
            <a:off x="530352" y="62179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910B TDP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30352" y="82296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310W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542032" y="594360"/>
            <a:ext cx="1975104" cy="640080"/>
          </a:xfrm>
          <a:prstGeom prst="roundRect">
            <a:avLst>
              <a:gd name="adj" fmla="val 8571"/>
            </a:avLst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2615184" y="62179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950PR TDP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2615184" y="82296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~400W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26864" y="594360"/>
            <a:ext cx="1975104" cy="640080"/>
          </a:xfrm>
          <a:prstGeom prst="roundRect">
            <a:avLst>
              <a:gd name="adj" fmla="val 8571"/>
            </a:avLst>
          </a:prstGeom>
          <a:solidFill>
            <a:srgbClr val="03045E"/>
          </a:solidFill>
          <a:ln/>
        </p:spPr>
      </p:sp>
      <p:sp>
        <p:nvSpPr>
          <p:cNvPr id="11" name="Text 9"/>
          <p:cNvSpPr/>
          <p:nvPr/>
        </p:nvSpPr>
        <p:spPr>
          <a:xfrm>
            <a:off x="4700016" y="62179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950DT TDP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4700016" y="82296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~500W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711696" y="594360"/>
            <a:ext cx="1975104" cy="640080"/>
          </a:xfrm>
          <a:prstGeom prst="roundRect">
            <a:avLst>
              <a:gd name="adj" fmla="val 8571"/>
            </a:avLst>
          </a:prstGeom>
          <a:solidFill>
            <a:srgbClr val="E76F51"/>
          </a:solidFill>
          <a:ln/>
        </p:spPr>
      </p:sp>
      <p:sp>
        <p:nvSpPr>
          <p:cNvPr id="14" name="Text 12"/>
          <p:cNvSpPr/>
          <p:nvPr/>
        </p:nvSpPr>
        <p:spPr>
          <a:xfrm>
            <a:off x="6784848" y="62179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2026E出货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6784848" y="82296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~180万卡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13716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对应OEM厂商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1691640"/>
            <a:ext cx="45720" cy="320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16916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超聚变（华为嫡系）— 主要OEM，昇腾整机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2075688"/>
            <a:ext cx="45720" cy="320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207568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浪潮信息 — 昇腾服务器前二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2459736"/>
            <a:ext cx="45720" cy="320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245973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宁畅信息 — 昇腾适配中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2843784"/>
            <a:ext cx="45720" cy="320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284378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宝德 / 长江计算 — 昇腾整机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54880" y="13716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液冷要求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54880" y="1691640"/>
            <a:ext cx="45720" cy="320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16916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910B 310W → 风冷/冷板均可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54880" y="2075688"/>
            <a:ext cx="45720" cy="320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9" name="Text 27"/>
          <p:cNvSpPr/>
          <p:nvPr/>
        </p:nvSpPr>
        <p:spPr>
          <a:xfrm>
            <a:off x="4937760" y="207568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950PR 400W → 推荐冷板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54880" y="2459736"/>
            <a:ext cx="45720" cy="320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1" name="Text 29"/>
          <p:cNvSpPr/>
          <p:nvPr/>
        </p:nvSpPr>
        <p:spPr>
          <a:xfrm>
            <a:off x="4937760" y="245973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950DT 500W → 冷板为主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54880" y="2843784"/>
            <a:ext cx="45720" cy="320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3" name="Text 31"/>
          <p:cNvSpPr/>
          <p:nvPr/>
        </p:nvSpPr>
        <p:spPr>
          <a:xfrm>
            <a:off x="4937760" y="284378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Atlas 900超节点 → 液冷整柜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54880" y="3227832"/>
            <a:ext cx="45720" cy="320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5" name="Text 33"/>
          <p:cNvSpPr/>
          <p:nvPr/>
        </p:nvSpPr>
        <p:spPr>
          <a:xfrm>
            <a:off x="4937760" y="322783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HCCS互联 + Atlas机柜规格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" y="365760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CAF0F8"/>
          </a:solidFill>
          <a:ln/>
        </p:spPr>
      </p:sp>
      <p:sp>
        <p:nvSpPr>
          <p:cNvPr id="37" name="Text 35"/>
          <p:cNvSpPr/>
          <p:nvPr/>
        </p:nvSpPr>
        <p:spPr>
          <a:xfrm>
            <a:off x="548640" y="370332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🔶 海悟机会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48640" y="391363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昇腾体系由超聚变主导 → 需先打入超聚变/浪潮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冷板由华为指定供应商（NVIDIA模式）→ 冷板P2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可通过Manifold/CDU（非GPU绑定）切入华为生态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窗口：910B→950PR/DT功耗升级 → 液冷从"可选"变"必须"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💬 微信源: 2026-05-06-super-node-insight + GPU对比表格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0" y="5138928"/>
            <a:ext cx="9144000" cy="914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" y="47731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 |  机柜级液冷战略  |  2026-05  |  机密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43" name="Text 4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GPU深度：寒武纪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594360"/>
            <a:ext cx="1975104" cy="640080"/>
          </a:xfrm>
          <a:prstGeom prst="roundRect">
            <a:avLst>
              <a:gd name="adj" fmla="val 8571"/>
            </a:avLst>
          </a:prstGeom>
          <a:solidFill>
            <a:srgbClr val="0077B6"/>
          </a:solidFill>
          <a:ln/>
        </p:spPr>
      </p:sp>
      <p:sp>
        <p:nvSpPr>
          <p:cNvPr id="5" name="Text 3"/>
          <p:cNvSpPr/>
          <p:nvPr/>
        </p:nvSpPr>
        <p:spPr>
          <a:xfrm>
            <a:off x="530352" y="62179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思元590 TDP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30352" y="82296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350W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542032" y="594360"/>
            <a:ext cx="1975104" cy="640080"/>
          </a:xfrm>
          <a:prstGeom prst="roundRect">
            <a:avLst>
              <a:gd name="adj" fmla="val 8571"/>
            </a:avLst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2615184" y="62179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思元690 TDP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2615184" y="82296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~500W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26864" y="594360"/>
            <a:ext cx="1975104" cy="640080"/>
          </a:xfrm>
          <a:prstGeom prst="roundRect">
            <a:avLst>
              <a:gd name="adj" fmla="val 8571"/>
            </a:avLst>
          </a:prstGeom>
          <a:solidFill>
            <a:srgbClr val="03045E"/>
          </a:solidFill>
          <a:ln/>
        </p:spPr>
      </p:sp>
      <p:sp>
        <p:nvSpPr>
          <p:cNvPr id="11" name="Text 9"/>
          <p:cNvSpPr/>
          <p:nvPr/>
        </p:nvSpPr>
        <p:spPr>
          <a:xfrm>
            <a:off x="4700016" y="62179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2026E出货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4700016" y="82296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~50万卡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711696" y="594360"/>
            <a:ext cx="1975104" cy="640080"/>
          </a:xfrm>
          <a:prstGeom prst="roundRect">
            <a:avLst>
              <a:gd name="adj" fmla="val 8571"/>
            </a:avLst>
          </a:prstGeom>
          <a:solidFill>
            <a:srgbClr val="E76F51"/>
          </a:solidFill>
          <a:ln/>
        </p:spPr>
      </p:sp>
      <p:sp>
        <p:nvSpPr>
          <p:cNvPr id="14" name="Text 12"/>
          <p:cNvSpPr/>
          <p:nvPr/>
        </p:nvSpPr>
        <p:spPr>
          <a:xfrm>
            <a:off x="6784848" y="62179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液冷需求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6784848" y="82296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风冷→冷板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13716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对应OEM厂商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1691640"/>
            <a:ext cx="45720" cy="320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16916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浪潮信息 — 思元590适配主力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2075688"/>
            <a:ext cx="45720" cy="320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207568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宁畅信息 — 思元适配中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2459736"/>
            <a:ext cx="45720" cy="320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245973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联想 — 思元590小批量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2843784"/>
            <a:ext cx="45720" cy="320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284378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宝德 — 思元适配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54880" y="13716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液冷要求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54880" y="1691640"/>
            <a:ext cx="45720" cy="320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16916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590 350W → 风冷/冷板可选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54880" y="2075688"/>
            <a:ext cx="45720" cy="320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9" name="Text 27"/>
          <p:cNvSpPr/>
          <p:nvPr/>
        </p:nvSpPr>
        <p:spPr>
          <a:xfrm>
            <a:off x="4937760" y="207568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690 500W → 冷板推荐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54880" y="2459736"/>
            <a:ext cx="45720" cy="320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1" name="Text 29"/>
          <p:cNvSpPr/>
          <p:nvPr/>
        </p:nvSpPr>
        <p:spPr>
          <a:xfrm>
            <a:off x="4937760" y="245973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MLU-Link互联 → 整柜设计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54880" y="2843784"/>
            <a:ext cx="45720" cy="320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3" name="Text 31"/>
          <p:cNvSpPr/>
          <p:nvPr/>
        </p:nvSpPr>
        <p:spPr>
          <a:xfrm>
            <a:off x="4937760" y="284378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较NVIDIA/昇腾生态开放 → OEM自主选液冷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" y="347472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CAF0F8"/>
          </a:solidFill>
          <a:ln/>
        </p:spPr>
      </p:sp>
      <p:sp>
        <p:nvSpPr>
          <p:cNvPr id="35" name="Text 33"/>
          <p:cNvSpPr/>
          <p:nvPr/>
        </p:nvSpPr>
        <p:spPr>
          <a:xfrm>
            <a:off x="548640" y="35204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🔶 海悟机会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48640" y="373075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寒武纪生态比NVIDIA/昇腾开放 → OEM自主选液冷供应商 → 海悟Manifold/冷板直接机会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思元590→690功耗升级 = 液冷从"可选"变"推荐" → 2026-27窗口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进入路径：浪潮/宁畅（寒武纪OEM）→ Manifold送样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57200" y="44805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🌐 东方财富: sources/reports/company/gpu/寒武纪/ + GPU对比表格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0" y="5138928"/>
            <a:ext cx="9144000" cy="914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" y="47731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 |  机柜级液冷战略  |  2026-05  |  机密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41" name="Text 3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GPU深度：海光信息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594360"/>
            <a:ext cx="1975104" cy="640080"/>
          </a:xfrm>
          <a:prstGeom prst="roundRect">
            <a:avLst>
              <a:gd name="adj" fmla="val 8571"/>
            </a:avLst>
          </a:prstGeom>
          <a:solidFill>
            <a:srgbClr val="0077B6"/>
          </a:solidFill>
          <a:ln/>
        </p:spPr>
      </p:sp>
      <p:sp>
        <p:nvSpPr>
          <p:cNvPr id="5" name="Text 3"/>
          <p:cNvSpPr/>
          <p:nvPr/>
        </p:nvSpPr>
        <p:spPr>
          <a:xfrm>
            <a:off x="530352" y="62179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DCU深算2号 TDP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30352" y="82296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300W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542032" y="594360"/>
            <a:ext cx="1975104" cy="640080"/>
          </a:xfrm>
          <a:prstGeom prst="roundRect">
            <a:avLst>
              <a:gd name="adj" fmla="val 8571"/>
            </a:avLst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2615184" y="62179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DCU深算3号 TDP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2615184" y="82296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~500W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26864" y="594360"/>
            <a:ext cx="1975104" cy="640080"/>
          </a:xfrm>
          <a:prstGeom prst="roundRect">
            <a:avLst>
              <a:gd name="adj" fmla="val 8571"/>
            </a:avLst>
          </a:prstGeom>
          <a:solidFill>
            <a:srgbClr val="03045E"/>
          </a:solidFill>
          <a:ln/>
        </p:spPr>
      </p:sp>
      <p:sp>
        <p:nvSpPr>
          <p:cNvPr id="11" name="Text 9"/>
          <p:cNvSpPr/>
          <p:nvPr/>
        </p:nvSpPr>
        <p:spPr>
          <a:xfrm>
            <a:off x="4700016" y="62179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2026E出货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4700016" y="82296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~50万卡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711696" y="594360"/>
            <a:ext cx="1975104" cy="640080"/>
          </a:xfrm>
          <a:prstGeom prst="roundRect">
            <a:avLst>
              <a:gd name="adj" fmla="val 8571"/>
            </a:avLst>
          </a:prstGeom>
          <a:solidFill>
            <a:srgbClr val="E76F51"/>
          </a:solidFill>
          <a:ln/>
        </p:spPr>
      </p:sp>
      <p:sp>
        <p:nvSpPr>
          <p:cNvPr id="14" name="Text 12"/>
          <p:cNvSpPr/>
          <p:nvPr/>
        </p:nvSpPr>
        <p:spPr>
          <a:xfrm>
            <a:off x="6784848" y="62179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液冷需求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6784848" y="82296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风冷→冷板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13716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对应OEM厂商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1691640"/>
            <a:ext cx="45720" cy="320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16916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中科曙光（海光嫡系）— DCU整机主力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2075688"/>
            <a:ext cx="45720" cy="320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207568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浪潮信息 — DCU适配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2459736"/>
            <a:ext cx="45720" cy="320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245973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联想 — DCU小批量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2843784"/>
            <a:ext cx="45720" cy="320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284378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xGMI互联 → 整柜8卡方案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54880" y="13716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液冷特征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54880" y="1691640"/>
            <a:ext cx="45720" cy="320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16916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深算2号 300W → 风冷即可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54880" y="2075688"/>
            <a:ext cx="45720" cy="320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9" name="Text 27"/>
          <p:cNvSpPr/>
          <p:nvPr/>
        </p:nvSpPr>
        <p:spPr>
          <a:xfrm>
            <a:off x="4937760" y="207568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深算3号 500W → 冷板推荐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54880" y="2459736"/>
            <a:ext cx="45720" cy="320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1" name="Text 29"/>
          <p:cNvSpPr/>
          <p:nvPr/>
        </p:nvSpPr>
        <p:spPr>
          <a:xfrm>
            <a:off x="4937760" y="245973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运营商/信创 → 主要客户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54880" y="2843784"/>
            <a:ext cx="45720" cy="320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3" name="Text 31"/>
          <p:cNvSpPr/>
          <p:nvPr/>
        </p:nvSpPr>
        <p:spPr>
          <a:xfrm>
            <a:off x="4937760" y="284378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信创政策 = 国产液冷供应商优先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" y="347472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CAF0F8"/>
          </a:solidFill>
          <a:ln/>
        </p:spPr>
      </p:sp>
      <p:sp>
        <p:nvSpPr>
          <p:cNvPr id="35" name="Text 33"/>
          <p:cNvSpPr/>
          <p:nvPr/>
        </p:nvSpPr>
        <p:spPr>
          <a:xfrm>
            <a:off x="548640" y="35204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🔶 海悟机会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48640" y="373075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信创DCU → 国产液冷供应商优先（政策利好），中科曙光供应链相对开放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深算3号 500W → 2026年冷板需求启动 → Manifold/CDU直接机会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进入路径：中科曙光/浪潮 → Manifold + 冷板送样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57200" y="44805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🌐 东方财富: sources/reports/company/gpu/海光信息/ | 💬 微信: 2026-05-07-haiguang-dcu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0" y="5138928"/>
            <a:ext cx="9144000" cy="914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" y="47731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 |  机柜级液冷战略  |  2026-05  |  机密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41" name="Text 3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GPU深度：阿里平头哥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594360"/>
            <a:ext cx="1975104" cy="640080"/>
          </a:xfrm>
          <a:prstGeom prst="roundRect">
            <a:avLst>
              <a:gd name="adj" fmla="val 8571"/>
            </a:avLst>
          </a:prstGeom>
          <a:solidFill>
            <a:srgbClr val="0077B6"/>
          </a:solidFill>
          <a:ln/>
        </p:spPr>
      </p:sp>
      <p:sp>
        <p:nvSpPr>
          <p:cNvPr id="5" name="Text 3"/>
          <p:cNvSpPr/>
          <p:nvPr/>
        </p:nvSpPr>
        <p:spPr>
          <a:xfrm>
            <a:off x="530352" y="62179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真武810E TDP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30352" y="82296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~400W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542032" y="594360"/>
            <a:ext cx="1975104" cy="640080"/>
          </a:xfrm>
          <a:prstGeom prst="roundRect">
            <a:avLst>
              <a:gd name="adj" fmla="val 8571"/>
            </a:avLst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2615184" y="62179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含光系列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2615184" y="82296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推理芯片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26864" y="594360"/>
            <a:ext cx="1975104" cy="640080"/>
          </a:xfrm>
          <a:prstGeom prst="roundRect">
            <a:avLst>
              <a:gd name="adj" fmla="val 8571"/>
            </a:avLst>
          </a:prstGeom>
          <a:solidFill>
            <a:srgbClr val="03045E"/>
          </a:solidFill>
          <a:ln/>
        </p:spPr>
      </p:sp>
      <p:sp>
        <p:nvSpPr>
          <p:cNvPr id="11" name="Text 9"/>
          <p:cNvSpPr/>
          <p:nvPr/>
        </p:nvSpPr>
        <p:spPr>
          <a:xfrm>
            <a:off x="4700016" y="62179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2026E出货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4700016" y="82296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~60万卡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711696" y="594360"/>
            <a:ext cx="1975104" cy="640080"/>
          </a:xfrm>
          <a:prstGeom prst="roundRect">
            <a:avLst>
              <a:gd name="adj" fmla="val 8571"/>
            </a:avLst>
          </a:prstGeom>
          <a:solidFill>
            <a:srgbClr val="E76F51"/>
          </a:solidFill>
          <a:ln/>
        </p:spPr>
      </p:sp>
      <p:sp>
        <p:nvSpPr>
          <p:cNvPr id="14" name="Text 12"/>
          <p:cNvSpPr/>
          <p:nvPr/>
        </p:nvSpPr>
        <p:spPr>
          <a:xfrm>
            <a:off x="6784848" y="62179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液冷需求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6784848" y="82296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冷板推荐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13716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生态特点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1691640"/>
            <a:ext cx="45720" cy="320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16916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阿里自研PPU → 阿里云自用为主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2075688"/>
            <a:ext cx="45720" cy="320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207568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万卡集群（突破1万卡互联）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2459736"/>
            <a:ext cx="45720" cy="320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245973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未对外开放 → 不对外授权OEM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2843784"/>
            <a:ext cx="45720" cy="320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284378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片间互联700GB/s → 超节点设计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54880" y="13716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液冷要求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54880" y="1691640"/>
            <a:ext cx="45720" cy="320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16916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阿里自研液冷方案 → 磐久服务器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54880" y="2075688"/>
            <a:ext cx="45720" cy="320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9" name="Text 27"/>
          <p:cNvSpPr/>
          <p:nvPr/>
        </p:nvSpPr>
        <p:spPr>
          <a:xfrm>
            <a:off x="4937760" y="207568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外部供应商：浸没/冷板均可参与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54880" y="2459736"/>
            <a:ext cx="45720" cy="320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1" name="Text 29"/>
          <p:cNvSpPr/>
          <p:nvPr/>
        </p:nvSpPr>
        <p:spPr>
          <a:xfrm>
            <a:off x="4937760" y="245973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万卡集群 → 整柜液冷刚需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54880" y="2843784"/>
            <a:ext cx="45720" cy="320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3" name="Text 31"/>
          <p:cNvSpPr/>
          <p:nvPr/>
        </p:nvSpPr>
        <p:spPr>
          <a:xfrm>
            <a:off x="4937760" y="284378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认证：阿里云液冷认证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" y="347472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CAF0F8"/>
          </a:solidFill>
          <a:ln/>
        </p:spPr>
      </p:sp>
      <p:sp>
        <p:nvSpPr>
          <p:cNvPr id="35" name="Text 33"/>
          <p:cNvSpPr/>
          <p:nvPr/>
        </p:nvSpPr>
        <p:spPr>
          <a:xfrm>
            <a:off x="548640" y="35204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🔶 海悟机会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48640" y="373075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阿里自研芯片 ≠ 封闭生态 → 外部液冷供应商可参与阿里招标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平头哥万卡集群 → 需机柜级液冷 → Manifold/CDU/冷板齐全需求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认证+价格+交付三轮考核 → 进入路径：阿里云液冷招标 → H3C（阿里OEM）→ 海悟Manifold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57200" y="44805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💬 微信源: 2026-05-06-ali-ppu-chip-overview | supernode-insight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0" y="5138928"/>
            <a:ext cx="9144000" cy="914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" y="47731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 |  机柜级液冷战略  |  2026-05  |  机密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41" name="Text 3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GPU对比矩阵：昆仑芯 / 沐曦 / 其他</a:t>
            </a:r>
            <a:endParaRPr lang="en-US" sz="18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4864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822960"/>
                <a:gridCol w="914400"/>
                <a:gridCol w="1463040"/>
                <a:gridCol w="1097280"/>
                <a:gridCol w="2468880"/>
              </a:tblGrid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GPU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TDP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出货(万卡)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对应OEM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液冷需求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海悟机会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昆仑芯R300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~350W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百度DC(自用)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风冷+冷板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P2(需百度认证)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沐曦MXC500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~300W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联想/浪潮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风冷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P3(出货小)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景嘉微JM9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~200W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风冷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P3(非AI)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摩尔线程MT S4000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~250W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风冷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P3(非AI)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璧仞BR100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~400W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5(受限)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冷板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P3(制裁受限)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solidFill>
            <a:srgbClr val="CAF0F8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42062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核心判断：聚焦昇腾+寒武纪+海光（主力国产GPU）→ P1优先  |  昆仑芯P2：百度生态闭环，需百度认证，2028后跟踪  |  沐曦/景嘉微/摩尔/璧仞P3：出货小或制裁受限，暂不投入资源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0" y="5138928"/>
            <a:ext cx="9144000" cy="914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7731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 |  机柜级液冷战略  |  2026-05  |  机密</a:t>
            </a:r>
            <a:endParaRPr lang="en-US" sz="700" dirty="0"/>
          </a:p>
        </p:txBody>
      </p:sp>
      <p:sp>
        <p:nvSpPr>
          <p:cNvPr id="9" name="Shape 6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10" name="Text 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 → OEM 映射总表 &amp; 液冷采购规模</a:t>
            </a:r>
            <a:endParaRPr lang="en-US" sz="18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0292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822960"/>
                <a:gridCol w="1371600"/>
                <a:gridCol w="731520"/>
                <a:gridCol w="777240"/>
                <a:gridCol w="914400"/>
                <a:gridCol w="914400"/>
                <a:gridCol w="914400"/>
              </a:tblGrid>
              <a:tr h="55517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GPU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2026E出货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(万卡)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主力OEM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TDP范围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液冷等级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单卡液冷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ASP(¥)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液冷采购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规模(¥B)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优先级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昇腾910B/950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180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超聚变/浪潮/宁畅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310-500W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推荐→必须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800-1500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1.4-2.7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P1(Manifold)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寒武纪590/690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浪潮/宁畅/联想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350-500W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可选→推荐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600-1200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0.3-0.6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P1(Manifold)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海光DCU2/3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中科曙光/浪潮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300-500W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可选→推荐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600-1200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0.3-0.6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P1(Manifold)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平头哥真武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阿里(自用)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~400W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推荐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800-1500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0.5-0.9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P1(通过H3C)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昆仑芯R300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百度(自用)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~350W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500-1000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0.1-0.2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P2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合计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360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2.6-5.0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solidFill>
            <a:srgbClr val="CAF0F8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41148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计算说明：液冷采购规模 = 出货量 × 液冷渗透率 × 单卡ASP。2026年国产GPU液冷采购规模 ¥2.6-5.0B，其中昇腾占主导（55%+）。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源: GPU对比表格-精确修正.csv + GPU/OEM分析文件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0" y="5138928"/>
            <a:ext cx="9144000" cy="914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47731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 |  机柜级液冷战略  |  2026-05  |  机密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11" name="Text 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OEM维度：超节点OEM格局</a:t>
            </a:r>
            <a:endParaRPr lang="en-US" sz="18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0292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777240"/>
                <a:gridCol w="1463040"/>
                <a:gridCol w="1097280"/>
                <a:gridCol w="1280160"/>
                <a:gridCol w="1188720"/>
                <a:gridCol w="731520"/>
              </a:tblGrid>
              <a:tr h="55517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OEM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超节点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份额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对应GPU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液冷组件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年采购(¥B)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液冷供应商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接触状态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优先级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H3C(新华三)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~25%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NVIDIA+昇腾+寒武纪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2.5-4.0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CoolIT/英维克/AVC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已接触→待送样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浪潮信息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~22%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NVIDIA+昇腾+寒武纪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2.2-3.5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英维克/高澜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已接触→待送样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宁畅信息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~12%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NVIDIA+昇腾+寒武纪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1.2-2.0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已接触→待送样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超聚变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~18%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华为昇腾(主)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1.8-3.0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华为指定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待接触(华为壁垒)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联想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~10%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NVIDIA+海光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1.0-1.6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待接触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华勤技术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~8%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ODM多品牌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0.8-1.2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待接触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solidFill>
            <a:srgbClr val="CAF0F8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41148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核心策略：H3C + 浪潮 + 宁畅 = 57% OEM份额 + 均已接触 → 先集中这三家送样Manifold（目标¥50M/2026）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源: oem/2026-05-09-oem-server-insight.md + 液冷客户表_OEM.csv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0" y="5138928"/>
            <a:ext cx="9144000" cy="914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47731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 |  机柜级液冷战略  |  2026-05  |  机密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11" name="Text 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OEM液冷组件采购规模估算</a:t>
            </a:r>
            <a:endParaRPr lang="en-US" sz="18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0292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731520"/>
                <a:gridCol w="914400"/>
                <a:gridCol w="1097280"/>
                <a:gridCol w="1097280"/>
                <a:gridCol w="640080"/>
                <a:gridCol w="2651760"/>
              </a:tblGrid>
              <a:tr h="431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组件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单柜数量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ASP(¥)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2026E采购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(¥B)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2028E采购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(¥B)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增速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备注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GPU冷板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72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2000-3000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2.5-4.5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8-15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3x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NVIDIA认证加成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CPU冷板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18-36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600-1200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0.3-0.8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1.5-3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4x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Intel UQD认证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电源冷板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36+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400-800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0.3-0.6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1.5-3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5x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蓝海，空白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内存冷板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72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250-400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0.3-0.6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1.5-3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5x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Gen6 SSD趋势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快接头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200+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150-600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1.0-2.5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4-10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4x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Staubli垄断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CDU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1-2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100-200K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1.0-2.0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4-8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4x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OEM集成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Manifold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8-16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4-12K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0.5-1.0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2-5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5x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低壁垒出量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合计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6-12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22-47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~4x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solidFill>
            <a:srgbClr val="CAF0F8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41148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单NVL72柜液冷BOM ~$50-100K → 折算¥35-70万/柜 → 2026E中国液冷组件¥6-12B。Manifold：低壁垒/高增速（5x）→ 海悟P0出量品类。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0" y="5138928"/>
            <a:ext cx="9144000" cy="914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7731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 |  机柜级液冷战略  |  2026-05  |  机密</a:t>
            </a:r>
            <a:endParaRPr lang="en-US" sz="700" dirty="0"/>
          </a:p>
        </p:txBody>
      </p:sp>
      <p:sp>
        <p:nvSpPr>
          <p:cNvPr id="9" name="Shape 6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10" name="Text 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OEM机柜级液冷具体要求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594360"/>
            <a:ext cx="54864" cy="594360"/>
          </a:xfrm>
          <a:prstGeom prst="rect">
            <a:avLst/>
          </a:prstGeom>
          <a:solidFill>
            <a:srgbClr val="03045E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59436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GPU冷板（NVIDIA）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850392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NVIDIA认证必须（COOLER-SPEC-002），CoolIT/AVC/nVent三家通过。新进入者需：①热设计仿真→②原型样品→③NVIDIA测试→④认证（12-18月）。国产GPU（昇腾）类似流程但可行度高。海悟→P2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07592"/>
            <a:ext cx="54864" cy="59436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30759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CPU冷板（Intel）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1563624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Intel UQD认证为核心门槛。OCP Cold Plate Spec v3.0兼容。应用场景：超节点CPU水冷 + AI推理节点。海悟=CPU冷板P1（Intel UQD 2028H1自研）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020824"/>
            <a:ext cx="54864" cy="5943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020824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CDU（OEM集成）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2276856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OEM不做CDU自主研发（非核心）→ 外购集成。100-150kW CDU需求最大。变频泵+液-液换热优先。国内英维克/维谛主导，性价比竞争。海悟→P1（搭售）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734056"/>
            <a:ext cx="54864" cy="59436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734056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Manifold（管路分配）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2990088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OEM不做Manifold自制 → 外购。规格：管径/流量/压降/材质（不锈钢/铜）匹配OEM整柜。无强制认证（比冷板低很多），直接送样。海悟→P0切入点！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solidFill>
            <a:srgbClr val="CAF0F8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6118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海悟切入层级：Manifold（P0·无认证→直接送样） &gt; 电源冷板（P0·蓝海无人） &gt; CPU冷板（P1·Intel UQD 2028H1） &gt; CDU（P1·搭售） &gt; GPU冷板（P2·NVIDIA Certified）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0" y="5138928"/>
            <a:ext cx="9144000" cy="914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7731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 |  机柜级液冷战略  |  2026-05  |  机密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21" name="Text 1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CDU竞争全景</a:t>
            </a:r>
            <a:endParaRPr lang="en-US" sz="18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914400"/>
                <a:gridCol w="914400"/>
                <a:gridCol w="1097280"/>
                <a:gridCol w="1005840"/>
                <a:gridCol w="914400"/>
              </a:tblGrid>
              <a:tr h="421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厂商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国家/地区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功率(kW)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ASP(¥万)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认证状态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份额(估)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</a:tr>
              <a:tr h="421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英维克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中国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50-150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30-80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OCP进行中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~25%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1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Vertiv(维谛)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美国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50-200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50-120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Certified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~18%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1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曙光数创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中国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50-120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35-70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~15%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1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Schneider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法国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50-200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60-150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Certified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~12%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1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高澜股份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中国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30-100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25-60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~10%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1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Delta(台达)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台湾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30-120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35-80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~8%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1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申菱/同飞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中国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30-80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20-50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~5%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1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Boyd/GRC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国际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50-150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50-100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~7%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0" y="5138928"/>
            <a:ext cx="9144000" cy="914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47731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 |  机柜级液冷战略  |  2026-05  |  机密</a:t>
            </a:r>
            <a:endParaRPr lang="en-US" sz="700" dirty="0"/>
          </a:p>
        </p:txBody>
      </p:sp>
      <p:sp>
        <p:nvSpPr>
          <p:cNvPr id="7" name="Shape 4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8" name="Text 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CDU详细竞品分析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594360"/>
            <a:ext cx="54864" cy="594360"/>
          </a:xfrm>
          <a:prstGeom prst="rect">
            <a:avLst/>
          </a:prstGeom>
          <a:solidFill>
            <a:srgbClr val="03045E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59436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Vertiv(维谛) — 国际龙头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850392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全球品牌+渠道，50-200kW CDU全系列覆盖，ASP ¥50-120万/台，份额~18%。优势：电气+冷却一体化方案，全球认证齐全。劣势：价格高、国内响应慢。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07592"/>
            <a:ext cx="54864" cy="59436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30759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 — 国内龙头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1563624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国产化+全栈方案(冷板+CDU+Manifold)，50-150kW CDU，ASP ¥30-80万/台，份额~25%。优势：运营商客户+腾讯，OCP认证进行中。劣势：与国际品牌有品牌溢价差距。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020824"/>
            <a:ext cx="54864" cy="5943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020824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曙光数创 — 曙光DCU配套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2276856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依托中科曙光DCU生态，50-120kW CDU，ASP ¥35-70万/台，份额~15%。优势：曙光DCU绑定+国资背景，沉浸式液冷经验。劣势：受限于曙光生态圈。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734056"/>
            <a:ext cx="54864" cy="59436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734056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高澜股份 — 性价比路线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2990088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中小规模CDU为主(30-100kW)，ASP ¥25-60万/台，份额~10%。优势：性价比高、电力电子冷却技术积累。劣势：品牌影响力弱、大功率段未覆盖。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3520440"/>
            <a:ext cx="8229600" cy="731520"/>
          </a:xfrm>
          <a:prstGeom prst="roundRect">
            <a:avLst>
              <a:gd name="adj" fmla="val 7500"/>
            </a:avLst>
          </a:prstGeom>
          <a:solidFill>
            <a:srgbClr val="CAF0F8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56616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海悟策略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3776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CDU赛道同质化严重，价格战已开启。海悟P2远期(不做CDU主力)，但必须储备CDU能力以支撑系统级打包(Manifold+冷板+CDU)。远期可通过系统集成差异化突围。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0" y="5138928"/>
            <a:ext cx="9144000" cy="914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7731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 |  机柜级液冷战略  |  2026-05  |  机密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22" name="Text 2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IDC运营方机柜级液冷采购特征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594360"/>
            <a:ext cx="54864" cy="594360"/>
          </a:xfrm>
          <a:prstGeom prst="rect">
            <a:avLst/>
          </a:prstGeom>
          <a:solidFill>
            <a:srgbClr val="03045E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59436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 — IDC运营方拥有完整自主决策权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850392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规格：100-150kW/台(中压10kV→低压400V→CDU)。招标关键：变频效率/冗余/售后/价格。海悟优势：数据中心热管理基因+系统集成经验。P1：远期参与。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07592"/>
            <a:ext cx="54864" cy="59436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30759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 — IDC运营方自主决策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1563624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规格：流量/压降/材质匹配。招标关键：制造质量/兼容性/交期/价格。海悟已有基础→P0送样H3C/浪潮/宁畅。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020824"/>
            <a:ext cx="54864" cy="5943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020824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冷板(Cold Plate) — 由GPU厂家推荐+OEM选定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2276856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IDC运营方一般不直接选冷板。海悟：需过NVIDIA/Intel认证才能进入OEM供应链。P1→P2。优先从CPU冷板(Intel UQD)突破，再攻GPU冷板。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734056"/>
            <a:ext cx="54864" cy="59436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734056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快接头(Quick Connect) — 关注兼容性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2990088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Staubli为主流(72%份额)，IDC关注密封/耐久/压降/价格。海悟P1：国产替代储备，监控Staubli产能/交期/涨价→替代窗口打开。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3447288"/>
            <a:ext cx="54864" cy="594360"/>
          </a:xfrm>
          <a:prstGeom prst="rect">
            <a:avLst/>
          </a:prstGeom>
          <a:solidFill>
            <a:srgbClr val="03045E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44728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关键差异 — 三类IDC采购逻辑不同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3703320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OTT自建DC：自主决策CDU/Manifold(招标)←海悟可直接参与。运营商DC：国资采购+国产化偏好←移动云/天翼云优先。第三方IDC：客户(OEM/OTT)影响大←先打入OEM再用IDC扩量。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0" y="5138928"/>
            <a:ext cx="9144000" cy="914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7731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 |  机柜级液冷战略  |  2026-05  |  机密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22" name="Text 2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Manifold竞品分析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国内主要厂商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45720" cy="320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9144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 — 国内龙头，ASP ¥8-15K/个，管路集成经验丰富，运营商+腾讯渠道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298448"/>
            <a:ext cx="45720" cy="320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29844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高澜股份 — ASP ¥6-12K/个，性价比路线，电力电子冷却技术延伸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682496"/>
            <a:ext cx="45720" cy="320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68249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同飞股份 — ASP ¥5-10K/个，中小OEM客户为主，价格导向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066544"/>
            <a:ext cx="45720" cy="320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06654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申菱环境 — ASP ¥5-10K/个，区域性厂商，特种冷却背景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450592"/>
            <a:ext cx="45720" cy="320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45059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竞争格局：壁垒低(制造+管路集成)、同质化、出量快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54880" y="5943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海悟差异化策略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914400"/>
            <a:ext cx="45720" cy="320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9144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已有Manifold基础 → 可对标英维克/高澜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54880" y="1298448"/>
            <a:ext cx="45720" cy="320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129844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电源冷板协同(竞品无人做) = 差异化杀手锏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54880" y="1682496"/>
            <a:ext cx="45720" cy="320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168249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交期/服务/性价比 = 制造基因优势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54880" y="2066544"/>
            <a:ext cx="45720" cy="320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3" name="Text 21"/>
          <p:cNvSpPr/>
          <p:nvPr/>
        </p:nvSpPr>
        <p:spPr>
          <a:xfrm>
            <a:off x="4937760" y="206654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从Manifold→冷板升级销售 = 客户LTV最大化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54880" y="2450592"/>
            <a:ext cx="45720" cy="320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5" name="Text 23"/>
          <p:cNvSpPr/>
          <p:nvPr/>
        </p:nvSpPr>
        <p:spPr>
          <a:xfrm>
            <a:off x="4937760" y="245059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送样H3C/浪潮/宁畅(2026) → 进入OEM供应链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54880" y="2834640"/>
            <a:ext cx="45720" cy="320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28346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P0优先级：2026出量¥50M+，先占位再升级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0" y="5138928"/>
            <a:ext cx="9144000" cy="914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7731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 |  机柜级液冷战略  |  2026-05  |  机密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31" name="Text 2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冷板竞争：一供/二供格局</a:t>
            </a:r>
            <a:endParaRPr lang="en-US" sz="18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548640"/>
                <a:gridCol w="822960"/>
                <a:gridCol w="1097280"/>
                <a:gridCol w="1097280"/>
                <a:gridCol w="640080"/>
                <a:gridCol w="1280160"/>
              </a:tblGrid>
              <a:tr h="47434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厂商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国家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NVIDIA认证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GPU冷板ASP(USD)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CPU冷板ASP(USD)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份额(估)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主要OEM客户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</a:tr>
              <a:tr h="47434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CoolIT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加拿大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Certified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$300-350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$120-150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~35%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H3C/浪潮/Dell/SMCI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434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AVC(奇鋐)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台湾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Certified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$250-300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$100-130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~30%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H3C/浪潮/联想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434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nVent(Schroff)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英国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CFD Certified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$450-500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$180-220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~10%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434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英维克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中国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❌ 在研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¥1200-1800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¥600-800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~10%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浪潮/曙光(国产GPU)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434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高澜股份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中国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❌ 在研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¥800-1200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¥400-600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~8%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434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Boyd(宝德)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美国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$350-400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$150-180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~5%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434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双鸿/超众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台湾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$200-280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$100-130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~2%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0" y="5138928"/>
            <a:ext cx="9144000" cy="914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47731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 |  机柜级液冷战略  |  2026-05  |  机密</a:t>
            </a:r>
            <a:endParaRPr lang="en-US" sz="700" dirty="0"/>
          </a:p>
        </p:txBody>
      </p:sp>
      <p:sp>
        <p:nvSpPr>
          <p:cNvPr id="7" name="Shape 4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8" name="Text 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电源冷板：蓝海机会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594360"/>
            <a:ext cx="54864" cy="594360"/>
          </a:xfrm>
          <a:prstGeom prst="rect">
            <a:avLst/>
          </a:prstGeom>
          <a:solidFill>
            <a:srgbClr val="03045E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59436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市场空白 — 全球无专业电源冷板厂商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850392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TAM：2026E $0.5-1B → 2030E $2-3B，CAGR &gt;50%。GPU/CPU冷板竞争激烈，但电源冷板(48V Bus Converter/VRM/PSU) = 无人区。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07592"/>
            <a:ext cx="54864" cy="59436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30759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技术驱动力 — 电源功率密度↑ → 液冷必由之路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1563624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GPU单卡功耗500W→1200W，48V电源模块功率密度&gt;3kW/inch³。传统风冷无法满足 → 液冷是唯一方案，电源器件必须配套冷板。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020824"/>
            <a:ext cx="54864" cy="5943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020824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海悟机遇 — 热管理基因 × 电源冷板协同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2276856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海悟数据中心热管理经验 → 直接迁移至电源液冷。电源冷板+Manifold协同出货 = 单客户ASP 2-3倍提升。竞品无一覆盖 → 首发定义标准。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734056"/>
            <a:ext cx="54864" cy="59436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734056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时间窗口 — 2026-27需求爆发前完成研发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2990088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电源液冷需求随GPU功耗升级同步爆发(2027E)。海悟必须2026完成：① 电源冷板样品研发 ② OEM送样认证 ③ 小批量产线建设。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3566160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CAF0F8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61188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战略判断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3822192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电源冷板 = 海悟三重蓝海之首(竞品无一覆盖)。2026立项研发 → 2027送样H3C/浪潮/宁畅 → 2028量产爆量。SOM从¥0→¥200M+(5年)。窗口期仅18-24个月，必须立即启动。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0" y="5138928"/>
            <a:ext cx="9144000" cy="914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7731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 |  机柜级液冷战略  |  2026-05  |  机密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22" name="Text 2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竞争强度矩阵：竞品×产品维度</a:t>
            </a:r>
            <a:endParaRPr lang="en-US" sz="18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097280"/>
                <a:gridCol w="1005840"/>
                <a:gridCol w="1097280"/>
                <a:gridCol w="1188720"/>
                <a:gridCol w="1097280"/>
                <a:gridCol w="1097280"/>
              </a:tblGrid>
              <a:tr h="421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厂商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GPU冷板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CPU冷板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电源冷板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CDU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Manifold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快接头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</a:tr>
              <a:tr h="421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CoolIT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★★★★★一供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★★★★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1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AVC(奇鋐)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★★★★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1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nVent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1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英维克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★★★★★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★★★★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1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高澜股份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1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Vertiv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★★★★★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1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Staubli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★★★★★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1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海悟科技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☆ 关注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☆ 关注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★★蓝海P0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☆ 储备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★★P0出量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☆ 储备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0" y="5138928"/>
            <a:ext cx="9144000" cy="914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47731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 |  机柜级液冷战略  |  2026-05  |  机密</a:t>
            </a:r>
            <a:endParaRPr lang="en-US" sz="700" dirty="0"/>
          </a:p>
        </p:txBody>
      </p:sp>
      <p:sp>
        <p:nvSpPr>
          <p:cNvPr id="7" name="Shape 4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8" name="Text 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冷板竞争详细分析</a:t>
            </a:r>
            <a:endParaRPr lang="en-US" sz="18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548640"/>
                <a:gridCol w="914400"/>
                <a:gridCol w="1005840"/>
                <a:gridCol w="1005840"/>
                <a:gridCol w="548640"/>
                <a:gridCol w="1554480"/>
              </a:tblGrid>
              <a:tr h="47434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厂商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国家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NVIDIA认证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GPU冷板ASP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CPU冷板ASP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份额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竞争定位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</a:tr>
              <a:tr h="47434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CoolIT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加拿大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认证龙头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$300-350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$120-150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~35%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一供(H3C/浪潮/Dell/SMCI)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434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AVC(奇鋐)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台湾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Certified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$250-300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$100-130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~30%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一供(H3C/浪潮/联想)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434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nVent(Schroff)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英国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CFD Certified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$450-500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$180-220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~10%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高端二供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434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英维克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中国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❌ 在研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¥1200-1800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¥600-800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~10%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国产GPU一供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434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高澜股份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中国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❌ 在研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¥800-1200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¥400-600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~8%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国产GPU二供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434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Boyd(宝德)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美国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$350-400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$150-180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~5%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二供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434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双鸿/超众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台湾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$200-280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$100-130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~2%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代工补充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154680"/>
            <a:ext cx="8229600" cy="365760"/>
          </a:xfrm>
          <a:prstGeom prst="rect">
            <a:avLst/>
          </a:prstGeom>
          <a:solidFill>
            <a:srgbClr val="CAF0F8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32004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一供(CoolIT/AVC)锁定NVIDIA认证 + H3C/浪潮主力 → 壁垒极高(12-18月认证周期)。国产替代窗口：国产GPU(寒武纪/海光)液冷认证赛道 → 新玩家机会。海悟策略：不正面攻GPU冷板 → P1并行Intel UQD(CPU冷板) → P0电源冷板(蓝海) → P2跟进NVIDIA认证。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0" y="5138928"/>
            <a:ext cx="9144000" cy="914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7731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 |  机柜级液冷战略  |  2026-05  |  机密</a:t>
            </a:r>
            <a:endParaRPr lang="en-US" sz="700" dirty="0"/>
          </a:p>
        </p:txBody>
      </p:sp>
      <p:sp>
        <p:nvSpPr>
          <p:cNvPr id="9" name="Shape 6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10" name="Text 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304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看机会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技术窗口与市场切入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3891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 | 2026-05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液冷TAM测算</a:t>
            </a:r>
            <a:endParaRPr lang="en-US" sz="18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822960"/>
                <a:gridCol w="640080"/>
                <a:gridCol w="1005840"/>
                <a:gridCol w="1188720"/>
                <a:gridCol w="1097280"/>
                <a:gridCol w="1097280"/>
              </a:tblGrid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年份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TAM(¥B)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CAGR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中国占比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SAM(海悟可达)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SOM(海悟国内)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SOM(海悟海外)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2026E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39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35%(~¥13B)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~¥15B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¥0.05B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2027E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65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67%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38%(~¥25B)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~¥25B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¥0.15B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¥0.02B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2028E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85%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40%(~¥48B)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~¥45B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¥0.4B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¥0.1B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2029E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175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46%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42%(~¥74B)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~¥65B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¥0.7B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¥0.15B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2030E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250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43%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45%(~¥113B)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~¥100B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¥1.0B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¥0.2B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0" y="5138928"/>
            <a:ext cx="9144000" cy="914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47731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 |  机柜级液冷战略  |  2026-05  |  机密</a:t>
            </a:r>
            <a:endParaRPr lang="en-US" sz="700" dirty="0"/>
          </a:p>
        </p:txBody>
      </p:sp>
      <p:sp>
        <p:nvSpPr>
          <p:cNvPr id="7" name="Shape 4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8" name="Text 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液冷组件供需状态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594360"/>
            <a:ext cx="54864" cy="594360"/>
          </a:xfrm>
          <a:prstGeom prst="rect">
            <a:avLst/>
          </a:prstGeom>
          <a:solidFill>
            <a:srgbClr val="03045E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59436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GPU冷板 — 供不应求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850392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需求爆发(CAGR&gt;60%)，供给由CoolIT/AVC双寡头主导(合计~65%)。NVIDIA认证周期12-18月 → 新增产能受限。国产缺认证 → 供给缺口持续至2028。国内价格溢价30-50%。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07592"/>
            <a:ext cx="54864" cy="59436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30759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 — 供需平衡，同质化竞争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1563624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8+厂商充分竞争(英维克/Vertiv/曙光/高澜等)，供给充足。价格战已开启，ASP年降5-10%。差异化方向：智能化(变频效率)/系统集成。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020824"/>
            <a:ext cx="54864" cy="5943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020824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 — 短期偏紧，2027缓解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2276856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液冷机柜增速(&gt;50%) &gt;&gt; 产能扩张速度 → 2026-27短期偏紧。壁垒低 → 新进入者快速扩产(英维克/高澜/同飞/申菱均已布局)。海悟2026送样→2027量产窗口恰好。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734056"/>
            <a:ext cx="54864" cy="59436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734056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 — Staubli垄断，供给不足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2990088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Staubli占72%份额，交期12-16周(延长中)。产能受限+液冷需求爆发 → 供需矛盾尖锐。国产替代(成本低30%+)是必然趋势，但密封/耐久技术需突破(2-3年窗口)。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0" y="5138928"/>
            <a:ext cx="9144000" cy="914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7731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 |  机柜级液冷战略  |  2026-05  |  机密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19" name="Text 1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国产替代时间窗口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594360"/>
            <a:ext cx="54864" cy="594360"/>
          </a:xfrm>
          <a:prstGeom prst="rect">
            <a:avLst/>
          </a:prstGeom>
          <a:solidFill>
            <a:srgbClr val="03045E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59436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 — 已实现国产替代 → P0 2026出量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850392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国内厂商(英维克/高澜/同飞/申菱)已完全替代进口，无技术差距。海悟已有基础→2026送样H3C/浪潮→当年出量¥50M+。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07592"/>
            <a:ext cx="54864" cy="59436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30759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电源冷板 — 蓝海无人 → P0 定义标准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1563624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全球无专业供应商，无替代对象。海悟首发优势：2026研发→2027送样→2028量产。窗口期18-24个月，竞品空白期是最大护城河。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020824"/>
            <a:ext cx="54864" cy="5943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020824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内存冷板 — 差异化切入 → P0 跟随电源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2276856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少数厂商在研(Intel主导内存液冷标准)，赛道初开。海悟可跟随电源冷板同步研发，2027送样。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734056"/>
            <a:ext cx="54864" cy="59436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734056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 — 国产化率&gt;60% → P2 远期储备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2990088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英维克/Vertiv/曙光/高澜等8+厂商充分竞争。同质化严重+价格战 → 海悟不正面参战，但需储备CDU能力(系统级打包)。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3447288"/>
            <a:ext cx="54864" cy="594360"/>
          </a:xfrm>
          <a:prstGeom prst="rect">
            <a:avLst/>
          </a:prstGeom>
          <a:solidFill>
            <a:srgbClr val="03045E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44728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GPU冷板 + 快接头 — 认证壁垒高，2-3年窗口 → P1/P2储备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3703320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GPU冷板：NVIDIA认证需12-18月，CoolIT/AVC锁定。CPU冷板：Intel UQD需24-36月。快接头：Staubli密封/耐久专利保护，国产需突破材料科学。P1并行研发、P2择机进入。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4114800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CAF0F8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16052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时间窗口判断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4370832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黄金窗口(0-2年)：Manifold出量 + 电源冷板定义标准。白银窗口(2-3年)：CPU冷板Intel UQD认证 + 内存冷板。远期(3年+)：GPU冷板NVIDIA认证 + CDU系统打包 + 快接头国产替代。三阶段节奏必须严格把控，先快后深。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0" y="5138928"/>
            <a:ext cx="9144000" cy="914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7731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 |  机柜级液冷战略  |  2026-05  |  机密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25" name="Text 2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产业链结构：一供/二供/代工厂 → 海悟定位空间</a:t>
            </a:r>
            <a:endParaRPr lang="en-US" sz="18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1097280"/>
                <a:gridCol w="1097280"/>
                <a:gridCol w="1097280"/>
                <a:gridCol w="1097280"/>
                <a:gridCol w="1280160"/>
              </a:tblGrid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层级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GPU冷板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CPU冷板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CDU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Manifold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快接头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海悟目标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一供(认证)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CoolIT,AVC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CoolIT,AVC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Vertiv,英维克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英维克,高澜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Staubli(72%)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P2/P1/P2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二供(国产替代)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英维克,高澜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高澜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曙光数创,高澜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申菱,同飞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国产(在研)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P1/P1/P2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代工厂(白牌)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中小厂商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P0(Manifold)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海悟定位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P2(认证后)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P1(Intel UQD)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P2(远期)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P0(重点)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P1(国产替代)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 Manifold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703320"/>
            <a:ext cx="8229600" cy="960120"/>
          </a:xfrm>
          <a:prstGeom prst="roundRect">
            <a:avLst>
              <a:gd name="adj" fmla="val 5714"/>
            </a:avLst>
          </a:prstGeom>
          <a:solidFill>
            <a:srgbClr val="CAF0F8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3749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🔍 海悟最佳卡位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3959352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Manifold(P0出量) → 电源冷板(P0蓝海) → CPU冷板(P1国产替代) → CDU(P2远期系统)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抓住"国产GPU+国产液冷"政策窗口 + "电源冷板空白"技术窗口 + "OEM多供应商"采购窗口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0" y="5138928"/>
            <a:ext cx="9144000" cy="914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47731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 |  机柜级液冷战略  |  2026-05  |  机密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11" name="Text 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304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五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看供应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供应链与产能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3891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 | 2026-05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冷板供应格局：GPU/CPU/电源/内存冷板供应商盘点</a:t>
            </a:r>
            <a:endParaRPr lang="en-US" sz="18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463040"/>
                <a:gridCol w="1463040"/>
                <a:gridCol w="1280160"/>
                <a:gridCol w="1280160"/>
                <a:gridCol w="1371600"/>
              </a:tblGrid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冷板类型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一级供应商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国产供应商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2026E产能(万片)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TDP覆盖(W)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海悟定位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GPU冷板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CoolIT,AVC,nVent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英维克,高澜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200-280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700-1200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P2(认证后)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CPU冷板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CoolIT,AVC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英维克,高澜,申菱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300-500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300-500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P1(Intel UQD)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电源冷板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无(空白)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无(空白)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800V/10kW+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P0(蓝海首发)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内存冷板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nVent,Boyd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极少量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&lt;50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50-100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P0(Gen6差异化)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703320"/>
            <a:ext cx="8229600" cy="960120"/>
          </a:xfrm>
          <a:prstGeom prst="roundRect">
            <a:avLst>
              <a:gd name="adj" fmla="val 5714"/>
            </a:avLst>
          </a:prstGeom>
          <a:solidFill>
            <a:srgbClr val="CAF0F8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3749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 供应格局要点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3959352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GPU冷板：CoolIT+AVC+nVent三强垄断NVIDIA认证，国产替代窗口在非NVIDIA认证领域(昇腾/寒武纪)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CPU冷板：Intel UQD认证门槛高，国内仅英维克/高澜在研，2028H1海悟认证目标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电源冷板：全球供应空白——海悟最大蓝海机会，先发优势6-12月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0" y="5138928"/>
            <a:ext cx="9144000" cy="914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47731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 |  机柜级液冷战略  |  2026-05  |  机密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11" name="Text 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CDU供应格局：功率段/供应商/产能全景</a:t>
            </a:r>
            <a:endParaRPr lang="en-US" sz="18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280160"/>
                <a:gridCol w="1188720"/>
                <a:gridCol w="1188720"/>
                <a:gridCol w="1463040"/>
                <a:gridCol w="1188720"/>
              </a:tblGrid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供应商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功率段覆盖(kW)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冷却方式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2026E产能(台)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主要客户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海悟可及性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Vertiv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300-2000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直膨+冷冻水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15000-20000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NVIDIA,Equinix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低(认证壁垒)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英维克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200-1500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冷冻水+间接蒸发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8000-12000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阿里,字节,腾讯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中(不同功率段)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曙光数创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100-800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冷冻水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3000-5000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三大运营商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中(非竞品重叠)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高澜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50-500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冷冻水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2000-3000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数据中心集成商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高(功率段不重叠)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申菱/同飞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50-300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冷冻水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1000-2000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中小IDC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高(可OEM代工)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840480"/>
            <a:ext cx="8229600" cy="822960"/>
          </a:xfrm>
          <a:prstGeom prst="roundRect">
            <a:avLst>
              <a:gd name="adj" fmla="val 6667"/>
            </a:avLst>
          </a:prstGeom>
          <a:solidFill>
            <a:srgbClr val="CAF0F8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388620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CDU供应洞察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409651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CDU市场供需基本平衡(缺口≈0%)，同质化竞争激烈。Vertiv+英维克双龙头格局，产品同质化严重。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海悟定位P2(远期系统打包)：不与Vertiv/英维克正面竞争，通过Manifold+冷板客户基础，远期以"机柜级系统方案"切入CDU市场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0" y="5138928"/>
            <a:ext cx="9144000" cy="914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47731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 |  机柜级液冷战略  |  2026-05  |  机密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11" name="Text 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Manifold供应格局：中低壁垒 + 快速放量赛道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594360"/>
            <a:ext cx="54864" cy="5943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59436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市场规模：¥1.2-2.5B TAM(2026E)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850392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单柜1-2个Manifold × ASP ¥2000-5000 × 26.5万柜 = ¥5-26B全球TAM。中国市场¥1.2-2.5B，缺口约15%，基本平衡但持续增长。2030E全球¥3-5B。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07592"/>
            <a:ext cx="54864" cy="594360"/>
          </a:xfrm>
          <a:prstGeom prst="rect">
            <a:avLst/>
          </a:prstGeom>
          <a:solidFill>
            <a:srgbClr val="03045E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30759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竞争格局：英维克/高澜领先，国产替代空间大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1563624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英维克(30%)+高澜(25%)双龙头格局，申菱(10%)+同飞(8%)跟进。海外：nVent/Asetek。技术门槛以制造工艺为主，非强认证壁垒。海悟P0重点发力。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020824"/>
            <a:ext cx="54864" cy="59436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020824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海悟竞争优势：流道设计 + 批量制造 + 成本控制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2276856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海悟现有Manifold产线已具备批量制造能力，流道设计专利积累中。目标客户：H3C/浪潮/超聚变等OEM。策略：送样测试(2026H1)→小批量(2026H2)→规模供货(2027)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734056"/>
            <a:ext cx="54864" cy="5943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734056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2026目标：送样OEM + 实现¥50M首年营收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2990088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送样H3C/浪潮/超聚变 → 通过OEM验证 → 接单小批量。配合电源冷板+CPU冷板形成"三件套"组合，增强客户粘性。Manifold是海悟液冷出海"量"的发动机。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solidFill>
            <a:srgbClr val="CAF0F8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5204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 核心结论：Manifold是海悟液冷"基本盘"——低门槛快速出量 + 积累OEM关系 → 为电源冷板/CPU冷板导入铺路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0" y="5138928"/>
            <a:ext cx="9144000" cy="914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7731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 |  机柜级液冷战略  |  2026-05  |  机密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21" name="Text 1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快接头供应格局：Staubli垄断 + 国产替代窗口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594360"/>
            <a:ext cx="54864" cy="5943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59436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市场规模：¥2-4B TAM，20-30%缺口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850392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单柜8-48对快接头 × ASP ¥200-500 × 26.5万柜 = ¥2-4B中国TAM。缺口20-30%，主因Staubli产能有限+交期长。2030E全球¥5-8B。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07592"/>
            <a:ext cx="54864" cy="594360"/>
          </a:xfrm>
          <a:prstGeom prst="rect">
            <a:avLst/>
          </a:prstGeom>
          <a:solidFill>
            <a:srgbClr val="03045E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30759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竞争格局：Staubli 72%份额，国产率&lt;5%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1563624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Staubli(瑞士)在快接头领域绝对垄断，72%市场份额。国产玩家几乎空白（航天科工/振华在研）。国产替代空间巨大但研发周期1-2年。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020824"/>
            <a:ext cx="54864" cy="59436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020824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技术壁垒：水密性+耐久性+低流阻三要素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2276856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核心指标：插拔寿命&gt;10,000次、泄漏率&lt;10^-6 cc/s、流阻&lt;5kPa@10L/min。密封材料选择+精密加工是核心难点。门槛中高，需1-2年研发周期。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971800"/>
            <a:ext cx="8229600" cy="868680"/>
          </a:xfrm>
          <a:prstGeom prst="roundRect">
            <a:avLst>
              <a:gd name="adj" fmla="val 6316"/>
            </a:avLst>
          </a:prstGeom>
          <a:solidFill>
            <a:srgbClr val="CAF0F8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01752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🔑 海悟机会窗口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3227832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快接头是Manifold/冷板的"必配组件"——掌握快接头=增强系统方案能力。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海悟定位P1：2026Q3启动快接头技术储备+配套研发，与Manifold/冷板形成"组件组合拳"，提升OEM客户一站式采购吸引力。目标2028H1实现自有快接头送样。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0" y="5138928"/>
            <a:ext cx="9144000" cy="914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7731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 |  机柜级液冷战略  |  2026-05  |  机密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19" name="Text 1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供应链风险评估：各组件风险等级与海悟应对策略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594360"/>
            <a:ext cx="54864" cy="594360"/>
          </a:xfrm>
          <a:prstGeom prst="rect">
            <a:avLst/>
          </a:prstGeom>
          <a:solidFill>
            <a:srgbClr val="03045E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59436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🔴 GPU冷板 → 高风险：NVIDIA认证垄断 + 产能瓶颈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850392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NVIDIA认证仅3家(CoolIT/AVC/nVent)，认证周期12-18月，国产GPU液冷需求在新增量。海悟策略：P2中远期通过国产GPU(昇腾/寒武纪)绑定冷板，非NVIDIA认证路径先行切入。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07592"/>
            <a:ext cx="54864" cy="59436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30759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🟡 CPU冷板 → 中风险：Intel UQD认证周期长 + 产能不足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1563624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缺口33%，国内仅英维克/高澜在研。认证门槛高但可预期(2028H1)。海悟策略：P1 2026Q2启动Intel UQD认证，同步OCP Cold Plate v3兼容方案，双轨并进。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020824"/>
            <a:ext cx="54864" cy="5943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020824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🟢 Manifold → 低风险：制造壁垒低 + 国产替代顺畅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2276856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缺口15%但持续增长，非产能瓶颈而是需求驱动增量。海悟策略：P0快速送样H3C/浪潮/超聚变，2026H2小批量，积累OEM关系为其他组件导入铺路。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734056"/>
            <a:ext cx="54864" cy="59436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734056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🟢 快接头 → 中低风险：Staubli单点依赖，国产替代刚需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2990088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国产化率&lt;5%，缺口20-30%。海悟策略：P1 2026Q3启动研发+配套(1-2年研发周期)，与Manifold/冷板形成组件组合拳，远期自有快接头量利双收。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3447288"/>
            <a:ext cx="54864" cy="5943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44728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🔵 CDU → 低风险：同质化竞争，海悟可远期进入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3703320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缺口≈0%，产能充裕，Vertiv+英维克双龙头格局。海悟策略：P2远期以"机柜级系统方案"打包方式切入(Manifold+冷板+CDU)，不与龙头正面竞争。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solidFill>
            <a:srgbClr val="CAF0F8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3434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 总体评估：供应链风险可控。最大风险是GPU冷板(NVIDIA认证)但可通过国产GPU绕行；Manifold/快接头是中短期核心出量赛道，电源冷板是0风险蓝海机遇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0" y="5138928"/>
            <a:ext cx="9144000" cy="914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7731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 |  机柜级液冷战略  |  2026-05  |  机密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24" name="Text 2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营收预测双轨：国内基本盘 + 海外增长极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594360"/>
            <a:ext cx="1558138" cy="640080"/>
          </a:xfrm>
          <a:prstGeom prst="roundRect">
            <a:avLst>
              <a:gd name="adj" fmla="val 8571"/>
            </a:avLst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530352" y="621792"/>
            <a:ext cx="141183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2026E总营收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30352" y="822960"/>
            <a:ext cx="141183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¥50M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125066" y="594360"/>
            <a:ext cx="1558138" cy="640080"/>
          </a:xfrm>
          <a:prstGeom prst="roundRect">
            <a:avLst>
              <a:gd name="adj" fmla="val 8571"/>
            </a:avLst>
          </a:prstGeom>
          <a:solidFill>
            <a:srgbClr val="0077B6"/>
          </a:solidFill>
          <a:ln/>
        </p:spPr>
      </p:sp>
      <p:sp>
        <p:nvSpPr>
          <p:cNvPr id="8" name="Text 6"/>
          <p:cNvSpPr/>
          <p:nvPr/>
        </p:nvSpPr>
        <p:spPr>
          <a:xfrm>
            <a:off x="2198218" y="621792"/>
            <a:ext cx="141183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2027E总营收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2198218" y="822960"/>
            <a:ext cx="141183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¥200-300M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792931" y="594360"/>
            <a:ext cx="1558138" cy="640080"/>
          </a:xfrm>
          <a:prstGeom prst="roundRect">
            <a:avLst>
              <a:gd name="adj" fmla="val 8571"/>
            </a:avLst>
          </a:prstGeom>
          <a:solidFill>
            <a:srgbClr val="03045E"/>
          </a:solidFill>
          <a:ln/>
        </p:spPr>
      </p:sp>
      <p:sp>
        <p:nvSpPr>
          <p:cNvPr id="11" name="Text 9"/>
          <p:cNvSpPr/>
          <p:nvPr/>
        </p:nvSpPr>
        <p:spPr>
          <a:xfrm>
            <a:off x="3866083" y="621792"/>
            <a:ext cx="141183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2030E总营收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3866083" y="822960"/>
            <a:ext cx="141183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¥1.5-2.5B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60797" y="594360"/>
            <a:ext cx="1558138" cy="640080"/>
          </a:xfrm>
          <a:prstGeom prst="roundRect">
            <a:avLst>
              <a:gd name="adj" fmla="val 8571"/>
            </a:avLst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5533949" y="621792"/>
            <a:ext cx="141183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海外占比(2030E)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5533949" y="822960"/>
            <a:ext cx="141183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25-40%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128662" y="594360"/>
            <a:ext cx="1558138" cy="640080"/>
          </a:xfrm>
          <a:prstGeom prst="roundRect">
            <a:avLst>
              <a:gd name="adj" fmla="val 8571"/>
            </a:avLst>
          </a:prstGeom>
          <a:solidFill>
            <a:srgbClr val="03045E"/>
          </a:solidFill>
          <a:ln/>
        </p:spPr>
      </p:sp>
      <p:sp>
        <p:nvSpPr>
          <p:cNvPr id="17" name="Text 15"/>
          <p:cNvSpPr/>
          <p:nvPr/>
        </p:nvSpPr>
        <p:spPr>
          <a:xfrm>
            <a:off x="7201814" y="621792"/>
            <a:ext cx="141183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CAGR(4年)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7201814" y="822960"/>
            <a:ext cx="141183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135%+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141732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🇨🇳 国内路线（基本盘）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1737360"/>
            <a:ext cx="45720" cy="320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17373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Manifold先行: H3C/浪潮/超聚变送样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2121408"/>
            <a:ext cx="45720" cy="320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212140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2026H2小批量Manifold → ¥50M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2505456"/>
            <a:ext cx="45720" cy="320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250545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2027: 电源冷板量产 → ¥150-200M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2889504"/>
            <a:ext cx="45720" cy="320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288950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2028: CPU冷板Intel UQD认证后放量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273552"/>
            <a:ext cx="45720" cy="320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327355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2029: 四件套系统方案 → 年营收¥1B+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3657600"/>
            <a:ext cx="45720" cy="320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36576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2030: 国内份额目标8-12%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54880" y="141732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🌍 海外路线（增长极）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754880" y="1737360"/>
            <a:ext cx="45720" cy="320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4" name="Text 32"/>
          <p:cNvSpPr/>
          <p:nvPr/>
        </p:nvSpPr>
        <p:spPr>
          <a:xfrm>
            <a:off x="4937760" y="17373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Manifold出海: 东南亚OEM工厂优先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54880" y="2121408"/>
            <a:ext cx="45720" cy="320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6" name="Text 34"/>
          <p:cNvSpPr/>
          <p:nvPr/>
        </p:nvSpPr>
        <p:spPr>
          <a:xfrm>
            <a:off x="4937760" y="212140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2027H2: 电源冷板海外专利布局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754880" y="2505456"/>
            <a:ext cx="45720" cy="320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8" name="Text 36"/>
          <p:cNvSpPr/>
          <p:nvPr/>
        </p:nvSpPr>
        <p:spPr>
          <a:xfrm>
            <a:off x="4937760" y="250545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2028: Intel UQD认证→全球CPU冷板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54880" y="2889504"/>
            <a:ext cx="45720" cy="320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0" name="Text 38"/>
          <p:cNvSpPr/>
          <p:nvPr/>
        </p:nvSpPr>
        <p:spPr>
          <a:xfrm>
            <a:off x="4937760" y="288950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2029: 进NVIDIA COOLER-SPEC认证体系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754880" y="3273552"/>
            <a:ext cx="45720" cy="320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2" name="Text 40"/>
          <p:cNvSpPr/>
          <p:nvPr/>
        </p:nvSpPr>
        <p:spPr>
          <a:xfrm>
            <a:off x="4937760" y="327355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中东/东南亚: 数据中心基建浪潮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754880" y="3657600"/>
            <a:ext cx="45720" cy="320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4" name="Text 42"/>
          <p:cNvSpPr/>
          <p:nvPr/>
        </p:nvSpPr>
        <p:spPr>
          <a:xfrm>
            <a:off x="4937760" y="36576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2030: 海外营收¥0.5-1.0B(占比25-40%)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solidFill>
            <a:srgbClr val="CAF0F8"/>
          </a:solidFill>
          <a:ln/>
        </p:spPr>
      </p:sp>
      <p:sp>
        <p:nvSpPr>
          <p:cNvPr id="46" name="Text 44"/>
          <p:cNvSpPr/>
          <p:nvPr/>
        </p:nvSpPr>
        <p:spPr>
          <a:xfrm>
            <a:off x="640080" y="39776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 双轨战略：国内用Manifold+电源冷板快速起量建立规模基础 → 海外用CPU冷板+认证借船出海 → 2030年目标成为机柜级液冷"四件套"全球TOP5供应商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0" y="5138928"/>
            <a:ext cx="9144000" cy="914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8" name="Text 46"/>
          <p:cNvSpPr/>
          <p:nvPr/>
        </p:nvSpPr>
        <p:spPr>
          <a:xfrm>
            <a:off x="457200" y="47731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 |  机柜级液冷战略  |  2026-05  |  机密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50" name="Text 4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304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三定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定目标 · 定策略 · 定节奏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3891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 | 2026-05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定目标：2026→2030三年战略目标体系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594360"/>
            <a:ext cx="1558138" cy="640080"/>
          </a:xfrm>
          <a:prstGeom prst="roundRect">
            <a:avLst>
              <a:gd name="adj" fmla="val 8571"/>
            </a:avLst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530352" y="621792"/>
            <a:ext cx="141183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破冰期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30352" y="822960"/>
            <a:ext cx="141183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¥50M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125066" y="594360"/>
            <a:ext cx="1558138" cy="640080"/>
          </a:xfrm>
          <a:prstGeom prst="roundRect">
            <a:avLst>
              <a:gd name="adj" fmla="val 8571"/>
            </a:avLst>
          </a:prstGeom>
          <a:solidFill>
            <a:srgbClr val="0077B6"/>
          </a:solidFill>
          <a:ln/>
        </p:spPr>
      </p:sp>
      <p:sp>
        <p:nvSpPr>
          <p:cNvPr id="8" name="Text 6"/>
          <p:cNvSpPr/>
          <p:nvPr/>
        </p:nvSpPr>
        <p:spPr>
          <a:xfrm>
            <a:off x="2198218" y="621792"/>
            <a:ext cx="141183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2027 爆量期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2198218" y="822960"/>
            <a:ext cx="141183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¥300M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792931" y="594360"/>
            <a:ext cx="1558138" cy="640080"/>
          </a:xfrm>
          <a:prstGeom prst="roundRect">
            <a:avLst>
              <a:gd name="adj" fmla="val 8571"/>
            </a:avLst>
          </a:prstGeom>
          <a:solidFill>
            <a:srgbClr val="0077B6"/>
          </a:solidFill>
          <a:ln/>
        </p:spPr>
      </p:sp>
      <p:sp>
        <p:nvSpPr>
          <p:cNvPr id="11" name="Text 9"/>
          <p:cNvSpPr/>
          <p:nvPr/>
        </p:nvSpPr>
        <p:spPr>
          <a:xfrm>
            <a:off x="3866083" y="621792"/>
            <a:ext cx="141183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2028 放量期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3866083" y="822960"/>
            <a:ext cx="141183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¥400M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60797" y="594360"/>
            <a:ext cx="1558138" cy="640080"/>
          </a:xfrm>
          <a:prstGeom prst="roundRect">
            <a:avLst>
              <a:gd name="adj" fmla="val 8571"/>
            </a:avLst>
          </a:prstGeom>
          <a:solidFill>
            <a:srgbClr val="03045E"/>
          </a:solidFill>
          <a:ln/>
        </p:spPr>
      </p:sp>
      <p:sp>
        <p:nvSpPr>
          <p:cNvPr id="14" name="Text 12"/>
          <p:cNvSpPr/>
          <p:nvPr/>
        </p:nvSpPr>
        <p:spPr>
          <a:xfrm>
            <a:off x="5533949" y="621792"/>
            <a:ext cx="141183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2030 百亿期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5533949" y="822960"/>
            <a:ext cx="141183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¥1,000M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128662" y="594360"/>
            <a:ext cx="1558138" cy="640080"/>
          </a:xfrm>
          <a:prstGeom prst="roundRect">
            <a:avLst>
              <a:gd name="adj" fmla="val 8571"/>
            </a:avLst>
          </a:prstGeom>
          <a:solidFill>
            <a:srgbClr val="03045E"/>
          </a:solidFill>
          <a:ln/>
        </p:spPr>
      </p:sp>
      <p:sp>
        <p:nvSpPr>
          <p:cNvPr id="17" name="Text 15"/>
          <p:cNvSpPr/>
          <p:nvPr/>
        </p:nvSpPr>
        <p:spPr>
          <a:xfrm>
            <a:off x="7201814" y="621792"/>
            <a:ext cx="141183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CAGR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7201814" y="822960"/>
            <a:ext cx="141183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~112%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1325880"/>
            <a:ext cx="54864" cy="5943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132588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短期目标（2026）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1581912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Manifold三客户送样（H3C+浪潮+宁畅）→ 小批量→ 建立供应商代码。启动电源冷板研发立项 + Intel UQD认证。年度营收目标 ¥50M（纯Manifold）。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2039112"/>
            <a:ext cx="54864" cy="59436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203911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中期目标（2027-2028）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1520" y="2295144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2027：Manifold批量（¥100M）+ 电源冷板爆量（¥150M）+ 内存冷板差异化（¥50M）→ 合计 ¥300M。2028：CPU冷板认证后加入（¥80M）+ 快接头配套（¥40M）→ ¥400M。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2752344"/>
            <a:ext cx="54864" cy="594360"/>
          </a:xfrm>
          <a:prstGeom prst="rect">
            <a:avLst/>
          </a:prstGeom>
          <a:solidFill>
            <a:srgbClr val="03045E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2752344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长期目标（2030）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31520" y="3008376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全栈液冷组件供应商：Manifold（¥150M）+ 电源冷板（¥250M）+ 内存冷板（¥100M）+ CPU冷板（¥250M）+ 快接头（¥100M）+ CDU（¥150M）→ ¥1.0B。定位国内第二、全球可选的机柜级液冷组件供应商。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465576"/>
            <a:ext cx="54864" cy="5943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3465576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核心策略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31520" y="3721608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定目标 = 定方向。¥50M → ¥1.0B（5年20倍）。以Manifold为破冰船，冷板为核心增长极，CDU为远期全栈收官。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0" y="5138928"/>
            <a:ext cx="9144000" cy="914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47731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 |  机柜级液冷战略  |  2026-05  |  机密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34" name="Text 3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定策略 · CDU：IDC运营方自主决策 → 海悟远期增长极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594360"/>
            <a:ext cx="54864" cy="5943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59436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市场空间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850392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TAM ¥80-120亿（2026E）→ ¥300-500亿（2030E），CAGR ~35%。ASP ¥20-30万/台（100-150kW），单柜1-2台，与机柜数1:1线性增长。当前Vertiv/曙光/英维克为主，国产替代 + 运营商集采驱动格局重塑。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07592"/>
            <a:ext cx="54864" cy="59436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30759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采购特征与竞争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1563624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IDC运营方自主决策（非GPU绑定），投标参数：变频效率 &gt; 冗余设计 &gt; 售后服务 &gt; 价格。运营商/信创项目推国产化需求。竞争壁垒较低（系统集成为主），差异化空间在整体可靠性和运维成本。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020824"/>
            <a:ext cx="54864" cy="594360"/>
          </a:xfrm>
          <a:prstGeom prst="rect">
            <a:avLst/>
          </a:prstGeom>
          <a:solidFill>
            <a:srgbClr val="03045E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020824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海悟优势匹配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2276856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中心温控基因是核心壁垒——泵、换热器、控制三大核心元器件均有自研/集成经验。运营商（移动/联通/电信）和IDC（秦淮/数据港/万国）客户基础可直接复用。需补：变频控制算法、液-液换热器设计、系统级集成测试。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8229600" cy="1463040"/>
          </a:xfrm>
          <a:prstGeom prst="roundRect">
            <a:avLst>
              <a:gd name="adj" fmla="val 3750"/>
            </a:avLst>
          </a:prstGeom>
          <a:solidFill>
            <a:srgbClr val="CAF0F8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0632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CDU策略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3273552"/>
            <a:ext cx="80467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P2远期（2028后）启动：① Manifold/冷板建立客户关系和供应资质后 → CDU打包销售（全栈便利性）  ② 秦淮/数据港/万国招标参与 → 先送样积累用例  ③ 差异化定位：冷板+Manifold+CDU全栈一体 = 客户一次采购全搞定  ④ 定价低于Vertiv 20-30% → 性价比竞争  ⑤ 不做正面价格战 → 以全栈组件为差异化护城河。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0" y="5138928"/>
            <a:ext cx="9144000" cy="914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7731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 |  机柜级液冷战略  |  2026-05  |  机密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19" name="Text 1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定策略 · Manifold &amp; 快接头：双线卡位，快速上量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Manifold：P0 快速上量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45720" cy="320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9144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TAM ¥30-50亿(2026E) → ¥250亿(2030E)，CAGR ~60%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298448"/>
            <a:ext cx="45720" cy="320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29844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单柜ASP ¥0.4-1.2万，数量8-16个/柜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682496"/>
            <a:ext cx="45720" cy="320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68249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竞争：英维克/高澜/同飞/申菱 10+厂商，壁垒低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066544"/>
            <a:ext cx="45720" cy="320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06654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海悟已有制造基础 → 技术门槛低 → 快速量产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450592"/>
            <a:ext cx="45720" cy="320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45059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2026目标 ¥50M：H3C ¥25M + 浪潮 ¥15M + 宁畅 ¥10M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834640"/>
            <a:ext cx="45720" cy="320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8346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差异化：可靠性+服务+协同冷板销售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54880" y="5943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快接头：P1 国产替代窗口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914400"/>
            <a:ext cx="45720" cy="320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9144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TAM ¥200-400亿(2030E)，Staubli占70%+（瑞士制造）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54880" y="1298448"/>
            <a:ext cx="45720" cy="320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129844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2026-27：Staubli产能瓶颈 → 国产替代窗口打开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54880" y="1682496"/>
            <a:ext cx="45720" cy="320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3" name="Text 21"/>
          <p:cNvSpPr/>
          <p:nvPr/>
        </p:nvSpPr>
        <p:spPr>
          <a:xfrm>
            <a:off x="4937760" y="168249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2028E：国产快接头通过OCP认证 → 进入主流供应链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54880" y="2066544"/>
            <a:ext cx="45720" cy="320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5" name="Text 23"/>
          <p:cNvSpPr/>
          <p:nvPr/>
        </p:nvSpPr>
        <p:spPr>
          <a:xfrm>
            <a:off x="4937760" y="206654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核心竞争要素：寿命&gt;1000次插拔 / 压降&lt;5kPa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54880" y="2450592"/>
            <a:ext cx="45720" cy="320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245059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海悟策略：搭售（Manifold+快接头一站式）非主攻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54880" y="2834640"/>
            <a:ext cx="45720" cy="320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9" name="Text 27"/>
          <p:cNvSpPr/>
          <p:nvPr/>
        </p:nvSpPr>
        <p:spPr>
          <a:xfrm>
            <a:off x="4937760" y="28346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触发信号：Staubli涨价或交期&gt;12周 = 替代加速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3383280"/>
            <a:ext cx="8229600" cy="1097280"/>
          </a:xfrm>
          <a:prstGeom prst="roundRect">
            <a:avLst>
              <a:gd name="adj" fmla="val 5000"/>
            </a:avLst>
          </a:prstGeom>
          <a:solidFill>
            <a:srgbClr val="CAF0F8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342900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双线协同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8640" y="3639312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Manifold（低壁垒出量建关系）→ 快接头（搭售配套提粘性）→ 冷板（差异化扩品类）→ CDU（全栈升单价）。Manifold就是海悟的"敲门砖"——低成本获客，然后交叉销售冷板、快接头，实现单客户价值最大化。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0" y="5138928"/>
            <a:ext cx="9144000" cy="914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47731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 |  机柜级液冷战略  |  2026-05  |  机密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36" name="Text 3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海悟液冷营收预测：2026→2030 组件级拆解</a:t>
            </a:r>
            <a:endParaRPr lang="en-US" sz="1800" dirty="0"/>
          </a:p>
        </p:txBody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960120"/>
                <a:gridCol w="960120"/>
                <a:gridCol w="960120"/>
                <a:gridCol w="960120"/>
                <a:gridCol w="960120"/>
                <a:gridCol w="960120"/>
                <a:gridCol w="960120"/>
              </a:tblGrid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年份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Manifold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电源冷板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内存冷板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CPU冷板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快接头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CDU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合计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¥50M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¥50M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2027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¥100M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¥150M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¥50M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¥300M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2028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¥100M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¥120M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¥60M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¥80M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¥40M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¥400M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2030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¥150M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¥250M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¥100M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¥250M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¥100M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¥150M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¥1,000M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2880360"/>
            <a:ext cx="1558138" cy="640080"/>
          </a:xfrm>
          <a:prstGeom prst="roundRect">
            <a:avLst>
              <a:gd name="adj" fmla="val 8571"/>
            </a:avLst>
          </a:prstGeom>
          <a:solidFill>
            <a:srgbClr val="03045E"/>
          </a:solidFill>
          <a:ln/>
        </p:spPr>
      </p:sp>
      <p:sp>
        <p:nvSpPr>
          <p:cNvPr id="6" name="Text 3"/>
          <p:cNvSpPr/>
          <p:nvPr/>
        </p:nvSpPr>
        <p:spPr>
          <a:xfrm>
            <a:off x="530352" y="2907792"/>
            <a:ext cx="141183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2026-2030 CAGR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530352" y="3108960"/>
            <a:ext cx="141183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~112%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125066" y="2880360"/>
            <a:ext cx="1558138" cy="640080"/>
          </a:xfrm>
          <a:prstGeom prst="roundRect">
            <a:avLst>
              <a:gd name="adj" fmla="val 8571"/>
            </a:avLst>
          </a:prstGeom>
          <a:solidFill>
            <a:srgbClr val="00B4D8"/>
          </a:solidFill>
          <a:ln/>
        </p:spPr>
      </p:sp>
      <p:sp>
        <p:nvSpPr>
          <p:cNvPr id="9" name="Text 6"/>
          <p:cNvSpPr/>
          <p:nvPr/>
        </p:nvSpPr>
        <p:spPr>
          <a:xfrm>
            <a:off x="2198218" y="2907792"/>
            <a:ext cx="141183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 增长率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2198218" y="3108960"/>
            <a:ext cx="141183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3.0×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792931" y="2880360"/>
            <a:ext cx="1558138" cy="640080"/>
          </a:xfrm>
          <a:prstGeom prst="roundRect">
            <a:avLst>
              <a:gd name="adj" fmla="val 8571"/>
            </a:avLst>
          </a:prstGeom>
          <a:solidFill>
            <a:srgbClr val="0077B6"/>
          </a:solidFill>
          <a:ln/>
        </p:spPr>
      </p:sp>
      <p:sp>
        <p:nvSpPr>
          <p:cNvPr id="12" name="Text 9"/>
          <p:cNvSpPr/>
          <p:nvPr/>
        </p:nvSpPr>
        <p:spPr>
          <a:xfrm>
            <a:off x="3866083" y="2907792"/>
            <a:ext cx="141183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冷板合计占比(2030)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3866083" y="3108960"/>
            <a:ext cx="141183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60797" y="2880360"/>
            <a:ext cx="1558138" cy="640080"/>
          </a:xfrm>
          <a:prstGeom prst="roundRect">
            <a:avLst>
              <a:gd name="adj" fmla="val 8571"/>
            </a:avLst>
          </a:prstGeom>
          <a:solidFill>
            <a:srgbClr val="0077B6"/>
          </a:solidFill>
          <a:ln/>
        </p:spPr>
      </p:sp>
      <p:sp>
        <p:nvSpPr>
          <p:cNvPr id="15" name="Text 12"/>
          <p:cNvSpPr/>
          <p:nvPr/>
        </p:nvSpPr>
        <p:spPr>
          <a:xfrm>
            <a:off x="5533949" y="2907792"/>
            <a:ext cx="141183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 远期占比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5533949" y="3108960"/>
            <a:ext cx="141183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7128662" y="2880360"/>
            <a:ext cx="1558138" cy="640080"/>
          </a:xfrm>
          <a:prstGeom prst="roundRect">
            <a:avLst>
              <a:gd name="adj" fmla="val 8571"/>
            </a:avLst>
          </a:prstGeom>
          <a:solidFill>
            <a:srgbClr val="03045E"/>
          </a:solidFill>
          <a:ln/>
        </p:spPr>
      </p:sp>
      <p:sp>
        <p:nvSpPr>
          <p:cNvPr id="18" name="Text 15"/>
          <p:cNvSpPr/>
          <p:nvPr/>
        </p:nvSpPr>
        <p:spPr>
          <a:xfrm>
            <a:off x="7201814" y="2907792"/>
            <a:ext cx="141183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2030 总营收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7201814" y="3108960"/>
            <a:ext cx="141183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¥1.0B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营收公式：Σ (组件SAM × 份额 × 产能利用率 × 客户导入率 × 价格折扣) | 客户结构：H3C(50→20%)+浪潮(30→20%)+宁畅(20→10%)+秦淮/IDC(0→20%)+海外ODM(0→15%)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核心驱动：2026 Manifold破冰 → 2027冷板差异化爆量 → 2028认证后多品类放量 → 2030全栈布局完成，营收5年20倍。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0" y="5138928"/>
            <a:ext cx="9144000" cy="914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3" name="Text 20"/>
          <p:cNvSpPr/>
          <p:nvPr/>
        </p:nvSpPr>
        <p:spPr>
          <a:xfrm>
            <a:off x="457200" y="47731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 |  机柜级液冷战略  |  2026-05  |  机密</a:t>
            </a:r>
            <a:endParaRPr lang="en-US" sz="700" dirty="0"/>
          </a:p>
        </p:txBody>
      </p:sp>
      <p:sp>
        <p:nvSpPr>
          <p:cNvPr id="24" name="Shape 21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25" name="Text 2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定节奏 · 三年路线图：破冰→爆量→放量→全栈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594360"/>
            <a:ext cx="54864" cy="5943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59436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2026：破冰之年 —— Manifold送样 + 研发启动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850392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Q1：H3C/浪潮/宁畅 Manifold送样（3家同时）；Q2：Intel UQD认证启动；Q3：电源冷板研发立项 + 自建热性能测试台；Q4：内存冷板技术评估启动。年度营收 ¥50M（100% Manifold）。关键KPI：送样通过率 &gt; 80%，交期达标率 &gt; 95%。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07592"/>
            <a:ext cx="54864" cy="59436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30759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2027：爆量之年 —— 电源冷板蓝海 + Manifold放量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1563624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H1：Manifold小批量（月产1000套，¥100M）+ 内存冷板样机测试；H2：电源冷板3家OEM送样通过（¥150M）+ 快接头合作伙伴引入。年度营收 ¥300M（Manifold 33% + 冷板 67%），客户从3家扩至5-6家，含华勤/富士康等ODM渠道。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020824"/>
            <a:ext cx="54864" cy="594360"/>
          </a:xfrm>
          <a:prstGeom prst="rect">
            <a:avLst/>
          </a:prstGeom>
          <a:solidFill>
            <a:srgbClr val="03045E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020824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2028：放量之年 —— 认证通过 + 全品类矩阵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2276856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H1：Intel UQD认证通过（18个月周期）+ 取得Intel认证证书；H2：CPU冷板批量（¥80M）+ 快接头上线（¥40M）+ 内存冷板放量（¥60M）。年度营收 ¥400M，产品线从2个扩至5个，客户结构向IDC运营方（秦淮/数据港）和海外ODM延伸。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8229600" cy="1371600"/>
          </a:xfrm>
          <a:prstGeom prst="roundRect">
            <a:avLst>
              <a:gd name="adj" fmla="val 4000"/>
            </a:avLst>
          </a:prstGeom>
          <a:solidFill>
            <a:srgbClr val="CAF0F8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0632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节奏逻辑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3273552"/>
            <a:ext cx="8046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一点突破 → 多点开花：Manifold送样 = 建立客户关系 → 冷板差异化交叉销售 → CPU冷板认证后借资格放量 → CDU远期全栈升级。每一步都是前一步的自然延伸，节奏递进而非跳跃。2026核心是"活下去"（¥50M验证商业模式），2027"长起来"（¥300M验证差异化），2028"强起来"（¥400M验证全品类能力）。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0" y="5138928"/>
            <a:ext cx="9144000" cy="914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7731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 |  机柜级液冷战略  |  2026-05  |  机密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19" name="Text 1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1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附录：主流 AI GPU 液冷需求对比</a:t>
            </a:r>
            <a:endParaRPr lang="en-US" sz="1800" dirty="0"/>
          </a:p>
        </p:txBody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1463040"/>
                <a:gridCol w="777240"/>
                <a:gridCol w="594360"/>
                <a:gridCol w="1005840"/>
                <a:gridCol w="1143000"/>
                <a:gridCol w="1005840"/>
              </a:tblGrid>
              <a:tr h="34497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GPU厂商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芯片型号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工艺节点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TDP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显存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互联技术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液冷要求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</a:tr>
              <a:tr h="34497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NVIDIA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H100 (Hopper)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4nm 台积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700W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80GB HBM3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NVLink 4.0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冷板推荐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497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NVIDIA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H200 (Hopper)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4nm 台积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700W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141GB HBM3e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NVLink 4.0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冷板推荐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497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NVIDIA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B200 (Blackwell)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4nm 台积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1200W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192GB HBM3e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NVLink 5.0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冷板必需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497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NVIDIA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GB300 (Grace-BW)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3nm 台积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1400W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288GB HBM3e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NVLink-C2C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冷板+液液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497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AMD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MI300X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5nm 台积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750W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192GB HBM3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Infinity Fabric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冷板推荐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497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AMD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MI355X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3nm 台积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1000W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288GB HBM3e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Infinity Fabric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冷板必需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497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Intel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Gaudi 3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5nm 台积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600W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128GB HBM2e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24×200GbE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风冷可行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497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昇腾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Ascend 910B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7nm SMIC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310W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64GB HBM2e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HCCS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风冷可行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497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昆仑芯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R300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7nm 台积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150W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32GB GDDR6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PCIe 4.0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风冷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497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寒武纪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MLU590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7nm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250W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48GB HBM2e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MLU-Link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风冷可行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趋势：GPU TDP从300W→1400W每代翻倍，2026年后&gt;1000W GPU仅冷板/浸没可解。国产GPU目前TDP较低，但跟随NVIDIA路线 → 冷板需求确定性增长。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0" y="5138928"/>
            <a:ext cx="9144000" cy="914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47731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 |  机柜级液冷战略  |  2026-05  |  机密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9" name="Text 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1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分析框架：五看三定方法论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594360"/>
            <a:ext cx="54864" cy="5943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59436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一看 · 看宏观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850392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AI算力军备竞赛驱动数据中心电力密度 → 单机柜功率从10kW→40kW→100kW → 风冷天花板（~30kW）被突破 → 液冷不可逆。政策端：东数西算PUE&lt;1.2 + 运营商2030液冷全覆盖 → 确定性需求。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07592"/>
            <a:ext cx="54864" cy="59436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30759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二看 · 看行业/客户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1563624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OTT（字节/阿里/腾讯）万亿Capex → 50万+液冷机柜→ ¥3.9B组件TAM。GPU OEM（NVIDIA/AMD/Intel）参考设计认证驱动冷板需求。IDC运营方自主采购CDU，中国移动/电信/联通集采窗口。渠道三层：GPU OEM认证 → IDC招标 → ODM供应。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020824"/>
            <a:ext cx="54864" cy="594360"/>
          </a:xfrm>
          <a:prstGeom prst="rect">
            <a:avLst/>
          </a:prstGeom>
          <a:solidFill>
            <a:srgbClr val="03045E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020824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三看 · 看竞争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2276856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CoolIT/英维克已锁定NVIDIA认证壁垒 → 海悟避开正面竞争。电源冷板100%空白（蓝海）→ 先发独家定价权。Manifold壁垒低但可快速出量 → 以量换客户关系。快接头国产替代窗口（Staubli产能瓶颈）→ P1储备。CDU成熟市场远期进入。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734056"/>
            <a:ext cx="54864" cy="5943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734056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四看 · 看自身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2990088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海悟基因：数据中心温控20年 → 泵/换热器/控制元器件经验 → 自然延伸至液冷。运营商/IDC客户基础可直接复用。需补：热设计仿真（电源冷板）、变频控制（CDU）、密封/流体（快接头）、认证体系（Intel UQD/NVIDIA/OCP）。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3447288"/>
            <a:ext cx="54864" cy="59436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44728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五看 · 看机会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3703320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可选战场 × 壁垒 × 空白率 × 差异化空间 → P0：电源冷板（空白100%/唯一性）+ Manifold（低壁垒/出量）+ 内存冷板（差异化）；P1：CPU冷板（认证后33%缺口）+ 快接头（国产替代95%空白）；P2：CDU（远期0%缺口）+ GPU冷板（NVIDIA极高壁垒）。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solidFill>
            <a:srgbClr val="CAF0F8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3891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三定落地：定目标（¥50M→¥1.0B / 5年20倍 / CAGR 112%）→ 定策略（专业热管理零件商 / Manifold破冰→冷板爆量→CDU全栈）→ 定节奏（2026破冰→2027爆量→2028放量→2030全栈）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0" y="5138928"/>
            <a:ext cx="9144000" cy="914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7731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 |  机柜级液冷战略  |  2026-05  |  机密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24" name="Text 2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304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28016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0" y="3108960"/>
            <a:ext cx="27432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2918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· 机柜级液冷战略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502920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43891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 | 2026-05 | 机密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51</Slides>
  <Notes>51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</vt:vector>
  </TitlesOfParts>
  <Company>海悟科技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海悟科技 机柜级液冷战略 五看三定 v9</dc:title>
  <dc:subject>PptxGenJS Presentation</dc:subject>
  <dc:creator>海悟科技 × AI战略分析</dc:creator>
  <cp:lastModifiedBy>海悟科技 × AI战略分析</cp:lastModifiedBy>
  <cp:revision>1</cp:revision>
  <dcterms:created xsi:type="dcterms:W3CDTF">2026-05-09T13:03:22Z</dcterms:created>
  <dcterms:modified xsi:type="dcterms:W3CDTF">2026-05-09T13:03:22Z</dcterms:modified>
</cp:coreProperties>
</file>