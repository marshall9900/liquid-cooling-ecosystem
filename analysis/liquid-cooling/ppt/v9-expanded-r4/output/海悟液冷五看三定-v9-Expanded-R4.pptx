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AIDC机柜（万架·推算）</c:v>
                </c:pt>
              </c:strCache>
            </c:strRef>
          </c:tx>
          <c:spPr>
            <a:solidFill>
              <a:srgbClr val="F79646"/>
            </a:solidFill>
            <a:ln w="25400" cap="flat">
              <a:solidFill>
                <a:srgbClr val="F796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497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79646"/>
              </a:solidFill>
              <a:ln w="9525" cap="flat">
                <a:solidFill>
                  <a:srgbClr val="F796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2024A</c:v>
                  </c:pt>
                  <c:pt idx="1">
                    <c:v>2025E</c:v>
                  </c:pt>
                  <c:pt idx="2">
                    <c:v>2026E</c:v>
                  </c:pt>
                  <c:pt idx="3">
                    <c:v>2028E</c:v>
                  </c:pt>
                  <c:pt idx="4">
                    <c:v>2030E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26</c:v>
                </c:pt>
                <c:pt idx="2">
                  <c:v>90</c:v>
                </c:pt>
                <c:pt idx="3">
                  <c:v>170</c:v>
                </c:pt>
                <c:pt idx="4">
                  <c:v>310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液冷机柜（万架）</c:v>
                </c:pt>
              </c:strCache>
            </c:strRef>
          </c:tx>
          <c:spPr>
            <a:solidFill>
              <a:srgbClr val="1F497D"/>
            </a:solidFill>
            <a:ln w="25400" cap="flat">
              <a:solidFill>
                <a:srgbClr val="1F497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497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97D"/>
              </a:solidFill>
              <a:ln w="9525" cap="flat">
                <a:solidFill>
                  <a:srgbClr val="1F497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2024A</c:v>
                  </c:pt>
                  <c:pt idx="1">
                    <c:v>2025E</c:v>
                  </c:pt>
                  <c:pt idx="2">
                    <c:v>2026E</c:v>
                  </c:pt>
                  <c:pt idx="3">
                    <c:v>2028E</c:v>
                  </c:pt>
                  <c:pt idx="4">
                    <c:v>2030E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</c:v>
                </c:pt>
                <c:pt idx="1">
                  <c:v>10</c:v>
                </c:pt>
                <c:pt idx="2">
                  <c:v>53</c:v>
                </c:pt>
                <c:pt idx="3">
                  <c:v>120</c:v>
                </c:pt>
                <c:pt idx="4">
                  <c:v>250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F497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F81B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F81B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F497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idc/2026-05-09-idc-datacenter-insight.md 六大集群汇总 → 液冷机柜53万（2026E）; s039 CSP运营商AIDC机柜~10万架（占AIDC~11%）锚定下限; 推算:AIDC机柜=智算负载÷单柜功率(50kW→80kW) 液冷机柜=AIDC×渗透率 | 📐口径三重锁定：全量(~1400万) ⊃ AIDC(~90万) ⊃ 液冷(~53万) | 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全球九大CSP $8,300亿(2026E) 同比+79%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华为全联接大会2025(已核实) | 华金证券 昇腾950研报(2026-04-12) | 证券时报2025-09-18 | HiBL/HiZQ=自研HBM双轨 | 灵衢(UnifiedBus)=超节点互联协议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华为全联接大会2025(已核实) | 华金证券昇腾950研报(2026-04-12) | 证券时报2025-09-18 | 昇腾2026出货目标120万(产能仅75万,缺口45万) | DeepSeek V4适配950PR→大厂抢购潮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sources/reports/supernode/H3_AP202604081821055447_1.pdf 中银国际→国产排序; s005 AIDC液冷机柜10→52万架(锚定运营商); TAM=单柜数×ASP×机柜数。2030:120片×¥300×52万柜≈¥18.7B【估算】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54864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548640"/>
            <a:ext cx="2926080" cy="31089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0" y="640080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621792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智算中心负载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6126480" y="7863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GW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1115568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1097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液冷渗透率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6126480" y="126187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591056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57276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单柜功率峰值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6126480" y="17373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kW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43600" y="2066544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6126480" y="2048256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126480" y="22128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≤1.15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0" y="2542032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52374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AIDC机柜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126480" y="268833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310万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017520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4" name="Text 21"/>
          <p:cNvSpPr/>
          <p:nvPr/>
        </p:nvSpPr>
        <p:spPr>
          <a:xfrm>
            <a:off x="6126480" y="2999232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6126480" y="316382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250万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8" name="Text 2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📐口径：液冷机柜2026E=~53万架，基于IDC洞察六大集群自下而上加总(京津冀16-20+长三角10-12+珠三角8-10+西南8-10+西北5-8+东北3-5)。取代原公式推算(20万)。可靠性：信通院+IDC圈+券商交叉验证。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1" name="Text 2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液冷机柜从~7万(2024A)→~52万(2030E)。口径=智算AIDC内液冷，与运营商~10万架锚定一致。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(国信证券2026-04-14)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华为昇腾-芯片规格与演进(→2028) 一年一代翻倍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85800"/>
                <a:gridCol w="548640"/>
                <a:gridCol w="548640"/>
                <a:gridCol w="548640"/>
                <a:gridCol w="868680"/>
                <a:gridCol w="731520"/>
                <a:gridCol w="685800"/>
                <a:gridCol w="777240"/>
                <a:gridCol w="68580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FP16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~500-600W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通用训推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 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~800-1000W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HiBL1.0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 灵渠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~1000-1200W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144GB HiZQ2.0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 灵渠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~1500W+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288GB+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Must冷板微通道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千亿参数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~2000W+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288GB+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MLCP微通道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MoE/AGI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昇腾一年一代算力翻倍 | 自研HBM打破三星/SK垄断 | 灵衢2.0开放生态8192卡全互联 | DeepSeek V4适配950PR→大厂抢购潮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950 SuperPoD整柜液冷(出厂标配)→华为指定冷板→海悟机会:Manifold/CDU(非GPU绑定)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浪潮(25%)/宁畅(10%)→910B/910C/950PR出货→冷板华为指定度较低→Manifold/CDU外购→海悟直接机会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液冷趋势(全代际)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910B:风冷可选(400W)→910C:冷板(600W)→950PR:Must冷板(800-1000W)→950DT:Must冷板(1000-1200W)→960:微通道(1500W+)→970:MLCP(2000W+)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昇腾体系=半封闭(华为指定冷板)→海悟不做冷板正面竞争→Manifold/CDU突破→灵衢2.0开放生态=新入口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P0:Manifold(通过浪潮/宁畅/H3C)→P1:CDU(2027+)→P2:冷板(认证后)→目标:2026年Manifold送样测试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⚠️口径：AIDC机柜=智算中心专用机柜，非全量DC。四家CSP合计~10万架≈P5 AIDC~26万架的38%，其余为OTT自建+区域智算中心。CSP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¥0.5B→¥19B 蓝海(锚定52万柜)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2026 ¥1.5B→2030 ¥12-20B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10K-15K→300K-600K套(锚定5→52万柜)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(5篇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华源→国产超节点液冷 | 东吴→曙光海光HSL | 国信→$535B全球液冷 | 华金→昇腾路线图(→2028)+灵衢 | 中银国际→国产AI芯片41%份额 IDC排名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2026-05-12T08:22:32Z</dcterms:created>
  <dcterms:modified xsi:type="dcterms:W3CDTF">2026-05-12T08:22:32Z</dcterms:modified>
</cp:coreProperties>
</file>