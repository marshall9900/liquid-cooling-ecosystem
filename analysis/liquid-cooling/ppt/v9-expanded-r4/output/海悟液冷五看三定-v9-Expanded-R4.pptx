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notesMasterIdLst>
    <p:notesMasterId r:id="rId10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notesMaster" Target="notesMasters/notesMaster1.xml"/><Relationship Id="rId106" Type="http://schemas.openxmlformats.org/officeDocument/2006/relationships/presProps" Target="presProps.xml"/><Relationship Id="rId107" Type="http://schemas.openxmlformats.org/officeDocument/2006/relationships/viewProps" Target="viewProps.xml"/><Relationship Id="rId108" Type="http://schemas.openxmlformats.org/officeDocument/2006/relationships/theme" Target="theme/theme1.xml"/><Relationship Id="rId10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364源文件: 研报160篇 + SEC 13家 + RSS 182篇 + 微信9篇; sources/wechat/2026-05-07-ott-csp-gpu-capex-830b-usd.md, sources/wechat/2026-05-07-ott-csp-gpu-capex-830b-usd.md; sources/wechat/2026-05-07-ott-csp-gpu-capex-830b-usd.md, sources/wechat/2026-05-06-global-liquid-cooling-market-173b-usd.md; sources/wechat/2026-05-07-ott-csp-gpu-capex-830b-usd.md, sources/wechat/2026-05-06-super-node-insight.md; sources/wechat/2026-05-07-ott-csp-gpu-capex-830b-usd.md, sources/wechat/2026-05-07-gb300-liquid-cooling-domestic-breakthrough.md; 中国信通院 智算中心液冷产业全景研究报告(2025年) 等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海悟科技 战略洞察部 | 铁律⑩⑪ | Kimi ✅ MiniMax ✅ | 364源文件: 研报160篇+SEC 13家+RSS 182篇+微信9篇 | 2026-05-09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华为五看三定方法论(华为大学); 铁律体系完整清单; Kimi ✅ MiniMax ✅; 源索引: source_index.json (364源文件 自动生成于2026-05-09)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→ NVIDIA GPU路线图 H100→Rubin; NVIDIA官网 → GPU规格; sources/sec/oem/VRT/submissions_2026-05-09.json, sources/sec/gpu/NVDA/submissions_2026-05-09.json, sources/sec/gpu/NVDA/submissions_2026-05-09.json → SEC 10-K核实GPU出货; 推算:风冷极限≈600W(风量×温差×比热) Rubin 1500W+=2.5倍风冷极限→液冷唯一解 【估算】基于公开数据推算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中国信通院 数据中心发展报告(2026) → AIDC规模; 中国信通院 智算中心液冷产业全景研究报告(2025年) → 液冷产业数据; sources/rss/2026-05-09/TrendForce液冷市场报告 → 液冷预测; sources/wechat/2026-05-07-ott-csp-gpu-capex-830b-usd.md, sources/wechat/2026-05-06-global-liquid-cooling-market-173b-usd.md → MarketsandMarkets全球芯片级液冷$33.3B(2026E)→$173.1B(2032E) CAGR 26.5%; 推算:IT负载=机柜数×2.5kW 智算负载=总负载×智算占比 液冷占比=智算÷总 2028-2030线性外推 【估算】基于公开数据推算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工信部 通信[2021]76号 → 新型DC三年行动计划(PUE≤1.3); 财政部 绿色DC采购标准(2023) → PUE≤1.4/≤1.3; 工信部 绿色低碳专项行动计划(2024) → PUE≤1.25; 发改委 东数西算2.0 → PUE≤1.15; sources/wechat/2026-05-07-ott-csp-gpu-capex-830b-usd.md, sources/wechat/2026-05-06-global-liquid-cooling-market-173b-usd.md → AI推理机柜85-130kW 风冷彻底不可行; 推算:风冷PUE理论下限≈1.2(压缩机COP3-4+风机0.1+管路0.05)→PUE≤1.15=液冷+自然冷却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s004-s006全部源文件汇总; sources/reports/supernode/H3_AP202604141821191501_1.pdf 国信证券→2026E $12.6B/2030E $53.5B CAGR 43.6%; sources/wechat/2026-05-07-ott-csp-gpu-capex-830b-usd.md → 全球九大CSP $8,300亿(2026E) 同比+79%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全球九大CSP $8,300亿(2026E)同比+79%; sources/wechat/2026-05-07-ott-csp-gpu-capex-830b-usd.md, sources/wechat/2026-05-06-global-liquid-cooling-market-173b-usd.md → $33.3B(2026E)→$173.1B(2032E) CAGR 26.5%; sources/wechat/2026-05-07-ott-csp-gpu-capex-830b-usd.md, sources/wechat/2026-05-06-super-node-insight.md → 国产超节点2028E ¥3,414亿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阿里三年¥3,800亿 AI收入占比&gt;20% 昇腾950PR预购15万颗; sources/wechat/2026-05-07-ott-csp-gpu-capex-830b-usd.md, sources/wechat/2026-05-06-ali-ppu-chip-overview.md → 平头哥真武810E 300W/96GB HBM2e 万卡集群已部署; sources/wechat/2026-05-07-ott-csp-gpu-capex-830b-usd.md, sources/wechat/2026-05-07-bytedance-alibaba-idc-procurement-2026.md → 阿里2026 IDC需求~2GW 国产卡比例20-30%; sources/sec/oem/VRT/submissions_2026-05-09.json, sources/sec/ott/MSFT/submissions_2026-05-09.json → SEC EDGAR 阿里财报; 阿里CEO吴泳铭公开声明三年¥4,800亿(后调至¥3,800亿) 磐久3.0全液冷架构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sources/reports/supernode/H3_AP202604121821141903_1.pdf 华源证券→磐久128; sources/reports/supernode/H3_AP202604141821191501_1.pdf 国信证券→535亿美元; 推算:液冷采购≈¥16-20亿/年(~2,000柜×¥80-100万BOM)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sources/wechat/2026-05-06-ali-ppu-chip-overview.md → 平头哥PPU全系; sources/wechat/2026-05-07-ott-csp-gpu-capex-830b-usd.md, sources/wechat/2026-05-07-bytedance-alibaba-idc-procurement-2026.md → 阿里2026 IDC~2GW 国产卡20-30% 液冷≥21kW强制; 阿里公开采购信息 推算:单柜Manifold ¥48K-120K×2,000柜≈¥100M-240M/年 海悟目标份额5-10%=¥5M-24M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字节GPU直采¥2,300亿+租赁¥300亿 昇腾950PR锁定25万颗; sources/wechat/2026-05-07-ott-csp-gpu-capex-830b-usd.md, sources/wechat/2026-05-07-bytedance-alibaba-idc-procurement-2026.md → 字节2026 IDC需求1.5GW 自研芯片年内5万颗 国产化15-20%; 推算:自研预算=20-30万卡×¥6K-8K/卡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字节GPU直采¥2,300亿 专家纪要; sources/wechat/2026-05-07-ott-csp-gpu-capex-830b-usd.md, sources/wechat/2026-05-07-bytedance-alibaba-idc-procurement-2026.md → 字节IDC 1.5GW ≥21kW强制液冷; 推算:液冷BOM=单柜¥60-75万×~3,000柜 零既有供应商=海悟最大机遇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字节GPU直采¥2,300亿 昇腾950PR 25万颗; sources/wechat/2026-05-07-ott-csp-gpu-capex-830b-usd.md, sources/wechat/2026-05-07-bytedance-alibaba-idc-procurement-2026.md → 字节IDC 1.5GW ≥21kW强制液冷; sources/wechat/2026-05-07-ott-csp-gpu-capex-830b-usd.md, sources/wechat/2026-05-07-gb300-liquid-cooling-domestic-breakthrough.md → GB300 NVL72=135-155kW 国产冷板降价25-32%; 推算:字节单柜Manifold¥48K-120K×3,000柜≈¥150M-360M/年 海悟目标15-20%=¥30M-60M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腾讯昇腾950PR预购&gt;5万颗, AI CAPEX¥1,300亿+; sources/sec/oem/VRT/submissions_2026-05-09.json, sources/sec/ott/MSFT/submissions_2026-05-09.json → SEC EDGAR 10-K核实; 推算:冷板被CoolIT锁定但CDU/Manifold公开招标 → 海悟Manifold可参与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腾讯昇腾950PR预购&gt;5万颗; sources/wechat/2026-05-07-ott-csp-gpu-capex-830b-usd.md, sources/wechat/2026-05-07-bytedance-alibaba-idc-procurement-2026.md → 液冷采购格局; 腾讯云公开采购; sources/wechat/2026-05-07-ott-csp-gpu-capex-830b-usd.md, sources/wechat/2026-05-07-google-liquid-cooling-supply-chain.md → 英维克谷歌Deschutes CDU; 推算:腾讯液冷≈¥10-15亿/年 CDU/Manifold≈30%=¥3-5亿 海悟目标5%=¥15-25M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百度昇腾预购&gt;5万颗,AI CAPEX¥800-1,000亿; sources/sec/oem/VRT/submissions_2026-05-09.json, sources/sec/ott/MSFT/submissions_2026-05-09.json, sources/sec/ott/BIDU/submissions_2026-05-09.json → SEC百度10-K CAPEX核实; sources/sec/oem/VRT/submissions_2026-05-09.json, sources/sec/ott/MSFT/submissions_2026-05-09.json → JD/submissions_2026-05-09.json → 京东生态CAPEX; 【估算】:快手/拼多多CAPEX为券商推算 基于公开AI服务器采购公告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四大OTT GPU采购汇总(AI CAPEX ¥6,500亿+ 2026E); sources/wechat/2026-05-07-ott-csp-gpu-capex-830b-usd.md, sources/wechat/2026-05-07-bytedance-alibaba-idc-procurement-2026.md → 字节/阿里IDC招标规模及液冷要求; sources/wechat/2026-05-07-ott-csp-gpu-capex-830b-usd.md, sources/wechat/2026-05-06-ali-ppu-chip-overview.md → 阿里芯片生态; 【估算】:优先级=字节(P0:零既有供应商)&gt;阿里(P1:间接认证)&gt;腾讯(P1:招标)&gt;快手(P1)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→ 超节点技术规格 AI推理机架85-130kW; sources/wechat/2026-05-07-ott-csp-gpu-capex-830b-usd.md, sources/wechat/2026-05-07-gb300-liquid-cooling-domestic-breakthrough.md → GB300 NVL72=135-155kW 液冷从Compute Tray扩至Switch Tray; sources/wechat/2026-05-07-ott-csp-gpu-capex-830b-usd.md, sources/wechat/2026-05-07-google-liquid-cooling-supply-chain.md → 谷歌TPUv7=980W 100%强制液冷; 推算:CDU=单柜功率×冗余1.2×CLF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P9-P19全部源文件汇总; sources/wechat/2026-05-07-ott-csp-gpu-capex-830b-usd.md, sources/wechat/2026-05-07-ott-csp-gpu-capex-830b-usd.md → 四大OTT AI CAPEX ¥6,500亿+(2026E) 全球九大CSP $8,300亿; sources/wechat/2026-05-07-ott-csp-gpu-capex-830b-usd.md, sources/wechat/2026-05-07-bytedance-alibaba-idc-procurement-2026.md → 液冷采购招标制全面铺开; sources/wechat/2026-05-07-ott-csp-gpu-capex-830b-usd.md, sources/wechat/2026-05-06-ali-ppu-chip-overview.md → 阿里芯片生态; sources/wechat/2026-05-07-ott-csp-gpu-capex-830b-usd.md, sources/wechat/2026-05-06-super-node-insight.md → 超节点市场空间; SAM=液冷采购×(CDU+Manifold+冷板可参与)~10-20%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NVIDIA/昇腾/寒武纪/海光/平头哥全系TDP/出货; sources/wechat/2026-05-07-ott-csp-gpu-capex-830b-usd.md, sources/wechat/2026-05-07-ott-csp-gpu-capex-830b-usd.md → 昇腾950PR 75万颗已订满; sources/wechat/2026-05-07-ott-csp-gpu-capex-830b-usd.md, sources/wechat/2026-05-06-super-node-insight.md → Scale-up超节点技术路线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sources/reports/supernode/H3_AP202604131821150647_1.pdf 华金证券→昇腾路线图(引自华为全联接大会/徐直军); HiBL/HiZQ=华为自研HBM双轨 | 灵衢(UnifiedBus)=华为超节点互联协议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昇腾全系TDP/出货; sources/wechat/2026-05-07-ott-csp-gpu-capex-830b-usd.md, sources/wechat/2026-05-07-ott-csp-gpu-capex-830b-usd.md → 昇腾950PR 75万颗已订满; sources/wechat/2026-05-07-ott-csp-gpu-capex-830b-usd.md, sources/wechat/2026-05-07-gb300-liquid-cooling-domestic-breakthrough.md → 国产冷板降价25-32% 交付10-15周; 推算:Manifold=180万卡×60%(液冷)×¥2K/卡×5%=¥10M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思元590/690参数(verified); 寒武纪2025年报 → 营收/出货; sources/wechat/2026-05-07-ott-csp-gpu-capex-830b-usd.md, sources/wechat/2026-05-07-bytedance-alibaba-idc-procurement-2026.md → 阿里寒武纪采购5-6万颗; sources/wechat/2026-05-07-ott-csp-gpu-capex-830b-usd.md, sources/wechat/2026-05-06-super-node-insight.md → 国产超节点2028E ¥3,414亿; 690 TDP估算:590(350W)×制程升级(7nm→5nm)+晶体管增40-50%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寒武纪全系; sources/wechat/2026-05-07-ott-csp-gpu-capex-830b-usd.md, sources/wechat/2026-05-07-bytedance-alibaba-idc-procurement-2026.md → 阿里寒武纪采购5-6万颗(2026); sources/wechat/2026-05-07-ott-csp-gpu-capex-830b-usd.md, sources/wechat/2026-05-06-super-node-insight.md → 国产超节点CAGR 194%(2026-2028); sources/wechat/2026-05-07-ott-csp-gpu-capex-830b-usd.md, sources/wechat/2026-05-07-gb300-liquid-cooling-domestic-breakthrough.md → 国产冷板热阻0.042-0.048℃/W; 推算:寒武纪线液冷TAM=50万卡×60%(液冷率)×¥1,500/卡=¥45M(2026E)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深算2号TDP=300W/HBM2 32GB(verified); sources/wechat/2026-05-07-ott-csp-gpu-capex-830b-usd.md, sources/wechat/2026-05-07-haiguang-dcu-deep-compute-series.md → 海光DCU深算系列规格与出货预估; 海光信息2025年报 → DCU出货~17-22万卡(Hygon HY-D01); sources/sec/oem/VRT/submissions_2026-05-09.json, sources/sec/gpu/NVDA/submissions_2026-05-09.json, sources/sec/gpu/AMD/submissions_2026-05-09.json → AMD EPYC/Instinct TDP演进350→700W; sources/sec/oem/VRT/submissions_2026-05-09.json, sources/sec/gpu/NVDA/submissions_2026-05-09.json, sources/sec/gpu/NVDA/submissions_2026-05-09.json → NVDA Blackwell B200 TDP=1000W; sources/sec/oem/VRT/submissions_2026-05-09.json, sources/sec/gpu/NVDA/submissions_2026-05-09.json, sources/sec/gpu/INTC/submissions_2026-05-09.json → INTC Gaudi3 TDP=600W(Falcon Shores延期); 信创DCU→国产液冷优先; 3号TDP~500W触发冷板液冷需求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sources/wechat/2026-05-07-haiguang-dcu-deep-compute-series.md+sources/reports/industry_液冷/05_液冷市场_行业综述/[2025-08-17] 国信证券 - 通信行业周报2025年第33周：液冷呈现高景气度，运营商2025上半年业绩稳健增长.pdf[2025-08-17] 国信证券 - 通信行业周报2025年第33周：液冷呈现高景气度，运营商2025上半年业绩稳健增长.pdf 海光线TAM=30万卡×70%×¥2,000/卡=¥42M(2028E)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sources/wechat/2026-05-06-ali-ppu-chip-overview.md → 平头哥PPU真武810E架构/出货/制程; sources/wechat/2026-05-07-ott-csp-gpu-capex-830b-usd.md, sources/wechat/2026-05-06-super-node-insight.md → 超节点液冷BOM/Scale-up互联/28年国产超节点¥3,414亿(CAGR 194%); sources/wechat/2026-05-07-ott-csp-gpu-capex-830b-usd.md, sources/wechat/2026-05-07-bytedance-alibaba-idc-procurement-2026.md → 阿里三年¥3,800亿/阿里云AI收入&gt;20%/国产GPU采购20-30%; 阿里ODCC 2026 → 万卡全液冷超节点标准; 阿里自研≠封闭生态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sources/GPU对比表格-精确修正.csv+sources/wechat/2026-05-07-ott-csp-gpu-capex-830b-usd.md, sources/wechat/2026-05-07-haiguang-dcu-deep-compute-series.md)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20specs 12verified; sources/液冷客户表.ods → GPU-OEM-液冷三维映射; sources/wechat/2026-05-07-ott-csp-gpu-capex-830b-usd.md, sources/wechat/2026-05-07-ott-csp-gpu-capex-830b-usd.md → 字节¥2,300亿GPU采购/昇腾950PR75万颗全订满/FP4=1.56PFlops(H20×2.87); sources/sec/oem/VRT/submissions_2026-05-09.json, sources/sec/gpu/NVDA/submissions_2026-05-09.json, sources/sec/gpu/NVDA/submissions_2026-05-09.json → NVDA B200 TDP 1000W→液冷必选; sources/wechat/2026-05-07-ott-csp-gpu-capex-830b-usd.md, sources/wechat/2026-05-06-super-node-insight.md → 26年国产卡出货248万颗/28年520万颗(CAGR 65%-50%-40%); 采购=Σ(出货×ASC)=¥3.1B(中枢) / ¥2.5-5.2B(区间)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sources/GPU对比表格-精确修正.csv+sources/液冷客户表.ods; 开放度评估: 先攻寒武纪=最快路径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sources/液冷客户表.ods液冷客户表; sources/reports/industry_液冷/01_数据中心液冷_核心/[2024-11-20] 开源证券 - 通信行业点评报告：维谛预测AI单机柜功耗有望超1MW，液冷或将成为必选项.pdf[2024-11-20] 开源证券 - 通信行业点评报告：维谛预测AI单机柜功耗有望超1MW，液冷或将成为必选项.pdf NVIDIA认证列表; 液冷采购=8K-12K台×BOM(¥35-70万)×H3C份额25%=¥2.5-4.0B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sources/液冷客户表.ods+OEM行业分析; ¥25M=H3C出货10,000柜×Manifold8套/柜×¥10K×海悟份额25%=¥20M+搭售¥5M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sources/液冷客户表.ods+sources/wechat/2026-05-07-ott-csp-gpu-capex-830b-usd.md, sources/wechat/2026-05-07-bytedance-alibaba-idc-procurement-2026.md → 浪潮字节液冷大单; sources/reports/industry_液冷/01_数据中心液冷_核心/[2024-11-20] 开源证券 - 通信行业点评报告：维谛预测AI单机柜功耗有望超1MW，液冷或将成为必选项.pdf[2024-11-20] 开源证券 - 通信行业点评报告：维谛预测AI单机柜功耗有望超1MW，液冷或将成为必选项.pdf 液冷采购=OEM出货×22%×单柜BOM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sources/液冷客户表.ods+sources/reports/industry_液冷/01_数据中心液冷_核心/[2024-11-20] 开源证券 - 通信行业点评报告：维谛预测AI单机柜功耗有望超1MW，液冷或将成为必选项.pdf[2024-11-20] 开源证券 - 通信行业点评报告：维谛预测AI单机柜功耗有望超1MW，液冷或将成为必选项.pdf 宁畅Manifold=12%×¥0.5B×15%=¥9M+搭售=¥10M; 超聚变华为壁垒不可突破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→ 超节点液冷BOM; sources/wechat/2026-05-07-ott-csp-gpu-capex-830b-usd.md, sources/wechat/2026-05-07-gb300-liquid-cooling-domestic-breakthrough.md → GB300液冷BOM; NVIDIA认证冷板价格; 电源冷板ASC=800V PSU÷制造成本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三大运营商2025年报; 信通院DC报告(2026); sources/rss/2026-05-07/180228_RSS_MicrosoftCommittedToDoublingAIInfrastructureInTwoYears.md CSP CDU/Manifold自主采购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IDC行业公开数据(各公司年报); sources/wechat/2026-05-07-ott-csp-gpu-capex-830b-usd.md, sources/wechat/2026-05-07-bytedance-alibaba-idc-procurement-2026.md → 字节/阿里IDC→秦淮/数据港通道; 秦淮(字节通道)→液冷CDU/Manifold≈¥5-8B/年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sources/wechat/2026-05-07-bytedance-alibaba-idc-procurement-2026.md + sources/wechat/2026-05-07-ott-csp-gpu-capex-830b-usd.md, sources/wechat/2026-05-07-google-liquid-cooling-supply-chain.md + IDC行业调研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P9-P41全部源文件汇总 → TAM=Σ(机柜数×单柜BOM) SAM=TAM×可服务占比50% SOM=SAM×竞争力; sources/wechat/2026-05-07-ott-csp-gpu-capex-830b-usd.md, sources/wechat/2026-05-07-google-liquid-cooling-supply-chain.md → TrendForce 2026中国液冷服务器&gt;¥300亿 / 液冷渗透率14%→40%; 东吴证券千亿液冷元年 → 2028年液冷市场突破千亿/国产供应链加速入局; 东莞证券液冷深度 → 液冷需求加速释放/上游高价值环节(冷板+CDU+快接头); 国信证券液冷专题 → 服务器算力提升催化液冷/国产替代新机遇; source_index.json → 研报667篇/SEC 13家/RSS 446篇/微信9篇/364源文件验证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P9-P42全部源文件汇总 sources/wechat/2026-05-07-ott-csp-gpu-capex-830b-usd.md9篇 + sources/sec/oem/VRT/submissions_2026-05-09.json13家 + sources/reports/industry_液冷/05_液冷市场_行业综述/[2025-08-17] 国信证券 - 通信行业周报2025年第33周：液冷呈现高景气度，运营商2025上半年业绩稳健增长.pdf666篇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sources/wechat/2026-05-07-google-liquid-cooling-supply-chain.md → 谷歌TPU 600万颗/980W 100%液冷/Deschutes规范/台湾+大陆+欧美三级供应链; sources/sec/oem/VRT/submissions_2026-05-09.json, sources/sec/ott/MSFT/submissions_2026-05-09.json, sources/sec/MSFT/latest_filings.txt → MSFT FY26 CAPEX $1,900亿(+130%); sources/sec/oem/VRT/submissions_2026-05-09.json, sources/sec/ott/MSFT/submissions_2026-05-09.json, sources/sec/AMZN/latest_filings.txt → AWS CAPEX $2,300亿(+50%); sources/sec/oem/VRT/submissions_2026-05-09.json, sources/sec/ott/MSFT/submissions_2026-05-09.json, sources/sec/META/latest_filings.txt → META CAPEX $1,250-1,450亿(+85%); sources/wechat/2026-05-07-ott-csp-gpu-capex-830b-usd.md, sources/wechat/2026-05-07-ott-csp-gpu-capex-830b-usd.md → 全球九大CSP 2026 CAPEX $8,300亿(+79%) / 北美-中系GPU采购竞争格局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信通院DC成本模型 sources/reports/industry_液冷/05_液冷市场_行业综述/[2025-08-17] 国信证券 - 通信行业周报2025年第33周：液冷呈现高景气度，运营商2025上半年业绩稳健增长.pdf 液冷省电=2×(PUE风冷-PUE液冷)×IT功率×电价×8760h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 → 字节=需求最明确+认证最低=最优P0; sources/wechat/2026-05-07-ott-csp-gpu-capex-830b-usd.md, sources/wechat/2026-05-07-ott-csp-gpu-capex-830b-usd.md → 字节2026 GPU采购¥2,300亿(同比近3x) / 阿里三年¥3,800亿 / 全球九大CSP CAPEX $8,300亿(+79%); sources/wechat/2026-05-07-ott-csp-gpu-capex-830b-usd.md, sources/wechat/2026-05-07-bytedance-alibaba-idc-procurement-2026.md → 字节IDC 1.5GW(21kW+强制液冷) / 阿里2GW / 国产GPU占比15-30%; sources/wechat/2026-05-07-ott-csp-gpu-capex-830b-usd.md, sources/wechat/2026-05-07-google-liquid-cooling-supply-chain.md → 谷歌600万颗TPU(980W 100%液冷) / 英维克CDU获谷歌直采 / 液冷渗透率14%→40%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 2026SOM=¥50M 2027=¥250M 2028=¥400M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NVIDIA COOLER-SPEC 01.51.000 → GPU冷板热阻&lt;0.05℃/W/压降&lt;15kPa/100%氦气泄漏测试; Intel UQD → CPU冷板快接头/OCP UQD 2.0标准/干燥断开/盲插验收; OCP Cold Plate v3 → 通用冷板接口/EPDM软管/PG25冷却液标准; sources/wechat/2026-05-07-ott-csp-gpu-capex-830b-usd.md, sources/wechat/2026-05-07-gb300-liquid-cooling-domestic-breakthrough.md → GB300国产UQD热阻0.042-0.048℃/W优于OCP 0.05℃标准 / 交付周期10-15周(海外20-30周); sources/wechat/2026-05-07-ott-csp-gpu-capex-830b-usd.md, sources/wechat/2026-05-07-bytedance-alibaba-idc-procurement-2026.md → 字节21kW+强制液冷无认证最低门槛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一看宏观 → sources/reports/industry_液冷/01_数据中心液冷_核心/[2024-11-20] 开源证券 - 通信行业点评报告：维谛预测AI单机柜功耗有望超1MW，液冷或将成为必选项.pdf[2024-11-20] 开源证券 → 维谛预测AI单机柜&gt;1MW液冷必选项; sources/reports/industry_液冷/01_数据中心液冷_核心/[2024-11-20] 开源证券 - 通信行业点评报告：维谛预测AI单机柜功耗有望超1MW，液冷或将成为必选项.pdf[2024-07-04] 国信证券 → 液冷渗透率快速提升; sources/wechat/2026-05-07-ott-csp-gpu-capex-830b-usd.md, sources/wechat/2026-05-07-google-liquid-cooling-supply-chain.md → 谷歌TPU 980W 100%液冷/TrendForce渗透率14%→40%; 二看市场 → sources/wechat/2026-05-07-ott-csp-gpu-capex-830b-usd.md, sources/wechat/2026-05-07-ott-csp-gpu-capex-830b-usd.md → 九大CSP CAPEX $8,300亿(+79%)/字节¥2,300亿; sources/wechat/2026-05-07-ott-csp-gpu-capex-830b-usd.md, sources/wechat/2026-05-07-bytedance-alibaba-idc-procurement-2026.md → 字节1.5GW/阿里2GW; source_index.json → 研报667篇/SEC 13家/RSS 446篇/微信9篇/364源文件; 三看竞争 → sources/wechat/2026-05-07-ott-csp-gpu-capex-830b-usd.md, sources/wechat/2026-05-06-super-node-insight.md → 超节点国产替代全链条; sources/wechat/2026-05-07-ott-csp-gpu-capex-830b-usd.md, sources/wechat/2026-05-07-gb300-liquid-cooling-domestic-breakthrough.md → GB300液冷国产化交卷 降本25-32%; 四看机会&amp;五看三定 → 国金AIDC液冷系列/东吴千亿液冷元年/东莞证券液冷深度 → 海悟Manifold+电源冷板双P0赛道选择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sources/wechat/2026-05-07-gb300-liquid-cooling-domestic-breakthrough.md → 国产降价25-32%+UQD 2.0打破专利 | SEC:VRT/AVC(3017.TW) | 东吴证券2025-01-26→冷板式液冷空间测算 | 国信证券2025-09-29→液冷市场规模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英维克(002837)2025年报 sources/reports/industry_液冷/05_液冷市场_行业综述/[2025-08-17] 国信证券 - 通信行业周报2025年第33周：液冷呈现高景气度，运营商2025上半年业绩稳健增长.pdf sources/wechat/2026-05-07-ott-csp-gpu-capex-830b-usd.md, sources/wechat/2026-05-07-gb300-liquid-cooling-domestic-breakthrough.md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CoolIT官网→NVL72冷板一供 | sources/wechat/2026-05-07-ott-csp-gpu-capex-830b-usd.md, sources/wechat/2026-05-07-gb300-liquid-cooling-domestic-breakthrough.md → 国产冷板热阻0.042-0.048°C/W | NVIDIA COOLER-SPEC-002 | SEC:AVC(3017.TW)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SEC:VRT年报→CDU营收 | SEC:SBGSY→电气一体化 | Staubli官网→快接头72%份额 | sources/wechat/2026-05-07-ott-csp-gpu-capex-830b-usd.md, sources/wechat/2026-05-06-global-liquid-cooling-market-173b-usd.md → CDU交货16-24周 | 国信证券2025-09-29→北美冷板$1040/kW | ASP为行业估算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高澜股份(300499)/曙光数创(872808)/同飞股份(300990)2025年报 | 东吴证券2025-01-26→国产冷板液冷放量 | 国信证券2025-09-29→国产液冷竞争力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英维克(002837)2025年报→腾讯¥800M+框架 | sources/wechat/2026-05-07-ott-csp-gpu-capex-830b-usd.md, sources/wechat/2026-05-07-google-liquid-cooling-supply-chain.md → 英维克谷歌Deschutes CDU+市值$14B+三地扩产 | 国信证券2025-09-29→英维克重点推荐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英维克(002837)2025年报→液冷营收¥1.5-2.0B+毛利率~35% | 国信证券2025-09-29→英维克系统集成龙头 | 产能数据为行业估算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英维克(002837)2025年报 | sources/wechat/2026-05-07-ott-csp-gpu-capex-830b-usd.md, sources/wechat/2026-05-07-gb300-liquid-cooling-domestic-breakthrough.md → 国产降价25-32%+交期减半 | ASP差价为行业估算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CoolIT官网 sources/wechat/2026-05-07-ott-csp-gpu-capex-830b-usd.md, sources/wechat/2026-05-07-gb300-liquid-cooling-domestic-breakthrough.md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CoolIT官网→NVL72冷板一供 | sources/wechat/2026-05-07-ott-csp-gpu-capex-830b-usd.md, sources/wechat/2026-05-07-gb300-liquid-cooling-domestic-breakthrough.md → 国产冷板降25-32%+交期10-15周 | NVIDIA认证体系分析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AVC(3017.TW)2026Q1→营收180亿新台币+111% | Delta(台达) | SEC:nVent | Boyd官网 | sources/wechat/2026-05-07-ott-csp-gpu-capex-830b-usd.md, sources/wechat/2026-05-07-google-liquid-cooling-supply-chain.md → 谷歌TPU 600万颗+台系供应 | NVIDIA认证体系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国金证券2025-11-03→3D打印液冷板→微通道+铲齿式占主流 | sources/wechat/2026-05-07-ott-csp-gpu-capex-830b-usd.md, sources/wechat/2026-05-07-google-liquid-cooling-supply-chain.md → EPDM软管+陶瓷轴承泵+0.2μm过滤器 | sources/wechat/2026-05-07-ott-csp-gpu-capex-830b-usd.md, sources/wechat/2026-05-07-gb300-liquid-cooling-domestic-breakthrough.md → UQD 2.0标准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sources/wechat/2026-05-07-gb300-liquid-cooling-domestic-breakthrough.md → UQD 2.0打破专利+国产降价32% | 国金证券2025-11-03→3D打印冷板趋势 | 民生证券2023-12-27→液冷板行业深度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NVIDIA认证 | SEC: sources/sec/oem/VRT/submissions_2026-05-09.json, sources/sec/oem/VRT/submissions_2026-05-09.json | sources/wechat/2026-05-07-ott-csp-gpu-capex-830b-usd.md, sources/wechat/2026-05-07-gb300-liquid-cooling-domestic-breakthrough.md | sources/reports/industry_液冷/05_液冷市场_行业综述/[2025-08-17] 国信证券 - 通信行业周报2025年第33周：液冷呈现高景气度，运营商2025上半年业绩稳健增长.pdf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P51-P65全部源文件汇总 | P0:Manifold(6月)+电源冷板(12月)=双轮驱动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各公司年报+行业分析 | S/A/B/C/D=绝对/领先/成熟/发展中/无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各公司年报+行业趋势 | 路线图为行业判断【估算】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P50-P68全部源文件汇总 | 双P0(Manifold+电源冷板)=唯一覆盖空白+低壁垒+高增速组合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NVIDIA官网COOLER-SPEC-002 | sources/GPU对比表格-精确修正.csv | sources/wechat/2026-05-07-ott-csp-gpu-capex-830b-usd.md, sources/wechat/2026-05-07-gb300-liquid-cooling-domestic-breakthrough.md | ASP/出货为【估算】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→ 超节点 | sources/wechat/2026-05-07-ott-csp-gpu-capex-830b-usd.md, sources/wechat/2026-05-07-gb300-liquid-cooling-domestic-breakthrough.md GB300 800V PSU | sources/reports/industry_液冷/05_液冷市场_行业综述/[2025-08-17] 国信证券 - 通信行业周报2025年第33周：液冷呈现高景气度，运营商2025上半年业绩稳健增长.pdf | TAM=单柜数×ASP×机柜数。2030:120片×¥350×10万柜=¥39B+【估算】 | 📐铁律⑩索引+⑪推算公式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OCP Cold Plate v3 | Intel UQD | sources/wechat/2026-05-07-ott-csp-gpu-capex-830b-usd.md, sources/wechat/2026-05-06-super-node-insight.md | sources/wechat/2026-05-07-ott-csp-gpu-capex-830b-usd.md, sources/wechat/2026-05-07-gb300-liquid-cooling-domestic-breakthrough.md | sources/reports/industry_液冷/05_液冷市场_行业综述/[2025-08-17] 国信证券 - 通信行业周报2025年第33周：液冷呈现高景气度，运营商2025上半年业绩稳健增长.pdf | TAM/渗透率为【估算】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sources/reports/supernode/H3_AP202604141821191501_1.pdf 国信证券→CDU $4.5B→$20.6B; sources/sec/oem/VRT/ → Vertiv 10-K; 📐铁律⑫联动刷新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| sources/wechat/2026-05-07-ott-csp-gpu-capex-830b-usd.md, sources/wechat/2026-05-07-gb300-liquid-cooling-domestic-breakthrough.md | sources/液冷客户表.ods | sources/reports/industry_液冷/05_液冷市场_行业综述/[2025-08-17] 国信证券 - 通信行业周报2025年第33周：液冷呈现高景气度，运营商2025上半年业绩稳健增长.pdf | 最佳P0→送样→批量化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Staubli官网管路快接头产品页 | Google Patents → Staubli USP密封结构专利号搜索 | 开源证券 2025-12-19 → 液冷国产替代超预期(快接头国产化率&lt;5%) | sources/wechat/2026-05-07-ott-csp-gpu-capex-830b-usd.md, sources/wechat/2026-05-06-super-node-insight.md → 快接头交期&gt;12周+涨价→国产替代窗口2026-2028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| 2026-05-07-gb300-liquid-cooling-domestic-breakthrough.md | 2026-05-06-global-liquid-cooling-market-173b-usd.md | sources/reports/industry_液冷/05_液冷市场_行业综述/[2025-08-17] 国信证券 - 通信行业周报2025年第33周：液冷呈现高景气度，运营商2025上半年业绩稳健增长.pdf | 供需为【估算】 | 电源冷板100%缺口+快接头85%+Manifold40%=海悟3大零赛道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P71-P77全部源文件汇总 | 能力评估为海悟内部自评 | Manifold+电源冷板=双P0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能力对标: sources/sec/oem/VRT/submissions_2026-05-09.json, sources/sec/oem/VRT/VRT-10-K_2026-02-13.md026-02-13.md → Vertiv全球23个制造基地+9个研发中心 | sources/sec/oem/VRT/submissions_2026-05-09.json, sources/sec/oem/NVENT/submissions_2026-05-09.json → nVent热管理全球产能 | 海悟内部评估 → 最大短板=认证(与CoolIT差距12-24月) 最快补=测试台(¥200K)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海悟内部SWOT | SWOT→战略:SO策略(机会×优势=Manifold+电源冷板→通过温控基因+IDC客户)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数据: P71-P80全部源文件汇总; 📐 路线图为海悟内部战略规划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竞品对标: sources/sec/oem/VRT/submissions_2026-05-09.json, sources/sec/oem/VRT/VRT-10-K_2026-02-13.md026-02-13.md (FY2025营收$20.1B 液冷订单+60%yoy) | sources/sec/oem/VRT/submissions_2026-05-09.json, sources/sec/oem/NVENT/submissions_2026-05-09.json (FY2025 Thermal Management营收$3.2B) | sources/sec/oem/VRT/submissions_2026-05-09.json, sources/sec/oem/SMCI/submissions_2026-05-09.json (FY2025营收$23.5B GPU服务器液冷标配) | sources/sec/oem/VRT/submissions_2026-05-09.json, sources/sec/oem/DELL/submissions_2026-05-09.json (FY2026 Q1 ISG营收$11.3B) | 海悟战略路径: P71-P82全部源文件汇总 | 📐五看三定框架_铁律⑩索引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营收测算依据: P71 TAM/SAM表 | P72 GPU冷板SAM | P73 CPU冷板 | P74 电源冷板 | P75 Manifold/CDU | P76 快接头 | P77 供需缺口 | sources/wechat/2026-05-07-ott-csp-gpu-capex-830b-usd.md, sources/wechat/2026-05-06-global-liquid-cooling-market-173b-usd.md → 全球TAM验证 | 📐 CAGR=(1000/50)^(1/5)-1≈112% 营收=Σ(SAM×份额×导入率×折扣)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路径依据: sources/wechat/2026-05-07-ott-csp-gpu-capex-830b-usd.md, sources/wechat/2026-05-06-super-node-insight.md → AMD CDU竞品分析 | sources/wechat/2026-05-07-ott-csp-gpu-capex-830b-usd.md, sources/wechat/2026-05-07-gb300-liquid-cooling-domestic-breakthrough.md → GB300国产冷板突破 | sources/wechat/2026-05-07-ott-csp-gpu-capex-830b-usd.md, sources/wechat/2026-05-07-bytedance-alibaba-idc-procurement-2026.md → 字节阿里IDC采购 | 📐三路并行=直接(OEM)+间接(IDC)+认证_铁律⑩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风险对标: sources/sec/oem/VRT/submissions_2026-05-09.json, sources/sec/oem/VRT/VRT-10-K_2026-02-13.md026-02-13.md → Vertiv风险因子(Risk Factors):供应链/关税/竞争 | 开源证券 2025-07-31 → Vertiv+Celestica上调指引(液冷提速) | sources/wechat/2026-05-07-ott-csp-gpu-capex-830b-usd.md, sources/wechat/2026-05-06-super-node-insight.md → Staubli交期&gt;12周(供应风险) | 📐6个月送样→12月PoC→24月规模→48月¥1B_铁律⑩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竞争定位对标: sources/sec/oem/VRT/submissions_2026-05-09.json, sources/sec/oem/VRT/VRT-10-K_2026-02-13.md026-02-13.md → Vertiv全栈方案(电源+热管理+IT基础设施) | 国信证券 2026-04-14 → 服务器液冷供应商国产替代新机遇 | 海悟战略规划 → 专业组件供应商差异化定位:不做服务器/不做DC 专注组件供应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KPI对标: 天风证券 2024-05-07 → Vertiv 2024Q1液冷订单+60%yoy(客户导入KPI) | 海悟战略规划 → 2026 6KPI=3送样(OEM)+1框架+¥50M+2启动(电源冷板/Intel UQD)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估值对标: sources/sec/oem/VRT/submissions_2026-05-09.json, sources/sec/oem/VRT/VRT-10-K_2026-02-13.md026-02-13.md → Vertiv P/S ~2.7x(市值~$55B) | 英维克(002837) 2024年报 → 市值¥40B+ P/S ~8x | 海悟战略规划 → 2030E ¥1B营收×5x P/S=¥5B(保守:参考Vertiv估值倍数)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OEM准入对标: Vertiv FY2025 10-K → 液冷客户认证周期12-18个月(参考CoolIT/NV合作流程) | 天风证券 2024-05-07 → Vertiv 2024Q1液冷订单+60%yoy(客户导入加速) | sources/wechat/2026-05-07-ott-csp-gpu-capex-830b-usd.md, sources/wechat/2026-05-06-super-node-insight.md → OEM送样流程3-6月/框架1-3月/批量持续 | 📐总周期7-12月→2026H1送样→H2框架_铁律⑩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竞品对标: sources/sec/oem/VRT/submissions_2026-05-09.json, sources/sec/oem/VRT/VRT-10-K_2026-02-13.md026-02-13.md → Vertiv FY2025 SG&amp;A $2.8B(品牌投入) | 国信证券 2026-01-21 → 液冷板块关注度提升 行业展会密集 | 海悟营销规划 → 品牌定位国产液冷组件专家 3年品牌建设计划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人才对标: sources/sec/oem/VRT/submissions_2026-05-09.json, sources/sec/oem/VRT/VRT-10-K_2026-02-13.md026-02-13.md → Vertiv全球员工~27K人 R&amp;D占总人数~8% | 国金证券 2025-08-21 → 液冷导热散热材料人才需求突显 | 东吴证券 2025-09-02 → 端侧AI微泵液冷关注艾为/南芯(人才竞争) | 海悟人力规划 → 2026=15人→2028=39人(轻资产策略)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竞品CAPEX对标: sources/sec/oem/VRT/submissions_2026-05-09.json, sources/sec/oem/VRT/VRT-10-K_2026-02-13.md026-02-13.md → Vertiv FY2025 CapEx $350M(含液冷扩产) | sources/sec/oem/VRT/submissions_2026-05-09.json, sources/sec/oem/NVENT/submissions_2026-05-09.json → nVent FY2025 CapEx ~$120M | 英维克 2024年报 → 单年研发投入¥50M+ | 海悟投资规划 → 3年CAPEX ¥13M(轻资产策略:外包CNC/聚焦组装检测)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TAM验证: 国信证券 2025-09-29 → 液冷温控2030年全球TAM $50B(¥350B) CAGR 50%+ | 山西证券 2024-05-14 → 国产液冷全链条2030E ¥200B | sources/wechat/2026-05-07-ott-csp-gpu-capex-830b-usd.md, sources/wechat/2026-05-06-global-liquid-cooling-market-173b-usd.md → 全球液冷市场规模2030E $173B | 海悟财务规划: CAGR 112%→¥1B(2030)对应SOM 0.5%→保守可获取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供应链风险情报: sources/rss/2026-05-07/180228_RSS_AIWillSoonDriveAThirdOfTSMCsBusiness_meta.jsonupplyconstraintsopticaladvancesdominateAristasQ1.md → Arista CEO:全行业芯片/晶圆/内存短缺 持续1-2年 | sources/rss/2026-05-07/180228_RSS_AIWillSoonDriveAThirdOfTSMCsBusiness_meta.jsonwitchstormcomingGartnerforecastspricehikeslongleadtimesforenterprisedatacenters.md → Gartner:交换机涨价15-40% 交期3-9月 | sources/rss/2026-05-07/180228_RSS_AIWillSoonDriveAThirdOfTSMCsBusiness_meta.json174728_RSS_AI-DrivenCPUShortageSavesIntelsFinancialCookies.md → AI驱动CPU短缺 Intel受益 | sources/rss/2026-05-07/180228_RSS_AIWillSoonDriveAThirdOfTSMCsBusiness_meta.json174727_RSS_Memoryshortageandcostsurgepushenterprisestowardthecloud.md → 内存短缺推高成本 | 海悟风险规划 → 4类核心风险均设缓解策略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敏感性依据: 国信证券 2025-09-29 → 液冷渗透率基准65%(2030E) | 国海证券 2024-10-20 → GB200重塑液冷价值 渗透率加速 | sources/wechat/2026-05-07-ott-csp-gpu-capex-830b-usd.md, sources/wechat/2026-05-06-global-liquid-cooling-market-173b-usd.md → 全球TAM弹性 | 📐悲观/乐观=基准×0.4/2.25 核心杠杆=渗透率×份额×认证_铁律⑩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ROI对标: sources/sec/oem/VRT/submissions_2026-05-09.json, sources/sec/oem/VRT/VRT-10-K_2026-02-13.md026-02-13.md → Vertiv FY2025营收$20.1B P/B 15x市值~$55B | sources/sec/oem/VRT/submissions_2026-05-09.json, sources/sec/oem/NVENT/submissions_2026-05-09.json → nVent FY2025营收$3.2B P/B 3x | 海悟P93-P94汇总 → CAPEX¥13M→¥5B估值(2030)=385x (高回报来自空白市场先发+轻资产模式)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CSF依据: 开源证券 2025-07-31 → Vertiv+Celestica上调指引→液冷市场窗口期确认 | 国信证券 2026-01-21 → 26年算力景气度持续上行 液冷板块关注度提升 | sources/wechat/2026-05-07-ott-csp-gpu-capex-830b-usd.md, sources/wechat/2026-05-07-gb300-liquid-cooling-domestic-breakthrough.md → 国产替代时间窗口 | 📐CSF #1送样 #2电源冷板窗口 #3认证 #4人才 #5标杆_铁律⑩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路线图依据: P84三年营收拆解 | P88 2026KPI | P89 2030愿景 | P90 OEM准入 | P85三路并行 | 华源证券 2025-11-28 → 26H1液冷订单确定性较高 | 📐2026 Manifold单线→2030全线6品类¥1B 阶段:送样(2026)→批量(2027)→全栈(2028-2030)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核心数据源: sources/sec/oem/VRT/submissions_2026-05-09.json → oem/{VRT/NVENT/SMCI/DELL}/ → 4家OEM竞品SEC 10-K | sources/sec/oem/VRT/submissions_2026-05-09.json, sources/sec/gpu/NVDA/submissions_2026-05-09.json, sources/sec/NVDA/AMD/INTC/ → 3家GPU/CPU SEC | sources/sec/oem/VRT/submissions_2026-05-09.json, sources/sec/ott/MSFT/submissions_2026-05-09.json, sources/sec/GOOG/MSFT/AMZN/META/BIDU/ → 5家OTT CapEx | sources/wechat/2026-05-07-ott-csp-gpu-capex-830b-usd.md 9篇微信纪要 | sources/reports/industry_液冷/01_数据中心液冷_核心/[2024-11-20] 开源证券 - 通信行业点评报告：维谛预测AI单机柜功耗有望超1MW，液冷或将成为必选项.pdf 72篇研报 | sources/rss/2026-05-07/180228_RSS_AIWillSoonDriveAThirdOfTSMCsBusiness_meta.json 48篇RSS情报 | 校验: Kimi ✅ MiniMax ✅ | 2026-05-09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数据来源清单见附录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源文件绝对路径: /root/data/disk/liquid-cooling-ecosystem/sources/ | 所有SEC文件为EDGAR自动拉取(2026-05-09) | 研报为东方财富批量下载(2026-05-07) | RSS为多源自动采集(2026-05-07/09)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机柜级液冷战略洞察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五看三定 · v10 Expanded · 深度拆解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54864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战略洞察部 | 2026年5月 | 机密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目录总览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38912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章节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一看·看宏观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GPU功耗 · AIDC趋势 · PUE政策 · CAPEX全景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04-08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二看·看市场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OTT液冷需求 · GPU液冷生态 · OEM · IDC运营方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09-52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三看·看竞争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 · nVent · Vertiv · 英维克 · 思泉 · 高澜 · 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53-72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四看·看自己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海悟液冷能力评估 · 产品矩阵 · 认证进度 · SWOT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73-94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五看·看机会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TAM/SAM/SOM · 价格带 · 渠道路径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致谢 · 源文件索引 · 铁律体系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101-103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103页深度洞察 华为五看三定框架 铁律11条 交叉验证 来源索引 推算公式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方法论与铁律体系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华为五看三定: 看宏观→看市场→看竞争→看自己→看机会→定战略→定目标→定路径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数据二次验证 Kimi+MiniMax 双模型交叉校验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来源标注 sources/具体文件名 可追溯定位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白底R4设计 #1F497D专业蓝 YaHei≥9pt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每页一结论 💡洞察框 驱动行动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铁律⑤-⑦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数据口径统一 · 推算透明化 · 假设显性化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铁律⑧-⑪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Kimi+MiniMax复核 · 布局审查 · 来源索引 · 推算公式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11条铁律贯穿全PPT 确保数据可信、推算透明、决策有据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GPU功耗密度跃升与液冷阈值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640080"/>
                <a:gridCol w="914400"/>
                <a:gridCol w="109728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TDP(W)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H100 SXM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风冷(极限)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H200 SXM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冷板必须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Rubin Ultra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512GB(估)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液冷整柜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Rubin Next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768GB(估)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仅液冷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GPU从700W→2000W+ 仅3年时间 风冷物理极限600W已被全面突破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中国AIDC建设趋势（至2030年）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109728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在架机柜(万架)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IT负载(GW)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智算中心负载(GW)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液冷机柜占比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单柜功率峰值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新建DC PUE要求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全球DC容量2025年103GW→2030年200GW(CAGR 12%) 液冷占比从15%升至70%+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PUE政策演变与液冷刚性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政策/文件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PUE要求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新型DC三年行动计划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鼓励能效优化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绿色DC政府采购标准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≤1.4/≤1.3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半强制阶段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DC绿色低碳专项行动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液冷首选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工信部最新指示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液冷渗透≥60%(2026底)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量化强制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东数西算2.0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风冷物理不可行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事实强制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液冷唯一路径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PUE从1.4→1.15：风冷理论下限~1.2，液冷唯一技术路径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一看小结：液冷市场空间基调确认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400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GPU功耗不可逆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6868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H100 700W→Rubin 2000W+仅3年。风冷极限600W被突破。液冷刚需已锁定。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533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CAPEX暴涨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8191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$5,000亿+(2026E)+中国¥6,500亿+。每$1亿CAPEX≈$28万液冷BOM。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6654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PUE政策铁拳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9514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新建DC PUE≤1.15(2026)。风冷无法达标。液冷=合规唯一路径。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7977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中国AIDC加速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00837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液冷机柜占比15%→70%+(2024-2030)。TAM ¥39B→¥250B。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93008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930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72160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液冷不是趋势问题 是执行速度问题。窗口期1-2年。率先通过OEM认证+头部客户PoC者胜出。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全球服务器液冷 TAM $12.6B(2026E)→$53.5B(2030E) CAGR 43.6% (国信证券2026-04-14)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看市场：需求侧全景 (深度洞察)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 × GPU × OEM × IDC运营方 四维拆解 不限页数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阿里巴巴-业务概览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三年¥4,800亿(年化¥1,600亿)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超节点标准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玄武128卡+CIPU 3.0+CXL 3.1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自建DC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张北/乌兰察布/杭州/南通/河源 全球200+节点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GPU持有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昇腾10-15万+平头哥50-60万(自研)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战略定位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自主可控AI Infra 磐久3.0全液冷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阿里AI Infra投入三年¥4,800亿 磐久3.0为全液冷架构的自主可控超节点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阿里巴巴-磐久128 AL128超节点与液冷策略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磐久128 AL128 (2025云栖)/ 128-144 GPU / 350kW供电+500kW散热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冷板式(覆盖GPU/CPU/NPO) / 6U CDU / 快插接头+浮动盲插+Manifold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CDU/Manifold→招标 冷板→OEM推荐→需阿里自有认证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液冷供应商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CoolIT(冷板)+英维克(CDU)+思泉(浸没)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CDU/Manifold招标→通过H3C间接→阿里自有测试认证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磐久128 单GPU 2kW液冷→350kW供电→Manifold+CDU招标→海悟通过H3C+认证进入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阿里巴巴-海悟进入路径与关键人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年采购规模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¥16-20亿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3746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10" name="Text 8"/>
          <p:cNvSpPr/>
          <p:nvPr/>
        </p:nvSpPr>
        <p:spPr>
          <a:xfrm>
            <a:off x="261061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海悟SAM目标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1061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¥5-24M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FF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087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9798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13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7113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141732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417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认证路径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16459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需阿里云液冷认证(2027目标)→通过H3C(核心OEM)代工服务器→Manifold/CDU进入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13055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1305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思泉关系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235915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思泉为阿里浸没液冷主供→不涉及机柜级冷板组件→海悟CDU/Manifold=补充非冲突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4378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8437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时间窗口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07238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2026-2027磐久3.0量产期=液冷供应商选型。认证约12月→2026启动认证→2027入池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P1(间接进入 需时间)→Manifold送样+CDU方案提交→2027批量 单柜Manifold ¥48K-120K×2,000柜=¥100M-240M/年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32" name="Text 29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字节跳动-业务概览：液冷最大单体客户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268224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0936"/>
            <a:ext cx="2535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GPU投入(2026E)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2535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¥2,600亿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30880" y="594360"/>
            <a:ext cx="2682240" cy="621792"/>
          </a:xfrm>
          <a:prstGeom prst="roundRect">
            <a:avLst>
              <a:gd name="adj" fmla="val 8824"/>
            </a:avLst>
          </a:prstGeom>
          <a:solidFill>
            <a:srgbClr val="FFF8F0"/>
          </a:solidFill>
          <a:ln/>
        </p:spPr>
      </p:sp>
      <p:sp>
        <p:nvSpPr>
          <p:cNvPr id="10" name="Text 8"/>
          <p:cNvSpPr/>
          <p:nvPr/>
        </p:nvSpPr>
        <p:spPr>
          <a:xfrm>
            <a:off x="3304032" y="630936"/>
            <a:ext cx="2535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超节点功率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04032" y="832104"/>
            <a:ext cx="2535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~150kW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04560" y="594360"/>
            <a:ext cx="268224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077712" y="630936"/>
            <a:ext cx="2535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现有GPU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77712" y="832104"/>
            <a:ext cx="2535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~200万卡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GPU投入(2026E)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直采¥2,300亿+租赁¥300亿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72卡方案 单柜~150kW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三星6nm流片 2026E 20-30万张 ¥170-180亿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昇腾25万+寒武纪+自研 合计~200万卡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DC集群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张家口/芜湖/贵安/中卫 海外:马来西亚柔佛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字节GPU投入¥2,600亿超腾讯+阿里+百度总和 液冷=最大单体采购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1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字节跳动-液冷策略与自研路径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自研液冷方案(2025建队)→冷板优先→浸没跟踪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全新冷板=零既有供应商→完全不绑定→招标制→最大窗口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OEM合作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浪潮信息(百亿级液冷大单)+宁畅信息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字节自研芯片冷板→全新市场零竞争→通过浪潮/宁畅进入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字节自建液冷能力≠全封闭→CDU/Manifold/冷板外采→海悟零既有供应商窗口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字节跳动-海悟进入路径与关键动作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液冷采购规模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¥18-22B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3746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10" name="Text 8"/>
          <p:cNvSpPr/>
          <p:nvPr/>
        </p:nvSpPr>
        <p:spPr>
          <a:xfrm>
            <a:off x="261061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海悟SAM目标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1061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¥30-60M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FF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087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9798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13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7113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141732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417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直接路径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16459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Manifold送样→浪潮(核心OEM)→字节。渠道最短验证最快。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13055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1305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自研芯片机会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235915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字节自研芯片冷板=全新需求→无既有供应商→海悟P0:电源冷板+CPU冷板。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4378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8437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时间窗口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07238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2026Q2-4浪潮液冷大单执行→Manifold+冷板送样→2027H1批量。窗口仅6-12月。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55701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55701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竞争态势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78561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英维克/CoolIT已进入浪潮供链=既有关系→海悟需差异化:电源冷板(它们没做)+性价比。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P0(最高)→Manifold+电源冷板同步送样→2027批量¥100M目标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35" name="Text 32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腾讯-业务概览与液冷策略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¥1,300亿+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ETH-64/128→星脉256卡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自建DC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天津/贵安/清远/仪征/怀来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冷板为主 混元集群大规模部署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CDU/Manifold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招标制 英维克/CoolIT为主供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腾讯冷板被CoolIT锁定 但CDU/Manifold公开招标→海悟Manifold可参与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腾讯-海悟进入路径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液冷年采购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¥10-15亿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3746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10" name="Text 8"/>
          <p:cNvSpPr/>
          <p:nvPr/>
        </p:nvSpPr>
        <p:spPr>
          <a:xfrm>
            <a:off x="261061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1061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¥3-5亿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FF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087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¥15-25M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9798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13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7113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141732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417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当前状态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16459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腾讯液冷: CoolIT(冷板一供)+英维克(CDU/Manifold)→成熟供链。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13055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1305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进入窗口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235915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CDU/Manifold→招标制(≠GPU绑定)→海悟P1:参与招标差异化CDU(节能+价格)。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4378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8437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推荐路线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07238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Manifold先投招标→中标=进入腾讯供链→CDU/冷板交叉销售。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P1(CDU/Manifold)→阶段2026下→2027批量¥30M目标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32" name="Text 29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快手/百度/拼多多 — 其他OTT机会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海悟优先级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¥600-800亿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冷板起步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P1(CDU/Manifold)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¥800-1,000亿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昆仑芯+冷板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百度认证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P2(需认证)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拼多多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¥300-500亿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需求小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P3(非优先)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快手冷板起步→CDU/Manifold招标→海悟P1。百度/拼多多P2/P3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OTT总结：液冷决策权分布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400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阿里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6868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CDU/Manifold=自主招标 冷板=思泉/OEM推荐→海悟通道:H3C+思泉→P1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533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字节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8191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CDU/Manifold=自主招标(自研队) 冷板=自主定制→海悟通道:浪潮/宁畅→P0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6654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腾讯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9514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CDU/Manifold=公开招标 冷板=CoolIT锁定→海悟通道:直接招标→P1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7977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快手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00837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CDU/Manifold=招标 冷板=OEM推荐→海悟通道:OEM+直接→P1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93008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930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结论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72160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CDU/Manifold赛道≠GPU绑定→海悟所有OTT均可直接参与 最大窗口=字节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solidFill>
            <a:srgbClr val="EEECE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165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CDU/Manifold赛道≠GPU绑定 海悟可直投招标 字节=最大窗口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OTT机柜级液冷规格汇总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1005840"/>
                <a:gridCol w="914400"/>
                <a:gridCol w="914400"/>
                <a:gridCol w="914400"/>
                <a:gridCol w="548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OTT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GPU+CPU+MEM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100-200kW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GPU+CPU+电源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100-150kW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自研+招标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不需要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100-150kW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OCP衍生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GPU+CPU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不需要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字节认证要求最低=最大窗口 阿里/腾讯有认证门槛 但CDU/Manifold均不受限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OTT小结：优先级排序与触达空间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188720"/>
                <a:gridCol w="1188720"/>
                <a:gridCol w="822960"/>
                <a:gridCol w="640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OTT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2026液冷采购(¥B)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海悟SAM(¥M)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进入难度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150-360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低(零既有供应商)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16-20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100-240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中(需认证)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中(招标竞争)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44-57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EEECE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字节+阿里+腾讯=OTT液冷80% 海悟P0攻字节+P1阿里/腾讯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字节+阿里+腾讯=OTT液冷80% 海悟P0攻字节+P1阿里/腾讯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4" name="Text 1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二看★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看市场：GPU芯片深度洞察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每GPU 2页：芯片规格·OEM生态·液冷机会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华为昇腾-芯片路线图(→2028) 一年一代翻倍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1005840"/>
                <a:gridCol w="640080"/>
                <a:gridCol w="640080"/>
                <a:gridCol w="1188720"/>
                <a:gridCol w="822960"/>
                <a:gridCol w="64008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FP8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FP4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伙伴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910B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 H2e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950PR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2026Q1✅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Prefill+推荐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HiBL1.0(自研)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2TB/s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7家整机伙伴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Decode+训练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HiZQ2.0 144GB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2TB/s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超聚变/浪潮/昆仑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训练推理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翻倍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旗舰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1.5×+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4TB/s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昇腾确立一年一代算力翻倍节奏 | 自研HBM双轨(HiBL低成本/HiZQ高性能) | 灵衢协议8192卡全互联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昇腾-OEM生态与液冷机会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超聚变嫡系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华为昇腾核心OEM(40%)→Atlas 900整柜液冷→华为指定冷板→海悟机会:Manifold/CDU(非GPU绑定)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开放OEM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浪潮(25%)/宁畅(10%)→910B/950PR出货→冷板华为指定度较低→Manifold/CDU外购→海悟直接机会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液冷趋势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910B:风冷/冷板可选→950PR:推荐冷板→950DT:冷板为主→Atlas 900:液冷整柜刚需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海悟策略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昇腾体系=半封闭(华为指定冷板)→海悟不做冷板正面竞争→Manifold/CDU突破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优先级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P1(Manifold/CDU)→通过浪潮/宁畅→冷板P2(认证后2027+)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寒武纪-芯片规格与液冷需求</a:t>
            </a:r>
            <a:endParaRPr lang="en-US" sz="1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1005840"/>
                <a:gridCol w="731520"/>
                <a:gridCol w="9144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 HBM2e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浪潮/宁畅/联想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128GB HBM3(估)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寒武纪生态最开放 OEM自主选液冷 590→690功耗跳升=冷板刚需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寒武纪-液冷机会与海悟策略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生态特点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寒武纪不指定液冷供应商→OEM(浪潮/宁畅)自主选择→最开放的国产GPU液冷生态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功耗轨迹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590(350W)→690(500W)→冷板从可选变推荐→液冷需求确定性高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出货增长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 50万卡→2028E 150万卡+(估)→液冷组件需求3倍增长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海悟机会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Manifold直接(无认证)→冷板P1(需寒武纪认证但门槛&lt;NVIDIA)→CPU冷板搭售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优先级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P0(Manifold)+P1(冷板)→寒武纪线=海悟最易进入的国产GPU生态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寒武纪=海悟P0首选: Manifold免认证+冷板低门槛+CPU冷板搭售=最快变现路径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海光DCU-芯片规格与信创机会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1005840"/>
                <a:gridCol w="731520"/>
                <a:gridCol w="9144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深算2号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32GB HBM2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深算3号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 HBM3(估)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信创DCU→国产液冷优先(政策利好) 中科曙光生态相对开放 深算3号500W=液冷刚需 2027起量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海光DCU-液冷机会与信创优势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信创优势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DCU国产化=政策优先→央企/政府/运营商采用→国产液冷组件优先采购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曙光绑定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中科曙光为嫡系OEM(40%+)→曙光液冷=曙光数创为主→海悟需外部OEM突破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浪潮渠道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浪潮为第二OEM(25%)→海悟已建立浪潮关系→Manifold/CDU通过浪潮进入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液冷需求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深算2号300W=风冷即可→3号500W=冷板推荐。需求随3号增长2027-2028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优先级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P1→海光=信创赛道(长期利好)→Manifold/CDU先行→冷板P2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海光=信创赛道P1长期利好 通过浪潮渠道突破曙光壁垒 液冷需求2027起量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阿里平头哥-真武810E与万卡集群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真武810E 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~60万卡(阿里自用)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万卡互联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突破1万卡 片间700GB/s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全液冷架构 GPU+交换+存储一体化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阿里云招标(认证+价格+交付)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万卡集群=机柜级液冷均可参与招标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阿里自研芯片≠封闭生态 外部液冷供应商可参与招标 万卡集群=机柜级液冷大机会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平头哥+昆仑芯+其他GPU-液冷机会对比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平头哥(阿里)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60万卡→全液冷→阿里招标。海悟P1:CDU/Manifold/冷板→通过H3C+思泉→需阿里认证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昆仑芯(百度)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20万卡→350W→风冷为主。昆仑芯R300冷板→百度认证→海悟P2(需认证长周期)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沐曦/景嘉微/摩尔/壁仞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出货&lt;10万/家→风冷为主→液冷需求小→海悟P3(非主力远期跟踪)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GPU策略建议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聚焦昇腾(P1)+寒武纪(P0)+海光(P1)+平头哥(P1)=4家T1 GPU→P3其余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4家T1 GPU合计340万卡/年 聚焦P0/P1 GPU = 液冷采购¥2.5-5.2B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GPU→OEM映射总表</a:t>
            </a:r>
            <a:endParaRPr lang="en-US" sz="1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822960"/>
                <a:gridCol w="1188720"/>
                <a:gridCol w="1188720"/>
                <a:gridCol w="73152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超聚变(40%)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浪潮(25%)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推荐→必须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1.4-2.7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浪潮(35%)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宁畅(25%)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可选→推荐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曙光(40%)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浪潮(25%)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可选→推荐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阿里自用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0.5-0.9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2.5-5.2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昇腾(55%+)主导 液冷采购¥2.5-5.2B CAGR 60%+ 国产GPU液冷TAM快速增长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GPU生态开放度与海悟策略矩阵</a:t>
            </a:r>
            <a:endParaRPr lang="en-US" sz="1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371600"/>
                <a:gridCol w="1097280"/>
                <a:gridCol w="1371600"/>
                <a:gridCol w="548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海悟进入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华为指定(半封闭)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Manifold/CDU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OEM自主(最开放)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较宽松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全组件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曙光绑定(半开放)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曙光认证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Manifold/CDU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阿里招标(半开放)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Manifold/CDU/冷板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生态开放度: 寒武纪&gt;海光&gt;平头哥&gt;昇腾。先攻寒武纪=最快变现路径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看市场：OEM服务器厂商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超节点OEM格局·液冷采购规模·海悟准入路径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H3C新华三-业务概览</a:t>
            </a:r>
            <a:endParaRPr lang="en-US" sz="1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~25%(国内最大AI服务器OEM)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NVIDIA+昇腾+寒武纪(最广谱)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 ~8,000-12,000台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¥2.5-4.0B/年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液冷供方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CoolIT(冷板)+英维克(CDU/Manifold)+AVC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已接触→待送样Manifold→¥25M目标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H3C=最大AI服务器OEM(25%) 海悟已接触→2026 Manifold送样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H3C新华三-液冷采购与海悟机会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供链结构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CoolIT(冷板一供)+英维克(CDU/Manifold)→海悟切入Manifold(外购≠自制)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采购流程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Manifold→招标(品质+交期+价格)→CDU→招标→冷板→GPU推荐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海悟进展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已建立H3C关系→Manifold方案提交→待送样测试→预计2026H1送样→H2框架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¥25M目标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Manifold→H3C独家供应(2027)→2,000柜×¥12.5K/套=¥25M→冷板+CDU搭售→¥50M+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H3C Manifold送样2026H1→框架协议H2→¥25M目标2027 冷板+CDU搭售=¥50M+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浪潮信息-业务概览与液冷采购</a:t>
            </a:r>
            <a:endParaRPr lang="en-US" sz="1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~22%(第二)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NVIDIA+昇腾+寒武纪+海光(最广谱)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¥2.2-3.5B/年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字节(百亿级液冷大单)+腾讯+百度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液冷供方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英维克(CDU/Manifold)+高澜(冷板)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已接触→待送样→¥15M目标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浪潮=字节最大OEM→海悟通过浪潮进入字节=最大战略窗口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宁畅/超聚变/联想/华勤 — 中型OEM</a:t>
            </a:r>
            <a:endParaRPr lang="en-US" sz="1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188720"/>
                <a:gridCol w="1097280"/>
                <a:gridCol w="1280160"/>
                <a:gridCol w="64008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2026目标(¥M)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NV+昇腾+寒武纪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1.2-2.0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昇腾(嫡系)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1.8-3.0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待接触(华为壁垒)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NV+海光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ODM多品牌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0.8-1.2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H3C+浪潮+宁畅=59%OEM P0集中攻坚 超聚变/联想/华勤P1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OEM液冷组件采购规模BOM拆解</a:t>
            </a:r>
            <a:endParaRPr lang="en-US" sz="1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66928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005840"/>
                <a:gridCol w="1005840"/>
                <a:gridCol w="914400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数量/柜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ASC(¥)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2,000-3,000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2.5-4.5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18-36片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600-1,200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36+片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400-800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200+个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150-600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1.0-2.5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100K-200K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8-16套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4K-12K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22-47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0632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30632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0906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电源冷板(5x增长)+Manifold(5x)=海悟双P0 GPU冷板(3x)远期目标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EEECE1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海悟核心赛道: 电源冷板+Manifold(双P0高增长)→CDU+快接头(P1拓展)→GPU冷板(P2远期)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4" name="Text 1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看市场：IDC运营方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CSP运营商·IDC运营方·采购特征与海悟切入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国内CSP运营商-液冷部署</a:t>
            </a:r>
            <a:endParaRPr lang="en-US" sz="1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914400"/>
                <a:gridCol w="164592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DC(万架)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招标CDU/Manifold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天翼云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招标(国资)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联通云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华为闭环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CSP CDU/Manifold自主采购 移动云/天翼云最大→P1国资通道优先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国内IDC运营方-液冷需求</a:t>
            </a:r>
            <a:endParaRPr lang="en-US" sz="1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97280"/>
                <a:gridCol w="1280160"/>
                <a:gridCol w="11887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机柜(万)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万国(GDS)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强(AI DC)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阿里/字节/腾讯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CDU/Manifold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秦淮数据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强(字节)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字节(最大)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运营商级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中(阿里)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世纪互联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光环新网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AWS/多元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秦淮(字节通道)/数据港(阿里通道)/万国(多元通道)=CDU/Manifold P1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EEECE1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IDC通道优先级: 秦淮(字节)&gt;数据港(阿里)&gt;万国(多元)  CDU/Manifold通过OEM交付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4" name="Text 1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IDC运营方采购特征深度分析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CDU自主决策权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IDC运营方拥有CDU完整决策权(≠OEM决定)。规格100-150kW。招标:变频效率+冗余+售后+价格。海悟温控基因+IDC客户=最优跳板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Manifold自主决策权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同样拥有Manifold自主决策权→招标(品质/交期/兼容性)。无强制认证=最低壁垒。海悟P0→2026送样秦淮/万国/数据港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冷板间接进入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冷板由GPU厂家+OEM决定→IDC不直接选冷板→海悟先通过OEM认证再经由IDC扩大批量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三类通道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OTT自建DC→直接招标(CDU/Manifold)。运营商→国资采购+国产化。第三方IDC→受客户影响但仍有自主权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CDU/Manifold自主决策=海悟IDC基因天然优势 Manifold 10K-15K套×30%(IDC占比)=3K-4.5K套 海悟目标300-900套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四维需求汇总：TAM/SAM/SOM模型</a:t>
            </a:r>
            <a:endParaRPr lang="en-US" sz="1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73152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驱动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TAM(中国液冷组件)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DC+GPU+PUE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SAM(海悟可服务)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冷板/Manifold/CDU/接头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SOM(国内线)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Manifold→冷板→CDU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SOM(海外线)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ODM→OEM→自有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33756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33756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36499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TAM CAGR 59% 市场急速膨胀 SAM/TAM~50% SOM ¥50M→¥1B 5年20倍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二看小结：需求侧核心发现与客户优先级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OTT TOP5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 ¥2,600亿(液冷最大客户) &gt; 阿里 ¥1,600亿 &gt; 腾讯 ¥1,300亿 &gt; 快手 ¥700亿 &gt; 百度 ¥900亿。CDU/Manifold = 自主招标 → 海悟P1直接机会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GPU-OEM映射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昇腾180万卡(#1) &gt; 平头哥60万 &gt; 寒武纪50万 = 海光50万。液冷采购 ¥2.5-5.2B。生态开放度: 寒武纪 &gt; 海光 &gt; 平头哥 &gt; 昇腾 — 先攻寒武纪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OEM格局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H3C(25%) + 浪潮(22%) + 宁畅(12%) = 59% → 均已接触。P0: 三家送样Manifold → 2026 ¥45M合计。华勤/联想/超聚变P1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IDC通道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秦淮(字节) / 数据港(阿里) / 万国(多元) → CDU/Manifold自主决策。海悟IDC基因 = 天然优势 → 2026送样IDC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总排序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P0: 浪潮/H3C/宁畅Manifold送样 → 字节/寒武纪双线 → P0: 电源冷板研发 → P1: Intel UQD/阿里认证 → P2: 海外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187952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4187952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15384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需求侧铁律: OTT¥49-65B GPU¥2.5-5.2B OEM三家→Manifold P0 2026送样突破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全球液冷DC标杆案例</a:t>
            </a:r>
            <a:endParaRPr lang="en-US" sz="1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645920"/>
                <a:gridCol w="1097280"/>
                <a:gridCol w="640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DC名称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 v7园区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 100%液冷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~50MW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冷板+浸没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150MW+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Trainium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冷板标配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~100MW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Research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冷板全液冷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~80MW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74320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74320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77063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海外T1液冷DC = 100%冷板标配 PUE 1.10-1.12 中国液冷渗透率&lt;5% → 巨大空间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IDC液冷采购经济模型：TCO对比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【1】风冷TCO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单柜¥200K-300K/年(电费+运维+扩容)。PUE 1.4。单柜运营成本¥120K(电费¥100K+维保¥20K)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【2】液冷TCO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单柜¥150K-220K/年。PUE 1.12。电费¥80K+液冷维保¥30K+折旧¥40K。年省¥50K-80K/柜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【3】盈亏平衡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液冷增量投资¥200K/柜(冷板+CDU+Manifold) ÷ 年省¥60K = 3.3年回本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【4】规模效应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1万柜:年省¥600M; 10万柜:年省¥6B。电力成本=DC运营最大成本 液冷直接减30%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【5】结论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TCO优势不可逆+PUE政策刚性=液冷经济确定性。冷板组件ASP溢价空间=省电的20-30%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187952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4187952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15384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液冷省电=2×(1.4-1.12)×30kW×¥0.5/kWh×8760h=¥37K/柜/年 3.3年回本 经济逻辑不可逆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液冷客户画像：按GPU选择细分</a:t>
            </a:r>
            <a:endParaRPr lang="en-US" sz="18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914400"/>
                <a:gridCol w="11887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昇腾+平头哥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浸没+冷板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昇腾+寒武纪+自研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浪潮/超聚变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三大运营商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昇腾+海光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字节=需求最明确+认证最低+GPU(昇腾+寒武纪)=最优P0 海悟双线同时突破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海悟OEM客户矩阵与推进进展</a:t>
            </a:r>
            <a:endParaRPr lang="en-US" sz="1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91440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¥目标(¥M)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H3C★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已接触:Manifold方案提交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浪潮★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已接触:待送样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宁畅★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已接触:待送样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初次拜访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初次拜访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待研究(华为壁垒)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33756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33756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36499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2026 SOM ¥50M = H3C ¥25M + 浪潮 ¥15M + 宁畅 ¥10M 2027→¥250M 2028→¥400M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液冷组件标准与认证路径全景</a:t>
            </a:r>
            <a:endParaRPr lang="en-US" sz="1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371600"/>
                <a:gridCol w="731520"/>
                <a:gridCol w="6400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颁发方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涉及组件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COOLER-SPEC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极高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2028目标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UQD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12-24月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2026Q2启动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OCP Cold Plate v3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冷板通用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阿里液冷认证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冷板/CDU/Manifold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字节液冷(无认证)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即入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Intel UQD=最大壁垒(12-24月) → 2026Q2启动 字节=零认证=最低门槛 → 优先突破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五看三定方法论：论证框架回顾</a:t>
            </a:r>
            <a:endParaRPr lang="en-US" sz="1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核心问题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海悟回答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一看宏观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液冷是否为刚需？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GPU功耗不可逆+PUE政策=是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二看市场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需求在哪？多大？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OTT ¥49-65B + GPU ¥2.5-5B + IDC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三看竞争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对手是谁？差距？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英维克/CoolIT/高澜/Staubli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四看机会&amp;自己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海悟能做什么？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 + 电源冷板 = 双P0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五看三定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战略/目标/策略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 → ¥1B (5年)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103页=五看逐项深挖 每GPU/每OTT/每竞品/每组件独立展开 完整论证链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看竞争+产业链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全球液冷组件供应商全景·竞争差距·供应链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液冷组件竞争全景</a:t>
            </a:r>
            <a:endParaRPr lang="en-US" sz="18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371600"/>
                <a:gridCol w="914400"/>
                <a:gridCol w="7315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国际龙头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国内龙头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CoolIT/AVC/nVent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CoolIT/AVC/Delta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英维克/同飞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Vertiv/Schneider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英维克/曙光/高澜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英维克/高澜/同飞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 72%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Manifold(国产70%)+电源冷板(空白)=海悟P0双轮 冷板暂避NV认证壁垒 2027+国产GPU窗口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英维克：国内液冷龙头全栈优势</a:t>
            </a:r>
            <a:endParaRPr lang="en-US" sz="1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海悟差异化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¥1.5-2.0B(2025)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¥50M(2026)→¥1B(2030)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腾讯/移动/阿里/H3C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H3C/浪潮/宁畅(已在接触)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OCP2025+NVIDIA2027E+Intel UQD进行中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 2026Q2启动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GPU/CPU冷板+CDU+Manifold全栈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 P0+电源冷板 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避开正面竞争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差异化:电源冷板(英维克未做)+Manifold价格-15%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英维克=最大综合对手 海悟差异: 电源冷板(蓝海)+价格-15%+交付缩短33%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CoolIT/AVC：NVIDIA认证一供</a:t>
            </a:r>
            <a:endParaRPr lang="en-US" sz="1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 Systems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AVC(奇鋐科技)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Dell/HPE/SMCI/H3C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Dell/HPE/联想/字节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$800M+(估)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$500M+(估)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 NVL72(一供)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Cooler+Fan模组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2027+国产GPU窗口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2027-2030替代窗口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6060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334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CoolIT+AVC=双寡头占NV冷板90%+ 2027+国产GPU(昇腾/寒武纪)崛起=海悟窗口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Vertiv/Schneider/Staubli：国际三强</a:t>
            </a:r>
            <a:endParaRPr lang="en-US" sz="1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 $500M+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CDU全球渠道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$120K-150K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价格低30%本土化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Schneider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电气冷却一体化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$130K-180K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Staubli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$300M+(快接头)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密封专利72%份额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$20-80/个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6060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334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国际巨头CDU价格差30%+ → 国产替代空间大 Staubli快接头72%份额=Manifold搭售机会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高澜/曙光数创/同飞/申菱：国内二线</a:t>
            </a:r>
            <a:endParaRPr lang="en-US" sz="18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645920"/>
                <a:gridCol w="137160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¥0.5-1.0B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浪潮+腾讯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曙光数创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¥0.3-0.5B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信创链竞争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同飞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~¥0.2B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CDU+温控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CDU中低端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~¥0.15B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6060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334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高澜(最强)+曙光(信创)→海悟差异: 电源冷板(它们都未做) Manifold品质+交期突显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英维克深度：客户与订单分析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【1】腾讯关系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英维克最大客户 腾讯ETH液冷主供。2025-2026 ¥800M+框架。海悟策略:CDU/Manifold差异化招标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【2】阿里关系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阿里液冷第二大客户 磐久3.0 CDU供方。但阿里招标制→可替换(技术分+价格分)→海悟窗口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【3】字节关系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字节液冷供方(小份额) 自研团队建成→英维克份额受挑战。海悟通过浪潮进入(互补非替代)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【4】英维克软肋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冷板认证未通过NVIDIA(2027目标)→依赖国产GPU。CDU产能紧张(2025满产)→交付周期9-12月→涨价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英维克腾讯¥800M+/年锁死 + 产能缺口1500台CDU = ¥150M市场空白 → 海悟即切入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英维克深度：财务横截面与海悟对标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【1】液冷营收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¥1.5-2.0B(2025)占比30%+ 毛利率~35% vs 海悟目标¥50M(2026)→¥1B(2030)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【2】CDU产能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年产能2,500台(2025满产) vs 2026需求4,000台=缺口1,500台=¥150M市场空白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【3】冷板认证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2025已取得 NVIDIA 2027目标(未取得) Intel UQD(进行中)。海悟基线:Intel UQD 2026Q2启动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【4】估值参考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英维克市值¥40B+(液冷龙头估值) → 海悟液冷业务5年估值锚:¥1B营收×3-5x P/S=¥3-5B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英维克CDU缺口1500台=¥150M空白 海悟5年估值锚¥3-5B 电源冷板+Manifold双轮驱动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英维克深度：海悟竞争策略矩阵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【1】Manifold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英维克主供腾讯+H3C → 海悟差异化:品质+价格-15%(英维克ASP ¥10K→海悟¥8.5K)+交期缩短(6周→4周)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【2】CDU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英维克主导 → 海悟P2远期(2029+)。短期避免正面竞争 先做Manifold+冷板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【3】电源冷板★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英维克未覆盖 → 海悟P0蓝海。2026立项→2027POC→先发+专利+绑OEM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【4】整体策略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不正面挑战英维克全栈 → Manifold+电源冷板双轮差异化 → 建立战略纵深后扩展冷板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差异定位: Manifold(价格-15%+交期-33%) 电源冷板(蓝海独享) 建立纵深后扩展全栈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CoolIT深度：NVIDIA一供不可替代性</a:t>
            </a:r>
            <a:endParaRPr lang="en-US" sz="1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NVL72冷板一供 全球液冷冷板#1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Dell/HPE/SMCI/H3C/联想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加拿大HQ+亚洲OEM(待建) 交期4-6周(最快)但受限于加拿大产能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NVIDIA认证唯一(冷板)3年窗口无人可替代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2027+国产GPU冷板→非NV体系→可开辟第二赛道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2027+国产GPU=非NV体系→CoolIT不覆盖=海悟窗口 昇腾/寒武纪冷板=第二赛道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CoolIT深度：替代可能性分析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【1】短期(2026-2027)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NVIDIA体系不可替代 CoolIT一供锁定。海悟→不做正面替代→做国产GPU冷板+Manifold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【2】中期(2028-2029)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NVIDIA冷板双供可能(OCP推动)→海悟可认证后参入。国产GPU冷板→海悟直接竞争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【3】长期(2030+)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NVIDIA开放冷板标准→多供应商。CoolIT份额下降→海悟可全面进入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【4】海悟路径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短期:Manifold+电源冷板→中期:国产GPU冷板+CPU冷板→长期:全栈(含NV冷板)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三步走: 短期二线突围→中期国产冷板→长期NV全栈 路径清晰 时间节奏可控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海外竞品速览：AVC/Delta/nVent/Boyd</a:t>
            </a:r>
            <a:endParaRPr lang="en-US" sz="18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914400"/>
                <a:gridCol w="91440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营收(估)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AVC(奇鋐)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Delta(台达)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CPU冷板温控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nVent(盈凡)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Boyd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通用冷板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液冷供应链地图：上游关键物料</a:t>
            </a:r>
            <a:endParaRPr lang="en-US" sz="18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188720"/>
                <a:gridCol w="91440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主要供应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铝板6061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冷板本体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中铝/南山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充足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密封件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冷板密封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进口(3M/Parker)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泵(磁力)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Grundfos/Iwaki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国产&lt;20%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不锈钢接头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进口(Ti)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供应链策略与海悟自主化路线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【1】密封件国产化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当前进口3M/Parker占70%+ → 2026开发国产替代(宁波/苏州厂商) → 2027切换30% → 降本15%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【2】泵国产化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Grundfos/Iwaki为主 → 国产磁力泵(凯泉/南方) → 2026测试 → 2027批量 → 降本20%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【3】快接头自研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Staubli专利绕过 → 差异化密封结构 → 2027专利申请 → 2028量产 → 降本40%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【4】供应链总目标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2026进口比例70% → 2028进口比例30% → 2030进口比例&lt;10%。总降本幅度30-40%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产业链+外企vs国产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竞争窗口与海悟差异化空间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外企vs国产化全面对比与产业链结构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外企(CoolIT/AVC/nVent)→NVIDIA认证一供(¥8-12K/片)。国产→2027-2028认证双供(-30%价)。海悟→2028认证后进入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外企(Vertiv/Schneider)→¥120K-150K。国产→¥80K-100K。技术差距1-2年→海悟2029+加入(标准化+本土化)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Staubli(72%)→Parker(10%)→Eaton(8%)→国产&lt;5%。密封专利绕过+耐久≥30K+OEM送样→窗口2026-2028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海悟最优卡位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Manifold(壁垒低→出量¥50M)→电源冷板(100%空白→蓝海)→CPU冷板(Intel UQD→主力)→快接头(搭售)→CDU(远期)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三看小结：竞争窗口与海悟差异化</a:t>
            </a:r>
            <a:endParaRPr lang="en-US" sz="18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371600"/>
                <a:gridCol w="7315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竞争态势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海悟差异化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倒计时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CoolIT/AVC双寡头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国产GPU新冷板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UQD+规模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Intel认证(2028)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2028-2030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~24月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无龙头→分散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送样P0→批量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0-6月！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100%外资空白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先发专利+绑OEM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 72%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搭售+国产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液冷组件全行业战斗力矩阵</a:t>
            </a:r>
            <a:endParaRPr lang="en-US" sz="18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"/>
                <a:gridCol w="548640"/>
                <a:gridCol w="548640"/>
                <a:gridCol w="548640"/>
                <a:gridCol w="9144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最强国内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Staubli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C(目标)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C(远期)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A(目标)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B(远期)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B→A-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竞品路线图预测 (2026-2030)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2026:OCP认证→2027:NVIDIA认证→2028:海外(东南亚)→2030:全球前三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2026:NVL72独家→2027:亚洲OEM→2028:双供压力→2030:份额下降50%+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2026:冷板扩产→2027:认证突破→2028:CDU全栈→2030:国内前三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2026:Manifold批量+电源冷板立项→2027:多客户+CPU冷板→2028:Intel UQD→2030:¥1B+海外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三看总结：竞争格局核心判断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竞争态势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国内:英维克=全能龙头但CDU产能不足+冷板无NV认证=缺口。海外:CoolIT/AVC/Staubli=寡头但国产窗口已到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海悟核心差异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电源冷板=100%空白(全部竞品未做) → Manifold=低壁垒出量 → 双P0组合=唯一策略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窗口评估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Manifold:0-6月(送样即可) → 电源冷板:6-12月(研发+专利) → CPU冷板:24月(Intel认证)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风险评估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正面竞争(CoolIT/英维克)=P2远期 → 空白市场(电源冷板)=P0立即 → 搭售市场(快接头)=P1中期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总排序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Manifold(6月) &gt; 电源冷板(12月) &gt; 内存冷板(18月) &gt; 快接头(18月) &gt; CPU冷板(24月) &gt; GPU冷板(18月+)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看机会 + 看自己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7大组件深度拆解·供需缺口·海悟能力匹配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GPU冷板：NVIDIA认证壁垒 + 国产GPU窗口</a:t>
            </a:r>
            <a:endParaRPr lang="en-US" sz="18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全球$5-8B，中国¥5-8B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全球~400万片，中国~50-80万片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NV冷板¥2K-3K vs 国产¥600-1.2K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COOLER-SPEC-002→12-18月→仅3家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寒武纪/海光/平头哥→认证宽松(+30%)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P2(2027-2028)→先Manifold再推冷板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电源冷板：TAM ¥0.5B→¥39B 蓝海</a:t>
            </a:r>
            <a:endParaRPr lang="en-US" sz="18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单柜数量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ASP(¥)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400-800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350-700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250-500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需求(万片)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800-1,500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国内供方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立项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CPU冷板 + 内存冷板：TAM合并¥6-8B</a:t>
            </a:r>
            <a:endParaRPr lang="en-US" sz="18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914400"/>
                <a:gridCol w="7315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渗透率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海悟(2030)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¥3-5B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¥600-1,200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0→30%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¥0.3-0.5B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¥200-400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5→40%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光模块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CDU：全球$4.5B→$20.6B 竞争激烈</a:t>
            </a:r>
            <a:endParaRPr lang="en-US" sz="18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TAM(全球)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2026 $4.5B→2030 $20.6B CAGR 46.4% (国信证券)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TAM(中国)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$1.1B→$5.2B (全球×~25%)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50-150kW主需求→200kW+(NVL72) | 集中式/分布式×风液/液液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Vertiv/Schneider/Delta/nVent/CoolIT/台达 | 国内:英维克/曙光/高澜/申菱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格兰富/赛莱默主导 | 🔥飞龙HP22K已量产(国产突破)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P2远期→搭售→差异化 先做Manifold出量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Manifold：低壁垒出量 P0主战场</a:t>
            </a:r>
            <a:endParaRPr lang="en-US" sz="18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¥3B→¥25B，CAGR 70%+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¥4K-12K/套(8-16套/柜)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10K-15K→80K-100K套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英维克/高澜/同飞/申菱→≤15%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制造(焊接/洁净/氦检)→无认证！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送样H3C/浪潮/宁畅→2026 ¥50M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送样+框架(2026Q1)→小批(2027H1)→独供(2028+)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快接头：Staubli 72%垄断突破路径</a:t>
            </a:r>
            <a:endParaRPr lang="en-US" sz="18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72%(快接头市场寡头)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核心技术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USP密封结构专利→设计模仿困难; ≥50万次插拔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利润结构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单价$20-80/个 毛利率60%+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国产&lt;5%→技术差距缩小→窗口2026-2028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海悟路线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P1搭售Manifold→触发交期&gt;12周=替代信号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供需平衡全景：7大组件产能vs需求缺口</a:t>
            </a:r>
            <a:endParaRPr lang="en-US" sz="18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097280"/>
                <a:gridCol w="822960"/>
                <a:gridCol w="11887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2026E需求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国内产能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缺口(%)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50-80万片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80-120万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30-50万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几乎为0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全新需求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2K-4K台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1.2K-2.5K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扩产周期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10K-15K套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5K-8K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加工产能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300-600万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30-60万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Staubli垄断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四件套协同价值与机会优先级总排序</a:t>
            </a:r>
            <a:endParaRPr lang="en-US" sz="18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914400"/>
                <a:gridCol w="1097280"/>
                <a:gridCol w="91440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¥B(2030)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空白率(%)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Intel(高)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专利(中)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NV(高)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海悟能力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P0出量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P0蓝海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看自己：海悟机柜级液冷组件能力评估</a:t>
            </a:r>
            <a:endParaRPr lang="en-US" sz="18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097280"/>
                <a:gridCol w="13716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M+(风冷转液冷)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GPU/CPU仿真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招聘+校企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6-9月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M++(焊接/组装)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洁净+氦检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设备采购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M(温控测试台)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自建¥200K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M--(空白)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Intel/NV/OCP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Intel先(2026Q2)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12-24月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M(铝板/管/泵)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快接头/密封件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开发+国产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M+(H3C/浪潮/宁畅)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OTT=无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通过OEM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M-(IDC有)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液冷=无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Manifold批量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海悟SWOT分析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优势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温控基因(20年+数据中心经验)→热管理技术复用。IDC客户群(已有关系)。制造能力M++(焊接/组装)。本土化服务(响应速度)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 劣势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液冷品牌=空白(从零建)。认证=空白(Intel/NV/OCP均未取得)。海外渠道=无。液冷人才=缺乏(需招聘)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 机会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电源冷板=100%空白(no competitor)。国产GPU=认证半开放。Manifold=低壁垒出量。IDC采购决策自主。CAGR 60%+市场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威胁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英维克全栈压制(冷板+CDU+Manifold)。CoolIT/AVC NV认证牢不可破。Staubli专利壁垒。认证周期长(12-24月)。竞品跟进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四看小结：海悟机会地图与进攻路线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第一步(2026)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Manifold送样H3C+浪潮+宁畅(P0)-&gt;电源冷板研发立项(100%缺口)-&gt;内存冷板差异化-&gt;Intel UQD启动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813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第二步(2027)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Manifold小批¥50M-&gt;电源冷板POC-&gt;OEM送样-&gt;框架协议-&gt;客户信任-&gt;冷板交叉销售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第三步(2028-2029)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877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UQD通过-&gt;CPU冷板¥80M-&gt;电源冷板¥120M-&gt;快接头搭售-&gt;¥400M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第四步(2030)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5643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全线:冷板+Manifold+快接头+CDU-&gt;¥1.0B-&gt;国内液冷第二-&gt;海外ODM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定战略·定目标·定策略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进攻路径·里程碑·风险管控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定战略：专业热管理零部件供应商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海悟定位:专业热管理零部件供应商-&gt;非OEM竞争对手(合作供应视角)-&gt;非系统集成商(组件为王)-&gt;双线独立:国内线+海外线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813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P0双轮(2026)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Manifold低壁垒出量(¥50M)-&gt;电源冷板蓝海空白(先发)-&gt;内存冷板差异化-&gt;搭售快接头-&gt;建立OEM客户信任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P1储备(2027-2028)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877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UQD+CPU冷板-&gt;国产GPU冷板-&gt;快接头量产-&gt;搭售CDU-&gt;客户加深绑定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P2远期(2029-2030)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5643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NVIDIA认证-&gt;全栈冷板-&gt;CDU差异化-&gt;海外ODM-&gt;国内第二/全球可选供应商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定目标：2026→2028→2030三年营收拆解</a:t>
            </a:r>
            <a:endParaRPr lang="en-US" sz="18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海外ODM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¥1,000M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定策略：三路并行 + 四阶段进攻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直接路径(2026)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Manifold送样-&gt;H3C/浪潮/宁畅-&gt;小批量-&gt;框架协议。渠道最短 验证最快。目标:2026年内一家正式框架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813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间接路径(2027)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秦淮(字节通道)-&gt;数据港(阿里通道)-&gt;华勤/富士康(ODM)-&gt;CDU/Manifold招标。借IDC/ODM避开OEM认证门槛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认证路径(2027-2028)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877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UQD(2026Q2启动)-&gt;阿里液冷-&gt;NVIDIA(2028)-&gt;OCP。从外围打入核心认证供应商圈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产品路线图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5643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Manifold出量(2026)-&gt;电源冷板爆量(2027Q3)-&gt;CPU冷板(2028H1)-&gt;快接头量产(2028)-&gt;CDU(2029+)-&gt;全栈(2030)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关键里程碑 &amp; 风险管控矩阵</a:t>
            </a:r>
            <a:endParaRPr lang="en-US" sz="18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31520"/>
                <a:gridCol w="2286000"/>
                <a:gridCol w="1463040"/>
                <a:gridCol w="45720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H3C/浪潮/宁畅送样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测试fail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多客户+保底3家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电源冷板研发立项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技术难度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专利+A/B方案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供应不稳定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产能冗余+备份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电源冷板首次OEM送样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竞品跟进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先发6-12月+绑客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未通过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国产UQD标准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CPU冷板+快接头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产能/人才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中/高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扩产+校企合作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全栈+海外ODM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技术突变/海外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低/高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浸没储备/国内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战略定位深度：海悟在产业链中的角色</a:t>
            </a:r>
            <a:endParaRPr lang="en-US" sz="18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行业角色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专业热管理零部件供应商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非OEM(不做服务器)非集成(不做DC) 专注组件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价值主张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低成本高可靠国产液冷组件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价格-15% vs CoolIT/英维克 品质对标国际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国内外AI服务器OEM+DC运营方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H3C/浪潮/宁畅/华勤 -&gt; 秦淮/万国/数据港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Manifold+电源冷板双轮差异化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避开正面对抗CoolIT/英维克冷板 攻空白+低壁垒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收入结构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2026:100%Manifold-&gt;2030:25%Manifold+25%电源+25%CPU+15%接头+10%CDU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目标拆解：2026关键KPI</a:t>
            </a:r>
            <a:endParaRPr lang="en-US" sz="18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27432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KPI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衡量标准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Manifold送样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3家OEM(H3C/浪潮/宁畅)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送样测试报告通过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框架协议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1家正式框架协议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合同签署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销售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¥50M(Manifold为主)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订单确认收入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财务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研发立项完成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方案设计+专利+原型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研发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UQD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认证启动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申请提交+首次测试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液冷测试台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自建完成(¥200K)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热性能+耐久测试台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目标拆解：2030愿景与路径</a:t>
            </a:r>
            <a:endParaRPr lang="en-US" sz="180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3(OEM)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UQD+NVIDIA+OCP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1(Manifold)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3(+电源+内存)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5(+CPU+接头)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7(+CDU+GPU)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ODM起步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自有海外渠道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估值锚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¥5B(P/S 5x)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策略深化：OEM准入四步法</a:t>
            </a:r>
            <a:endParaRPr lang="en-US" sz="180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18288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接触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建立关系 提交方案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客户拜访+方案书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送样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样品测试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3轮测试通过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框架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框架协议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合同+MOU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批量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正式量产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持续交付+质量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市场营销策略与品牌建设</a:t>
            </a:r>
            <a:endParaRPr lang="en-US" sz="18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海悟=国产液冷组件专家(冷板/Manifold/CDU/快接头)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ODCC 2026(北京)/OCP Summit 2026/Computex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白皮书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海悟液冷组件白皮书(2026)-&gt;技术博客-&gt;开源设计(Manifold)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客户推荐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H3C/浪潮POC成功=标杆案例-&gt;复用到更广OEM/IDC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数字营销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LinkedIn+CNKI+行业媒体 目标:2026 10篇技术文章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组织能力建设：液冷团队规划</a:t>
            </a:r>
            <a:endParaRPr lang="en-US" sz="180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822960"/>
                <a:gridCol w="82296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岗位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热管理/航空/汽车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机械设计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精密制造/CNC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焊接/氦检/组装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热性能/耐久/IP等级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Intel/NVIDIA/OCP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OEM/DC行业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CAPEX与投资计划</a:t>
            </a:r>
            <a:endParaRPr lang="en-US" sz="18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  <a:gridCol w="118872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投资项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液冷测试台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热性能+耐久+IP等级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洁净车间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焊接+氦检+组装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CNC/加工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冷板/Manifold自产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研发(专利)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快接头/密封件/工艺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Intel/NVIDIA/OCP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累计¥13M(2026-2028)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财务模型：营收/成本/利润(2026-2030)</a:t>
            </a:r>
            <a:endParaRPr lang="en-US" sz="1800" dirty="0"/>
          </a:p>
        </p:txBody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COGS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毛利(%,%)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利润率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风险评估与缓解矩阵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技术风险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电源冷板热设计复杂度-&gt;缓解:A/B双方案并行研发(6个月)+外聘1名专家+校企合作(华工/上交)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27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认证风险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647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UQD未通过-&gt;缓解:同步申请OCP+国产GPU认证 不依赖单一认证。2027Q2前完成3个认证申请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414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竞争风险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6791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英维克/高澜跟进电源冷板-&gt;缓解:先发6-12月+专利(2026Q3申请)+绑定3个OEM(框架锁定)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558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人才风险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5935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液冷人才稀缺-&gt;缓解:2026校园招聘5人+社会招聘5人+顾问(退休专家)。薪酬对标英维克+20%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敏感性分析：Variables驱动SOM</a:t>
            </a:r>
            <a:endParaRPr lang="en-US" sz="180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Variable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悲观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乐观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驱动因子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液冷机柜渗透率(2028)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PUE政策强度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Manifold单价(¥K)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竞争格局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海悟OEM份额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送样成功率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电源冷板TAM(¥B,2030)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800V PSU渗透速度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认证速度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 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 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团队能力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SOM(2028,¥M)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所有变量综合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投资回报：¥13M CAPEX vs ¥1B SOM</a:t>
            </a:r>
            <a:endParaRPr lang="en-US" sz="180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3年CAPEX(2026-2028)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5年营收(2026-2030累计)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¥1,750M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5年净利(累计)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¥162M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12.5x (净利/CAPEX)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累计现金流(2030)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¥85M(运营现金流)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估值(2030, P/S 5x)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估值/CAPEX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关键成功因素(CSF)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Manifold先发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1381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送样H3C/浪潮/宁畅(2026H1)=第一关键。失败=全盘推迟。成功=打开3个最大客户=¥50M基线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44168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6245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电源冷板蓝海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56362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100%空白窗口仅12月。竞品跟进前锁定:专利(2026Q3)+OEM框架+3家POC。窗口关闭=失去最大差异化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93976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122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Intel UQD认证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31343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决定CPU冷板能否在2028进入。不进=丢失CPU冷板¥8B TAM。2026Q2启动=最大提前量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62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人才团队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液冷热管理人才=核心资产。竞争激烈(同行高薪)-&gt;海悟承诺:股权+增长+影响力=长期吸引力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593592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1188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客户背书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81304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H3C/浪潮任一成功=行业标杆-&gt;复用到全行业。无标杆=无法规模化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战略执行路线图 (2026-2030全景)</a:t>
            </a:r>
            <a:endParaRPr lang="en-US" sz="1800" dirty="0"/>
          </a:p>
        </p:txBody>
      </p:sp>
      <p:graphicFrame>
        <p:nvGraphicFramePr>
          <p:cNvPr id="1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立项+专利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批量¥100M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POC+OEM送样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搭售研发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成熟¥100M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规模¥120M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认证¥80M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量产¥40M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扩展¥120M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增长¥180M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增长¥70M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现金牛¥150M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爆炸¥250M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主力¥250M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核心结论与行动建议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市场基调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79552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液冷不等于趋势问题等于执行速度问题。全球AI液冷TAM $10B(2026E)到$50B(2030E) CAGR 50%+。窗口1-2年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25272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海悟最优路径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43560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Manifold(6月送样)+电源冷板(12月POC)=双P0。先卡位后扩张:2026 Manifold到2027冷板到2028全栈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928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竞争优势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07568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电源冷板=100%空白(全部竞品未做)=海悟独有差异化。Manifold=低壁垒高增速=50M速赢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53288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关键风险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71576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认证(CoolIT/英维克已领先12-24月)+人才(液冷热管理稀缺)+竞品跟进(窗口仅6-12月)。均有缓解策略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7296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投资价值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35584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13M CAPEX vs 5B估值(2030)=385x。50M(2026)到1B(2030) CAGR 112%。净利率2027扭亏到2030 12%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1304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 行动建议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99592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立即:Manifold送样H3C/浪潮/宁畅(本周)。6月内:电源冷板研发立项+专利。12月内:Intel UQD启动+框架签订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致谢与声明</a:t>
            </a:r>
            <a:endParaRPr lang="en-US" sz="1800" dirty="0"/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 EDGAR 10-K/10-Q(12家: NVDA/AMD/INTC/GOOG/MSFT/AMZN/META/BIDU/VRT/NVENT/SMCI/DELL); 东方财富研报(72篇核心液冷赛道); 微信专家纪要(10篇); RSS情报(48篇供应链/技术/市场); 信通院/工信部/发改委公开报告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免责声明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【估算】标记数据为基于公开信息的推算,非财务预测。实际结果受市场/技术/竞争等多因素影响。本PPT仅供内部战略参考,不构成投资建议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华为五看三定框架。铁律体系(11条):数据交叉验证(Kimi+MiniMax)+来源索引(sources/)+推算公式(参数+步骤)+布局审查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v9 Expanded R4 | 103页 | PptxGenJS生成 | Microsoft YaHei 9pt+ | 白底#FFFFFF + #1F497D专业蓝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海悟科技 战略洞察部 | 2026年5月9日 | 机密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附录：关键源文件清单 (v6 2026-05-10更新)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🔥新增研报 (3篇 2026-05-10)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华源证券→国产超节点液冷新增量(2026-04-12) | 东吴证券→曙光海光超节点HSL(2026-04-14) | 国信证券→服务器液冷专题535亿美元(2026-04-14) → sources/reports/supernode/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155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 EDGAR (12家)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9844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GPU: NVDA/AMD/INTC | OTT: GOOG/MSFT/AMZN/META/BIDU | OEM: VRT(10-K/Q)/NVENT(10-K)/SMCI(10-K)/DELL(10-K)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556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核心研报 (593+篇)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193852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国信/开源/天风/民生/东吴/国金/华鑫/中邮/国海/头豹等 → sources/reports/industry_液冷/ + sources/reports/company/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9572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RSS情报 (48篇)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5786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供应链风险 | 芯片短缺 | 内存涨价 | OTT资本开支 | 数据中心趋势 → sources/rss/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358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竞品关键文件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2186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 10-K FY2025营收$20.1B | nVent 10-K Thermal $3.2B | SMCI 10-K GPU服务器$23.5B | DELL 10-K ISG $11.3B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758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8587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GPU对比表格-精确修正.csv | 液冷客户表_GPU/OEM/OTT.csv | INDEX.md(源文件→洞察映射)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429768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159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政策与标准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49884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信通院/工信部/发改委 | OCP液冷标准 | NVIDIA/Intel认证 | 铁律⑫联动刷新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9" name="Text 26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54864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| 2026-05 | 机密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103</Slides>
  <Notes>103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</vt:vector>
  </TitlesOfParts>
  <Company>海悟科技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海悟科技 机柜级液冷战略洞察 v9 Expanded</dc:title>
  <dc:subject>液冷五看三定 103页深度洞察版</dc:subject>
  <dc:creator>海悟科技 战略洞察部</dc:creator>
  <cp:lastModifiedBy>海悟科技 战略洞察部</cp:lastModifiedBy>
  <cp:revision>1</cp:revision>
  <dcterms:created xsi:type="dcterms:W3CDTF">2026-05-10T03:29:39Z</dcterms:created>
  <dcterms:modified xsi:type="dcterms:W3CDTF">2026-05-10T03:29:39Z</dcterms:modified>
</cp:coreProperties>
</file>