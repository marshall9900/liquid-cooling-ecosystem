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AIDC机柜（万架·推算）</c:v>
                </c:pt>
              </c:strCache>
            </c:strRef>
          </c:tx>
          <c:spPr>
            <a:solidFill>
              <a:srgbClr val="F79646"/>
            </a:solidFill>
            <a:ln w="25400" cap="flat">
              <a:solidFill>
                <a:srgbClr val="F796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497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79646"/>
              </a:solidFill>
              <a:ln w="9525" cap="flat">
                <a:solidFill>
                  <a:srgbClr val="F796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2024A</c:v>
                  </c:pt>
                  <c:pt idx="1">
                    <c:v>2025E</c:v>
                  </c:pt>
                  <c:pt idx="2">
                    <c:v>2026E</c:v>
                  </c:pt>
                  <c:pt idx="3">
                    <c:v>2028E</c:v>
                  </c:pt>
                  <c:pt idx="4">
                    <c:v>2030E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26</c:v>
                </c:pt>
                <c:pt idx="2">
                  <c:v>90</c:v>
                </c:pt>
                <c:pt idx="3">
                  <c:v>170</c:v>
                </c:pt>
                <c:pt idx="4">
                  <c:v>310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液冷机柜（万架）</c:v>
                </c:pt>
              </c:strCache>
            </c:strRef>
          </c:tx>
          <c:spPr>
            <a:solidFill>
              <a:srgbClr val="1F497D"/>
            </a:solidFill>
            <a:ln w="254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497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2024A</c:v>
                  </c:pt>
                  <c:pt idx="1">
                    <c:v>2025E</c:v>
                  </c:pt>
                  <c:pt idx="2">
                    <c:v>2026E</c:v>
                  </c:pt>
                  <c:pt idx="3">
                    <c:v>2028E</c:v>
                  </c:pt>
                  <c:pt idx="4">
                    <c:v>2030E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10</c:v>
                </c:pt>
                <c:pt idx="2">
                  <c:v>53</c:v>
                </c:pt>
                <c:pt idx="3">
                  <c:v>120</c:v>
                </c:pt>
                <c:pt idx="4">
                  <c:v>250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F497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F81B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F81B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F497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 数据刷新2026-05-30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 | 数据刷新2026-05-30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NVL576 600KW/柜纯液冷; Google TPU V8 1300W全浸没+CDU标配; sources/sec/oem/VRT/submissions_2026-05-09.json, sources/sec/gpu/NVDA/submissions_2026-05-09.json → SEC 10-K核实GPU出货; 推算:风冷极限≈600W(风量×温差×比热) Rubin 1500W+=2.5倍风冷极限→液冷唯一解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idc/2026-05-09-idc-datacenter-insight.md 六大集群汇总 → 液冷机柜53万（2026E）; NVL576 600kW/柜纯液冷; s039 CSP运营商AIDC机柜~10万架（占AIDC~11%）锚定下限; 推算:AIDC机柜=智算负载÷单柜功率(50kW→80kW) 液冷机柜=AIDC×渗透率 | 📐口径三重锁定：全量(~1400万) ⊃ AIDC(~90万) ⊃ 液冷(~53万) | 铁律⑩索引+⑪推算公式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全球OTT $6,000亿+(2026E) 同比+88% | 中国液冷服务器 ¥23.7亿(2024)→¥162亿(2029E)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 → 全球OTT $6,000亿+(2026E)同比+88%; sources/wechat/2026-05-06-global-liquid-cooling-market-173b-usd.md → $33.3B(2026E)→$173.1B(2032E) CAGR 26.5%; sources/wechat/2026-05-06-super-node-insight.md → 国产超节点2028E ¥3,414亿 | 中国液冷服务器 2024¥23.7亿→2029E¥162亿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 → 四大OTT AI CAPEX ¥6,500亿+(2026E); sources/wechat/2026-05-07-bytedance-alibaba-idc-procurement-2026.md → 字节/阿里IDC招标规模及液冷要求; sources/wechat/2026-05-06-ali-ppu-chip-overview.md → 阿里芯片生态; Google云订单积压$4,600亿/TPU月Token 3200万亿(7x) | Anthropic+Apollo/黑石$360亿TPU融资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华为全联接大会2025(已核实) | 华金证券 昇腾950研报(2026-04-12) | 证券时报2025-09-18 | HiBL/HiZQ=自研HBM双轨 | 灵衢(UnifiedBus)=超节点互联协议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华为全联接大会2025(已核实) | 华金证券昇腾950研报(2026-04-12) | 证券时报2025-09-18 | 昇腾2026出货目标120万(产能仅75万,缺口45万) | DeepSeek V4适配950PR→大厂抢购潮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中国信通院 智算中心液冷市场 2024¥184亿→2029E~¥1300亿 | source_index.json → 研报667篇/SEC 13家/RSS 446篇/微信9篇/364源文件验证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V8 1300W 全浸没+CDU标配/云订单积压$4,600亿/TPU月Token 3200万亿(同比7x); Anthropic+Apollo/黑石 $360亿TPU融资 史上最大单笔AI基建融资;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全球OTT CAPEX $6,000亿+(2026E)同比+88% / 北美-中系GPU采购竞争格局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全产业链能力→准入门槛 2026-2027黄金窗口 刷新2026-05-30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sources/reports/supernode/H3_AP202604081821055447_1.pdf 中银国际→国产排序; s005 AIDC液冷机柜10→52万架(锚定运营商); TAM=单柜数×ASP×机柜数。2030:120片×¥300×52万柜≈¥18.7B【估算】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三大催化赛道:光通信+液冷+国产AI算力 | 2026-2027黄金窗口 | 刷新2026-05-30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sources/sec/gpu/NVDA/submissions_2026-05-09.json, sources/sec/NVDA/AMD/INTC/ → 3家GPU/CPU SEC | sources/sec/ott/MSFT/submissions_2026-05-09.json, sources/sec/GOOG/MSFT/AMZN/META/BIDU/ → 5家OTT CapEx | sources/wechat/ 9篇微信纪要 | sources/reports/industry_液冷/ 72篇研报 | sources/rss/ 48篇RSS情报 | 韬(τ)定律:时间缩微替代几何缩微 | 三大催化赛道:光通信+液冷+国产AI算力 | 校验: Kimi ✅ MiniMax ✅ | 刷新2026-05-30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数据刷新2026-05-30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NVL576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~720KW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纯液冷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 TPU V8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1300W/颗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全浸没+CDU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 风冷物理极限600W已被全面突破 | NVL576 600KW/柜纯液冷 | TPU V8 1300W全浸没强制 刷新2026-05-30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54864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548640"/>
            <a:ext cx="2926080" cy="31089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0" y="640080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62179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智算中心负载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126480" y="7863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GW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1115568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1097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6126480" y="12618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591056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572768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单柜功率峰值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126480" y="17373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kW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43600" y="2066544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6126480" y="204825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126480" y="22128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≤1.15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0" y="2542032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523744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AIDC机柜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126480" y="268833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310万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017520"/>
            <a:ext cx="36576" cy="36576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4" name="Text 21"/>
          <p:cNvSpPr/>
          <p:nvPr/>
        </p:nvSpPr>
        <p:spPr>
          <a:xfrm>
            <a:off x="6126480" y="299923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6126480" y="31638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250万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📐口径：液冷机柜2026E=~53万架，基于IDC洞察六大集群自下而上加总(京津冀16-20+长三角10-12+珠三角8-10+西南8-10+西北5-8+东北3-5)。取代原公式推算(20万)。单柜峰值600kW(NVL576) 可靠性：信通院+IDC圈+券商交叉验证。刷新2026-05-30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1" name="Text 2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$6,000亿+(2026E 同比+88%)+中国¥6,500亿+。每$1亿CAPEX≈$28万液冷BOM。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液冷机柜从~7万(2024A)→~52万(2030E)。口径=智算AIDC内液冷，与运营商~10万架锚定一致。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| 中国智算中心液冷市场 ¥184亿(2024)→~¥1300亿(2029E 信通院) | 国信证券2026-04-14 刷新2026-05-30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 | Google TPU V8 1300W全浸没+Anthropic $36B融资信号 刷新2026-05-30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华为昇腾-芯片规格与演进(→2028)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85800"/>
                <a:gridCol w="548640"/>
                <a:gridCol w="548640"/>
                <a:gridCol w="548640"/>
                <a:gridCol w="868680"/>
                <a:gridCol w="731520"/>
                <a:gridCol w="685800"/>
                <a:gridCol w="777240"/>
                <a:gridCol w="68580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FP16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~500-600W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通用训推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 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~800-1000W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HiBL1.0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 灵渠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~1000-1200W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144GB HiZQ2.0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 灵渠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Must冷板微通道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千亿参数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~2000W+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288GB+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SIMD+SIMT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MLCP微通道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MoE/AGI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昇腾一年一代算力翻倍 | 自研HBM打破三星/SK垄断 | 灵衢2.0开放生态8192卡全互联 | DeepSeek V4适配950PR→大厂抢购潮 | 参考:Google TPU V8 1300W全浸没强制+CDU标配 刷新2026-05-30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950 SuperPoD整柜液冷(出厂标配)→华为指定冷板→海悟机会:Manifold/CDU(非GPU绑定)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浪潮(25%)/宁畅(10%)→910B/910C/950PR出货→冷板华为指定度较低→Manifold/CDU外购→海悟直接机会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液冷趋势(全代际)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910B:风冷可选(400W)→910C:冷板(600W)→950PR:Must冷板(800-1000W)→950DT:Must冷板(1000-1200W)→960:微通道(1500W+)→970:MLCP(2000W+)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昇腾体系=半封闭(华为指定冷板)→海悟不做冷板正面竞争→Manifold/CDU突破→灵衢2.0开放生态=新入口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P0:Manifold(通过浪潮/宁畅/H3C)→P1:CDU(2027+)→P2:冷板(认证后)→目标:2026年Manifold送样测试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AIDC机柜(万架)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⚠️口径：AIDC机柜=智算中心专用机柜，非全量DC。四家CSP合计~10万架≈P5 AIDC~26万架的38%，其余为OTT自建+区域智算中心。CSP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 | 中国液冷服务器 ¥23.7亿(2024)→¥162亿(2029E)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v7/v8园区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 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| TPU V8 1300W全浸没强制+CDU标配 | 中国液冷渗透率&lt;5% → 巨大空间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 | 全产业链能力从加分项→准入门槛(ASIC+800V HVDC协同) 刷新2026-05-30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¥0.5B→¥19B 蓝海(锚定52万柜)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2026 ¥1.5B→2030 ¥12-20B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10K-15K→300K-600K套(锚定5→52万柜)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 | 三大催化赛道:光通信+液冷+国产AI算力→韬(τ)定律:时间缩微替代几何缩微 国产芯片摆脱先进制程依赖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2026-2027黄金窗口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CAPEX $6,000亿+(+88%) | NVL576 600KW/柜纯液冷 | TPU V8 1300W全浸没 | ASIC芯片全采液冷 | 800V HVDC架构→液冷协同 | 全产业链能力=准入门槛 | 率先OEM认证+头部PoC者胜出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08736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32511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液冷不等于趋势问题等于执行速度问题。全球服务器液冷TAM $12.6B(2026E)→$53.5B(2030E) CAGR 43.6%。中国液冷服务器 ¥23.7亿(2024)→¥162亿(2029E) CAGR 46.8%。韬(τ)定律:「时间缩微」替代「几何缩微」→国产芯片摆脱先进制程依赖 刷新2026-05-30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 | 全产业链能力从加分项→准入门槛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 | 三大催化赛道:光通信+液冷+国产AI算力 2026-2027黄金窗口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2026-05-29T23:05:25Z</dcterms:created>
  <dcterms:modified xsi:type="dcterms:W3CDTF">2026-05-29T23:05:25Z</dcterms:modified>
</cp:coreProperties>
</file>