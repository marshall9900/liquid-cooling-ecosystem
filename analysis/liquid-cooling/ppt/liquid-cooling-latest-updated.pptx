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在用机架数(万架)</c:v>
                </c:pt>
              </c:strCache>
            </c:strRef>
          </c:tx>
          <c:spPr>
            <a:solidFill>
              <a:srgbClr val="1A365D"/>
            </a:solidFill>
            <a:ln w="3175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900</c:v>
                </c:pt>
                <c:pt idx="1">
                  <c:v>1085</c:v>
                </c:pt>
                <c:pt idx="2">
                  <c:v>1400</c:v>
                </c:pt>
                <c:pt idx="3">
                  <c:v>1750</c:v>
                </c:pt>
                <c:pt idx="4">
                  <c:v>2200</c:v>
                </c:pt>
                <c:pt idx="5">
                  <c:v>2600</c:v>
                </c:pt>
                <c:pt idx="6">
                  <c:v>3000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IT总负载(GW)</c:v>
                </c:pt>
              </c:strCache>
            </c:strRef>
          </c:tx>
          <c:spPr>
            <a:solidFill>
              <a:srgbClr val="ED8936"/>
            </a:solidFill>
            <a:ln w="3175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2.25</c:v>
                </c:pt>
                <c:pt idx="1">
                  <c:v>2.75</c:v>
                </c:pt>
                <c:pt idx="2">
                  <c:v>3.5</c:v>
                </c:pt>
                <c:pt idx="3">
                  <c:v>4.5</c:v>
                </c:pt>
                <c:pt idx="4">
                  <c:v>5.5</c:v>
                </c:pt>
                <c:pt idx="5">
                  <c:v>6.5</c:v>
                </c:pt>
                <c:pt idx="6">
                  <c:v>7.5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智算中心负载(GW)</c:v>
                </c:pt>
              </c:strCache>
            </c:strRef>
          </c:tx>
          <c:spPr>
            <a:solidFill>
              <a:srgbClr val="2C5282"/>
            </a:solidFill>
            <a:ln w="31750" cap="flat">
              <a:solidFill>
                <a:srgbClr val="2C52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5282"/>
              </a:solidFill>
              <a:ln w="9525" cap="flat">
                <a:solidFill>
                  <a:srgbClr val="2C52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2024A</c:v>
                  </c:pt>
                  <c:pt idx="1">
                    <c:v>2025E</c:v>
                  </c:pt>
                  <c:pt idx="2">
                    <c:v>2026E</c:v>
                  </c:pt>
                  <c:pt idx="3">
                    <c:v>2027E</c:v>
                  </c:pt>
                  <c:pt idx="4">
                    <c:v>2028E</c:v>
                  </c:pt>
                  <c:pt idx="5">
                    <c:v>2029E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0.8</c:v>
                </c:pt>
                <c:pt idx="1">
                  <c:v>1.3</c:v>
                </c:pt>
                <c:pt idx="2">
                  <c:v>2</c:v>
                </c:pt>
                <c:pt idx="3">
                  <c:v>2.9</c:v>
                </c:pt>
                <c:pt idx="4">
                  <c:v>3.9</c:v>
                </c:pt>
                <c:pt idx="5">
                  <c:v>4.8</c:v>
                </c:pt>
                <c:pt idx="6">
                  <c:v>5.5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A365D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36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528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GPU TDP (W)</c:v>
                </c:pt>
              </c:strCache>
            </c:strRef>
          </c:tx>
          <c:spPr>
            <a:solidFill>
              <a:srgbClr val="2C52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2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303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H100
(2022)</c:v>
                  </c:pt>
                  <c:pt idx="1">
                    <c:v>B200
(2024)</c:v>
                  </c:pt>
                  <c:pt idx="2">
                    <c:v>GB300
(2026)</c:v>
                  </c:pt>
                  <c:pt idx="3">
                    <c:v>Rubin
(2026-27)</c:v>
                  </c:pt>
                  <c:pt idx="4">
                    <c:v>Rubin Ultra
(2027-28E)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700</c:v>
                </c:pt>
                <c:pt idx="1">
                  <c:v>1000</c:v>
                </c:pt>
                <c:pt idx="2">
                  <c:v>1400</c:v>
                </c:pt>
                <c:pt idx="3">
                  <c:v>3000</c:v>
                </c:pt>
                <c:pt idx="4">
                  <c:v>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液冷板（冷板）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D8936"/>
              </a:solidFill>
              <a:effectLst/>
            </c:spPr>
          </c:dPt>
          <c:dPt>
            <c:idx val="1"/>
            <c:bubble3D val="0"/>
            <c:spPr>
              <a:solidFill>
                <a:srgbClr val="1A365D"/>
              </a:solidFill>
              <a:effectLst/>
            </c:spPr>
          </c:dPt>
          <c:dPt>
            <c:idx val="2"/>
            <c:bubble3D val="0"/>
            <c:spPr>
              <a:solidFill>
                <a:srgbClr val="D4522A"/>
              </a:solidFill>
              <a:effectLst/>
            </c:spPr>
          </c:dPt>
          <c:dPt>
            <c:idx val="3"/>
            <c:bubble3D val="0"/>
            <c:spPr>
              <a:solidFill>
                <a:srgbClr val="2C5282"/>
              </a:solidFill>
              <a:effectLst/>
            </c:spPr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液冷板（冷板）</c:v>
                </c:pt>
                <c:pt idx="1">
                  <c:v>CDU</c:v>
                </c:pt>
                <c:pt idx="2">
                  <c:v>快接头（UQD）</c:v>
                </c:pt>
                <c:pt idx="3">
                  <c:v>Manifold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43</c:v>
                </c:pt>
                <c:pt idx="1">
                  <c:v>39</c:v>
                </c:pt>
                <c:pt idx="2">
                  <c:v>9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400</c:v>
                </c:pt>
                <c:pt idx="2">
                  <c:v>700</c:v>
                </c:pt>
                <c:pt idx="3">
                  <c:v>900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365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0D5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市场规模（亿元）</c:v>
                </c:pt>
              </c:strCache>
            </c:strRef>
          </c:tx>
          <c:spPr>
            <a:solidFill>
              <a:srgbClr val="ED8936"/>
            </a:solidFill>
            <a:ln w="38100" cap="flat">
              <a:solidFill>
                <a:srgbClr val="ED89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D8936"/>
              </a:solidFill>
              <a:ln w="9525" cap="flat">
                <a:solidFill>
                  <a:srgbClr val="ED89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</c:v>
                </c:pt>
                <c:pt idx="1">
                  <c:v>9</c:v>
                </c:pt>
                <c:pt idx="2">
                  <c:v>25</c:v>
                </c:pt>
                <c:pt idx="3">
                  <c:v>45</c:v>
                </c:pt>
                <c:pt idx="4">
                  <c:v>74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国产替代份额（%）</c:v>
                </c:pt>
              </c:strCache>
            </c:strRef>
          </c:tx>
          <c:spPr>
            <a:solidFill>
              <a:srgbClr val="1A365D"/>
            </a:solidFill>
            <a:ln w="38100" cap="flat">
              <a:solidFill>
                <a:srgbClr val="1A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36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A365D"/>
              </a:solidFill>
              <a:ln w="9525" cap="flat">
                <a:solidFill>
                  <a:srgbClr val="1A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2026E</c:v>
                  </c:pt>
                  <c:pt idx="1">
                    <c:v>2027E</c:v>
                  </c:pt>
                  <c:pt idx="2">
                    <c:v>2028E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365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65D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C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52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365D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280160"/>
            <a:ext cx="54864" cy="1645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行业深度洞察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2026-2030年战略机遇与市场空间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900000">
            <a:off x="6858000" y="1371600"/>
            <a:ext cx="1828800" cy="182880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500000">
            <a:off x="7315200" y="1828800"/>
            <a:ext cx="2011680" cy="201168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229600" y="4206240"/>
            <a:ext cx="274320" cy="274320"/>
          </a:xfrm>
          <a:prstGeom prst="rect">
            <a:avLst/>
          </a:prstGeom>
          <a:solidFill>
            <a:srgbClr val="ED8936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8016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54480" y="1408176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533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AI算力中心发展洞察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政策环境 · 规模趋势 · 全球格局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249424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24942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377440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6883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芯片迭代 · 功耗曲线 · 散热挑战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18688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18688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346704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3291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服务器演进与超节点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6576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架构变革 · 密度提升 · 供电革新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187952"/>
            <a:ext cx="3657600" cy="804672"/>
          </a:xfrm>
          <a:prstGeom prst="roundRect">
            <a:avLst>
              <a:gd name="adj" fmla="val 6818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18795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554480" y="4315968"/>
            <a:ext cx="27432" cy="5486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4" name="Text 22"/>
          <p:cNvSpPr/>
          <p:nvPr/>
        </p:nvSpPr>
        <p:spPr>
          <a:xfrm>
            <a:off x="1737360" y="426110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37360" y="462686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市场测算 · 增长预测 · 投资机会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Shape 1"/>
          <p:cNvSpPr/>
          <p:nvPr/>
        </p:nvSpPr>
        <p:spPr>
          <a:xfrm rot="-480000">
            <a:off x="-457200" y="731520"/>
            <a:ext cx="3200400" cy="3657600"/>
          </a:xfrm>
          <a:prstGeom prst="rect">
            <a:avLst/>
          </a:prstGeom>
          <a:solidFill>
            <a:srgbClr val="ED8936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AI算力中心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发展洞察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规模爆发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374904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D8936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全球格局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中国数据中心规模增长（2024-2030）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" y="960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机架数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(万架)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641080" y="960120"/>
            <a:ext cx="475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IT负载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(GW)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731520"/>
          <a:ext cx="7955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51960"/>
            <a:ext cx="8229600" cy="292608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2519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数据来源：IDC 2025.04 | 仲量联行2026 | 中国信通院  [已核实/测算]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在用机架数(左轴)  ● IT总负载(右轴)  ● 智算中心负载(右轴)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11" name="Text 8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数据中心能效政策法规演进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132320" cy="0"/>
          </a:xfrm>
          <a:prstGeom prst="line">
            <a:avLst/>
          </a:prstGeom>
          <a:noFill/>
          <a:ln w="38100">
            <a:solidFill>
              <a:srgbClr val="2C52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7607808" y="1069848"/>
            <a:ext cx="146304" cy="146304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1498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《新型数据中心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三年行动计划》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42316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47802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1.4(通用)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1.3(高密度)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6596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联合发文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6596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财政部/工信部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88620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4106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2900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《绿色低碳转型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专项行动》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2900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349240" y="1088136"/>
            <a:ext cx="109728" cy="109728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04104" y="978408"/>
            <a:ext cx="0" cy="128016"/>
          </a:xfrm>
          <a:prstGeom prst="line">
            <a:avLst/>
          </a:prstGeom>
          <a:noFill/>
          <a:ln w="12700">
            <a:solidFill>
              <a:srgbClr val="ED89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9204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1.3(新建)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1.4(改造)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1920240"/>
            <a:ext cx="1325880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92024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液冷渗透率&gt;60%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(2026年底)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9204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工信部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812280" y="1088136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640080"/>
            <a:ext cx="74980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67144" y="978408"/>
            <a:ext cx="0" cy="128016"/>
          </a:xfrm>
          <a:prstGeom prst="line">
            <a:avLst/>
          </a:prstGeom>
          <a:noFill/>
          <a:ln w="12700">
            <a:solidFill>
              <a:srgbClr val="BEE3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132588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2588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 ≤ 1.15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355080" y="1920240"/>
            <a:ext cx="13258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192024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东数西算2.0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(枢纽节点)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355080" y="25146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发改委/网信办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57200" y="3200400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200400"/>
            <a:ext cx="73152" cy="62179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32186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"液冷已从 '可选' 升级为 '事实强制'"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354787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政策强制等级：  鼓励  →  半强制  →  事实强制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43600" y="3218688"/>
            <a:ext cx="2560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来源：工信部 | 发改委 | 财政部  [已核实]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321040" y="457200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4572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全球数据中心液冷市场五区域格局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政策态度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PUE标准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液冷推进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🔴 强力推动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强制（60%指标）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核心战场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东南亚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52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🟠 快速增长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跟随中美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近期布局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北美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市场成熟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头部CSP主导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新兴市场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算力投资爆发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C528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中期机会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欧洲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⚪ 法规严格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≤1.2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PUE最严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长期布局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中国：政策强制推进，60%液冷指标 → 核心战场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2C5282">
              <a:alpha val="10000"/>
            </a:srgbClr>
          </a:solidFill>
          <a:ln w="10160">
            <a:solidFill>
              <a:srgbClr val="2C5282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🌏 东南亚：快速跟随 + 成本敏感 → 中期布局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0" y="3703320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1A365D">
              <a:alpha val="10000"/>
            </a:srgbClr>
          </a:solidFill>
          <a:ln w="10160">
            <a:solidFill>
              <a:srgbClr val="1A365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45152" y="3703320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🌍 北美/欧洲：标准严苛但市场成熟 → 高端破局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0" y="4005072"/>
            <a:ext cx="3840480" cy="256032"/>
          </a:xfrm>
          <a:prstGeom prst="roundRect">
            <a:avLst>
              <a:gd name="adj" fmla="val 14286"/>
            </a:avLst>
          </a:prstGeom>
          <a:solidFill>
            <a:srgbClr val="ED8936">
              <a:alpha val="10000"/>
            </a:srgbClr>
          </a:solidFill>
          <a:ln w="10160">
            <a:solidFill>
              <a:srgbClr val="ED8936">
                <a:alpha val="5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4005072"/>
            <a:ext cx="3694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🏜️ 中东：算力投资爆 + 散热刚需 → 差异化机会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43708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来源：仲量联行2026 | 工信部 | 各地政策文件 [已核实]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GPU功耗演进洞察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TDP跨越 · 制程瓶颈 · 液冷唯一解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TDP演进：从700W到4000W+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6583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291840"/>
            <a:ext cx="6583680" cy="18288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114800" y="3108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风冷物理极限 ≈ 800W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1371600"/>
            <a:ext cx="1645920" cy="2286000"/>
          </a:xfrm>
          <a:prstGeom prst="roundRect">
            <a:avLst>
              <a:gd name="adj" fmla="val 3333"/>
            </a:avLst>
          </a:prstGeom>
          <a:solidFill>
            <a:srgbClr val="FF0000">
              <a:alpha val="5000"/>
            </a:srgbClr>
          </a:solidFill>
          <a:ln w="19050">
            <a:solidFill>
              <a:srgbClr val="C53030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85216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预测值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4160520"/>
            <a:ext cx="6583680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4160520"/>
            <a:ext cx="64008" cy="5486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187952"/>
            <a:ext cx="6126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"功耗墙无法靠制程解决，液冷是唯一解"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0" y="1188720"/>
            <a:ext cx="1737360" cy="1051560"/>
          </a:xfrm>
          <a:prstGeom prst="rect">
            <a:avLst>
              <a:gd name="adj" fmla="val 6957"/>
            </a:avLst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增长倍数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2237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→ Rubin Ultra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132320" y="2468880"/>
            <a:ext cx="1737360" cy="1051560"/>
          </a:xfrm>
          <a:prstGeom prst="rect">
            <a:avLst>
              <a:gd name="adj" fmla="val 6957"/>
            </a:avLst>
          </a:prstGeom>
          <a:solidFill>
            <a:srgbClr val="ED8936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风冷失效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223760" y="3200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B200之后全面转向液冷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来源：英伟达官方 | 摩根士丹利报告 2026.04 [已核实]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1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国产GPU产品线与液冷需求对比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09728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2026E出货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市场份额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华为昇腾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~1200W+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32F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必须液冷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40万片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阿里平头哥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含光800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思元590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DCU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冷板区间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MXC500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400-450W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冷板刚需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E3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862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319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华为昇腾主导国产GPU市场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950PR + 950DT 合计约120万片，TDP均&gt;1000W，必须液冷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63440" y="3886200"/>
            <a:ext cx="4206240" cy="594360"/>
          </a:xfrm>
          <a:prstGeom prst="roundRect">
            <a:avLst>
              <a:gd name="adj" fmla="val 9231"/>
            </a:avLst>
          </a:prstGeom>
          <a:solidFill>
            <a:srgbClr val="ED893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39319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液冷渗透率趋势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350W以下冷板区间 → 400W+冷板刚需 → 1000W+必须液冷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70916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WeChat文章6 [已核实/待核实]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2344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服务器演进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与超节点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60604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788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功率跃升 · 超节点元年 · 液冷BOM翻倍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服务器功耗演进：从3kW到400kW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3017520"/>
            <a:ext cx="1371600" cy="914400"/>
          </a:xfrm>
          <a:prstGeom prst="rect">
            <a:avLst>
              <a:gd name="adj" fmla="val 8000"/>
            </a:avLst>
          </a:prstGeom>
          <a:solidFill>
            <a:srgbClr val="BEE3F8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1546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传统数据中心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3-8 kW/柜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2560320"/>
            <a:ext cx="1371600" cy="1371600"/>
          </a:xfrm>
          <a:prstGeom prst="rect">
            <a:avLst>
              <a:gd name="adj" fmla="val 5333"/>
            </a:avLst>
          </a:prstGeom>
          <a:solidFill>
            <a:srgbClr val="A0D2F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3337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8-20 kW/柜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风冷+部分冷板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1371600" cy="201168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20574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AI液冷服务器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30-80 kW/柜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冷板液冷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71600" cy="265176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17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超节点服务器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100-200 kW/柜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强制液冷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640080"/>
            <a:ext cx="1371600" cy="3291840"/>
          </a:xfrm>
          <a:prstGeom prst="rect">
            <a:avLst>
              <a:gd name="adj" fmla="val 5333"/>
            </a:avLst>
          </a:prstGeom>
          <a:solidFill>
            <a:srgbClr val="D4522A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777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Rubin级超节点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227-400 kW/柜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全液冷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2560320"/>
            <a:ext cx="3017520" cy="27432"/>
          </a:xfrm>
          <a:prstGeom prst="rect">
            <a:avLst/>
          </a:prstGeom>
          <a:solidFill>
            <a:srgbClr val="D32F2F"/>
          </a:solidFill>
          <a:ln w="19050">
            <a:solidFill>
              <a:srgbClr val="D32F2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风冷物理上限 15-30kW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7132320" cy="594360"/>
          </a:xfrm>
          <a:prstGeom prst="rect">
            <a:avLst>
              <a:gd name="adj" fmla="val 7692"/>
            </a:avLst>
          </a:prstGeom>
          <a:solidFill>
            <a:srgbClr val="1A365D">
              <a:alpha val="95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2519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关键结论：单柜 &gt; 30kW 时，风冷物理上限被突破，液冷成为刚需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WeChat文章8 [已核实]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关键结论：昇腾（封闭）!=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华为指定史陶比尔为主，但国产替代窗口已打开，华为明确欢迎国内产业伙伴基于灵衢2.0生态进入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海悟在华为昇腾体系的机会路径：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浪潮/超聚变/宁畅均可触达昇腾液冷服务器，海悟不依赖单一OEM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主要渠道：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浪潮（海光+昇腾双线）/ 超聚变（昇腾为主）/ 宁畅（寒武纪为主，部分昇腾）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华为昇腾液冷体系：多通道进入，非单一OEM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华为昇腾液冷供应链核心伙伴：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申菱环境（华为液冷唯一合作伙伴）/ 英维克（CDU+冷板+快接头全链）/ 恒为科技（唯一联合研发落地合作方）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华为快接头（UQD）供应：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可能仍以史陶比尔为主，但华为开放灵衢2.0生态，欢迎国内产业伙伴，快接头国产替代窗口已打开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海悟进入路径：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不依赖单一OEM，通过浪潮（液冷服务器）/ 超聚变（FusionPoD for AI）/ 宁畅均可触达昇腾液冷体系，快接头供应不限于超聚变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华为超聚变不是唯一通道：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浪潮也大量出货昇腾液冷服务器（年出货量不低），海悟可通过多个OEM触达昇腾生态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开放生态是海悟的主战场：浪潮（海光）/ 宁畅（寒武纪）/ 同方（摩尔线程）→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冷板：华为指定标准（但外部厂商可适配）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快接头：华为外采史陶比尔/卡锢，但国产替代窗口已打开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CDU/Manifold：主要体系内，但外采比例在提升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进入路径：浪潮+超聚变+宁畅多通道触达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华为灵衢2.0生态开放，海悟必须进入！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多通道（浪潮+超聚变+宁畅）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3星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4星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2星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5星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1星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年收入贡献约5000万-1亿元（2030年）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全球OEM液冷服务器制造商格局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液冷服务器OEM分类：全球超节点服务器制造商液冷布局一览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1887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1887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18872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液冷组件自供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887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1887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7276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160934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00200" y="157276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6776" y="160934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031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396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NF5688G7（液冷）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83280" y="157276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60934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89120" y="157276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25696" y="160934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212080" y="157276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60934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989320" y="157276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60934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5681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199339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00200" y="195681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36776" y="199339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1031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96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NF5280P6（液冷）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83280" y="195681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9856" y="199339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昇腾独供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389120" y="195681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25696" y="199339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全栈自产（封闭）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212080" y="195681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48656" y="199339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989320" y="195681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25896" y="199339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4086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237744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00200" y="234086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36776" y="237744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1031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396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RackScale G550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383280" y="234086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19856" y="237744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389120" y="234086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37744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冷板+CDU自产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212080" y="234086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237744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89320" y="234086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25896" y="237744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2491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0896" y="276148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联想（北京）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00200" y="272491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36776" y="276148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1031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396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ThinkSystem SR670 V2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383280" y="272491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276148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89120" y="272491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25696" y="276148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212080" y="272491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276148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989320" y="272491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25896" y="276148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08960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0896" y="314553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 Technologies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00200" y="3108960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36776" y="3145536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1031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396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PowerEdge XE9680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383280" y="3108960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419856" y="3145536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4389120" y="3108960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425696" y="3145536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5212080" y="3108960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48656" y="3145536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3108960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25896" y="314553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493008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0896" y="352958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HPE（慧与）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00200" y="3493008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636776" y="3529584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1031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396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Apollo 6500 Gen11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3383280" y="3493008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19856" y="3529584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英伟达/AMD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389120" y="3493008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25696" y="3529584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CDU自产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5212080" y="3493008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48656" y="3529584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989320" y="3493008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25896" y="352958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877056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0896" y="391363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00200" y="3877056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636776" y="3913632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1031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396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 A100/H100代工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383280" y="3877056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419856" y="3913632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4389120" y="3877056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25696" y="3913632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212080" y="3877056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248656" y="3913632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5989320" y="3877056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025896" y="391363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261104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0896" y="429768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00200" y="4261104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636776" y="4297680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1031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396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NVL72代工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383280" y="4261104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419856" y="4297680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389120" y="4261104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425696" y="4297680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CDU外购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212080" y="4261104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48656" y="429768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全外购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5989320" y="4261104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025896" y="429768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645152"/>
            <a:ext cx="132588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10896" y="468172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00200" y="4645152"/>
            <a:ext cx="50292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636776" y="4681728"/>
            <a:ext cx="429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21031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1396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 900 PoD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3383280" y="4645152"/>
            <a:ext cx="10058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419856" y="4681728"/>
            <a:ext cx="9326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4389120" y="4645152"/>
            <a:ext cx="8229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425696" y="4681728"/>
            <a:ext cx="7498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全栈封闭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5212080" y="4645152"/>
            <a:ext cx="7772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248656" y="4681728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989320" y="4645152"/>
            <a:ext cx="128016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025896" y="468172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502920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57200" y="5029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海悟定位：不做OEM的竞争对手，而是成为所有液冷OEM的专业快接头供应商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中国OEM液冷服务器深度分析：浪潮 / 超聚变 / 宁畅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浪潮信息（Inspur）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中国最大服务器OEM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年出货服务器约80-100万台 | 液冷服务器占比约15%（2025年） | 液冷快接头年需求约15-30万个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0058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海光DCU（主）/ 昇腾（辅）/ 英伟达H100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冷板自产（与高标合作）/ Manifold自产 / 快接头全外购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浪潮液冷走开放路线，快接头外购是战略选择，不是能力缺失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0515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63640" y="1280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浪潮是海光最大OEM，海光走开放生态，快接头必须外购，海悟主攻客户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860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91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昇腾生态唯一独立服务器OEM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年出货昇腾服务器约30-50万台 | 液冷服务器占比约25% | 快接头年需求约60-200万个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49040" y="23774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24231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昇腾（独供，封闭体系）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冷板/CDU/Manifold/快接头全栈自产（昇腾封闭生态），但实际通过体系内供应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超聚变需要外购快接头：史陶比尔是主供，但交货周期6-12周，海悟可填补空白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26480" y="23774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26517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 | 超聚变是海悟进入昇腾生态的唯一合规通道，需求量大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28016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57600"/>
            <a:ext cx="54864" cy="128016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宁畅信息（Nettrix）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0050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定制化液冷服务器专家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年出货约10-20万台 | 液冷服务器占比超30% | 快接头年需求约5-15万个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749040" y="3749040"/>
            <a:ext cx="2286000" cy="10972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37947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寒武纪（主）/ 海光 / 摩尔线程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液冷自供：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冷板自产 / CDU自产 / 快接头外购（史陶比尔为主）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策略：</a:t>
            </a:r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宁畅定制化程度高，史陶比尔标准化产品无法满足宁畅的定制需求，海悟可提供快速定制响应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749040"/>
            <a:ext cx="2651760" cy="109728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794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| 宁畅是寒武纪核心OEM，寒武纪走开放生态，宁畅定制需求多，海悟定制响应优势明显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NVL72超节点：OEM制造格局与液冷供应链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46304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NVL72核心参数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NVIDIA GB200（Grace Blackwell）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机架功率：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~100kW/机架（必须液冷）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TDP/GPU：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~1200W（风冷无法满足）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快接头要求：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单集群成本：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$1000万-2000万美元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 OEM代工制造格局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26187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Foxconn（富士康）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1298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主要代工商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955280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1627632"/>
            <a:ext cx="4297680" cy="329184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64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DGX代工延续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955280" y="16642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993392"/>
            <a:ext cx="4297680" cy="329184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029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Wistron（纬创）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替补代工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0" y="20299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认证中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2359152"/>
            <a:ext cx="4297680" cy="329184"/>
          </a:xfrm>
          <a:prstGeom prst="rect">
            <a:avLst/>
          </a:prstGeom>
          <a:solidFill>
            <a:srgbClr val="C53030">
              <a:alpha val="12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3957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Huawei（华为）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395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不参与（美国管制）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955280" y="23957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NVL72液冷供应链：快接头是核心瓶颈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83464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GPU/芯片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834640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英伟达（美国）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0" y="2834640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3749040" y="28346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冷板（英伟达指定）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0" y="2834640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2834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史陶比尔（OCP认证）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98080" y="2834640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2834640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快接头必须OCP认证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355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45920" y="3355848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Foxconn/Quanta代工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355848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33558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冷板外购（定制）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0" y="3355848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355848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355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代工厂无液冷能力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87705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0" y="3877056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Vertiv/CDP（美企）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0" y="3877056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3749040" y="387705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3877056"/>
            <a:ext cx="2011680" cy="475488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877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CDU自供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98080" y="3877056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4" name="Text 52"/>
          <p:cNvSpPr/>
          <p:nvPr/>
        </p:nvSpPr>
        <p:spPr>
          <a:xfrm>
            <a:off x="7589520" y="3877056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Vertiv主导CDU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439826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645920" y="4398264"/>
            <a:ext cx="201168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史陶比尔（瑞士）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0" y="4398264"/>
            <a:ext cx="18288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439826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N/A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86400" y="4398264"/>
            <a:ext cx="2011680" cy="47548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398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72%全球份额（垄断）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498080" y="4398264"/>
            <a:ext cx="1371600" cy="47548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4" name="Text 62"/>
          <p:cNvSpPr/>
          <p:nvPr/>
        </p:nvSpPr>
        <p:spPr>
          <a:xfrm>
            <a:off x="7589520" y="4398264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NVL72快接头唯一认证供应商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4892040"/>
            <a:ext cx="859536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9103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NVL72快接头必须OCP认证，海悟目标：替代30%史陶比尔NVL72份额，年收入贡献约2000-4000万元（美元）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OTT厂家超节点布局与OEM供应链关系图谱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9144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液冷快接头需求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91440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97280" y="129844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133502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554480" y="129844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91056" y="133502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字节自研AI服务器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51760" y="129844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133502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英伟达H100/H200（大量采购）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129844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7056" y="133502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宁畅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46320" y="129844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33502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液冷快接头年需求约20-40万个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63640" y="129844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33502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字节是海悟最重要的潜在客户，字节快接头采购量大，海悟可通过浪潮/宁畅触达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28800"/>
            <a:ext cx="822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8653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097280" y="1828800"/>
            <a:ext cx="457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554480" y="1828800"/>
            <a:ext cx="1097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91056" y="1865376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腾讯云AI服务器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51760" y="1828800"/>
            <a:ext cx="11887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1865376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英伟达H100/昇腾910B（混合）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840480" y="1828800"/>
            <a:ext cx="1005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77056" y="1865376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富士康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1828800"/>
            <a:ext cx="1417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1865376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液冷快接头年需求约15-30万个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63640" y="1828800"/>
            <a:ext cx="1783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0216" y="186537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腾讯液冷服务器主要走浪潮/华为，快接头通过OEM触达，腾讯对海悟有战略意义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59152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395728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1097280" y="2359152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33856" y="23957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554480" y="2359152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395728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阿里云PAI平台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51760" y="2359152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88336" y="2395728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英伟达H100/平头哥（含光）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840480" y="2359152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77056" y="2395728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46320" y="2359152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2395728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液冷快接头年需求约10-25万个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63640" y="2359152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2395728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阿里自研平头哥芯片，快接头需求特殊（定制），海悟可提供定制响应，平头哥是未来机会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89504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926080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097280" y="2889504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3856" y="292608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554480" y="2889504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91056" y="2926080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 AI超节点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51760" y="2889504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88336" y="2926080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英伟达H100（大量）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840480" y="2889504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77056" y="2926080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Quanta（广达）/ DGX代工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846320" y="2889504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82896" y="2926080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NVL72超节点液冷，快接头需求量大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263640" y="2889504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00216" y="292608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Meta通过Quanta代工，Quanta无液冷能力，快接头全外购，但需要通过Quanta认证，海悟可探索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419856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4564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1097280" y="3419856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3856" y="3456432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554480" y="3419856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91056" y="3456432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TPU超节点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51760" y="3419856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88336" y="3456432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Google自研TPU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840480" y="3419856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77056" y="3456432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Google自研（自建供应链）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846320" y="3419856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82896" y="3456432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Google自研液冷，快接头不外购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263640" y="3419856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00216" y="3456432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Google封闭自研，海悟无法进入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950208"/>
            <a:ext cx="82296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986784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1097280" y="3950208"/>
            <a:ext cx="45720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33856" y="3986784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554480" y="3950208"/>
            <a:ext cx="10972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591056" y="3986784"/>
            <a:ext cx="10241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AI超节点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51760" y="3950208"/>
            <a:ext cx="11887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688336" y="3986784"/>
            <a:ext cx="1115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英伟达H100/MI300X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840480" y="3950208"/>
            <a:ext cx="100584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77056" y="3986784"/>
            <a:ext cx="93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846320" y="3950208"/>
            <a:ext cx="141732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82896" y="3986784"/>
            <a:ext cx="134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NVL72超节点液冷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63640" y="3950208"/>
            <a:ext cx="1783080" cy="53035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300216" y="39867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微软通过Quanta/Dell代工，快接头通过Dell/Quanta采购，海悟可通过Dell/Quanta触达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/ 行业调研 2026.04 | OTT采购数据为估算值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OEM液冷服务器战略总结：快接头机会矩阵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9144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87452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914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914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9144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海悟目标份额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17320" y="129844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3896" y="133502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7452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1109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海光/昇腾/英伟达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017520" y="129844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54096" y="133502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15-30万个/年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023360" y="129844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59936" y="13350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129844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133502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257800" y="129844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4376" y="133502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宁畅信息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417320" y="173736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53896" y="177393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87452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1109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173736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54096" y="177393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5-15万个/年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023360" y="173736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177393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572000" y="173736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08576" y="177393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257800" y="173736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94376" y="177393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17320" y="2176272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53896" y="221284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87452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1109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昇腾（封闭）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2176272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54096" y="2212848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60-200万个/年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23360" y="2176272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59936" y="221284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572000" y="2176272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08576" y="2212848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57800" y="2176272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94376" y="2212848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8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417320" y="2615184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265176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87452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1109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英伟达DGX/NVL72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2615184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54096" y="265176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20-50万个/年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023360" y="2615184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59936" y="265176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572000" y="2615184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08576" y="2651760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257800" y="2615184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94376" y="2651760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08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1417320" y="3054096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53896" y="30906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187452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1109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英伟达H100/H200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017520" y="3054096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054096" y="3090672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10-25万个/年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4023360" y="3054096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59936" y="30906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572000" y="3054096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08576" y="3090672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257800" y="3054096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294376" y="3090672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08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Foxconn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1417320" y="3493008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53896" y="35295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台湾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7452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1109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英伟达NVL72代工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017520" y="3493008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54096" y="3529584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15-40万个/年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4023360" y="3493008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59936" y="352958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572000" y="3493008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608576" y="3529584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257800" y="3493008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294376" y="3529584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743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08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联想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417320" y="3931920"/>
            <a:ext cx="4572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453896" y="39684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187452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91109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海光/英伟达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3017520" y="3931920"/>
            <a:ext cx="10058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054096" y="3968496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5-12万个/年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4023360" y="3931920"/>
            <a:ext cx="54864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059936" y="396849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4572000" y="3931920"/>
            <a:ext cx="6858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08576" y="3968496"/>
            <a:ext cx="61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5257800" y="3931920"/>
            <a:ext cx="114300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294376" y="3968496"/>
            <a:ext cx="1069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74320" y="44165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备注：难度高=需要OCP认证或长认证周期 | 优先级★越多=收入贡献越大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526280"/>
            <a:ext cx="8595360" cy="47548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8" name="Text 116"/>
          <p:cNvSpPr/>
          <p:nvPr/>
        </p:nvSpPr>
        <p:spPr>
          <a:xfrm>
            <a:off x="45720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海悟OEM液冷快接头目标：2030年国内+东南亚快接头市场份额30%+ → 年收入约2亿元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0" name="Text 1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国内超节点方案对比与市场需求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1645920"/>
                <a:gridCol w="109728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单柜价值量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液冷BOM/柜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磐久128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128卡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~200kW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80-100万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60-75万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ETH-64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~1000-1200万元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~100kW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D893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48-60万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超节点需求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2026.3 - 2027.3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~7,000 柜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三大巨头超节点部署规模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2C5282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3017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液冷市场规模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（仅三大巨头）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~45-56 亿元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383280" y="3931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超节点液冷BOM市场总量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2926080"/>
            <a:ext cx="2560320" cy="1371600"/>
          </a:xfrm>
          <a:prstGeom prst="rect">
            <a:avLst>
              <a:gd name="adj" fmla="val 5333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液冷BOM占比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2% → 超节点 4-5%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翻倍！价值量大幅跃升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来源：WeChat文章3（超节点专家调研）| 三大巨头资本开支公告 [已核实]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FFFFFF">
                    <a:alpha val="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Shape 2"/>
          <p:cNvSpPr/>
          <p:nvPr/>
        </p:nvSpPr>
        <p:spPr>
          <a:xfrm>
            <a:off x="4434840" y="1371600"/>
            <a:ext cx="54864" cy="22860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维度四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液冷市场空间量化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754880" y="2423160"/>
            <a:ext cx="3200400" cy="1828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 · 市场预测 · 战略机遇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 rot="1200000">
            <a:off x="8046720" y="3657600"/>
            <a:ext cx="731520" cy="731520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100000">
            <a:off x="8229600" y="4114800"/>
            <a:ext cx="548640" cy="548640"/>
          </a:xfrm>
          <a:prstGeom prst="rect">
            <a:avLst/>
          </a:prstGeom>
          <a:solidFill>
            <a:srgbClr val="BEE3F8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机柜级液冷BOM成本拆解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1234440"/>
            <a:ext cx="182880" cy="182880"/>
          </a:xfrm>
          <a:prstGeom prst="rect">
            <a:avLst>
              <a:gd name="adj" fmla="val 15000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5394960" y="11887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液冷板（冷板）  43%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144475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直接接触芯片散热，核心价值组件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394960" y="1627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~20-43万/柜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120640" y="1984248"/>
            <a:ext cx="182880" cy="182880"/>
          </a:xfrm>
          <a:prstGeom prst="rect">
            <a:avLst>
              <a:gd name="adj" fmla="val 15000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 39%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219456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冷却分配单元，液冷系统「心脏」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94960" y="237744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~19-39万/柜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120640" y="2734056"/>
            <a:ext cx="182880" cy="182880"/>
          </a:xfrm>
          <a:prstGeom prst="rect">
            <a:avLst>
              <a:gd name="adj" fmla="val 15000"/>
            </a:avLst>
          </a:prstGeom>
          <a:solidFill>
            <a:srgbClr val="D4522A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268833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快接头（UQD）  9%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94960" y="29443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热插拔接头，维护便利性关键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394960" y="31272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5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~4-9万/柜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120640" y="3483864"/>
            <a:ext cx="182880" cy="182880"/>
          </a:xfrm>
          <a:prstGeom prst="rect">
            <a:avLst>
              <a:gd name="adj" fmla="val 15000"/>
            </a:avLst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3438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 4%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94960" y="3694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分水管，流体均匀分配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394960" y="3877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~2-4万/柜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120640" y="4233672"/>
            <a:ext cx="182880" cy="182880"/>
          </a:xfrm>
          <a:prstGeom prst="rect">
            <a:avLst>
              <a:gd name="adj" fmla="val 15000"/>
            </a:avLst>
          </a:prstGeom>
          <a:solidFill>
            <a:srgbClr val="95A5A6"/>
          </a:solidFill>
          <a:ln/>
        </p:spPr>
      </p:sp>
      <p:sp>
        <p:nvSpPr>
          <p:cNvPr id="22" name="Text 19"/>
          <p:cNvSpPr/>
          <p:nvPr/>
        </p:nvSpPr>
        <p:spPr>
          <a:xfrm>
            <a:off x="53949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 5%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394960" y="44439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管路/传感器/安装件等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94960" y="462686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~2-5万/柜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74320" y="4572000"/>
            <a:ext cx="7132320" cy="411480"/>
          </a:xfrm>
          <a:prstGeom prst="rect">
            <a:avLst>
              <a:gd name="adj" fmla="val 11111"/>
            </a:avLst>
          </a:prstGeom>
          <a:solidFill>
            <a:srgbClr val="BEE3F8">
              <a:alpha val="7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902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液冷板 + CDU 合计占比 82%，是液冷系统价值量最集中的两个环节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496519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来源：WeChat文章2（中信证券）| 摩根士丹利液冷供应链报告 [已核实]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9" name="Text 2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2026-2030年中国机柜级液冷市场规模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5943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234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= 43.6%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58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 ≈ 3,370亿元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0" y="1188720"/>
            <a:ext cx="219456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五年CAGR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600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43.6%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6751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2026-2030年复合增速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0" y="2606040"/>
            <a:ext cx="219456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五年累计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7512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≈3,370亿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67512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中国液冷市场总量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492240" y="4023360"/>
            <a:ext cx="2377440" cy="822960"/>
          </a:xfrm>
          <a:prstGeom prst="roundRect">
            <a:avLst>
              <a:gd name="adj" fmla="val 6667"/>
            </a:avLst>
          </a:prstGeom>
          <a:solidFill>
            <a:srgbClr val="F7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4069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5年4.85倍增长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AI算力驱动液冷进入爆发期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9194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| 中商产业研究院 | 中信证券 [已核实/估算]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快接头国产替代：窗口期1-2年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6692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097280"/>
            <a:ext cx="2560320" cy="1097280"/>
          </a:xfrm>
          <a:prstGeom prst="rect">
            <a:avLst>
              <a:gd name="adj" fmla="val 6667"/>
            </a:avLst>
          </a:prstGeom>
          <a:solidFill>
            <a:srgbClr val="ED8936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2030E市场规模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74亿元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309360" y="1874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国产快接头市场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2560320" cy="1097280"/>
          </a:xfrm>
          <a:prstGeom prst="rect">
            <a:avLst>
              <a:gd name="adj" fmla="val 6667"/>
            </a:avLst>
          </a:pr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2496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2030E国产份额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09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309360" y="3154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快接头国产替代率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4320" y="393192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22860">
            <a:solidFill>
              <a:srgbClr val="ED89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3931920"/>
            <a:ext cx="64008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959352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高澜已获英伟达认证，海悟必须2026年内完成OCP UQD认证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5488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来源：中信证券UQD专题 | 头豹研究院 2025.02 [已核实]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市场规模（亿元）  —— 国产替代份额（%）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液冷关键指标速查：元/cabinet &amp; 元/kW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828800"/>
                <a:gridCol w="1645920"/>
                <a:gridCol w="15544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快接头/kW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英伟达GB300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1,800-3,000元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英伟达Rubin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1,000-1,750元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4-6万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100-265元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国产30-80kW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8-25万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1,600-3,125元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1-3.5万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200-438元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国产100-200kW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（超节点）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D89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25-50万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2,000-3,500元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3-6万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300-600元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C52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GB300 液冷最贵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~1,800-3,000元/kW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高密度液冷单价最高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6"/>
          <p:cNvSpPr/>
          <p:nvPr/>
        </p:nvSpPr>
        <p:spPr>
          <a:xfrm>
            <a:off x="331012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Rubin 效率提升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012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kW单价降至1,000-1,750元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规模效应降低成本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26480" y="379476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D8936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84048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超节点空间最大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国产100-200kW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 25-50万/柜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来源：摩根士丹利报告 2026.04 | WeChat文章8 [已核实]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3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海悟液冷战略：行动路径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15240">
            <a:solidFill>
              <a:srgbClr val="ED8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2377440" cy="13716"/>
          </a:xfrm>
          <a:prstGeom prst="rect">
            <a:avLst/>
          </a:prstGeom>
          <a:solidFill>
            <a:srgbClr val="ED893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10512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快接头OCP认证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194560"/>
            <a:ext cx="91440" cy="914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超聚变供应链对接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0F6FF"/>
          </a:solidFill>
          <a:ln w="15240">
            <a:solidFill>
              <a:srgbClr val="2C52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2027-2028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2C528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1645920"/>
            <a:ext cx="2377440" cy="13716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401568" y="1810512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冷板+Manifold定型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01568" y="2194560"/>
            <a:ext cx="91440" cy="914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寒武纪预研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09728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F7FAFC"/>
          </a:solidFill>
          <a:ln w="15240">
            <a:solidFill>
              <a:srgbClr val="1A365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2028-2030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128016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1280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645920"/>
            <a:ext cx="2377440" cy="13716"/>
          </a:xfrm>
          <a:prstGeom prst="rect">
            <a:avLst/>
          </a:prstGeom>
          <a:solidFill>
            <a:srgbClr val="1A365D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6208" y="1810512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17556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东南亚布局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36208" y="2194560"/>
            <a:ext cx="91440" cy="914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1396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两相冷却预研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战略洞察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3557016"/>
            <a:ext cx="256032" cy="256032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5570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35204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液冷从成本中心变为能力中心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72160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液冷不再是单纯散热支出，而是服务器价值的核心组成部分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" y="3941064"/>
            <a:ext cx="256032" cy="256032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410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4400" y="390448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超节点是量价齐升加速器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4105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液冷BOM占比从2%跃升至4-5%，单价和渗透率双重提升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4325112"/>
            <a:ext cx="256032" cy="256032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4400" y="42885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国产替代窗口期仅1-2年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4897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快接头等核心组件必须2026年内完成认证，窗口稍纵即逝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4074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核心行动：2026年内完成OCP UQD认证 + 超聚变供应链接入，抢占液冷战略制高点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冷板技术路线与市场格局</a:t>
            </a:r>
            <a:endParaRPr lang="en-US" sz="2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530352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548640"/>
                <a:gridCol w="10972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流阻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微通道冷板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内部微通道强化换热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Legacy/AVC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高功率芯片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环路歧管(Annular)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环绕芯片环形流道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英伟达GB200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集群GPU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射流冷板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喷射冷却强化换热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超聚变/浪潮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极端功率密度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平板式冷板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传统接触式换热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国内二三线厂商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通用服务器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14400"/>
            <a:ext cx="3108960" cy="18288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GPU厂家决定冷板标准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97880" y="1417320"/>
            <a:ext cx="73152" cy="22860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4173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22376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 · 华为定制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897880" y="1709928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170992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23760" y="17099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OEM适配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897880" y="2002536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2002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223760" y="20025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适配灵活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897880" y="2295144"/>
            <a:ext cx="73152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2295144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23760" y="2295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定制冷板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897880" y="2587752"/>
            <a:ext cx="73152" cy="2286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0" y="258775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223760" y="25877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社区共建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7432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国内冷板供应商格局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7472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规模最大，液冷全栈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029968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7"/>
          <p:cNvSpPr/>
          <p:nvPr/>
        </p:nvSpPr>
        <p:spPr>
          <a:xfrm>
            <a:off x="2029968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第一梯队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03120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工业空调背景，品质稳定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785616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5" name="Text 32"/>
          <p:cNvSpPr/>
          <p:nvPr/>
        </p:nvSpPr>
        <p:spPr>
          <a:xfrm>
            <a:off x="3785616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858768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858768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绑定超聚变，出货量可观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541264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0" name="Text 37"/>
          <p:cNvSpPr/>
          <p:nvPr/>
        </p:nvSpPr>
        <p:spPr>
          <a:xfrm>
            <a:off x="5541264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第二梯队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614416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614416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绑定宁畅服务器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296912" y="3291840"/>
            <a:ext cx="1664208" cy="1188720"/>
          </a:xfrm>
          <a:prstGeom prst="rect">
            <a:avLst/>
          </a:prstGeom>
          <a:solidFill>
            <a:srgbClr val="F7FAFC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32918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第三梯队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70064" y="3611880"/>
            <a:ext cx="1517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二三线国内厂商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370064" y="3931920"/>
            <a:ext cx="1517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价格竞争，品质参差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来源：IDC 2025 | OCP官网 | 厂商资料 [已核实/估算]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0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快接头：液冷连接核心壁垒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技术壁垒（全球最高等级）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漏液率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0.001%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军规级密封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316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插拔寿命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10,000次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数据中心级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工作压力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0–20 bar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高压液冷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720840" y="1188720"/>
            <a:ext cx="2011680" cy="1097280"/>
          </a:xfrm>
          <a:prstGeom prst="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1234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08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进入OEM门槛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全球竞争格局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88920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7889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STAUBLI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60320" y="2788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全球标准制定者，占据70%+市场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64408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2644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卡uthlink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32644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60320" y="32644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OCP认证完整，北美OEM主力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739896"/>
            <a:ext cx="5029200" cy="4114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39896"/>
            <a:ext cx="54864" cy="4114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39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国产（新进入者）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57400" y="373989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6032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东光子/中航光电，价格低30%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914400"/>
            <a:ext cx="3383280" cy="23774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23560" y="1005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海悟机会窗口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比史陶比尔低 30%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窗口期：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1-2年国产替代黄金期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进入头部OEM供应链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关键客户：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浪潮、宁畅、超聚变</a:t>
            </a:r>
            <a:endParaRPr lang="en-US" sz="9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核心优势：</a:t>
            </a:r>
            <a:pPr indent="0" marL="0">
              <a:buNone/>
            </a:pPr>
            <a:r>
              <a:rPr lang="en-US" sz="9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国内服务响应快，成本可控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343400"/>
            <a:ext cx="8595360" cy="5029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快接头是液冷价值链中技术壁垒最高、国产替代空间最大的环节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来源：OCP Alliance | 行业调研 2026.04 [已核实]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CDU：冷却液分配单元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全球CDU市场规模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$3.2B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 | CAGR 18%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914400"/>
            <a:ext cx="2560320" cy="1280160"/>
          </a:xfrm>
          <a:prstGeom prst="rect">
            <a:avLst>
              <a:gd name="adj" fmla="val 5714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005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2030年预测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2801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$7.8B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06324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2.4倍增长空间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CDU类型对比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25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背板 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50-200kW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15544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贴附机柜背面，靠近热源，适合小规模部署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9476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 CDU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19476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200-1000kW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176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独立机柜，容量大，适合中大型数据中心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0" y="2523744"/>
            <a:ext cx="3200400" cy="54864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56946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 CDU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256946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100-500kW/节点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6072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多节点共享，模块化，弹性扩展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国内外竞争格局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5212080" cy="178308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3383280"/>
              </a:tblGrid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区域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Vertiv（维谛）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美国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全球CDU龙头，OCP认证完整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Schneider（施耐德）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法国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EcoStruxure平台，生态完整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Rittal（威图）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德国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标准化CDU，欧洲市场强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英维克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国内CDU龙头，规模最大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365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工业空调背景，品质稳定</a:t>
                      </a:r>
                      <a:endParaRPr lang="en-US" sz="8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5537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海悟切入点：与系统集成商合作 CDU 捆绑销售，或专注液冷管路/快接头配套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来源：MarketsandMarkets 2025 | 行业调研 2026.04 [已核实/估算]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Manifold：分配歧管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在液冷系统中的位置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097280" cy="548640"/>
          </a:xfrm>
          <a:prstGeom prst="rect">
            <a:avLst>
              <a:gd name="adj" fmla="val 8333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548640"/>
          </a:xfrm>
          <a:prstGeom prst="rect">
            <a:avLst>
              <a:gd name="adj" fmla="val 8333"/>
            </a:avLst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solidFill>
            <a:srgbClr val="BEE3F8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371600"/>
            <a:ext cx="685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技术壁垒（相对CDU/快接头较低）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468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密封性要求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523744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4688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多路接口，漏液风险分散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28163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2871216"/>
            <a:ext cx="2011680" cy="1828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281635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各支路流量需精确分配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模块化插拔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218688"/>
            <a:ext cx="1508760" cy="1828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1638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热插拔支持是关键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566160"/>
            <a:ext cx="1005840" cy="1828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35112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OCP正在推动标准化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1280160"/>
            <a:ext cx="26517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市场特点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7373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通常与CDU捆绑销售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独立供应商较少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多为系统厂商自产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OCP推动接口标准化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国产化率约70%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单价低但数量大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五区域Manifold应用差异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标准化优先，本土品牌机会大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029968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0" name="Text 38"/>
          <p:cNvSpPr/>
          <p:nvPr/>
        </p:nvSpPr>
        <p:spPr>
          <a:xfrm>
            <a:off x="2029968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75688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3785616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3785616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31336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高可靠性，OCP认证必需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541264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6" name="Text 44"/>
          <p:cNvSpPr/>
          <p:nvPr/>
        </p:nvSpPr>
        <p:spPr>
          <a:xfrm>
            <a:off x="5541264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86984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耐高温设计，沙特标准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296912" y="4251960"/>
            <a:ext cx="1664208" cy="640080"/>
          </a:xfrm>
          <a:prstGeom prst="rect">
            <a:avLst>
              <a:gd name="adj" fmla="val 7143"/>
            </a:avLst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7296912" y="4279392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42632" y="452628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CE认证，环保RoHS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OCP认证：进入全球供应链的门票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1371600"/>
          </a:xfrm>
          <a:prstGeom prst="rect">
            <a:avLst/>
          </a:prstGeom>
          <a:solidFill>
            <a:srgbClr val="F7FAFC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Compute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2011年由Facebook发起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成员：微软/谷歌/英特尔/浪潮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制定数据中心开放标准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液冷标准：Open液冷V1.0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已认证产品超2000+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液冷相关认证类型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1325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Liquid Cooling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49040" y="15544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液冷服务器认证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892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ORV2 (Open Rack V2)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1214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机架/电源标准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2414016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245973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Accepted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6883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已通过兼容性测试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0" y="2980944"/>
            <a:ext cx="2286000" cy="502920"/>
          </a:xfrm>
          <a:prstGeom prst="rect">
            <a:avLst>
              <a:gd name="adj" fmla="val 7273"/>
            </a:avLst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 Inspired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符合OCP理念但未认证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27432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海悟认证路径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1371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3716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加入OCP协会（年费$5k-$25k）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6916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2940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获取液冷规范文档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09360" y="20116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0116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产品设计符合OCP标准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3317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23317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送检第三方实验室测试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6517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940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通过兼容性验证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09360" y="29718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9718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获得OCP Accepted认证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5669280" cy="548640"/>
          </a:xfrm>
          <a:prstGeom prst="rect">
            <a:avLst/>
          </a:prstGeom>
          <a:solidFill>
            <a:srgbClr val="F7FAFC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794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认证周期：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463040" y="3794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 6-18 个月，取决于产品成熟度和实验室排队情况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关键认证实验室：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37360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UL（美国）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24912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TUV（德国）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712464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3" name="Text 41"/>
          <p:cNvSpPr/>
          <p:nvPr/>
        </p:nvSpPr>
        <p:spPr>
          <a:xfrm>
            <a:off x="3712464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SGS（瑞士）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0016" y="416052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BEE3F8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国家电网实验室（中国）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全球液冷价值链热力图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各环节壁垒 × 国产化率 × 市场集中度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34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市场集中度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234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45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6459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64592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164592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6459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GPU绑定强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3969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139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solidFill>
            <a:srgbClr val="C53030">
              <a:alpha val="30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2139696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213969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3347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63347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solidFill>
            <a:srgbClr val="DD6B20">
              <a:alpha val="30000"/>
            </a:srgbClr>
          </a:solidFill>
          <a:ln w="6350">
            <a:solidFill>
              <a:srgbClr val="DD6B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3736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263347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675120" y="2633472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263347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国内外竞争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2724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1272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312724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675120" y="3127248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20840" y="31272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门槛较低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2102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62102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36210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75120" y="3621024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20840" y="3621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化工企业跨界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1480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1148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管路/阀门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solidFill>
            <a:srgbClr val="D69E2E">
              <a:alpha val="30000"/>
            </a:srgbClr>
          </a:solidFill>
          <a:ln w="6350">
            <a:solidFill>
              <a:srgbClr val="D69E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3736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solidFill>
            <a:srgbClr val="2F855A">
              <a:alpha val="30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solidFill>
            <a:srgbClr val="38A169">
              <a:alpha val="30000"/>
            </a:srgbClr>
          </a:solidFill>
          <a:ln w="6350">
            <a:solidFill>
              <a:srgbClr val="38A1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0" y="411480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4114800"/>
            <a:ext cx="21945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20840" y="41148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国内供应链完整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27432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热力说明：深红色=最高/红色=较高/橙色=中等/绿色=较低/深绿=最低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7" name="Text 7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液冷产业链上游：冷却液与氟化液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三类冷却液对比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乙二醇 EG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配比：15-30%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456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优势：成本低，来源广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1645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劣势：腐蚀性，需添加缓蚀剂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901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用途：中低功率数据中心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04288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04288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3957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丙二醇 PG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76148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配比：20-40%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945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优势：食品级安全，低毒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0" y="2670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劣势：黏度大，流动性差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94560" y="29260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用途：温控要求高场景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5029200" cy="960120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1828800" cy="9601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1985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氟化液（如3M Novec）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78561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配比：100%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9456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优势：绝缘性好，沸点适中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94560" y="36941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劣势：成本高，进口依赖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194560" y="39502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用途：高功率/高功率密度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914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主要供应商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12801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25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325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Novec 7100/7200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1325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1554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氟化液全球垄断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1828800"/>
            <a:ext cx="338328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Solvay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Galden系列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863840" y="1874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比利时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77840" y="2103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高沸点氟化液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486400" y="237744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2423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Chemours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23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Opteon系列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63840" y="24231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577840" y="2651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低成本氟化液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86400" y="292608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29718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陶氏化学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EG/PG溶液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63840" y="2971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77840" y="32004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传统冷却液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486400" y="347472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35204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9224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863840" y="3520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577840" y="37490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486400" y="4023360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40690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山东东岳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863840" y="4069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77840" y="42976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国产替代进行中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5537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氟化液是下一个国产替代重点方向：3M减产导致供应紧张，国产厂商加速扩产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全球五区域液冷市场进入策略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9144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进入壁垒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14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战略优先级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9144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914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1325880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2011680" y="132588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1325880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137160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本地化成本优势，响应快，政策支持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7160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快接头/CDU切入，绑定OEM，扩大份额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2002536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011680" y="2002536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926080" y="2002536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04825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成本敏感，发展中市场，中国资本活跃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37760" y="2002536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04825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跟随中资数据中心项目出海，价格优先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2679192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2011680" y="2679192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2679192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71800" y="272491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OCP认证必需，品牌门槛高，巨头垄断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937760" y="2679192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72491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先通过OCP认证，找系统集成商合作切入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88720" y="3355848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011680" y="3355848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26080" y="3355848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71800" y="34015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耐高温设计，沙特/阿联酋标准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937760" y="3355848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4015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耐高温CDU，配合SCTX认证，本地合作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8720" y="4032504"/>
            <a:ext cx="822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2011680" y="4032504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926080" y="4032504"/>
            <a:ext cx="2011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71800" y="40782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CE/RoHS认证，环保要求高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937760" y="4032504"/>
            <a:ext cx="393192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83480" y="407822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环保型冷却液，CE认证，找欧洲分销商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结论：优先国内（根基）→ 东南亚（规模）→ 中东/欧洲（利润）→ 北美（长期）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7" name="Text 6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液冷系统集成：设计要点与常见误区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系统设计5大要点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冷却液配比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EG/PG比例决定冰点与防腐蚀性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8105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流量均衡设计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810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各支路流量偏差需 &lt; 5%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温度梯度控制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3408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冷板进液温度 18-22°C，出液 &lt; 45°C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漏液检测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8600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双壁管+传感器双重保护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维护便捷性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4015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快接头数量决定维护时间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常见设计误区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1280160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3533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流量设计过大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459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按实际需求×1.2倍设计，过大增加泵耗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121408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忽视冷却液维护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每年检测pH值和腐蚀性，及时更换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962656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358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快接头数量不足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328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预留20%备用接头，方便维护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803904"/>
            <a:ext cx="4114800" cy="777240"/>
          </a:xfrm>
          <a:prstGeom prst="rect">
            <a:avLst/>
          </a:prstGeom>
          <a:solidFill>
            <a:srgbClr val="FFF5F5"/>
          </a:solidFill>
          <a:ln w="9525">
            <a:solidFill>
              <a:srgbClr val="FC81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770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忽视气候差异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中东高温需更高CDU容量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海悟液冷战略：2026-2027行动路线图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8229600" cy="3657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029968"/>
            <a:ext cx="274320" cy="27432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Q2-Q3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认证与产品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加入OCP协会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快接头OCP认证启动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与浪潮/宁畅接洽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CDU国产件样品测试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1783080" cy="640080"/>
          </a:xfrm>
          <a:prstGeom prst="rect">
            <a:avLst/>
          </a:prstGeom>
          <a:solidFill>
            <a:srgbClr val="ED8936">
              <a:alpha val="15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292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获得1个OEM合作意向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2029968"/>
            <a:ext cx="274320" cy="27432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423160"/>
            <a:ext cx="196596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246888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6888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小批量验证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快接头小批量生产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CDU管路配套交付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配合OEM完成测试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获取1-2个项目案例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0" y="4160520"/>
            <a:ext cx="1783080" cy="640080"/>
          </a:xfrm>
          <a:prstGeom prst="rect">
            <a:avLst/>
          </a:prstGeom>
          <a:solidFill>
            <a:srgbClr val="2C5282">
              <a:alpha val="15000"/>
            </a:srgbClr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0604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通过3个客户验证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532120" y="2029968"/>
            <a:ext cx="274320" cy="2743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2423160"/>
            <a:ext cx="1965960" cy="5029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Q1-Q2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规模化扩展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344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扩大快接头产能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进入超聚变供应链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344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东南亚市场试点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建立本地服务网络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4160520"/>
            <a:ext cx="1783080" cy="640080"/>
          </a:xfrm>
          <a:prstGeom prst="rect">
            <a:avLst/>
          </a:prstGeom>
          <a:solidFill>
            <a:srgbClr val="1A365D">
              <a:alpha val="15000"/>
            </a:srgbClr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0916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年收入目标≥5000万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35240" y="2029968"/>
            <a:ext cx="274320" cy="27432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0" y="2423160"/>
            <a:ext cx="1965960" cy="2468880"/>
          </a:xfrm>
          <a:prstGeom prst="rect">
            <a:avLst/>
          </a:prstGeom>
          <a:solidFill>
            <a:srgbClr val="F7FAFC"/>
          </a:solidFill>
          <a:ln w="19050">
            <a:solidFill>
              <a:srgbClr val="805A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2423160"/>
            <a:ext cx="1965960" cy="5029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2450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75120" y="269748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全球布局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01752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中东/欧洲认证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66560" y="32918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建立海外分销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766560" y="35661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液冷全栈产品线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766560" y="38404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探索并购机会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4160520"/>
            <a:ext cx="1783080" cy="640080"/>
          </a:xfrm>
          <a:prstGeom prst="rect">
            <a:avLst/>
          </a:prstGeom>
          <a:solidFill>
            <a:srgbClr val="805AD5">
              <a:alpha val="15000"/>
            </a:srgbClr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18795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12280" y="440740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海外收入占比≥15%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液冷是必然，非可选项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TDP从700W到4000W+，风冷物理极限800W，液冷是唯一解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快接头是最佳切入点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技术壁垒最高（5/5）、国产替代空间最大（&gt;90%进口）、海悟可建立差异化优势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2C5282">
              <a:alpha val="5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全球五区域差异化布局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273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国内（根基）→东南亚（规模）→中东/欧洲（利润）→北美（长期）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$105B+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2026液冷市场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60604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0604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5488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最佳窗口期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4114800"/>
            <a:ext cx="2011680" cy="685800"/>
          </a:xfrm>
          <a:prstGeom prst="rect">
            <a:avLst/>
          </a:prstGeom>
          <a:solidFill>
            <a:srgbClr val="ED8936">
              <a:alpha val="20000"/>
            </a:srgbClr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41330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03720" y="4498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TDP增长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 |  机柜级液冷战略  |  2026年4月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全球液冷竞争格局总览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74980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71216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东南亚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70832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北美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70064" y="100584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630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中:英维克/申菱/高标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71216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中:易捷/东志远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16936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外:无规模玩家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70832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中:无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416552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外:AVC/Legacy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870448" y="146304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16168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916168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46304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15784" y="153619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415784" y="178308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外:极少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10312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中:中航光电/东光子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417320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外:史陶比尔/卡锢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871216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16936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916936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70832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416552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870448" y="210312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16168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916168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外:卡锢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0064" y="210312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5784" y="217627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415784" y="242316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外:史陶比尔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74320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71600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中:英维克/申菱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17320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871216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16936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中:易捷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916936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外:Vertiv/施耐德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70832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16552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870448" y="274320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16168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16168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370064" y="274320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15784" y="281635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15784" y="306324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338328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371600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417320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中:国产为主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417320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外:多为系统商自产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871216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16936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中:国产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2916936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外:系统商自产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70832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16552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中:Vertiv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416552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外:Vertiv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870448" y="338328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16168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916168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70064" y="338328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15784" y="345643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中:极少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7415784" y="370332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外:Rittal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9" name="Text 77"/>
          <p:cNvSpPr/>
          <p:nvPr/>
        </p:nvSpPr>
        <p:spPr>
          <a:xfrm>
            <a:off x="274320" y="402336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371600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17320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中:巨化/东岳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417320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871216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16936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916936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370832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16552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中:陶氏/3M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416552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70448" y="4023360"/>
            <a:ext cx="1499616" cy="621792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16168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中:进口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916168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外:3M/陶氏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370064" y="4023360"/>
            <a:ext cx="1499616" cy="621792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15784" y="4096512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中:Solvay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415784" y="4343400"/>
            <a:ext cx="1408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外:Solvay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526280"/>
            <a:ext cx="274320" cy="2286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640080" y="4526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深色=主要竞争地 | 中=国内厂商 | 外=国际厂商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全球OEM液冷组件需求图谱：自供 vs 外购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= 自产 | ◐ = 部分自产 | ✗ = 完全外购（海悟机会）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11430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1430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11430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5270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16459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3017520" y="15270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370332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152704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152704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1554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快接头主供（年需求&gt;10万对）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23317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19293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370332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4" name="Text 42"/>
          <p:cNvSpPr/>
          <p:nvPr/>
        </p:nvSpPr>
        <p:spPr>
          <a:xfrm>
            <a:off x="4434840" y="192938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166360" y="192938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195681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快接头（昇腾生态捆绑），史陶比尔供货慢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solidFill>
            <a:srgbClr val="0057E7">
              <a:alpha val="15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23317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0" name="Text 48"/>
          <p:cNvSpPr/>
          <p:nvPr/>
        </p:nvSpPr>
        <p:spPr>
          <a:xfrm>
            <a:off x="16459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2" name="Text 50"/>
          <p:cNvSpPr/>
          <p:nvPr/>
        </p:nvSpPr>
        <p:spPr>
          <a:xfrm>
            <a:off x="23317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4" name="Text 52"/>
          <p:cNvSpPr/>
          <p:nvPr/>
        </p:nvSpPr>
        <p:spPr>
          <a:xfrm>
            <a:off x="3017520" y="23317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370332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Text 56"/>
          <p:cNvSpPr/>
          <p:nvPr/>
        </p:nvSpPr>
        <p:spPr>
          <a:xfrm>
            <a:off x="4434840" y="233172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66360" y="233172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0" name="Text 58"/>
          <p:cNvSpPr/>
          <p:nvPr/>
        </p:nvSpPr>
        <p:spPr>
          <a:xfrm>
            <a:off x="5212080" y="2359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快接头（朗之闻无此业务），定制响应慢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solidFill>
            <a:srgbClr val="C53030">
              <a:alpha val="15000"/>
            </a:srgbClr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27340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4" name="Text 62"/>
          <p:cNvSpPr/>
          <p:nvPr/>
        </p:nvSpPr>
        <p:spPr>
          <a:xfrm>
            <a:off x="16459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6" name="Text 64"/>
          <p:cNvSpPr/>
          <p:nvPr/>
        </p:nvSpPr>
        <p:spPr>
          <a:xfrm>
            <a:off x="23317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3017520" y="273405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0" name="Text 68"/>
          <p:cNvSpPr/>
          <p:nvPr/>
        </p:nvSpPr>
        <p:spPr>
          <a:xfrm>
            <a:off x="370332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434840" y="273405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66360" y="2734056"/>
            <a:ext cx="1280160" cy="384048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4" name="Text 72"/>
          <p:cNvSpPr/>
          <p:nvPr/>
        </p:nvSpPr>
        <p:spPr>
          <a:xfrm>
            <a:off x="5212080" y="276148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快接头（封闭体系，国产替代门槛高）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1363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8" name="Text 76"/>
          <p:cNvSpPr/>
          <p:nvPr/>
        </p:nvSpPr>
        <p:spPr>
          <a:xfrm>
            <a:off x="16459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0" name="Text 78"/>
          <p:cNvSpPr/>
          <p:nvPr/>
        </p:nvSpPr>
        <p:spPr>
          <a:xfrm>
            <a:off x="23317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2" name="Text 80"/>
          <p:cNvSpPr/>
          <p:nvPr/>
        </p:nvSpPr>
        <p:spPr>
          <a:xfrm>
            <a:off x="3017520" y="313639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4" name="Text 82"/>
          <p:cNvSpPr/>
          <p:nvPr/>
        </p:nvSpPr>
        <p:spPr>
          <a:xfrm>
            <a:off x="370332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6" name="Text 84"/>
          <p:cNvSpPr/>
          <p:nvPr/>
        </p:nvSpPr>
        <p:spPr>
          <a:xfrm>
            <a:off x="4434840" y="313639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5166360" y="3136392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88" name="Text 86"/>
          <p:cNvSpPr/>
          <p:nvPr/>
        </p:nvSpPr>
        <p:spPr>
          <a:xfrm>
            <a:off x="5212080" y="31638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快接头外购，可做Vertiv中国配套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74320" y="3538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2" name="Text 90"/>
          <p:cNvSpPr/>
          <p:nvPr/>
        </p:nvSpPr>
        <p:spPr>
          <a:xfrm>
            <a:off x="16459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4" name="Text 92"/>
          <p:cNvSpPr/>
          <p:nvPr/>
        </p:nvSpPr>
        <p:spPr>
          <a:xfrm>
            <a:off x="23317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6" name="Text 94"/>
          <p:cNvSpPr/>
          <p:nvPr/>
        </p:nvSpPr>
        <p:spPr>
          <a:xfrm>
            <a:off x="3017520" y="353872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8" name="Text 96"/>
          <p:cNvSpPr/>
          <p:nvPr/>
        </p:nvSpPr>
        <p:spPr>
          <a:xfrm>
            <a:off x="370332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0" name="Text 98"/>
          <p:cNvSpPr/>
          <p:nvPr/>
        </p:nvSpPr>
        <p:spPr>
          <a:xfrm>
            <a:off x="4434840" y="35387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5166360" y="3538728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02" name="Text 100"/>
          <p:cNvSpPr/>
          <p:nvPr/>
        </p:nvSpPr>
        <p:spPr>
          <a:xfrm>
            <a:off x="5212080" y="3566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NVL72配套快接头，Quanta代工部分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solidFill>
            <a:srgbClr val="2F855A">
              <a:alpha val="15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74320" y="39410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6" name="Text 104"/>
          <p:cNvSpPr/>
          <p:nvPr/>
        </p:nvSpPr>
        <p:spPr>
          <a:xfrm>
            <a:off x="16459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8" name="Text 106"/>
          <p:cNvSpPr/>
          <p:nvPr/>
        </p:nvSpPr>
        <p:spPr>
          <a:xfrm>
            <a:off x="23317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0" name="Text 108"/>
          <p:cNvSpPr/>
          <p:nvPr/>
        </p:nvSpPr>
        <p:spPr>
          <a:xfrm>
            <a:off x="3017520" y="394106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2" name="Text 110"/>
          <p:cNvSpPr/>
          <p:nvPr/>
        </p:nvSpPr>
        <p:spPr>
          <a:xfrm>
            <a:off x="370332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4" name="Text 112"/>
          <p:cNvSpPr/>
          <p:nvPr/>
        </p:nvSpPr>
        <p:spPr>
          <a:xfrm>
            <a:off x="4434840" y="394106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166360" y="3941064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16" name="Text 114"/>
          <p:cNvSpPr/>
          <p:nvPr/>
        </p:nvSpPr>
        <p:spPr>
          <a:xfrm>
            <a:off x="5212080" y="39684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DGX代工，快接头全外购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4343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6459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2" name="Text 120"/>
          <p:cNvSpPr/>
          <p:nvPr/>
        </p:nvSpPr>
        <p:spPr>
          <a:xfrm>
            <a:off x="23317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4" name="Text 122"/>
          <p:cNvSpPr/>
          <p:nvPr/>
        </p:nvSpPr>
        <p:spPr>
          <a:xfrm>
            <a:off x="3017520" y="43434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6" name="Text 124"/>
          <p:cNvSpPr/>
          <p:nvPr/>
        </p:nvSpPr>
        <p:spPr>
          <a:xfrm>
            <a:off x="370332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8" name="Text 126"/>
          <p:cNvSpPr/>
          <p:nvPr/>
        </p:nvSpPr>
        <p:spPr>
          <a:xfrm>
            <a:off x="4434840" y="4343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5166360" y="4343400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30" name="Text 128"/>
          <p:cNvSpPr/>
          <p:nvPr/>
        </p:nvSpPr>
        <p:spPr>
          <a:xfrm>
            <a:off x="5212080" y="437083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CDU全套自产，快接头外购（合作非竞争）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solidFill>
            <a:srgbClr val="ED8936">
              <a:alpha val="15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74320" y="4745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4" name="Text 132"/>
          <p:cNvSpPr/>
          <p:nvPr/>
        </p:nvSpPr>
        <p:spPr>
          <a:xfrm>
            <a:off x="16459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6" name="Text 134"/>
          <p:cNvSpPr/>
          <p:nvPr/>
        </p:nvSpPr>
        <p:spPr>
          <a:xfrm>
            <a:off x="23317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8" name="Text 136"/>
          <p:cNvSpPr/>
          <p:nvPr/>
        </p:nvSpPr>
        <p:spPr>
          <a:xfrm>
            <a:off x="3017520" y="474573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70332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2" name="Text 140"/>
          <p:cNvSpPr/>
          <p:nvPr/>
        </p:nvSpPr>
        <p:spPr>
          <a:xfrm>
            <a:off x="4434840" y="474573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5166360" y="4745736"/>
            <a:ext cx="1280160" cy="384048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4" name="Text 142"/>
          <p:cNvSpPr/>
          <p:nvPr/>
        </p:nvSpPr>
        <p:spPr>
          <a:xfrm>
            <a:off x="5212080" y="47731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冷板/CDU自产，快接头外购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274320" y="4572000"/>
            <a:ext cx="320040" cy="22860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46" name="Text 144"/>
          <p:cNvSpPr/>
          <p:nvPr/>
        </p:nvSpPr>
        <p:spPr>
          <a:xfrm>
            <a:off x="640080" y="4572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蓝=国内OEM  绿=国际OEM  红=谨慎进入  ✓=自产  ✗=外购（机会）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8" name="Text 14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全球专业热管理公司液冷能力图谱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专业热管理公司是海悟快接头的核心客户群：他们需要外购快接头来配套自己的液冷方案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1887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1188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液冷能力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快接头需求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188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合作机会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55448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英维克（YingweiKATE）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37360" y="155448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16002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240280" y="155448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1600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液冷全栈自产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155448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6002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快接头（自产不足），需外购配套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55448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6002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40680" y="155448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6002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国内液冷龙头，快接头外购，海悟主攻客户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202996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37360" y="2029968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207568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240280" y="2029968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20756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冷板+CDU（工业空调）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29000" y="202996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0756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快接头（无此业务），需外购配套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0756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202996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0756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工业空调背景，冷板/CDU强，快接头空白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50545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551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37360" y="2505456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83080" y="2551176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40280" y="2505456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0" y="2551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29000" y="250545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0" y="255117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快接头（超聚变体系外购），需外购配套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50545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55117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440680" y="250545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55117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超聚变生态配套，史陶比尔供货慢，海悟有机会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98094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02666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737360" y="2980944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83080" y="302666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40280" y="2980944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0266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冷板+CDU（OEM绑定）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29000" y="298094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0" y="302666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快接头（朗之闻无此业务），需外购配套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709160" y="298094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0" y="30266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40680" y="298094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02666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宁畅定制多，但体系封闭，定制响应是壁垒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45643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502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737360" y="3456432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350215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240280" y="3456432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0" y="3502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CDU+InfraStruxure全球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29000" y="345643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0" y="35021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快接头（全球CDU配套），需OCP认证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09160" y="345643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5021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5021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全球CDU龙头，快接头外购，海悟可通过中国Vertiv切入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93192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977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Rittal（威图）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737360" y="3931920"/>
            <a:ext cx="5029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83080" y="39776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240280" y="3931920"/>
            <a:ext cx="11887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86000" y="3977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CDU+机柜标准化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429000" y="393192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9776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快接头（欧洲CDU配套），需CE认证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709160" y="393192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54880" y="3977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440680" y="393192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0" y="3977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欧洲市场为主，认证门槛高，收益长远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507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海悟定位：不做液冷系统集成商的竞争对手，而是成为他们的快接头专业供应商，填补专业热管理公司的液冷组件短板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2" name="Text 9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案例① 英维克（YingweiKATE）：快接头外购需求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深圳（A股002837）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2001年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约¥15亿（占比30%）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国内液冷龙头，全栈布局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外购（史陶比尔为主）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液冷组件能力矩阵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25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743200" cy="365760"/>
          </a:xfrm>
          <a:prstGeom prst="rect">
            <a:avLst/>
          </a:prstGeom>
          <a:solidFill>
            <a:srgbClr val="F0FFF4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0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solidFill>
            <a:srgbClr val="FFF5F5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971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914400"/>
            <a:ext cx="2743200" cy="2011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快接头年需求量（估算）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~5000台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每台CDU快接头需求：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约20-40个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快接头年需求总量：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当前采购来源：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80%史陶比尔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3-5万个/年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（替代30%史陶比尔份额）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预估年营收贡献：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海悟供应切入点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通过OCP认证（英维克要求供应商OCP认证）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3794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提供样品（20-50个快接头样品，免费试用）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通过英维克内部测试（漏液率/插拔寿命验证）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" y="4526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进入英维克合格供应商名单（AVL）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小批量供货 → 大批量替代（目标30%份额）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快接头在液冷系统中的位置与供应价值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液冷系统组件关系图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芯片级换热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1691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（海悟）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可拔插连接（关键！)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9748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冷却液分配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2336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4340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49240" y="1280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0" y="1280160"/>
            <a:ext cx="1005840" cy="777240"/>
          </a:xfrm>
          <a:prstGeom prst="rect">
            <a:avLst>
              <a:gd name="adj" fmla="val 7059"/>
            </a:avLst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换热器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7830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二次换热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4572000" cy="731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3317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为什么快接头是关键？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25786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漏液风险最高：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每个快接头都是潜在的漏液点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维护核心：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数据中心维护时先拔快接头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OEM必须外购：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专业热管理公司均不自产快接头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914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专业热管理公司快接头年需求汇总（估算）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1234440"/>
            <a:ext cx="3840480" cy="384048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2801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858000" y="12801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10-20万个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12801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25%份额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029200" y="1655064"/>
            <a:ext cx="3840480" cy="384048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1700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58000" y="17007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4-8万个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170078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12%份额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2075688"/>
            <a:ext cx="3840480" cy="384048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1214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Vertiv（中国）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1214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3-6万个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1214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10%份额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29200" y="2496312"/>
            <a:ext cx="3840480" cy="384048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高标（超聚变系）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2542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2-5万个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55280" y="25420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8%份额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0" y="2916936"/>
            <a:ext cx="3840480" cy="384048"/>
          </a:xfrm>
          <a:prstGeom prst="rect">
            <a:avLst/>
          </a:prstGeom>
          <a:solidFill>
            <a:srgbClr val="805AD5">
              <a:alpha val="12000"/>
            </a:srgbClr>
          </a:solidFill>
          <a:ln w="6350">
            <a:solidFill>
              <a:srgbClr val="805A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29626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朗之闻（宁畅系）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0" y="29626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1-3万个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955280" y="296265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5%份额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29200" y="3337560"/>
            <a:ext cx="3840480" cy="384048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3383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58000" y="33832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5-10万个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33832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20%份额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375818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国内专业热管理公司快接头年总需求：25-55万个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液冷专业公司合作策略矩阵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71600" cy="8046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914400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960120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主攻客户，签订年度框架协议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914400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9875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快速通过OCP认证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749040" y="11612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提供免费样品测试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49040" y="133502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建立联合实验室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年度供货协议锁定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0" y="914400"/>
            <a:ext cx="1371600" cy="804672"/>
          </a:xfrm>
          <a:prstGeom prst="rect">
            <a:avLst/>
          </a:prstGeom>
          <a:solidFill>
            <a:srgbClr val="1A365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960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¥1500-2500万/年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55648"/>
            <a:ext cx="1371600" cy="8046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55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1671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45920" y="1755648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1801368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深度合作，联合开发定制快接头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0" y="1755648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1828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与申菱研发联合设计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49040" y="200253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匹配申菱冷板接口标准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49040" y="217627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在申菱顺德工厂附近设仓储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74904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定制化响应快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498080" y="1755648"/>
            <a:ext cx="1371600" cy="804672"/>
          </a:xfrm>
          <a:prstGeom prst="rect">
            <a:avLst/>
          </a:prstGeom>
          <a:solidFill>
            <a:srgbClr val="2C5282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0" y="18013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498080" y="20299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¥500-1000万/年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596896"/>
            <a:ext cx="1371600" cy="8046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5968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超聚变/高标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0083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45920" y="2596896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2642616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跟随超聚变进入昇腾生态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0" y="2596896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6700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通过超聚变验证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749040" y="284378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配套超聚变CDU出货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49040" y="301752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快速定制响应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749040" y="319125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绑定昇腾液冷标准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98080" y="2596896"/>
            <a:ext cx="1371600" cy="804672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98080" y="2642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498080" y="28712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¥300-800万/年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438144"/>
            <a:ext cx="1371600" cy="80467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3438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宁畅/朗之闻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45920" y="3438144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483864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备选客户，定制化优先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3438144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9" name="Text 47"/>
          <p:cNvSpPr/>
          <p:nvPr/>
        </p:nvSpPr>
        <p:spPr>
          <a:xfrm>
            <a:off x="3749040" y="351129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深度定制快接头（宁畅要求多）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749040" y="368503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响应速度快（比史陶比尔快）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74904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建立样板案例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749040" y="403250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逐步扩大份额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498080" y="3438144"/>
            <a:ext cx="1371600" cy="804672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4838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498080" y="3712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¥200-500万/年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1371600" cy="80467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2793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45920" y="4279392"/>
            <a:ext cx="2011680" cy="804672"/>
          </a:xfrm>
          <a:prstGeom prst="rect">
            <a:avLst/>
          </a:prstGeom>
          <a:solidFill>
            <a:srgbClr val="F7FAFC"/>
          </a:solidFill>
          <a:ln w="9525">
            <a:solidFill>
              <a:srgbClr val="805A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37360" y="4325112"/>
            <a:ext cx="1828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通过Vertiv进入全球液冷市场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657600" y="4279392"/>
            <a:ext cx="3840480" cy="80467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2" name="Text 60"/>
          <p:cNvSpPr/>
          <p:nvPr/>
        </p:nvSpPr>
        <p:spPr>
          <a:xfrm>
            <a:off x="3749040" y="4352544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先通过Vertiv中国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749040" y="45262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再进入Vertiv全球供应商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749040" y="4700016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符合Vertiv OCP要求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749040" y="487375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欧洲/北美长期机会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498080" y="4279392"/>
            <a:ext cx="1371600" cy="804672"/>
          </a:xfrm>
          <a:prstGeom prst="rect">
            <a:avLst/>
          </a:prstGeom>
          <a:solidFill>
            <a:srgbClr val="805AD5">
              <a:alpha val="1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7498080" y="43251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预估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98080" y="45537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5A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¥200-400万/年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海悟5年累计收入目标（5大专业热管理公司客户）：¥2.5-5亿元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2" name="Text 7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竞争对手⑥ 浪潮（Inspur）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01168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济南（深交所上市，000977）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1949年（国营背景）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约¥800亿（2024年）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服务器份额：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中国第一，全球第三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AI服务器+液冷同步推进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浪潮液冷布局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533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0" y="13533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NF5680G7等，适配英伟达H100/昇腾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53619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792224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8653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653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自产+外购英维克/申菱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20440" y="2048256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2304288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2377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外购高标/英维克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25603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部分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83280" y="2816352"/>
            <a:ext cx="5486400" cy="457200"/>
          </a:xfrm>
          <a:prstGeom prst="rect">
            <a:avLst/>
          </a:prstGeom>
          <a:solidFill>
            <a:srgbClr val="EDF2F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8895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95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外购史陶比尔（主供）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520440" y="3072384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108960"/>
            <a:ext cx="8595360" cy="146304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海悟在浪潮液冷体系中的切入点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快接头替代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浪潮服务器出货量大，快接头年需求&gt;10万对，史陶比尔供货不足，海悟可填补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冷板配套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3977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浪潮AI服务器出货量大，冷板外购给国内厂商，海悟可通过高标体系切入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343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43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4343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CDU管路/阀门/连接件，量大且定制化多，海悟有管路优势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竞争对手⑦ 宁畅（Nettrix）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926080" cy="2103120"/>
          </a:xfrm>
          <a:prstGeom prst="rect">
            <a:avLst/>
          </a:prstGeom>
          <a:solidFill>
            <a:srgbClr val="F7FAFC"/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北京（中科院计算所背景）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2017年（年轻但技术强）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融资：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VC融资（规模约¥20亿+）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约¥50亿+（2024年）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AI服务器+液冷定制专家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液冷特点：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深度定制化，朗之闻为关联公司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液冷产品线覆盖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3258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全自研，寒武纪/海光适配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83280" y="1709928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55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7556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2139696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185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218541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自产（朗之闻）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569464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26151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6151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外购（史陶比尔）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2999232"/>
            <a:ext cx="5486400" cy="384048"/>
          </a:xfrm>
          <a:prstGeom prst="rect">
            <a:avLst/>
          </a:prstGeom>
          <a:solidFill>
            <a:srgbClr val="EDF2F7"/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3044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30449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自产+外购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20040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海悟在宁畅体系中的机会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核心机会：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宁畅快接头100%外购史陶比尔，且朗之闻无快接头业务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切入点：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宁畅定制化需求多，史陶比尔响应慢，海悟可提供快速定制服务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绑定方式：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与朗之闻错位竞争（海悟专攻快接头，朗之闻专注冷板/CDU）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目标：</a:t>
            </a:r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成为宁畅第二快接头供应商（替代30%史陶比尔）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竞争格局⑧ 国产新进入者对比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厂商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914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9144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914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海悟契合度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中航光电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8016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航空工业旗下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快接头+连接器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0" y="132588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389120" y="132588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371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659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28016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68880" y="192024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0" y="192024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19659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389120" y="1920240"/>
            <a:ext cx="1097280" cy="594360"/>
          </a:xfrm>
          <a:prstGeom prst="rect">
            <a:avLst/>
          </a:prstGeom>
          <a:solidFill>
            <a:srgbClr val="2F855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1460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560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28016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2588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超聚变系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68880" y="251460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14600" y="25603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0" y="251460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超聚变推动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251460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2560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310896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朗之闻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28016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宁畅系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468880" y="310896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1546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657600" y="310896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3154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宁畅推动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389120" y="3108960"/>
            <a:ext cx="1097280" cy="594360"/>
          </a:xfrm>
          <a:prstGeom prst="rect">
            <a:avLst/>
          </a:prstGeom>
          <a:solidFill>
            <a:srgbClr val="ED893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3484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" y="3703320"/>
            <a:ext cx="100584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749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浙江巨化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8016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国企（巨化集团）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68880" y="3703320"/>
            <a:ext cx="11887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1460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氟化液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0" y="3703320"/>
            <a:ext cx="731520" cy="59436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3749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不适用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3703320"/>
            <a:ext cx="109728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34840" y="37490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海悟竞争定位：专攻快接头，不与现有玩家正面竞争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45902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海悟策略：与中航光电（军工品质）错位 → 专注数据中心快接头量产；与东光子（专注但规模小）合作或竞争 → 海悟更快规模化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竞争态势总结：海悟竞争优势矩阵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 分析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S优势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103120" cy="1417320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专注数据中心快接头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本地化服务响应快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成本比史陶比尔低30%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国内供应链完整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W劣势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2103120" cy="141732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品牌知名度低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6032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OCP认证尚未完成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6032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量产经验有限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无国际客户背书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O机会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2103120" cy="1417320"/>
          </a:xfrm>
          <a:prstGeom prst="rect">
            <a:avLst/>
          </a:prstGeom>
          <a:solidFill>
            <a:srgbClr val="EBF8FF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史陶比尔交货慢，缺口大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国产替代政策支持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AI服务器爆发，快接头需求激增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东南亚/中东市场空白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T威胁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554480"/>
            <a:ext cx="2103120" cy="1417320"/>
          </a:xfrm>
          <a:prstGeom prst="rect">
            <a:avLst/>
          </a:prstGeom>
          <a:solidFill>
            <a:srgbClr val="FFFAF0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6276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史陶比尔加速布局中国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1947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中航光电可能切入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2677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价格战风险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25877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技术标准被国外垄断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海悟竞争优势来源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4747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技术差异化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专攻数据中心场景快接头，不做通用连接器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840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840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成本优势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745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国内制造成本+规模化后比史陶比尔低30%+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2062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服务差异化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87452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国内24小时响应，定制化48小时出样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5720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572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战略聚焦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7452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只做快接头一件事，做到极致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46320" y="3154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优先目标客户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474720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浪潮信息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89320" y="35204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858000" y="35204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规模最大，快接头需求最大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46320" y="3831336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77056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89320" y="38770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58000" y="38770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定制需求多，史陶比尔服务差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846320" y="4187952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233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89320" y="423367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58000" y="4233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昇腾生态，出货量大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46320" y="4544568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5902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989320" y="45902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58000" y="459028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CDU配套快接头，间接供应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846320" y="4901184"/>
            <a:ext cx="4023360" cy="320040"/>
          </a:xfrm>
          <a:prstGeom prst="rect">
            <a:avLst/>
          </a:prstGeom>
          <a:solidFill>
            <a:srgbClr val="EDF2F7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0" y="494690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49469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858000" y="4946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配套合作，非竞争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8" name="Text 6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OTT厂家超级节点：OEM制造商对应关系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全球OTT超级节点 GPU集群规模（2026年估算）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OTT厂家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GPU集群规模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280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超节点名称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2801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28016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6420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166420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17099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~500k H100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68880" y="166420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709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Large Language Model Cluster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31920" y="166420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1709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NVIDIA DGX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760720" y="166420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70992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15798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88720" y="2157984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2203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~800k TPUv5+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0" y="2157984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20370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TPU Pod（自有设计）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31920" y="2157984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20370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Google自研（非标准OEM）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60720" y="2157984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2037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65176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88720" y="2651760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~400k GB200 NVL72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68880" y="2651760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4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AI Supercomputer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931920" y="2651760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7764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 / Dell / HP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760720" y="2651760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2697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美国/欧洲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14553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145536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34440" y="31912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468880" y="3145536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31912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ByteDance AI Cloud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31920" y="3145536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77640" y="31912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宁畅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760720" y="3145536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06440" y="31912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6393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188720" y="3639312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34440" y="36850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468880" y="3639312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6850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腾讯云AI集群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931920" y="3639312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77640" y="3685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 / 华为 / 富士康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60720" y="3639312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06440" y="368503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133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188720" y="4133088"/>
            <a:ext cx="128016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234440" y="41788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468880" y="4133088"/>
            <a:ext cx="146304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514600" y="41788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阿里云PAI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931920" y="4133088"/>
            <a:ext cx="182880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77640" y="4178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 / 华为 / 中科曙光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760720" y="4133088"/>
            <a:ext cx="731520" cy="47548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06440" y="41788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中国/东南亚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035040" y="914400"/>
            <a:ext cx="2834640" cy="30175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1005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172200" y="1325880"/>
            <a:ext cx="2560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全球OTT超节点规模：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Meta/Google/Microsoft三家占全球AI训练算力&gt;60%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中国OTT（字节/腾讯/阿里）：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总规模约750k+ GPU，多用国产AI服务器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服务器OEM格局：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全球：Quanta/Dell/HP主导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中国：浪潮/华为/宁畅/超聚变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GB200 NVL72超节点：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NVIDIA直供Quanta/Dell/Microsoft自建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来源：Counterpoint 2025 | TrendForce 2026.01 | 厂商公告 [已核实/估算]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0" name="Text 78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中国OTT超级节点深度分析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E4D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solidFill>
            <a:srgbClr val="FE4D4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字节跳动（ByteDance）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~300k H100/H800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豆包大模型训练集群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宁畅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高（AI推理+训练双需求）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冷板+CDU为主，定制化多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火山引擎团队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★★★★☆（供应商准入严格）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12B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2B7F5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腾讯（Tencent）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~200k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混元大模型/腾讯云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Inspur（主供）/ 华为 / 富士康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高（自有云+AI双驱动）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冷板为主，新建数据中心液冷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腾讯云团队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★★★☆☆（供应商体系成熟）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2377440"/>
          </a:xfrm>
          <a:prstGeom prst="rect">
            <a:avLst/>
          </a:prstGeom>
          <a:solidFill>
            <a:srgbClr val="F7FAFC"/>
          </a:solidFill>
          <a:ln w="25400">
            <a:solidFill>
              <a:srgbClr val="FF6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solidFill>
            <a:srgbClr val="FF6A00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阿里巴巴（Alibaba）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GPU规模：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~250k H100/昇腾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集群类型：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通义千问/阿里云PAI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服务器OEM：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浪潮（主供）/ 华为 / 中科曙光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中高（大规模部署进行中）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冷板+CDU，新建+改造并行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关键决策人：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阿里云基础设施团队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★★★★★（供应商体系最封闭）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中国OTT的共同特征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大规模使用英伟达H100/H800（出口管制后转向昇腾）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服务器来源以浪潮/华为为主，定制化程度高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4261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液冷需求增速快，2026-2027年是集中部署期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51713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供应商准入严格，需通过长周期验证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快接头基本依赖史陶比尔，国产替代空间大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OEM服务器制造商液冷布局与OTT供应关系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全球OEM（国际）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冷板+CDU（自研）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12801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Meta/Microsoft/Google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74320" y="1746504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Dell（戴尔）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Microsoft/Google/Meta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 Enterprise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8308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液冷CDU（收购）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微软/亚马逊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2770632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SuperMicro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0" y="2816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大型CSP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3282696"/>
            <a:ext cx="41148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Evoca（长凳）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8308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定制液冷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0" y="33284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欧洲CSP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中国OEM（国内）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浪潮（Inspur）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98080" y="12801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字节/腾讯/阿里/百度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572000" y="1746504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华为（Huawei）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17922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98080" y="179222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自有云+运营商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572000" y="2258568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超聚变（xFusion）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液冷全栈（自研）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2304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572000" y="2770632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宁畅（Nettrix）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2816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液冷（朗之闻）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8163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字节/腾讯/小米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572000" y="3282696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中科曙光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332841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液冷（自研）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98080" y="33284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政府/科研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794760"/>
            <a:ext cx="429768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新华三（H3C）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80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液冷CDU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98080" y="3840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阿里/腾讯/政企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solidFill>
            <a:srgbClr val="FFF7ED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液冷快接头机会窗口：全球OEM的快接头均依赖史陶比尔/卡锢，国产替代空间最大 | 国内OEM的液冷团队均有快接头外购需求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3" name="Text 5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NVL72超节点：供应链与液冷需求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200400" cy="2194560"/>
          </a:xfrm>
          <a:prstGeom prst="rect">
            <a:avLst>
              <a:gd name="adj" fmla="val 3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05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 NVL72 核心规格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72× Blackwell GPU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100kW/机架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 GPU全互联（1.8TB/s）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散热方式：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必须液冷（风冷无法）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液冷方案：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必须OCP认证（史陶比尔）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单价：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~$10M+/集群（估算）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280160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NVIDIA（英伟达）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GPU芯片 + DGX设计标准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733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Quanta（广达）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897880" y="1673352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DGX服务器代工（主供）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0" y="2066544"/>
            <a:ext cx="73152" cy="3474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0665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Dell/HP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97880" y="20665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DGX服务器（部分份额）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0" y="2459736"/>
            <a:ext cx="73152" cy="347472"/>
          </a:xfrm>
          <a:prstGeom prst="rect">
            <a:avLst/>
          </a:prstGeom>
          <a:solidFill>
            <a:srgbClr val="68B03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24597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NVIDIA直供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97880" y="245973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NVLink交换器/光模块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0" y="2852928"/>
            <a:ext cx="73152" cy="3474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8529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2852928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快接头（OCP认证必需）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0" y="3246120"/>
            <a:ext cx="73152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246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3246120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英维克/Dell自产/CDU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液冷需求深度分析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4114800" cy="1097280"/>
          </a:xfrm>
          <a:prstGeom prst="rect">
            <a:avLst/>
          </a:prstGeom>
          <a:solidFill>
            <a:srgbClr val="EDF2F7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100kW/机架 = 必须液冷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环路歧管冷板（英伟达指定标准）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快接头必须OCP认证（史陶比尔为主）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CDU容量需求：单台&gt;30kW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2026年NVL72交付量预计&gt;10万GPU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3246120"/>
            <a:ext cx="429768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海悟在NVL72供应链中的机会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9160" y="36576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核心机会：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NVL72快接头被史陶比尔垄断，海悟目标是替代30%份额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路径：OCP认证 → 进入Quanta/Dell供应链 → NVL72配套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时间窗口：2026-2027年NVL72大规模交付期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全球液冷组件市场份额拆解（2025年估算）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快接头（全球市场约$2.5亿/年）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962656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 72%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534924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3328416" y="1783080"/>
            <a:ext cx="8092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卡锢（Kaichuang） 13%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4780" y="1280160"/>
            <a:ext cx="329184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3954780" y="17830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国产其他 8%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75404" y="1280160"/>
            <a:ext cx="28803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Text 10"/>
          <p:cNvSpPr/>
          <p:nvPr/>
        </p:nvSpPr>
        <p:spPr>
          <a:xfrm>
            <a:off x="4375404" y="1783080"/>
            <a:ext cx="5623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 7%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海悟可触及空间（国产替代）：~15% = $3750万/年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冷板（全球市场约$18亿/年）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152144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83080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98464" y="1280160"/>
            <a:ext cx="905256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5998464" y="17830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493776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78308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80376" y="1280160"/>
            <a:ext cx="94640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22" name="Text 20"/>
          <p:cNvSpPr/>
          <p:nvPr/>
        </p:nvSpPr>
        <p:spPr>
          <a:xfrm>
            <a:off x="7580376" y="1783080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高标/其他国内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618220" y="1280160"/>
            <a:ext cx="617220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Text 22"/>
          <p:cNvSpPr/>
          <p:nvPr/>
        </p:nvSpPr>
        <p:spPr>
          <a:xfrm>
            <a:off x="8618220" y="178308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2103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海悟不建议切入冷板（壁垒高且格局分散）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CDU（全球市场约$32亿/年）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1234440" cy="4572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3375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00200" y="2834640"/>
            <a:ext cx="1028700" cy="4572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0" name="Text 28"/>
          <p:cNvSpPr/>
          <p:nvPr/>
        </p:nvSpPr>
        <p:spPr>
          <a:xfrm>
            <a:off x="1600200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20340" y="2834640"/>
            <a:ext cx="617220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2" name="Text 30"/>
          <p:cNvSpPr/>
          <p:nvPr/>
        </p:nvSpPr>
        <p:spPr>
          <a:xfrm>
            <a:off x="2720340" y="3337560"/>
            <a:ext cx="8001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Schneider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834640"/>
            <a:ext cx="740664" cy="4572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33756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申菱/其他国内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61104" y="2834640"/>
            <a:ext cx="493776" cy="4572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6" name="Text 34"/>
          <p:cNvSpPr/>
          <p:nvPr/>
        </p:nvSpPr>
        <p:spPr>
          <a:xfrm>
            <a:off x="4261104" y="3337560"/>
            <a:ext cx="676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其他国际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611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CDU格局分散，海悟可配套管路/阀门（非核心 CDU）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68880"/>
            <a:ext cx="411480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快接头国产替代空间（海悟主战场）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28803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全球快接头年市场：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史陶比尔垄断：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 = $1.8亿（美元）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卡锢（美国）份额：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13% = $3250万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国产替代空间：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~15% = $3750万/年（美元）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海悟目标（5年）：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拿下国产空间30% = $1125万/年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来源：行业调研 2026.04 | 估算仅供参考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海悟可触及市场规模：快接头 TAM / SAM / SOM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市场规模三层模型（快接头）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1188720"/>
          </a:xfrm>
          <a:prstGeom prst="rect">
            <a:avLst>
              <a:gd name="adj" fmla="val 6154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53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全球数据中心快接头总市场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286000" cy="1188720"/>
          </a:xfrm>
          <a:prstGeom prst="rect">
            <a:avLst>
              <a:gd name="adj" fmla="val 6154"/>
            </a:avLst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353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$0.65亿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21214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海悟可触达市场（中国+东南亚）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577840" y="1280160"/>
            <a:ext cx="1828800" cy="1188720"/>
          </a:xfrm>
          <a:prstGeom prst="rect">
            <a:avLst>
              <a:gd name="adj" fmla="val 6154"/>
            </a:avLst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1353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69280" y="2121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海悟5年实际可获得（保守）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5年收入预测（保守/基准/乐观）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50292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971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1168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29718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375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$0.02亿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3375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$0.03亿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$0.05亿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17520" y="37033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$0.08亿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406908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69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$0.06亿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$0.11亿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17520" y="40690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$0.10亿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1168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$0.18亿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017520" y="4434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$0.30亿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800600"/>
            <a:ext cx="50292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006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$0.15亿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1168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$0.28亿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017520" y="4800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$0.50亿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0" y="914400"/>
            <a:ext cx="3383280" cy="310896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23560" y="1325880"/>
            <a:ext cx="31089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快接头单价：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$80-120/个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（史陶比尔定价，海悟低30%）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需求增量：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AI服务器年增30%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渗透率：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2030年海悟占SAM 17%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海悟快接头量产时间：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OCP认证完成：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2027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主要客户：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浪潮+宁畅+超聚变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645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结论：2030年海悟快接头基准收入预测 $2800万/年（约¥2亿元）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战略总结与行动建议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聚焦快接头，差异化切入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258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快接头是液冷价值链中技术壁垒最高（5/5）且国产化率最低（&lt;10%）的环节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海悟目标：比史陶比尔低30%定价，快速响应定制需求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优先OEM：浪潮（最大）&gt; 宁畅（定制多）&gt; 超聚变（昇腾生态）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19842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同步推进OCP认证，目标2027年Q3完成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2028年：$1100万收入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占SAM 17%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2402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借力OTT爆发，绑定超节点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NVL72超节点（100kW/机架）必须液冷，快接头需求爆发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29169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字节/腾讯/阿里三大OTT 2026-2028年是集中建设期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136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NVL72供应链：史陶比尔垄断，海悟目标替代30%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新进入者优势：史陶比尔交货周期6-12周，海悟可做到4-6周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OTT客户占比 &gt; 60%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平均交货周期 ≤ 6周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11880"/>
            <a:ext cx="8595360" cy="1280160"/>
          </a:xfrm>
          <a:prstGeom prst="rect">
            <a:avLst/>
          </a:prstGeom>
          <a:solidFill>
            <a:srgbClr val="2C5282">
              <a:alpha val="60000"/>
            </a:srgbClr>
          </a:solidFill>
          <a:ln w="9525">
            <a:solidFill>
              <a:srgbClr val="ED89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1188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全球五区域，差异化布局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0690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国内（根基）：浪潮/宁畅/超聚变全渗透，建立样板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东南亚（规模）：跟随中资数据中心出海，成本竞争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0" y="45079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中东/欧洲（利润）：OCP认证 + CE认证，高毛利产品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472744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北美（长期）：找Vertiv/Dell作为配套供应商间接进入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7490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2030年：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国内60% / 海外40%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C53030">
              <a:alpha val="50000"/>
            </a:srgbClr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10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风险提示：史陶比尔加速中国本地化建厂（苏州工厂已投产）/ OCP认证周期超预期 / GPU出口管制加剧导致OTT采购受阻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4" name="Text 3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国产GPU产品线全景与液冷需求对比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9144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制程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914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14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FP16算力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91440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914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129844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32588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 / MLU590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63040" y="129844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0472" y="132588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TSMC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129844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30552" y="132588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350-450W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129844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32588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1188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389120" y="129844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32588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166360" y="129844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132588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宁畅/华鲲/澎湃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1810512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1837944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 / Z200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1810512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1837944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DUV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1810512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0552" y="1837944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400-500W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697480" y="1810512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24912" y="1837944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372 TFLOPS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1188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389120" y="1810512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1837944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1810512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83794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浪潮/华鲲/联想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22576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350008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 910B/910C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 / 910C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463040" y="2322576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0472" y="2350008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7nm 华为自研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103120" y="2322576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30552" y="2350008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400W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697480" y="2322576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2350008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1188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冷板（华为封闭标准）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389120" y="2322576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16552" y="2350008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封闭标准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66360" y="2322576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93792" y="2350008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超聚变（独供）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2834640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862072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K230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K230 / K200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463040" y="2834640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90472" y="2862072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103120" y="2834640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30552" y="2862072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150-200W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697480" y="2834640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24912" y="2862072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TFLOPS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61188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3931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389120" y="2834640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16552" y="2862072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5166360" y="2834640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93792" y="2862072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3346704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01752" y="3374136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 Hanguang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Hanguang 800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463040" y="3346704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490472" y="3374136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103120" y="3346704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30552" y="3374136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100-150W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2697480" y="3346704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24912" y="3374136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TOPS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61188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63931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风冷/冷板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389120" y="3346704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416552" y="3374136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5166360" y="3346704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93792" y="3374136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阿里云自用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18872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88620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 X400 / X500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463040" y="3858768"/>
            <a:ext cx="64008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90472" y="3886200"/>
            <a:ext cx="585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12nm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103120" y="3858768"/>
            <a:ext cx="59436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130552" y="3886200"/>
            <a:ext cx="539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200-250W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697480" y="3858768"/>
            <a:ext cx="9144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24912" y="388620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 TFLOPS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61188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63931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4389120" y="3858768"/>
            <a:ext cx="77724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16552" y="3886200"/>
            <a:ext cx="722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66360" y="3858768"/>
            <a:ext cx="13716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93792" y="3886200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浪潮/宁畅/同方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274320" y="4709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注：TDP和算力为估算值（部分数据未公开），仅供参考 | 来源：厂商官网 | IDC 2025.04 [已核实/估算]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 2026-2030年出货量预测与液冷需求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年出货量预测（万片）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GPU厂商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2028E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2029E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2344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2344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solidFill>
            <a:srgbClr val="C53030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161848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161848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61848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02082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202082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202082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solidFill>
            <a:srgbClr val="0057E7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24231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5448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0" y="242316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242316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282549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55448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9456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464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2825496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754880" y="282549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solidFill>
            <a:srgbClr val="FF6A00">
              <a:alpha val="15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274320" y="3227832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55448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9456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14800" y="322783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754880" y="322783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solidFill>
            <a:srgbClr val="2F855A">
              <a:alpha val="15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274320" y="36301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55448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19456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3464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114800" y="3630168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solidFill>
            <a:srgbClr val="ED8936">
              <a:alpha val="15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4754880" y="36301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04" name="Text 102"/>
          <p:cNvSpPr/>
          <p:nvPr/>
        </p:nvSpPr>
        <p:spPr>
          <a:xfrm>
            <a:off x="274320" y="4032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19456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83464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363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47472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545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solidFill>
            <a:srgbClr val="1A365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114800" y="4032504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6" name="Text 114"/>
          <p:cNvSpPr/>
          <p:nvPr/>
        </p:nvSpPr>
        <p:spPr>
          <a:xfrm>
            <a:off x="4754880" y="40325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623560" y="1005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液冷需求增量估算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623560" y="1325880"/>
            <a:ext cx="31089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~8000台CDU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（按每台CDU服务20个GPU）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2030年液冷需求：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~35000台CDU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（按每台CDU服务22个GPU）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快接头增量：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2026-2030年累计新增需求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约50-80万个/年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昇腾封闭体系：海悟无法直接进入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寒武纪/海光/摩尔线程开放：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海悟可通过OEM配套触达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ED893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关键结论：昇腾（封闭）≠ 海悟机会，寒武纪/海光/摩尔线程（开放）= 海悟可通过OEM配套触达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23" name="Text 121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昇腾体系深度分析：封闭生态与液冷机会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昇腾芯片产品路线图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435608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310W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94560" y="1234440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已量产，主流部署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664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1664208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824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186537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194560" y="1664208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0" y="1664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替代910，性能提升40%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2093976"/>
            <a:ext cx="1463040" cy="384048"/>
          </a:xfrm>
          <a:prstGeom prst="rect">
            <a:avLst/>
          </a:prstGeom>
          <a:solidFill>
            <a:srgbClr val="F7FAFC"/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11226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昇腾910C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295144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94560" y="2093976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5" name="Text 23"/>
          <p:cNvSpPr/>
          <p:nvPr/>
        </p:nvSpPr>
        <p:spPr>
          <a:xfrm>
            <a:off x="2286000" y="20939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 TFLOPS (FP16)，双芯合封，HBM国产化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31520" y="2523744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5420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昇腾950DT/PR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272491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800W / 1 PFLOPS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94560" y="2523744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252374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首次FP8低精度格式，SIMD+SIMT双模型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9535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1520" y="2953512"/>
            <a:ext cx="1463040" cy="384048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9718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昇腾960/970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31546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1-2kW / 8 PFLOPS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94560" y="2953512"/>
            <a:ext cx="2103120" cy="384048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29535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FP4算力，能效+30%，自研HBM+灵渠互联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72000" y="914400"/>
            <a:ext cx="4297680" cy="21945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昇腾封闭生态特征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1325880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冷板标准：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华为定制，外部厂商无法适配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快接头：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华为指定史陶比尔/卡锢，海悟无法进入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CDU：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华为自产或超聚变体系内供应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Manifold：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昇腾体系封闭指定</a:t>
            </a:r>
            <a:endParaRPr lang="en-US" sz="850" dirty="0"/>
          </a:p>
          <a:p>
            <a:pPr indent="0" marL="0">
              <a:buNone/>
            </a:pPr>
            <a:r>
              <a:rPr lang="en-US" sz="6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海悟机会：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昇腾体系直接机会几乎为零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唯一路径：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超聚变作为昇腾OEM，海悟通过超聚变间接触达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超聚变：昇腾生态的唯一窗口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超聚变是昇腾体系唯一独立服务器OEM：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华为将x86服务器业务分拆给超聚变，超聚变独立运营昇腾服务器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海悟在超聚变生态中的机会：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超聚变需要外购快接头（史陶比尔为主），史陶比尔供货慢+价格高，海悟可通过超聚变进入昇腾液冷体系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超聚变快接头年需求估算：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超聚变年出货昇腾服务器约30-50万台，每台需快接头2-4个，年需求约60-200万个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🔑 战略意义：</a:t>
            </a:r>
            <a:pPr indent="0" marL="0">
              <a:buNone/>
            </a:pPr>
            <a:r>
              <a:rPr lang="en-US" sz="8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超聚变是海悟进入昇腾生态的唯一合规通道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开放生态国产GPU：寒武纪 / 海光 / 摩尔线程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 MLU370/590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MLU370（推理）/ MLU590（训练）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350-450W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OCP兼容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344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宁畅、华鲲、澎湃科技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12344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10058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051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80760" y="12984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宁畅是寒武纪核心OEM → 快接头通过宁畅触达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80760" y="1810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宁畅年出货寒武纪服务器约5-10万台，快接头需求2-4个/台，年需求10-40万个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0057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86000"/>
            <a:ext cx="54864" cy="1325880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 DCU Z100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Z100（训练）/ Z200（推理）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400-500W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31272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CUDA兼容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464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834640" y="26060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浪潮、华鲲、联想、同方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80560" y="2377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6060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冷板（必须）+ 快接头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377440"/>
            <a:ext cx="2834640" cy="1143000"/>
          </a:xfrm>
          <a:prstGeom prst="rect">
            <a:avLst/>
          </a:prstGeom>
          <a:solidFill>
            <a:srgbClr val="0057E7">
              <a:alpha val="8000"/>
            </a:srgbClr>
          </a:solidFill>
          <a:ln w="12700">
            <a:solidFill>
              <a:srgbClr val="0057E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423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26700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浪潮是海光最大OEM → 浪潮年需求快接头&gt;10万个，海悟可替代史陶比尔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080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浪潮年出货海光服务器约15-30万台，快接头需求2-4个/台，年需求30-120万个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F7FAFC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657600"/>
            <a:ext cx="54864" cy="13258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 MTT X400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X400（训练/推理）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TDP: 200-250W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11480" y="4498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 · MUSA生态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适配OEM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834640" y="3977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浪潮、宁畅、同方、神州数码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48056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80560" y="397764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冷板（高功率版）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943600" y="3749040"/>
            <a:ext cx="2834640" cy="1143000"/>
          </a:xfrm>
          <a:prstGeom prst="rect">
            <a:avLst/>
          </a:prstGeom>
          <a:solidFill>
            <a:srgbClr val="2F855A">
              <a:alpha val="8000"/>
            </a:srgbClr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794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0" y="404164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摩尔线程新兴OEM体系，定制需求多，海悟可通过浪潮/宁畅触达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080760" y="45537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摩尔线程年出货约8-15万台，快接头需求1-3个/台，年需求8-45万个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384048"/>
          </a:xfrm>
          <a:prstGeom prst="rect">
            <a:avLst/>
          </a:prstGeom>
          <a:solidFill>
            <a:srgbClr val="F0FFF4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开放生态是海悟的主战场：浪潮（海光）/ 宁畅（寒武纪）/ 摩尔线程 → 快接头需求通过OEM配套触达，替代史陶比尔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国产GPU战略总结：液冷快接头机会矩阵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封闭生态：昇腾（华为）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冷板/快接头/CDU/Manifold全部华为指定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海悟无法直接进入昇腾体系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唯一窗口：超聚变（昇腾OEM）间接触达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超聚变快接头年需求：60-200万个（估算）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🔓 开放生态：寒武纪/海光/摩尔线程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1325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冷板/快接头标准开放，OEM自行选择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海悟可通过OEM配套直接触达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主要OEM：浪潮（海光）/ 宁畅（寒武纪）/ 同方（摩尔线程）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快接头年需求：50-200万个（估算）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国产GPU液冷快接头机会矩阵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7432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7432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接触方式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0" y="2743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海悟份额目标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0896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272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63040" y="310896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1272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间接（超聚变）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83280" y="310896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12724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23360" y="310896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312724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12724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" y="3438144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4564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463040" y="3438144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345643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116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574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直接（宁畅）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383280" y="3438144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29000" y="345643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023360" y="3438144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6908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4564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767328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463040" y="3767328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8760" y="378561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0116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574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3767328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7856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023360" y="3767328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69080" y="3785616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3767328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7856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96512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41148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摩尔线程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4096512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08760" y="4114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0116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574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直接（浪潮/宁畅）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4096512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29000" y="4114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023360" y="4096512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69080" y="4114800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096512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00600" y="41148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4425696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44398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463040" y="4425696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08760" y="4443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0116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0574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直接（浪潮）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4425696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29000" y="4443984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023360" y="4425696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69080" y="4443984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54880" y="4425696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0600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74320" y="4754880"/>
            <a:ext cx="11887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477316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平头哥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463040" y="4754880"/>
            <a:ext cx="54864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08760" y="4773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0116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0574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直接（阿里自用）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383280" y="4754880"/>
            <a:ext cx="64008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29000" y="47731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4023360" y="4754880"/>
            <a:ext cx="73152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69080" y="477316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★☆☆☆☆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754880" y="4754880"/>
            <a:ext cx="1371600" cy="329184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77316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0%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74320" y="5084064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6" name="Text 94"/>
          <p:cNvSpPr/>
          <p:nvPr/>
        </p:nvSpPr>
        <p:spPr>
          <a:xfrm>
            <a:off x="457200" y="508406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海悟在国产GPU开放生态中的快接头目标份额：30-40%（浪潮+宁畅为主）→ 年收入贡献约¥5000万-1亿（2030年）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8" name="Text 96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液冷四组件：四个独立业务，能力匹配决定切入路径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0292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关键洞察：四个组件是四个独立业务，不是强耦合的——快接头≠唯一核心，冷板/CDU/Manifold各有独立商业逻辑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全球市场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463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技术壁垒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4630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4630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核心能力要求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4630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海悟能力匹配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463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切入路径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1847088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883664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4300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957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$2.5亿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1847088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65376" y="1883664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1847088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883664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154680" y="1847088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91256" y="1883664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精密制造+密封工艺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17720" y="1847088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54296" y="1883664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32120" y="1847088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68696" y="1883664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OCP认证 → OEM测试 → 替代史陶比尔30%份额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2505456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542032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4300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957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$18亿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828800" y="2505456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65376" y="2542032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4/5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68880" y="2505456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5456" y="2542032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54680" y="2505456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91256" y="2542032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GPU适配设计+流道精密加工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617720" y="2505456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54296" y="2542032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32120" y="2505456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68696" y="2542032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通过宁畅/浪潮等OEM合作，冷板定制开发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74320" y="3163824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3200400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14300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7957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$32亿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828800" y="3163824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65376" y="3200400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68880" y="3163824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05456" y="3200400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~50%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154680" y="3163824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91256" y="3200400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系统集成+规模制造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17720" y="3163824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200400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532120" y="3163824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68696" y="3200400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为英维克/申菱等提供阀门/管路配套，进入CDU供应链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74320" y="3822192"/>
            <a:ext cx="8686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3858768"/>
            <a:ext cx="7955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14300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7957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$8亿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828800" y="3822192"/>
            <a:ext cx="64008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65376" y="3858768"/>
            <a:ext cx="5669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468880" y="3822192"/>
            <a:ext cx="6858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05456" y="3858768"/>
            <a:ext cx="6126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&gt;60%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154680" y="3822192"/>
            <a:ext cx="14630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91256" y="3858768"/>
            <a:ext cx="13898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定制化快速响应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617720" y="3822192"/>
            <a:ext cx="914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54296" y="3858768"/>
            <a:ext cx="841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★★☆☆☆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5532120" y="3822192"/>
            <a:ext cx="192024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68696" y="3858768"/>
            <a:ext cx="18470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OTT超节点定制歧管（小批量，多批次，快速响应）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1A365D">
              <a:alpha val="8000"/>
            </a:srgbClr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40050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海悟能力定位与四组件的匹配逻辑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11480" y="4251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快接头（★★★★★）：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精密制造是海悟核心能力，壁垒高=护城河深，适合作为品牌切入点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冷板（★★★☆☆）：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定制化设计能力需建立，长期有空间，短期随OEM客户（宁畅/浪潮）渗透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CDU/Manifold（★★☆☆☆）：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海悟不做整机，通过管路/阀门/定制歧管配套进入CDU厂商供应链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液冷组件决策链：GPU厂家定冷板标准 / 服务器OEM定快接头/CDU接口 / 数据中心定CDU选型+管路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1" name="Text 79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冷板深度分析：GPU适配标准与市场机会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各GPU厂家的冷板标准决策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6187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昇腾（华为）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1261872"/>
            <a:ext cx="82296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3075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封闭（华为自定）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261872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30759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华为定制冷板（铜基微通道/相变）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0" y="1261872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3075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昇腾950PR/DT：TDP≥800W，需相变冷板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309360" y="1261872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0759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高澜股份（深度绑定）/ 飞荣达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680960" y="1261872"/>
            <a:ext cx="1188720" cy="640080"/>
          </a:xfrm>
          <a:prstGeom prst="rect">
            <a:avLst/>
          </a:prstGeom>
          <a:solidFill>
            <a:srgbClr val="FFF5F5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3075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封闭体系，海悟无法直接进入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93852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英伟达（NVIDIA）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1938528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98424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OCP标准（NVL72指定）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984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环路歧管冷板（英伟达指定）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297680" y="1938528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198424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GB200：TDP≥1200W，必须液冷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309360" y="1938528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1984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AVC/Legacy（NVL72供应商）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938528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984248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NVL72冷板由英伟达指定，史陶比尔快接头认证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615184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645920" y="2615184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266090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开放（OEM自选）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468880" y="2615184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266090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开放标准，OEM自行选择冷板供应商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97680" y="2615184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6609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MLU590：TDP 350-450W，双腔冷板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309360" y="2615184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660904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浪潮冷板（与高标合作）/ 第三方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680960" y="2615184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266090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开放生态，OEM自选冷板，海悟可通过宁畅触达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2918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45920" y="3291840"/>
            <a:ext cx="82296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33375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开放（CUDA兼容）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468880" y="3291840"/>
            <a:ext cx="1828800" cy="6400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2560320" y="3337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开放标准，OEM自选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297680" y="3291840"/>
            <a:ext cx="201168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33375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Z200：TDP 400-500W，需高效冷板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3291840"/>
            <a:ext cx="1371600" cy="64008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浪潮自产/ 英维克/ 高标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680960" y="3291840"/>
            <a:ext cx="1188720" cy="640080"/>
          </a:xfrm>
          <a:prstGeom prst="rect">
            <a:avLst/>
          </a:prstGeom>
          <a:solidFill>
            <a:srgbClr val="F0FFF4"/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3337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海光是开放生态，浪潮是最大OEM，海悟可配套浪潮冷板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6" name="Text 54"/>
          <p:cNvSpPr/>
          <p:nvPr/>
        </p:nvSpPr>
        <p:spPr>
          <a:xfrm>
            <a:off x="1645920" y="914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标准类型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8" name="Text 56"/>
          <p:cNvSpPr/>
          <p:nvPr/>
        </p:nvSpPr>
        <p:spPr>
          <a:xfrm>
            <a:off x="2468880" y="914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冷板方案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2976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规格要求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914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当前供应商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4" name="Text 62"/>
          <p:cNvSpPr/>
          <p:nvPr/>
        </p:nvSpPr>
        <p:spPr>
          <a:xfrm>
            <a:off x="7680960" y="914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2793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海悟在冷板市场的机会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开放生态（寒武纪/海光）：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通过宁畅/浪潮触达，海悟可配套冷板（非主要方向，浪潮已自产）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冷板壁垒高于快接头：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精密流道设计+GPU封装适配，定制化程度高，海悟当前聚焦快接头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长期机会：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冷板国产替代（目标客户：英维克/申菱等需要外购冷板的液冷系统集成商）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9" name="Text 6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CDU深度分析：市场规模/竞争格局与海悟机会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CDU全球市场规模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$32亿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 | 2025年估算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中国市场：约¥80-120亿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CDU全球竞争格局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566928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Vertiv（维谛）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35024"/>
            <a:ext cx="1700784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307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1307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全球CDU龙头，技术领先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664208"/>
            <a:ext cx="566928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0992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141732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09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17099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国内CDU龙头，全栈液冷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2066544"/>
            <a:ext cx="5669280" cy="365760"/>
          </a:xfrm>
          <a:prstGeom prst="rect">
            <a:avLst/>
          </a:prstGeom>
          <a:solidFill>
            <a:srgbClr val="2C5282">
              <a:alpha val="12000"/>
            </a:srgbClr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1122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施耐德电气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850392" cy="219456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5788152" y="2112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1122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全球基础设施，CDU配套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566928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申菱环境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542032"/>
            <a:ext cx="566928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504688" y="2514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工业空调背景，华为战略合作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0" y="2871216"/>
            <a:ext cx="566928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169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高澜股份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944368"/>
            <a:ext cx="453542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3" name="Text 31"/>
          <p:cNvSpPr/>
          <p:nvPr/>
        </p:nvSpPr>
        <p:spPr>
          <a:xfrm>
            <a:off x="5391302" y="29169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2916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华为液冷核心供应商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0" y="3273552"/>
            <a:ext cx="566928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319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3346704"/>
            <a:ext cx="680314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8" name="Text 36"/>
          <p:cNvSpPr/>
          <p:nvPr/>
        </p:nvSpPr>
        <p:spPr>
          <a:xfrm>
            <a:off x="5618074" y="33192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52160" y="33192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分散小厂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CDU核心厂商深度分析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7033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64592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优势：全栈自产（冷板+CDU+Manifold）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短板：快接头外购（史陶比尔为主）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394960" y="37033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英维克CDU年出货约5000台，快接头年需求10-20万个，海悟可替代史陶比尔30%份额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1788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CDU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4592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优势：全球技术领先，OCP认证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2044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短板：价格高，供货周期长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94960" y="4178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26480" y="4178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Vertiv中国快接头需求3-6万个/年，通过Vertiv中国进入全球供应链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4608576"/>
            <a:ext cx="8595360" cy="438912"/>
          </a:xfrm>
          <a:prstGeom prst="rect">
            <a:avLst/>
          </a:prstGeom>
          <a:solidFill>
            <a:srgbClr val="F7FAFC"/>
          </a:solidFill>
          <a:ln w="6350">
            <a:solidFill>
              <a:srgbClr val="2C52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5429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64592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优势：华为战略合作，批量交付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520440" y="46542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短板：快接头无此业务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394960" y="465429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26480" y="46542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申菱CDU年出货约2000台，快接头需求约2-5万个/年，海琢可通过申菱触达华为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5074920"/>
            <a:ext cx="8595360" cy="384048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5074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CDU战略定位：海悟不做CDU整机，通过管路/阀门配套进入CDU厂商供应链，快接头是核心切入点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Manifold深度分析：技术壁垒与海悟机会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7FAFC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Manifold是什么？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Manifold（歧管/环路分配器）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是液冷系统中连接冷板与CDU的关键组件，负责将冷却液分配到多个GPU冷板，并将热回液汇总返回CDU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→ Manifold → 冷板（每个GPU）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多路分配/汇流/流量控制/漏液检测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技术难度：</a:t>
            </a:r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2/5（低于快接头/冷板，高于普通管件）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1371600"/>
          </a:xfrm>
          <a:prstGeom prst="rect">
            <a:avLst/>
          </a:prstGeom>
          <a:solidFill>
            <a:srgbClr val="ED8936">
              <a:alpha val="8000"/>
            </a:srgbClr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987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Manifold市场规模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12618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$8亿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全球年市场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（中国约¥15-20亿）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18288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NVL72超节点需求：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NVL72必须环路歧管，需求爆发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国产GPU开放生态：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寒武纪/海光拉动歧管需求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OTT定制：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字节/腾讯/阿里超节点定制歧管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Manifold市场格局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solidFill>
            <a:srgbClr val="1A365D">
              <a:alpha val="12000"/>
            </a:srgbClr>
          </a:solidFill>
          <a:ln w="635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816352"/>
            <a:ext cx="1143000" cy="219456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2971800" y="2788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FusionPoD for AI歧管自产，昇腾体系内供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3145536"/>
            <a:ext cx="4572000" cy="365760"/>
          </a:xfrm>
          <a:prstGeom prst="rect">
            <a:avLst/>
          </a:prstGeom>
          <a:solidFill>
            <a:srgbClr val="0057E7">
              <a:alpha val="12000"/>
            </a:srgbClr>
          </a:solidFill>
          <a:ln w="6350">
            <a:solidFill>
              <a:srgbClr val="0057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9125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浪潮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37360" y="3218688"/>
            <a:ext cx="914400" cy="219456"/>
          </a:xfrm>
          <a:prstGeom prst="rect">
            <a:avLst/>
          </a:prstGeom>
          <a:solidFill>
            <a:srgbClr val="0057E7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31912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自产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01752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液冷服务器歧管自产，开放生态供货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572000" cy="365760"/>
          </a:xfrm>
          <a:prstGeom prst="rect">
            <a:avLst/>
          </a:prstGeom>
          <a:solidFill>
            <a:srgbClr val="ED8936">
              <a:alpha val="12000"/>
            </a:srgbClr>
          </a:solidFill>
          <a:ln w="6350">
            <a:solidFill>
              <a:srgbClr val="ED8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935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高标/精一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3621024"/>
            <a:ext cx="822960" cy="21945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593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593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017520" y="3593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第三方歧管供应商，给OEM配套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4572000" cy="365760"/>
          </a:xfrm>
          <a:prstGeom prst="rect">
            <a:avLst/>
          </a:prstGeom>
          <a:solidFill>
            <a:srgbClr val="2F855A">
              <a:alpha val="12000"/>
            </a:srgbClr>
          </a:solidFill>
          <a:ln w="6350">
            <a:solidFill>
              <a:srgbClr val="2F8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995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宁波东光子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37360" y="4023360"/>
            <a:ext cx="365760" cy="219456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39959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23160" y="39959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外供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0175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初创公司，快接头+歧管双线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4352544"/>
            <a:ext cx="4572000" cy="365760"/>
          </a:xfrm>
          <a:prstGeom prst="rect">
            <a:avLst/>
          </a:prstGeom>
          <a:solidFill>
            <a:srgbClr val="999999">
              <a:alpha val="12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3982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其他国内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4425696"/>
            <a:ext cx="1325880" cy="21945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Text 38"/>
          <p:cNvSpPr/>
          <p:nvPr/>
        </p:nvSpPr>
        <p:spPr>
          <a:xfrm>
            <a:off x="3154680" y="43982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23160" y="43982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017520" y="4398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大量小工厂，无规模效应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029200" y="2743200"/>
            <a:ext cx="3840480" cy="2103120"/>
          </a:xfrm>
          <a:prstGeom prst="rect">
            <a:avLst/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66360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海悟在Manifold市场的定位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配套供应，不做主攻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超聚变/浪潮已自产Manifold，技术壁垒低（2/5），市场规模小（$8亿）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OTT超节点定制歧管（字节/腾讯/阿里定制需求），史陶比尔无法满足，海悟快速响应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宁畅（寒武纪生态）/ 同方（摩尔线程）/ 神州数码</a:t>
            </a:r>
            <a:endParaRPr lang="en-US" sz="800" dirty="0"/>
          </a:p>
          <a:p>
            <a:pPr indent="0" marL="0">
              <a:buNone/>
            </a:pPr>
            <a:r>
              <a:rPr lang="en-US" sz="5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收入贡献预期：</a:t>
            </a:r>
            <a:pPr indent="0" marL="0">
              <a:buNone/>
            </a:pPr>
            <a:r>
              <a:rPr lang="en-US" sz="8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Manifold年收入约¥500-1000万（非核心业务）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937760"/>
            <a:ext cx="859536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9560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液冷四组件战略：快接头（🔴P0）&gt; 冷板（🟠P1）&gt; CDU（🟡P2）&gt; Manifold（⚪P3）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458200" y="47091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4709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机柜级液冷行业深度洞察</dc:title>
  <dc:subject>2026-2030年战略机遇与市场空间</dc:subject>
  <dc:creator>海悟科技</dc:creator>
  <cp:lastModifiedBy>海悟科技</cp:lastModifiedBy>
  <cp:revision>1</cp:revision>
  <dcterms:created xsi:type="dcterms:W3CDTF">2026-04-27T05:09:01Z</dcterms:created>
  <dcterms:modified xsi:type="dcterms:W3CDTF">2026-04-27T05:09:01Z</dcterms:modified>
</cp:coreProperties>
</file>